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18" r:id="rId4"/>
    <p:sldMasterId id="2147484241" r:id="rId5"/>
    <p:sldMasterId id="2147484274" r:id="rId6"/>
  </p:sldMasterIdLst>
  <p:notesMasterIdLst>
    <p:notesMasterId r:id="rId38"/>
  </p:notesMasterIdLst>
  <p:handoutMasterIdLst>
    <p:handoutMasterId r:id="rId39"/>
  </p:handoutMasterIdLst>
  <p:sldIdLst>
    <p:sldId id="1363" r:id="rId7"/>
    <p:sldId id="1364" r:id="rId8"/>
    <p:sldId id="1366" r:id="rId9"/>
    <p:sldId id="1367" r:id="rId10"/>
    <p:sldId id="1123" r:id="rId11"/>
    <p:sldId id="1339" r:id="rId12"/>
    <p:sldId id="1340" r:id="rId13"/>
    <p:sldId id="1341" r:id="rId14"/>
    <p:sldId id="1359" r:id="rId15"/>
    <p:sldId id="1342" r:id="rId16"/>
    <p:sldId id="1343" r:id="rId17"/>
    <p:sldId id="1344" r:id="rId18"/>
    <p:sldId id="1360" r:id="rId19"/>
    <p:sldId id="1361" r:id="rId20"/>
    <p:sldId id="1362" r:id="rId21"/>
    <p:sldId id="1345" r:id="rId22"/>
    <p:sldId id="1346" r:id="rId23"/>
    <p:sldId id="1347" r:id="rId24"/>
    <p:sldId id="1348" r:id="rId25"/>
    <p:sldId id="1349" r:id="rId26"/>
    <p:sldId id="1350" r:id="rId27"/>
    <p:sldId id="1351" r:id="rId28"/>
    <p:sldId id="1352" r:id="rId29"/>
    <p:sldId id="1353" r:id="rId30"/>
    <p:sldId id="1354" r:id="rId31"/>
    <p:sldId id="1355" r:id="rId32"/>
    <p:sldId id="1356" r:id="rId33"/>
    <p:sldId id="1357" r:id="rId34"/>
    <p:sldId id="1358" r:id="rId35"/>
    <p:sldId id="1296" r:id="rId36"/>
    <p:sldId id="1275" r:id="rId37"/>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3">
          <p15:clr>
            <a:srgbClr val="A4A3A4"/>
          </p15:clr>
        </p15:guide>
        <p15:guide id="2" pos="391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ED795"/>
    <a:srgbClr val="56B846"/>
    <a:srgbClr val="525252"/>
    <a:srgbClr val="002050"/>
    <a:srgbClr val="1193FF"/>
    <a:srgbClr val="0078D7"/>
    <a:srgbClr val="00BCF2"/>
    <a:srgbClr val="00188F"/>
    <a:srgbClr val="A80000"/>
    <a:srgbClr val="5C2D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2980" autoAdjust="0"/>
  </p:normalViewPr>
  <p:slideViewPr>
    <p:cSldViewPr snapToObjects="1">
      <p:cViewPr varScale="1">
        <p:scale>
          <a:sx n="80" d="100"/>
          <a:sy n="80" d="100"/>
        </p:scale>
        <p:origin x="720" y="58"/>
      </p:cViewPr>
      <p:guideLst>
        <p:guide orient="horz" pos="2203"/>
        <p:guide pos="3917"/>
      </p:guideLst>
    </p:cSldViewPr>
  </p:slideViewPr>
  <p:outlineViewPr>
    <p:cViewPr>
      <p:scale>
        <a:sx n="33" d="100"/>
        <a:sy n="33" d="100"/>
      </p:scale>
      <p:origin x="0" y="-15570"/>
    </p:cViewPr>
  </p:outlineViewPr>
  <p:notesTextViewPr>
    <p:cViewPr>
      <p:scale>
        <a:sx n="3" d="2"/>
        <a:sy n="3" d="2"/>
      </p:scale>
      <p:origin x="0" y="0"/>
    </p:cViewPr>
  </p:notesTextViewPr>
  <p:sorterViewPr>
    <p:cViewPr>
      <p:scale>
        <a:sx n="33" d="100"/>
        <a:sy n="33" d="100"/>
      </p:scale>
      <p:origin x="0" y="0"/>
    </p:cViewPr>
  </p:sorterViewPr>
  <p:notesViewPr>
    <p:cSldViewPr snapToObjects="1" showGuides="1">
      <p:cViewPr varScale="1">
        <p:scale>
          <a:sx n="65" d="100"/>
          <a:sy n="65" d="100"/>
        </p:scale>
        <p:origin x="2376" y="6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27AAADD-8F94-4863-AB67-1D448E3F1BC3}" type="datetime1">
              <a:rPr lang="en-US" smtClean="0">
                <a:latin typeface="Segoe UI" pitchFamily="34" charset="0"/>
              </a:rPr>
              <a:t>10/21/2016</a:t>
            </a:fld>
            <a:endParaRPr lang="en-US" dirty="0">
              <a:latin typeface="Segoe UI" pitchFamily="34" charset="0"/>
            </a:endParaRP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
        <p:nvSpPr>
          <p:cNvPr id="3" name="Footer Placeholder 2"/>
          <p:cNvSpPr>
            <a:spLocks noGrp="1"/>
          </p:cNvSpPr>
          <p:nvPr>
            <p:ph type="ftr" sz="quarter" idx="2"/>
          </p:nvPr>
        </p:nvSpPr>
        <p:spPr>
          <a:xfrm>
            <a:off x="320074" y="8685213"/>
            <a:ext cx="5463504" cy="458787"/>
          </a:xfrm>
          <a:prstGeom prst="rect">
            <a:avLst/>
          </a:prstGeom>
        </p:spPr>
        <p:txBody>
          <a:bodyPr vert="horz" lIns="91440" tIns="45720" rIns="91440" bIns="45720" rtlCol="0" anchor="b"/>
          <a:lstStyle>
            <a:lvl1pPr algn="l">
              <a:defRPr sz="1200"/>
            </a:lvl1pPr>
          </a:lstStyle>
          <a:p>
            <a:r>
              <a:rPr lang="en-US" sz="500" dirty="0" smtClean="0"/>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p>
        </p:txBody>
      </p:sp>
      <p:sp>
        <p:nvSpPr>
          <p:cNvPr id="5"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smtClean="0"/>
              <a:t>TechReady 20</a:t>
            </a:r>
            <a:endParaRPr lang="en-US" dirty="0"/>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smtClean="0"/>
              <a:t>TechReady 20</a:t>
            </a:r>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E74353ED-ACB2-44BF-A903-985B0AF962B7}" type="datetime1">
              <a:rPr lang="en-US" smtClean="0"/>
              <a:t>10/21/2016</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Date Placeholder 5"/>
          <p:cNvSpPr>
            <a:spLocks noGrp="1"/>
          </p:cNvSpPr>
          <p:nvPr>
            <p:ph type="dt" idx="12"/>
          </p:nvPr>
        </p:nvSpPr>
        <p:spPr/>
        <p:txBody>
          <a:bodyPr/>
          <a:lstStyle/>
          <a:p>
            <a:fld id="{2A14FA6D-5CC1-477D-A0DC-F2245326A311}" type="datetime1">
              <a:rPr lang="en-US" smtClean="0"/>
              <a:t>10/21/2016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dirty="0"/>
          </a:p>
        </p:txBody>
      </p:sp>
      <p:sp>
        <p:nvSpPr>
          <p:cNvPr id="10" name="Footer Placeholder 9"/>
          <p:cNvSpPr>
            <a:spLocks noGrp="1"/>
          </p:cNvSpPr>
          <p:nvPr>
            <p:ph type="ftr" sz="quarter" idx="14"/>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227803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430975FA-780D-4E00-9550-B2D883AEEAB0}" type="datetime1">
              <a:rPr lang="en-US" smtClean="0">
                <a:solidFill>
                  <a:prstClr val="black"/>
                </a:solidFill>
              </a:rPr>
              <a:pPr/>
              <a:t>10/21/2016</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9</a:t>
            </a:fld>
            <a:endParaRPr lang="en-US" dirty="0">
              <a:solidFill>
                <a:prstClr val="black"/>
              </a:solidFill>
            </a:endParaRPr>
          </a:p>
        </p:txBody>
      </p:sp>
    </p:spTree>
    <p:extLst>
      <p:ext uri="{BB962C8B-B14F-4D97-AF65-F5344CB8AC3E}">
        <p14:creationId xmlns:p14="http://schemas.microsoft.com/office/powerpoint/2010/main" val="3872839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solidFill>
                  <a:prstClr val="black"/>
                </a:solidFill>
              </a:rPr>
              <a:t>Visual Studio</a:t>
            </a:r>
            <a:endParaRPr lang="en-US" dirty="0">
              <a:solidFill>
                <a:prstClr val="black"/>
              </a:solidFill>
            </a:endParaRPr>
          </a:p>
        </p:txBody>
      </p:sp>
      <p:sp>
        <p:nvSpPr>
          <p:cNvPr id="5" name="Footer Placeholder 4"/>
          <p:cNvSpPr>
            <a:spLocks noGrp="1"/>
          </p:cNvSpPr>
          <p:nvPr>
            <p:ph type="ftr" sz="quarter" idx="11"/>
          </p:nvPr>
        </p:nvSpPr>
        <p:spPr/>
        <p:txBody>
          <a:bodyPr/>
          <a:lstStyle/>
          <a:p>
            <a:pPr defTabSz="924144"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a:t>
            </a:r>
          </a:p>
          <a:p>
            <a:pPr defTabSz="924144"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E1290EE1-A306-43E3-89F1-0B131898A858}" type="datetime1">
              <a:rPr lang="en-US" smtClean="0">
                <a:solidFill>
                  <a:prstClr val="black"/>
                </a:solidFill>
              </a:rPr>
              <a:pPr/>
              <a:t>10/21/2016</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13</a:t>
            </a:fld>
            <a:endParaRPr lang="en-US" dirty="0">
              <a:solidFill>
                <a:prstClr val="black"/>
              </a:solidFill>
            </a:endParaRPr>
          </a:p>
        </p:txBody>
      </p:sp>
    </p:spTree>
    <p:extLst>
      <p:ext uri="{BB962C8B-B14F-4D97-AF65-F5344CB8AC3E}">
        <p14:creationId xmlns:p14="http://schemas.microsoft.com/office/powerpoint/2010/main" val="3772635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solidFill>
                  <a:prstClr val="black"/>
                </a:solidFill>
              </a:rPr>
              <a:pPr/>
              <a:t>10/21/2016</a:t>
            </a:fld>
            <a:endParaRPr lang="en-US" dirty="0">
              <a:solidFill>
                <a:prstClr val="black"/>
              </a:solidFill>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solidFill>
                  <a:prstClr val="black"/>
                </a:solidFill>
              </a:rPr>
              <a:pPr/>
              <a:t>14</a:t>
            </a:fld>
            <a:endParaRPr lang="en-US" dirty="0">
              <a:solidFill>
                <a:prstClr val="black"/>
              </a:solidFill>
            </a:endParaRPr>
          </a:p>
        </p:txBody>
      </p:sp>
    </p:spTree>
    <p:extLst>
      <p:ext uri="{BB962C8B-B14F-4D97-AF65-F5344CB8AC3E}">
        <p14:creationId xmlns:p14="http://schemas.microsoft.com/office/powerpoint/2010/main" val="13432693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solidFill>
                  <a:prstClr val="black"/>
                </a:solidFill>
              </a:rPr>
              <a:pPr/>
              <a:t>10/21/2016</a:t>
            </a:fld>
            <a:endParaRPr lang="en-US" dirty="0">
              <a:solidFill>
                <a:prstClr val="black"/>
              </a:solidFill>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solidFill>
                  <a:prstClr val="black"/>
                </a:solidFill>
              </a:rPr>
              <a:pPr/>
              <a:t>15</a:t>
            </a:fld>
            <a:endParaRPr lang="en-US" dirty="0">
              <a:solidFill>
                <a:prstClr val="black"/>
              </a:solidFill>
            </a:endParaRPr>
          </a:p>
        </p:txBody>
      </p:sp>
    </p:spTree>
    <p:extLst>
      <p:ext uri="{BB962C8B-B14F-4D97-AF65-F5344CB8AC3E}">
        <p14:creationId xmlns:p14="http://schemas.microsoft.com/office/powerpoint/2010/main" val="4162564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8" name="Date Placeholder 7"/>
          <p:cNvSpPr>
            <a:spLocks noGrp="1"/>
          </p:cNvSpPr>
          <p:nvPr>
            <p:ph type="dt" idx="10"/>
          </p:nvPr>
        </p:nvSpPr>
        <p:spPr/>
        <p:txBody>
          <a:bodyPr/>
          <a:lstStyle/>
          <a:p>
            <a:fld id="{2EC64DE5-4A80-4049-BDC7-E36CCA811281}" type="datetime1">
              <a:rPr lang="en-US" smtClean="0"/>
              <a:pPr/>
              <a:t>10/21/2016</a:t>
            </a:fld>
            <a:endParaRPr lang="en-US" dirty="0"/>
          </a:p>
        </p:txBody>
      </p:sp>
      <p:sp>
        <p:nvSpPr>
          <p:cNvPr id="9" name="Footer Placeholder 8"/>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Windows Vista and other product names are or may be registered trademarks and/or trademarks in the U.S. and/or other countries.</a:t>
            </a:r>
          </a:p>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br>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MICROSOFT MAKES NO WARRANTIES, EXPRESS, IMPLIED OR STATUTORY, AS TO THE INFORMATION IN THIS PRESENTATION.</a:t>
            </a:r>
          </a:p>
        </p:txBody>
      </p:sp>
      <p:sp>
        <p:nvSpPr>
          <p:cNvPr id="10" name="Slide Number Placeholder 9"/>
          <p:cNvSpPr>
            <a:spLocks noGrp="1"/>
          </p:cNvSpPr>
          <p:nvPr>
            <p:ph type="sldNum" sz="quarter" idx="12"/>
          </p:nvPr>
        </p:nvSpPr>
        <p:spPr/>
        <p:txBody>
          <a:bodyPr/>
          <a:lstStyle/>
          <a:p>
            <a:fld id="{8B263312-38AA-4E1E-B2B5-0F8F122B24FE}" type="slidenum">
              <a:rPr lang="en-US" smtClean="0"/>
              <a:pPr/>
              <a:t>31</a:t>
            </a:fld>
            <a:endParaRPr lang="en-US" dirty="0"/>
          </a:p>
        </p:txBody>
      </p:sp>
      <p:sp>
        <p:nvSpPr>
          <p:cNvPr id="11" name="Header Placeholder 10"/>
          <p:cNvSpPr>
            <a:spLocks noGrp="1"/>
          </p:cNvSpPr>
          <p:nvPr>
            <p:ph type="hdr" sz="quarter" idx="13"/>
          </p:nvPr>
        </p:nvSpPr>
        <p:spPr/>
        <p:txBody>
          <a:bodyPr/>
          <a:lstStyle/>
          <a:p>
            <a:r>
              <a:rPr lang="en-US" dirty="0"/>
              <a:t>Tech Ready 15</a:t>
            </a:r>
          </a:p>
        </p:txBody>
      </p:sp>
    </p:spTree>
    <p:extLst>
      <p:ext uri="{BB962C8B-B14F-4D97-AF65-F5344CB8AC3E}">
        <p14:creationId xmlns:p14="http://schemas.microsoft.com/office/powerpoint/2010/main" val="33719922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3.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6540" y="5783263"/>
            <a:ext cx="9142098" cy="902608"/>
          </a:xfrm>
          <a:noFill/>
        </p:spPr>
        <p:txBody>
          <a:bodyPr lIns="146304" tIns="109728" rIns="146304" bIns="109728" anchor="b">
            <a:noAutofit/>
          </a:bodyPr>
          <a:lstStyle>
            <a:lvl1pPr marL="0" indent="0">
              <a:spcBef>
                <a:spcPts val="0"/>
              </a:spcBef>
              <a:buNone/>
              <a:defRPr sz="2000" spc="0" baseline="0">
                <a:gradFill>
                  <a:gsLst>
                    <a:gs pos="0">
                      <a:schemeClr val="tx1"/>
                    </a:gs>
                    <a:gs pos="100000">
                      <a:schemeClr val="tx1"/>
                    </a:gs>
                  </a:gsLst>
                  <a:lin ang="5400000" scaled="0"/>
                </a:gradFill>
                <a:latin typeface="+mn-lt"/>
              </a:defRPr>
            </a:lvl1pPr>
          </a:lstStyle>
          <a:p>
            <a:pPr lvl="0"/>
            <a:r>
              <a:rPr lang="en-US" dirty="0" smtClean="0"/>
              <a:t>Speaker Name</a:t>
            </a:r>
          </a:p>
        </p:txBody>
      </p:sp>
      <p:sp>
        <p:nvSpPr>
          <p:cNvPr id="9" name="Title 1"/>
          <p:cNvSpPr>
            <a:spLocks noGrp="1"/>
          </p:cNvSpPr>
          <p:nvPr>
            <p:ph type="title" hasCustomPrompt="1"/>
          </p:nvPr>
        </p:nvSpPr>
        <p:spPr>
          <a:xfrm>
            <a:off x="274702" y="2117165"/>
            <a:ext cx="11887135" cy="1837298"/>
          </a:xfrm>
          <a:noFill/>
        </p:spPr>
        <p:txBody>
          <a:bodyPr lIns="146304" tIns="91440" rIns="146304" bIns="91440" anchor="t" anchorCtr="0"/>
          <a:lstStyle>
            <a:lvl1pPr>
              <a:defRPr sz="5400" spc="-100" baseline="0">
                <a:gradFill>
                  <a:gsLst>
                    <a:gs pos="3333">
                      <a:schemeClr val="tx1"/>
                    </a:gs>
                    <a:gs pos="39000">
                      <a:schemeClr val="tx1"/>
                    </a:gs>
                  </a:gsLst>
                  <a:lin ang="5400000" scaled="0"/>
                </a:gradFill>
              </a:defRPr>
            </a:lvl1pPr>
          </a:lstStyle>
          <a:p>
            <a:r>
              <a:rPr lang="en-US" dirty="0" smtClean="0"/>
              <a:t>Presentation title</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a:off x="10129837" y="6126162"/>
            <a:ext cx="1849602" cy="394827"/>
          </a:xfrm>
          <a:prstGeom prst="rect">
            <a:avLst/>
          </a:prstGeom>
          <a:noFill/>
          <a:ln>
            <a:noFill/>
          </a:ln>
        </p:spPr>
      </p:pic>
      <p:sp>
        <p:nvSpPr>
          <p:cNvPr id="3" name="Text Placeholder 2"/>
          <p:cNvSpPr>
            <a:spLocks noGrp="1"/>
          </p:cNvSpPr>
          <p:nvPr>
            <p:ph type="body" sz="quarter" idx="13" hasCustomPrompt="1"/>
          </p:nvPr>
        </p:nvSpPr>
        <p:spPr>
          <a:xfrm>
            <a:off x="274702" y="307621"/>
            <a:ext cx="3656013" cy="572464"/>
          </a:xfrm>
        </p:spPr>
        <p:txBody>
          <a:bodyPr lIns="182880" tIns="146304" rIns="182880" bIns="146304"/>
          <a:lstStyle>
            <a:lvl1pPr marL="0" indent="0">
              <a:buNone/>
              <a:defRPr sz="2000">
                <a:latin typeface="+mn-lt"/>
              </a:defRPr>
            </a:lvl1pPr>
            <a:lvl2pPr marL="342900" indent="0">
              <a:buNone/>
              <a:defRPr sz="2000"/>
            </a:lvl2pPr>
            <a:lvl3pPr marL="571500" indent="0">
              <a:buNone/>
              <a:defRPr sz="2000"/>
            </a:lvl3pPr>
            <a:lvl4pPr marL="800100" indent="0">
              <a:buNone/>
              <a:defRPr sz="2000"/>
            </a:lvl4pPr>
            <a:lvl5pPr marL="1028700" indent="0">
              <a:buNone/>
              <a:defRPr sz="2000"/>
            </a:lvl5pPr>
          </a:lstStyle>
          <a:p>
            <a:pPr lvl="0"/>
            <a:r>
              <a:rPr lang="en-US" dirty="0" smtClean="0"/>
              <a:t>Session Code Here</a:t>
            </a:r>
            <a:endParaRPr lang="en-US" dirty="0"/>
          </a:p>
        </p:txBody>
      </p:sp>
    </p:spTree>
    <p:extLst>
      <p:ext uri="{BB962C8B-B14F-4D97-AF65-F5344CB8AC3E}">
        <p14:creationId xmlns:p14="http://schemas.microsoft.com/office/powerpoint/2010/main" val="300786753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4406">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2">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6540" y="5783263"/>
            <a:ext cx="9142098" cy="902608"/>
          </a:xfrm>
          <a:noFill/>
        </p:spPr>
        <p:txBody>
          <a:bodyPr lIns="146304" tIns="109728" rIns="146304" bIns="109728" anchor="b">
            <a:noAutofit/>
          </a:bodyPr>
          <a:lstStyle>
            <a:lvl1pPr marL="0" indent="0">
              <a:spcBef>
                <a:spcPts val="0"/>
              </a:spcBef>
              <a:buNone/>
              <a:defRPr sz="2000" spc="0" baseline="0">
                <a:gradFill>
                  <a:gsLst>
                    <a:gs pos="0">
                      <a:schemeClr val="tx1"/>
                    </a:gs>
                    <a:gs pos="100000">
                      <a:schemeClr val="tx1"/>
                    </a:gs>
                  </a:gsLst>
                  <a:lin ang="5400000" scaled="0"/>
                </a:gradFill>
                <a:latin typeface="+mn-lt"/>
              </a:defRPr>
            </a:lvl1pPr>
          </a:lstStyle>
          <a:p>
            <a:pPr lvl="0"/>
            <a:r>
              <a:rPr lang="en-US" dirty="0" smtClean="0"/>
              <a:t>Speaker Name</a:t>
            </a:r>
          </a:p>
        </p:txBody>
      </p:sp>
      <p:sp>
        <p:nvSpPr>
          <p:cNvPr id="9" name="Title 1"/>
          <p:cNvSpPr>
            <a:spLocks noGrp="1"/>
          </p:cNvSpPr>
          <p:nvPr>
            <p:ph type="title" hasCustomPrompt="1"/>
          </p:nvPr>
        </p:nvSpPr>
        <p:spPr>
          <a:xfrm>
            <a:off x="274702" y="2117165"/>
            <a:ext cx="11887135" cy="1837298"/>
          </a:xfrm>
          <a:noFill/>
        </p:spPr>
        <p:txBody>
          <a:bodyPr lIns="146304" tIns="91440" rIns="146304" bIns="91440" anchor="t" anchorCtr="0"/>
          <a:lstStyle>
            <a:lvl1pPr>
              <a:defRPr sz="5400" spc="-100" baseline="0">
                <a:gradFill>
                  <a:gsLst>
                    <a:gs pos="3333">
                      <a:schemeClr val="tx1"/>
                    </a:gs>
                    <a:gs pos="39000">
                      <a:schemeClr val="tx1"/>
                    </a:gs>
                  </a:gsLst>
                  <a:lin ang="5400000" scaled="0"/>
                </a:gradFill>
              </a:defRPr>
            </a:lvl1pPr>
          </a:lstStyle>
          <a:p>
            <a:r>
              <a:rPr lang="en-US" dirty="0" smtClean="0"/>
              <a:t>Presentation title</a:t>
            </a:r>
            <a:endParaRPr lang="en-US" dirty="0"/>
          </a:p>
        </p:txBody>
      </p:sp>
      <p:sp>
        <p:nvSpPr>
          <p:cNvPr id="4" name="Freeform 3"/>
          <p:cNvSpPr>
            <a:spLocks noChangeAspect="1" noEditPoints="1"/>
          </p:cNvSpPr>
          <p:nvPr/>
        </p:nvSpPr>
        <p:spPr bwMode="black">
          <a:xfrm>
            <a:off x="10332993" y="6103269"/>
            <a:ext cx="1639861" cy="411480"/>
          </a:xfrm>
          <a:custGeom>
            <a:avLst/>
            <a:gdLst>
              <a:gd name="T0" fmla="*/ 336 w 2176"/>
              <a:gd name="T1" fmla="*/ 2 h 546"/>
              <a:gd name="T2" fmla="*/ 269 w 2176"/>
              <a:gd name="T3" fmla="*/ 2 h 546"/>
              <a:gd name="T4" fmla="*/ 48 w 2176"/>
              <a:gd name="T5" fmla="*/ 538 h 546"/>
              <a:gd name="T6" fmla="*/ 2128 w 2176"/>
              <a:gd name="T7" fmla="*/ 2 h 546"/>
              <a:gd name="T8" fmla="*/ 2176 w 2176"/>
              <a:gd name="T9" fmla="*/ 2 h 546"/>
              <a:gd name="T10" fmla="*/ 1049 w 2176"/>
              <a:gd name="T11" fmla="*/ 175 h 546"/>
              <a:gd name="T12" fmla="*/ 1025 w 2176"/>
              <a:gd name="T13" fmla="*/ 454 h 546"/>
              <a:gd name="T14" fmla="*/ 937 w 2176"/>
              <a:gd name="T15" fmla="*/ 473 h 546"/>
              <a:gd name="T16" fmla="*/ 892 w 2176"/>
              <a:gd name="T17" fmla="*/ 384 h 546"/>
              <a:gd name="T18" fmla="*/ 809 w 2176"/>
              <a:gd name="T19" fmla="*/ 394 h 546"/>
              <a:gd name="T20" fmla="*/ 975 w 2176"/>
              <a:gd name="T21" fmla="*/ 540 h 546"/>
              <a:gd name="T22" fmla="*/ 1048 w 2176"/>
              <a:gd name="T23" fmla="*/ 482 h 546"/>
              <a:gd name="T24" fmla="*/ 1131 w 2176"/>
              <a:gd name="T25" fmla="*/ 536 h 546"/>
              <a:gd name="T26" fmla="*/ 1293 w 2176"/>
              <a:gd name="T27" fmla="*/ 14 h 546"/>
              <a:gd name="T28" fmla="*/ 1238 w 2176"/>
              <a:gd name="T29" fmla="*/ 3 h 546"/>
              <a:gd name="T30" fmla="*/ 1207 w 2176"/>
              <a:gd name="T31" fmla="*/ 48 h 546"/>
              <a:gd name="T32" fmla="*/ 1237 w 2176"/>
              <a:gd name="T33" fmla="*/ 91 h 546"/>
              <a:gd name="T34" fmla="*/ 1293 w 2176"/>
              <a:gd name="T35" fmla="*/ 81 h 546"/>
              <a:gd name="T36" fmla="*/ 1216 w 2176"/>
              <a:gd name="T37" fmla="*/ 536 h 546"/>
              <a:gd name="T38" fmla="*/ 1216 w 2176"/>
              <a:gd name="T39" fmla="*/ 175 h 546"/>
              <a:gd name="T40" fmla="*/ 1457 w 2176"/>
              <a:gd name="T41" fmla="*/ 536 h 546"/>
              <a:gd name="T42" fmla="*/ 1376 w 2176"/>
              <a:gd name="T43" fmla="*/ 536 h 546"/>
              <a:gd name="T44" fmla="*/ 729 w 2176"/>
              <a:gd name="T45" fmla="*/ 213 h 546"/>
              <a:gd name="T46" fmla="*/ 573 w 2176"/>
              <a:gd name="T47" fmla="*/ 163 h 546"/>
              <a:gd name="T48" fmla="*/ 491 w 2176"/>
              <a:gd name="T49" fmla="*/ 226 h 546"/>
              <a:gd name="T50" fmla="*/ 460 w 2176"/>
              <a:gd name="T51" fmla="*/ 2 h 546"/>
              <a:gd name="T52" fmla="*/ 489 w 2176"/>
              <a:gd name="T53" fmla="*/ 537 h 546"/>
              <a:gd name="T54" fmla="*/ 509 w 2176"/>
              <a:gd name="T55" fmla="*/ 512 h 546"/>
              <a:gd name="T56" fmla="*/ 596 w 2176"/>
              <a:gd name="T57" fmla="*/ 546 h 546"/>
              <a:gd name="T58" fmla="*/ 754 w 2176"/>
              <a:gd name="T59" fmla="*/ 423 h 546"/>
              <a:gd name="T60" fmla="*/ 671 w 2176"/>
              <a:gd name="T61" fmla="*/ 400 h 546"/>
              <a:gd name="T62" fmla="*/ 578 w 2176"/>
              <a:gd name="T63" fmla="*/ 478 h 546"/>
              <a:gd name="T64" fmla="*/ 495 w 2176"/>
              <a:gd name="T65" fmla="*/ 421 h 546"/>
              <a:gd name="T66" fmla="*/ 496 w 2176"/>
              <a:gd name="T67" fmla="*/ 291 h 546"/>
              <a:gd name="T68" fmla="*/ 586 w 2176"/>
              <a:gd name="T69" fmla="*/ 226 h 546"/>
              <a:gd name="T70" fmla="*/ 672 w 2176"/>
              <a:gd name="T71" fmla="*/ 293 h 546"/>
              <a:gd name="T72" fmla="*/ 1866 w 2176"/>
              <a:gd name="T73" fmla="*/ 2 h 546"/>
              <a:gd name="T74" fmla="*/ 1783 w 2176"/>
              <a:gd name="T75" fmla="*/ 220 h 546"/>
              <a:gd name="T76" fmla="*/ 1716 w 2176"/>
              <a:gd name="T77" fmla="*/ 171 h 546"/>
              <a:gd name="T78" fmla="*/ 1561 w 2176"/>
              <a:gd name="T79" fmla="*/ 220 h 546"/>
              <a:gd name="T80" fmla="*/ 1526 w 2176"/>
              <a:gd name="T81" fmla="*/ 443 h 546"/>
              <a:gd name="T82" fmla="*/ 1665 w 2176"/>
              <a:gd name="T83" fmla="*/ 546 h 546"/>
              <a:gd name="T84" fmla="*/ 1763 w 2176"/>
              <a:gd name="T85" fmla="*/ 507 h 546"/>
              <a:gd name="T86" fmla="*/ 1785 w 2176"/>
              <a:gd name="T87" fmla="*/ 537 h 546"/>
              <a:gd name="T88" fmla="*/ 1778 w 2176"/>
              <a:gd name="T89" fmla="*/ 413 h 546"/>
              <a:gd name="T90" fmla="*/ 1692 w 2176"/>
              <a:gd name="T91" fmla="*/ 479 h 546"/>
              <a:gd name="T92" fmla="*/ 1607 w 2176"/>
              <a:gd name="T93" fmla="*/ 414 h 546"/>
              <a:gd name="T94" fmla="*/ 1624 w 2176"/>
              <a:gd name="T95" fmla="*/ 269 h 546"/>
              <a:gd name="T96" fmla="*/ 1732 w 2176"/>
              <a:gd name="T97" fmla="*/ 241 h 546"/>
              <a:gd name="T98" fmla="*/ 1786 w 2176"/>
              <a:gd name="T99" fmla="*/ 326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76" h="546">
                <a:moveTo>
                  <a:pt x="163" y="538"/>
                </a:moveTo>
                <a:cubicBezTo>
                  <a:pt x="116" y="538"/>
                  <a:pt x="116" y="538"/>
                  <a:pt x="116" y="538"/>
                </a:cubicBezTo>
                <a:cubicBezTo>
                  <a:pt x="336" y="2"/>
                  <a:pt x="336" y="2"/>
                  <a:pt x="336" y="2"/>
                </a:cubicBezTo>
                <a:cubicBezTo>
                  <a:pt x="384" y="2"/>
                  <a:pt x="384" y="2"/>
                  <a:pt x="384" y="2"/>
                </a:cubicBezTo>
                <a:lnTo>
                  <a:pt x="163" y="538"/>
                </a:lnTo>
                <a:close/>
                <a:moveTo>
                  <a:pt x="269" y="2"/>
                </a:moveTo>
                <a:cubicBezTo>
                  <a:pt x="221" y="2"/>
                  <a:pt x="221" y="2"/>
                  <a:pt x="221" y="2"/>
                </a:cubicBezTo>
                <a:cubicBezTo>
                  <a:pt x="0" y="538"/>
                  <a:pt x="0" y="538"/>
                  <a:pt x="0" y="538"/>
                </a:cubicBezTo>
                <a:cubicBezTo>
                  <a:pt x="48" y="538"/>
                  <a:pt x="48" y="538"/>
                  <a:pt x="48" y="538"/>
                </a:cubicBezTo>
                <a:lnTo>
                  <a:pt x="269" y="2"/>
                </a:lnTo>
                <a:close/>
                <a:moveTo>
                  <a:pt x="2176" y="2"/>
                </a:moveTo>
                <a:cubicBezTo>
                  <a:pt x="2128" y="2"/>
                  <a:pt x="2128" y="2"/>
                  <a:pt x="2128" y="2"/>
                </a:cubicBezTo>
                <a:cubicBezTo>
                  <a:pt x="1908" y="538"/>
                  <a:pt x="1908" y="538"/>
                  <a:pt x="1908" y="538"/>
                </a:cubicBezTo>
                <a:cubicBezTo>
                  <a:pt x="1955" y="538"/>
                  <a:pt x="1955" y="538"/>
                  <a:pt x="1955" y="538"/>
                </a:cubicBezTo>
                <a:lnTo>
                  <a:pt x="2176" y="2"/>
                </a:lnTo>
                <a:close/>
                <a:moveTo>
                  <a:pt x="1131" y="536"/>
                </a:moveTo>
                <a:cubicBezTo>
                  <a:pt x="1131" y="175"/>
                  <a:pt x="1131" y="175"/>
                  <a:pt x="1131" y="175"/>
                </a:cubicBezTo>
                <a:cubicBezTo>
                  <a:pt x="1049" y="175"/>
                  <a:pt x="1049" y="175"/>
                  <a:pt x="1049" y="175"/>
                </a:cubicBezTo>
                <a:cubicBezTo>
                  <a:pt x="1049" y="384"/>
                  <a:pt x="1049" y="384"/>
                  <a:pt x="1049" y="384"/>
                </a:cubicBezTo>
                <a:cubicBezTo>
                  <a:pt x="1049" y="399"/>
                  <a:pt x="1047" y="412"/>
                  <a:pt x="1042" y="424"/>
                </a:cubicBezTo>
                <a:cubicBezTo>
                  <a:pt x="1038" y="436"/>
                  <a:pt x="1032" y="446"/>
                  <a:pt x="1025" y="454"/>
                </a:cubicBezTo>
                <a:cubicBezTo>
                  <a:pt x="1017" y="462"/>
                  <a:pt x="1009" y="468"/>
                  <a:pt x="999" y="472"/>
                </a:cubicBezTo>
                <a:cubicBezTo>
                  <a:pt x="989" y="476"/>
                  <a:pt x="978" y="478"/>
                  <a:pt x="967" y="478"/>
                </a:cubicBezTo>
                <a:cubicBezTo>
                  <a:pt x="956" y="478"/>
                  <a:pt x="946" y="476"/>
                  <a:pt x="937" y="473"/>
                </a:cubicBezTo>
                <a:cubicBezTo>
                  <a:pt x="927" y="470"/>
                  <a:pt x="920" y="464"/>
                  <a:pt x="913" y="457"/>
                </a:cubicBezTo>
                <a:cubicBezTo>
                  <a:pt x="906" y="449"/>
                  <a:pt x="901" y="440"/>
                  <a:pt x="897" y="428"/>
                </a:cubicBezTo>
                <a:cubicBezTo>
                  <a:pt x="894" y="416"/>
                  <a:pt x="892" y="401"/>
                  <a:pt x="892" y="384"/>
                </a:cubicBezTo>
                <a:cubicBezTo>
                  <a:pt x="892" y="175"/>
                  <a:pt x="892" y="175"/>
                  <a:pt x="892" y="175"/>
                </a:cubicBezTo>
                <a:cubicBezTo>
                  <a:pt x="809" y="175"/>
                  <a:pt x="809" y="175"/>
                  <a:pt x="809" y="175"/>
                </a:cubicBezTo>
                <a:cubicBezTo>
                  <a:pt x="809" y="394"/>
                  <a:pt x="809" y="394"/>
                  <a:pt x="809" y="394"/>
                </a:cubicBezTo>
                <a:cubicBezTo>
                  <a:pt x="809" y="444"/>
                  <a:pt x="821" y="482"/>
                  <a:pt x="843" y="507"/>
                </a:cubicBezTo>
                <a:cubicBezTo>
                  <a:pt x="865" y="532"/>
                  <a:pt x="897" y="545"/>
                  <a:pt x="939" y="545"/>
                </a:cubicBezTo>
                <a:cubicBezTo>
                  <a:pt x="951" y="545"/>
                  <a:pt x="963" y="543"/>
                  <a:pt x="975" y="540"/>
                </a:cubicBezTo>
                <a:cubicBezTo>
                  <a:pt x="986" y="537"/>
                  <a:pt x="996" y="532"/>
                  <a:pt x="1005" y="526"/>
                </a:cubicBezTo>
                <a:cubicBezTo>
                  <a:pt x="1014" y="521"/>
                  <a:pt x="1022" y="514"/>
                  <a:pt x="1029" y="506"/>
                </a:cubicBezTo>
                <a:cubicBezTo>
                  <a:pt x="1037" y="499"/>
                  <a:pt x="1043" y="490"/>
                  <a:pt x="1048" y="482"/>
                </a:cubicBezTo>
                <a:cubicBezTo>
                  <a:pt x="1049" y="482"/>
                  <a:pt x="1049" y="482"/>
                  <a:pt x="1049" y="482"/>
                </a:cubicBezTo>
                <a:cubicBezTo>
                  <a:pt x="1049" y="536"/>
                  <a:pt x="1049" y="536"/>
                  <a:pt x="1049" y="536"/>
                </a:cubicBezTo>
                <a:lnTo>
                  <a:pt x="1131" y="536"/>
                </a:lnTo>
                <a:close/>
                <a:moveTo>
                  <a:pt x="1307" y="48"/>
                </a:moveTo>
                <a:cubicBezTo>
                  <a:pt x="1307" y="41"/>
                  <a:pt x="1306" y="35"/>
                  <a:pt x="1303" y="29"/>
                </a:cubicBezTo>
                <a:cubicBezTo>
                  <a:pt x="1301" y="23"/>
                  <a:pt x="1297" y="18"/>
                  <a:pt x="1293" y="14"/>
                </a:cubicBezTo>
                <a:cubicBezTo>
                  <a:pt x="1288" y="9"/>
                  <a:pt x="1283" y="6"/>
                  <a:pt x="1277" y="3"/>
                </a:cubicBezTo>
                <a:cubicBezTo>
                  <a:pt x="1271" y="1"/>
                  <a:pt x="1264" y="0"/>
                  <a:pt x="1257" y="0"/>
                </a:cubicBezTo>
                <a:cubicBezTo>
                  <a:pt x="1250" y="0"/>
                  <a:pt x="1244" y="1"/>
                  <a:pt x="1238" y="3"/>
                </a:cubicBezTo>
                <a:cubicBezTo>
                  <a:pt x="1232" y="6"/>
                  <a:pt x="1226" y="9"/>
                  <a:pt x="1222" y="13"/>
                </a:cubicBezTo>
                <a:cubicBezTo>
                  <a:pt x="1217" y="18"/>
                  <a:pt x="1214" y="23"/>
                  <a:pt x="1211" y="29"/>
                </a:cubicBezTo>
                <a:cubicBezTo>
                  <a:pt x="1209" y="34"/>
                  <a:pt x="1207" y="41"/>
                  <a:pt x="1207" y="48"/>
                </a:cubicBezTo>
                <a:cubicBezTo>
                  <a:pt x="1207" y="54"/>
                  <a:pt x="1209" y="60"/>
                  <a:pt x="1211" y="66"/>
                </a:cubicBezTo>
                <a:cubicBezTo>
                  <a:pt x="1214" y="72"/>
                  <a:pt x="1217" y="77"/>
                  <a:pt x="1221" y="81"/>
                </a:cubicBezTo>
                <a:cubicBezTo>
                  <a:pt x="1226" y="85"/>
                  <a:pt x="1231" y="88"/>
                  <a:pt x="1237" y="91"/>
                </a:cubicBezTo>
                <a:cubicBezTo>
                  <a:pt x="1243" y="93"/>
                  <a:pt x="1250" y="95"/>
                  <a:pt x="1257" y="95"/>
                </a:cubicBezTo>
                <a:cubicBezTo>
                  <a:pt x="1264" y="95"/>
                  <a:pt x="1271" y="93"/>
                  <a:pt x="1277" y="91"/>
                </a:cubicBezTo>
                <a:cubicBezTo>
                  <a:pt x="1283" y="88"/>
                  <a:pt x="1289" y="85"/>
                  <a:pt x="1293" y="81"/>
                </a:cubicBezTo>
                <a:cubicBezTo>
                  <a:pt x="1297" y="77"/>
                  <a:pt x="1301" y="72"/>
                  <a:pt x="1303" y="66"/>
                </a:cubicBezTo>
                <a:cubicBezTo>
                  <a:pt x="1306" y="60"/>
                  <a:pt x="1307" y="54"/>
                  <a:pt x="1307" y="48"/>
                </a:cubicBezTo>
                <a:moveTo>
                  <a:pt x="1216" y="536"/>
                </a:moveTo>
                <a:cubicBezTo>
                  <a:pt x="1297" y="536"/>
                  <a:pt x="1297" y="536"/>
                  <a:pt x="1297" y="536"/>
                </a:cubicBezTo>
                <a:cubicBezTo>
                  <a:pt x="1297" y="175"/>
                  <a:pt x="1297" y="175"/>
                  <a:pt x="1297" y="175"/>
                </a:cubicBezTo>
                <a:cubicBezTo>
                  <a:pt x="1216" y="175"/>
                  <a:pt x="1216" y="175"/>
                  <a:pt x="1216" y="175"/>
                </a:cubicBezTo>
                <a:lnTo>
                  <a:pt x="1216" y="536"/>
                </a:lnTo>
                <a:close/>
                <a:moveTo>
                  <a:pt x="1376" y="536"/>
                </a:moveTo>
                <a:cubicBezTo>
                  <a:pt x="1457" y="536"/>
                  <a:pt x="1457" y="536"/>
                  <a:pt x="1457" y="536"/>
                </a:cubicBezTo>
                <a:cubicBezTo>
                  <a:pt x="1457" y="2"/>
                  <a:pt x="1457" y="2"/>
                  <a:pt x="1457" y="2"/>
                </a:cubicBezTo>
                <a:cubicBezTo>
                  <a:pt x="1376" y="2"/>
                  <a:pt x="1376" y="2"/>
                  <a:pt x="1376" y="2"/>
                </a:cubicBezTo>
                <a:lnTo>
                  <a:pt x="1376" y="536"/>
                </a:lnTo>
                <a:close/>
                <a:moveTo>
                  <a:pt x="765" y="342"/>
                </a:moveTo>
                <a:cubicBezTo>
                  <a:pt x="765" y="317"/>
                  <a:pt x="762" y="294"/>
                  <a:pt x="756" y="272"/>
                </a:cubicBezTo>
                <a:cubicBezTo>
                  <a:pt x="750" y="249"/>
                  <a:pt x="741" y="230"/>
                  <a:pt x="729" y="213"/>
                </a:cubicBezTo>
                <a:cubicBezTo>
                  <a:pt x="717" y="196"/>
                  <a:pt x="701" y="183"/>
                  <a:pt x="682" y="173"/>
                </a:cubicBezTo>
                <a:cubicBezTo>
                  <a:pt x="663" y="163"/>
                  <a:pt x="640" y="158"/>
                  <a:pt x="613" y="158"/>
                </a:cubicBezTo>
                <a:cubicBezTo>
                  <a:pt x="599" y="158"/>
                  <a:pt x="585" y="160"/>
                  <a:pt x="573" y="163"/>
                </a:cubicBezTo>
                <a:cubicBezTo>
                  <a:pt x="561" y="166"/>
                  <a:pt x="549" y="171"/>
                  <a:pt x="539" y="177"/>
                </a:cubicBezTo>
                <a:cubicBezTo>
                  <a:pt x="529" y="183"/>
                  <a:pt x="520" y="190"/>
                  <a:pt x="512" y="199"/>
                </a:cubicBezTo>
                <a:cubicBezTo>
                  <a:pt x="504" y="207"/>
                  <a:pt x="497" y="216"/>
                  <a:pt x="491" y="226"/>
                </a:cubicBezTo>
                <a:cubicBezTo>
                  <a:pt x="489" y="226"/>
                  <a:pt x="489" y="226"/>
                  <a:pt x="489" y="226"/>
                </a:cubicBezTo>
                <a:cubicBezTo>
                  <a:pt x="489" y="2"/>
                  <a:pt x="489" y="2"/>
                  <a:pt x="489" y="2"/>
                </a:cubicBezTo>
                <a:cubicBezTo>
                  <a:pt x="460" y="2"/>
                  <a:pt x="460" y="2"/>
                  <a:pt x="460" y="2"/>
                </a:cubicBezTo>
                <a:cubicBezTo>
                  <a:pt x="406" y="133"/>
                  <a:pt x="406" y="133"/>
                  <a:pt x="406" y="133"/>
                </a:cubicBezTo>
                <a:cubicBezTo>
                  <a:pt x="406" y="537"/>
                  <a:pt x="406" y="537"/>
                  <a:pt x="406" y="537"/>
                </a:cubicBezTo>
                <a:cubicBezTo>
                  <a:pt x="489" y="537"/>
                  <a:pt x="489" y="537"/>
                  <a:pt x="489" y="537"/>
                </a:cubicBezTo>
                <a:cubicBezTo>
                  <a:pt x="489" y="490"/>
                  <a:pt x="489" y="490"/>
                  <a:pt x="489" y="490"/>
                </a:cubicBezTo>
                <a:cubicBezTo>
                  <a:pt x="491" y="490"/>
                  <a:pt x="491" y="490"/>
                  <a:pt x="491" y="490"/>
                </a:cubicBezTo>
                <a:cubicBezTo>
                  <a:pt x="496" y="498"/>
                  <a:pt x="502" y="505"/>
                  <a:pt x="509" y="512"/>
                </a:cubicBezTo>
                <a:cubicBezTo>
                  <a:pt x="515" y="519"/>
                  <a:pt x="523" y="525"/>
                  <a:pt x="532" y="530"/>
                </a:cubicBezTo>
                <a:cubicBezTo>
                  <a:pt x="540" y="535"/>
                  <a:pt x="550" y="539"/>
                  <a:pt x="561" y="542"/>
                </a:cubicBezTo>
                <a:cubicBezTo>
                  <a:pt x="571" y="544"/>
                  <a:pt x="583" y="546"/>
                  <a:pt x="596" y="546"/>
                </a:cubicBezTo>
                <a:cubicBezTo>
                  <a:pt x="623" y="546"/>
                  <a:pt x="647" y="541"/>
                  <a:pt x="668" y="530"/>
                </a:cubicBezTo>
                <a:cubicBezTo>
                  <a:pt x="689" y="520"/>
                  <a:pt x="707" y="506"/>
                  <a:pt x="721" y="488"/>
                </a:cubicBezTo>
                <a:cubicBezTo>
                  <a:pt x="736" y="470"/>
                  <a:pt x="747" y="448"/>
                  <a:pt x="754" y="423"/>
                </a:cubicBezTo>
                <a:cubicBezTo>
                  <a:pt x="761" y="398"/>
                  <a:pt x="765" y="371"/>
                  <a:pt x="765" y="342"/>
                </a:cubicBezTo>
                <a:moveTo>
                  <a:pt x="678" y="341"/>
                </a:moveTo>
                <a:cubicBezTo>
                  <a:pt x="678" y="363"/>
                  <a:pt x="676" y="383"/>
                  <a:pt x="671" y="400"/>
                </a:cubicBezTo>
                <a:cubicBezTo>
                  <a:pt x="667" y="418"/>
                  <a:pt x="660" y="432"/>
                  <a:pt x="651" y="443"/>
                </a:cubicBezTo>
                <a:cubicBezTo>
                  <a:pt x="643" y="455"/>
                  <a:pt x="632" y="463"/>
                  <a:pt x="620" y="469"/>
                </a:cubicBezTo>
                <a:cubicBezTo>
                  <a:pt x="607" y="475"/>
                  <a:pt x="593" y="478"/>
                  <a:pt x="578" y="478"/>
                </a:cubicBezTo>
                <a:cubicBezTo>
                  <a:pt x="565" y="478"/>
                  <a:pt x="553" y="475"/>
                  <a:pt x="542" y="470"/>
                </a:cubicBezTo>
                <a:cubicBezTo>
                  <a:pt x="531" y="466"/>
                  <a:pt x="522" y="459"/>
                  <a:pt x="514" y="450"/>
                </a:cubicBezTo>
                <a:cubicBezTo>
                  <a:pt x="506" y="442"/>
                  <a:pt x="500" y="432"/>
                  <a:pt x="495" y="421"/>
                </a:cubicBezTo>
                <a:cubicBezTo>
                  <a:pt x="491" y="410"/>
                  <a:pt x="488" y="397"/>
                  <a:pt x="488" y="384"/>
                </a:cubicBezTo>
                <a:cubicBezTo>
                  <a:pt x="488" y="336"/>
                  <a:pt x="488" y="336"/>
                  <a:pt x="488" y="336"/>
                </a:cubicBezTo>
                <a:cubicBezTo>
                  <a:pt x="488" y="319"/>
                  <a:pt x="491" y="304"/>
                  <a:pt x="496" y="291"/>
                </a:cubicBezTo>
                <a:cubicBezTo>
                  <a:pt x="500" y="278"/>
                  <a:pt x="507" y="266"/>
                  <a:pt x="516" y="257"/>
                </a:cubicBezTo>
                <a:cubicBezTo>
                  <a:pt x="524" y="247"/>
                  <a:pt x="534" y="240"/>
                  <a:pt x="546" y="234"/>
                </a:cubicBezTo>
                <a:cubicBezTo>
                  <a:pt x="558" y="229"/>
                  <a:pt x="571" y="226"/>
                  <a:pt x="586" y="226"/>
                </a:cubicBezTo>
                <a:cubicBezTo>
                  <a:pt x="601" y="226"/>
                  <a:pt x="614" y="229"/>
                  <a:pt x="625" y="234"/>
                </a:cubicBezTo>
                <a:cubicBezTo>
                  <a:pt x="636" y="240"/>
                  <a:pt x="646" y="247"/>
                  <a:pt x="654" y="257"/>
                </a:cubicBezTo>
                <a:cubicBezTo>
                  <a:pt x="662" y="267"/>
                  <a:pt x="668" y="279"/>
                  <a:pt x="672" y="293"/>
                </a:cubicBezTo>
                <a:cubicBezTo>
                  <a:pt x="676" y="307"/>
                  <a:pt x="678" y="323"/>
                  <a:pt x="678" y="341"/>
                </a:cubicBezTo>
                <a:moveTo>
                  <a:pt x="1866" y="537"/>
                </a:moveTo>
                <a:cubicBezTo>
                  <a:pt x="1866" y="2"/>
                  <a:pt x="1866" y="2"/>
                  <a:pt x="1866" y="2"/>
                </a:cubicBezTo>
                <a:cubicBezTo>
                  <a:pt x="1785" y="2"/>
                  <a:pt x="1785" y="2"/>
                  <a:pt x="1785" y="2"/>
                </a:cubicBezTo>
                <a:cubicBezTo>
                  <a:pt x="1785" y="220"/>
                  <a:pt x="1785" y="220"/>
                  <a:pt x="1785" y="220"/>
                </a:cubicBezTo>
                <a:cubicBezTo>
                  <a:pt x="1783" y="220"/>
                  <a:pt x="1783" y="220"/>
                  <a:pt x="1783" y="220"/>
                </a:cubicBezTo>
                <a:cubicBezTo>
                  <a:pt x="1779" y="213"/>
                  <a:pt x="1773" y="206"/>
                  <a:pt x="1767" y="199"/>
                </a:cubicBezTo>
                <a:cubicBezTo>
                  <a:pt x="1760" y="192"/>
                  <a:pt x="1753" y="187"/>
                  <a:pt x="1744" y="182"/>
                </a:cubicBezTo>
                <a:cubicBezTo>
                  <a:pt x="1736" y="177"/>
                  <a:pt x="1726" y="173"/>
                  <a:pt x="1716" y="171"/>
                </a:cubicBezTo>
                <a:cubicBezTo>
                  <a:pt x="1705" y="168"/>
                  <a:pt x="1693" y="167"/>
                  <a:pt x="1681" y="167"/>
                </a:cubicBezTo>
                <a:cubicBezTo>
                  <a:pt x="1656" y="167"/>
                  <a:pt x="1633" y="171"/>
                  <a:pt x="1613" y="181"/>
                </a:cubicBezTo>
                <a:cubicBezTo>
                  <a:pt x="1592" y="190"/>
                  <a:pt x="1575" y="203"/>
                  <a:pt x="1561" y="220"/>
                </a:cubicBezTo>
                <a:cubicBezTo>
                  <a:pt x="1546" y="238"/>
                  <a:pt x="1535" y="259"/>
                  <a:pt x="1527" y="283"/>
                </a:cubicBezTo>
                <a:cubicBezTo>
                  <a:pt x="1519" y="308"/>
                  <a:pt x="1515" y="335"/>
                  <a:pt x="1515" y="365"/>
                </a:cubicBezTo>
                <a:cubicBezTo>
                  <a:pt x="1515" y="394"/>
                  <a:pt x="1519" y="420"/>
                  <a:pt x="1526" y="443"/>
                </a:cubicBezTo>
                <a:cubicBezTo>
                  <a:pt x="1534" y="465"/>
                  <a:pt x="1544" y="484"/>
                  <a:pt x="1558" y="500"/>
                </a:cubicBezTo>
                <a:cubicBezTo>
                  <a:pt x="1571" y="515"/>
                  <a:pt x="1587" y="526"/>
                  <a:pt x="1605" y="534"/>
                </a:cubicBezTo>
                <a:cubicBezTo>
                  <a:pt x="1624" y="542"/>
                  <a:pt x="1643" y="546"/>
                  <a:pt x="1665" y="546"/>
                </a:cubicBezTo>
                <a:cubicBezTo>
                  <a:pt x="1679" y="546"/>
                  <a:pt x="1693" y="544"/>
                  <a:pt x="1705" y="541"/>
                </a:cubicBezTo>
                <a:cubicBezTo>
                  <a:pt x="1717" y="538"/>
                  <a:pt x="1728" y="533"/>
                  <a:pt x="1737" y="528"/>
                </a:cubicBezTo>
                <a:cubicBezTo>
                  <a:pt x="1747" y="522"/>
                  <a:pt x="1756" y="515"/>
                  <a:pt x="1763" y="507"/>
                </a:cubicBezTo>
                <a:cubicBezTo>
                  <a:pt x="1771" y="499"/>
                  <a:pt x="1778" y="490"/>
                  <a:pt x="1783" y="480"/>
                </a:cubicBezTo>
                <a:cubicBezTo>
                  <a:pt x="1785" y="480"/>
                  <a:pt x="1785" y="480"/>
                  <a:pt x="1785" y="480"/>
                </a:cubicBezTo>
                <a:cubicBezTo>
                  <a:pt x="1785" y="537"/>
                  <a:pt x="1785" y="537"/>
                  <a:pt x="1785" y="537"/>
                </a:cubicBezTo>
                <a:lnTo>
                  <a:pt x="1866" y="537"/>
                </a:lnTo>
                <a:close/>
                <a:moveTo>
                  <a:pt x="1786" y="366"/>
                </a:moveTo>
                <a:cubicBezTo>
                  <a:pt x="1786" y="384"/>
                  <a:pt x="1783" y="399"/>
                  <a:pt x="1778" y="413"/>
                </a:cubicBezTo>
                <a:cubicBezTo>
                  <a:pt x="1773" y="427"/>
                  <a:pt x="1767" y="439"/>
                  <a:pt x="1758" y="449"/>
                </a:cubicBezTo>
                <a:cubicBezTo>
                  <a:pt x="1750" y="458"/>
                  <a:pt x="1740" y="466"/>
                  <a:pt x="1728" y="471"/>
                </a:cubicBezTo>
                <a:cubicBezTo>
                  <a:pt x="1717" y="476"/>
                  <a:pt x="1705" y="479"/>
                  <a:pt x="1692" y="479"/>
                </a:cubicBezTo>
                <a:cubicBezTo>
                  <a:pt x="1679" y="479"/>
                  <a:pt x="1667" y="477"/>
                  <a:pt x="1656" y="472"/>
                </a:cubicBezTo>
                <a:cubicBezTo>
                  <a:pt x="1644" y="467"/>
                  <a:pt x="1635" y="460"/>
                  <a:pt x="1626" y="450"/>
                </a:cubicBezTo>
                <a:cubicBezTo>
                  <a:pt x="1618" y="440"/>
                  <a:pt x="1612" y="428"/>
                  <a:pt x="1607" y="414"/>
                </a:cubicBezTo>
                <a:cubicBezTo>
                  <a:pt x="1602" y="399"/>
                  <a:pt x="1600" y="382"/>
                  <a:pt x="1600" y="363"/>
                </a:cubicBezTo>
                <a:cubicBezTo>
                  <a:pt x="1600" y="343"/>
                  <a:pt x="1602" y="325"/>
                  <a:pt x="1606" y="309"/>
                </a:cubicBezTo>
                <a:cubicBezTo>
                  <a:pt x="1610" y="294"/>
                  <a:pt x="1616" y="280"/>
                  <a:pt x="1624" y="269"/>
                </a:cubicBezTo>
                <a:cubicBezTo>
                  <a:pt x="1632" y="257"/>
                  <a:pt x="1642" y="249"/>
                  <a:pt x="1654" y="242"/>
                </a:cubicBezTo>
                <a:cubicBezTo>
                  <a:pt x="1667" y="236"/>
                  <a:pt x="1681" y="233"/>
                  <a:pt x="1697" y="233"/>
                </a:cubicBezTo>
                <a:cubicBezTo>
                  <a:pt x="1709" y="233"/>
                  <a:pt x="1721" y="236"/>
                  <a:pt x="1732" y="241"/>
                </a:cubicBezTo>
                <a:cubicBezTo>
                  <a:pt x="1743" y="245"/>
                  <a:pt x="1752" y="252"/>
                  <a:pt x="1760" y="260"/>
                </a:cubicBezTo>
                <a:cubicBezTo>
                  <a:pt x="1768" y="269"/>
                  <a:pt x="1774" y="279"/>
                  <a:pt x="1779" y="290"/>
                </a:cubicBezTo>
                <a:cubicBezTo>
                  <a:pt x="1783" y="301"/>
                  <a:pt x="1786" y="313"/>
                  <a:pt x="1786" y="326"/>
                </a:cubicBezTo>
                <a:lnTo>
                  <a:pt x="1786" y="366"/>
                </a:lnTo>
                <a:close/>
              </a:path>
            </a:pathLst>
          </a:custGeom>
          <a:solidFill>
            <a:srgbClr val="404040"/>
          </a:solidFill>
          <a:ln>
            <a:noFill/>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6" name="Text Placeholder 2"/>
          <p:cNvSpPr>
            <a:spLocks noGrp="1"/>
          </p:cNvSpPr>
          <p:nvPr>
            <p:ph type="body" sz="quarter" idx="13" hasCustomPrompt="1"/>
          </p:nvPr>
        </p:nvSpPr>
        <p:spPr>
          <a:xfrm>
            <a:off x="274702" y="307621"/>
            <a:ext cx="3656013" cy="572464"/>
          </a:xfrm>
        </p:spPr>
        <p:txBody>
          <a:bodyPr lIns="182880" tIns="146304" rIns="182880" bIns="146304"/>
          <a:lstStyle>
            <a:lvl1pPr marL="0" indent="0">
              <a:buNone/>
              <a:defRPr sz="2000">
                <a:latin typeface="+mn-lt"/>
              </a:defRPr>
            </a:lvl1pPr>
            <a:lvl2pPr marL="342900" indent="0">
              <a:buNone/>
              <a:defRPr sz="2000"/>
            </a:lvl2pPr>
            <a:lvl3pPr marL="571500" indent="0">
              <a:buNone/>
              <a:defRPr sz="2000"/>
            </a:lvl3pPr>
            <a:lvl4pPr marL="800100" indent="0">
              <a:buNone/>
              <a:defRPr sz="2000"/>
            </a:lvl4pPr>
            <a:lvl5pPr marL="1028700" indent="0">
              <a:buNone/>
              <a:defRPr sz="2000"/>
            </a:lvl5pPr>
          </a:lstStyle>
          <a:p>
            <a:pPr lvl="0"/>
            <a:r>
              <a:rPr lang="en-US" dirty="0" smtClean="0"/>
              <a:t>Session Code Here</a:t>
            </a:r>
            <a:endParaRPr lang="en-US" dirty="0"/>
          </a:p>
        </p:txBody>
      </p:sp>
    </p:spTree>
    <p:extLst>
      <p:ext uri="{BB962C8B-B14F-4D97-AF65-F5344CB8AC3E}">
        <p14:creationId xmlns:p14="http://schemas.microsoft.com/office/powerpoint/2010/main" val="23177806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4406">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228302"/>
          </a:xfrm>
        </p:spPr>
        <p:txBody>
          <a:bodyPr>
            <a:spAutoFit/>
          </a:bodyPr>
          <a:lstStyle>
            <a:lvl3pPr>
              <a:defRPr sz="2400"/>
            </a:lvl3pPr>
            <a:lvl4pPr>
              <a:defRPr sz="2000"/>
            </a:lvl4pPr>
            <a:lvl5pPr>
              <a:defRPr sz="20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
        <p:nvSpPr>
          <p:cNvPr id="5" name="TextBox 7"/>
          <p:cNvSpPr txBox="1"/>
          <p:nvPr userDrawn="1"/>
        </p:nvSpPr>
        <p:spPr bwMode="white">
          <a:xfrm>
            <a:off x="4418866" y="6697627"/>
            <a:ext cx="3598742"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1050" b="0" spc="150" baseline="0" dirty="0" smtClean="0">
                <a:gradFill>
                  <a:gsLst>
                    <a:gs pos="0">
                      <a:schemeClr val="tx1">
                        <a:alpha val="50000"/>
                      </a:schemeClr>
                    </a:gs>
                    <a:gs pos="86000">
                      <a:schemeClr val="tx1">
                        <a:alpha val="50000"/>
                      </a:schemeClr>
                    </a:gs>
                  </a:gsLst>
                  <a:lin ang="5400000" scaled="0"/>
                </a:gradFill>
                <a:latin typeface="Segoe Semibold" pitchFamily="34" charset="0"/>
              </a:rPr>
              <a:t>MICROSOFT CONFIDENTIAL – INTERNAL ONLY</a:t>
            </a:r>
          </a:p>
        </p:txBody>
      </p:sp>
    </p:spTree>
    <p:extLst>
      <p:ext uri="{BB962C8B-B14F-4D97-AF65-F5344CB8AC3E}">
        <p14:creationId xmlns:p14="http://schemas.microsoft.com/office/powerpoint/2010/main" val="2704126800"/>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 2">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383628" y="1668463"/>
            <a:ext cx="8778210" cy="5029200"/>
          </a:xfrm>
        </p:spPr>
        <p:txBody>
          <a:bodyPr wrap="square">
            <a:noAutofit/>
          </a:bodyPr>
          <a:lstStyle>
            <a:lvl3pPr>
              <a:defRPr sz="2400"/>
            </a:lvl3pPr>
            <a:lvl4pPr>
              <a:defRPr sz="2000"/>
            </a:lvl4pPr>
            <a:lvl5pPr>
              <a:defRPr sz="20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sz="quarter" idx="11"/>
          </p:nvPr>
        </p:nvSpPr>
        <p:spPr>
          <a:xfrm>
            <a:off x="283148" y="1668463"/>
            <a:ext cx="2743200" cy="5029200"/>
          </a:xfrm>
        </p:spPr>
        <p:txBody>
          <a:bodyPr>
            <a:noAutofit/>
          </a:bodyPr>
          <a:lstStyle>
            <a:lvl1pPr marL="0" indent="0">
              <a:buNone/>
              <a:defRPr kumimoji="0" lang="en-US" sz="2400" b="0" i="0" u="none" strike="noStrike" kern="1200" cap="none" spc="0" normalizeH="0" baseline="0" dirty="0" smtClean="0">
                <a:ln>
                  <a:noFill/>
                </a:ln>
                <a:gradFill>
                  <a:gsLst>
                    <a:gs pos="100000">
                      <a:srgbClr val="000000">
                        <a:lumMod val="75000"/>
                        <a:lumOff val="25000"/>
                      </a:srgbClr>
                    </a:gs>
                    <a:gs pos="0">
                      <a:srgbClr val="000000">
                        <a:lumMod val="75000"/>
                        <a:lumOff val="25000"/>
                      </a:srgbClr>
                    </a:gs>
                  </a:gsLst>
                  <a:lin ang="5400000" scaled="0"/>
                </a:gradFill>
                <a:effectLst/>
                <a:uLnTx/>
                <a:uFillTx/>
                <a:latin typeface="+mn-lt"/>
                <a:ea typeface="+mj-ea"/>
                <a:cs typeface="+mj-cs"/>
              </a:defRPr>
            </a:lvl1pPr>
          </a:lstStyle>
          <a:p>
            <a:pPr marL="0" marR="0" lvl="0" indent="0" algn="l" defTabSz="914166" rtl="0" eaLnBrk="1" fontAlgn="auto" latinLnBrk="0" hangingPunct="1">
              <a:lnSpc>
                <a:spcPct val="100000"/>
              </a:lnSpc>
              <a:spcBef>
                <a:spcPct val="0"/>
              </a:spcBef>
              <a:spcAft>
                <a:spcPts val="0"/>
              </a:spcAft>
              <a:buClrTx/>
              <a:buSzTx/>
              <a:tabLst/>
              <a:defRPr/>
            </a:pPr>
            <a:r>
              <a:rPr lang="en-US" smtClean="0"/>
              <a:t>Edit Master text styles</a:t>
            </a:r>
          </a:p>
        </p:txBody>
      </p:sp>
    </p:spTree>
    <p:extLst>
      <p:ext uri="{BB962C8B-B14F-4D97-AF65-F5344CB8AC3E}">
        <p14:creationId xmlns:p14="http://schemas.microsoft.com/office/powerpoint/2010/main" val="4062067128"/>
      </p:ext>
    </p:extLst>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ext Only Large">
    <p:spTree>
      <p:nvGrpSpPr>
        <p:cNvPr id="1" name=""/>
        <p:cNvGrpSpPr/>
        <p:nvPr/>
      </p:nvGrpSpPr>
      <p:grpSpPr>
        <a:xfrm>
          <a:off x="0" y="0"/>
          <a:ext cx="0" cy="0"/>
          <a:chOff x="0" y="0"/>
          <a:chExt cx="0" cy="0"/>
        </a:xfrm>
      </p:grpSpPr>
      <p:sp>
        <p:nvSpPr>
          <p:cNvPr id="2" name="Title 1"/>
          <p:cNvSpPr>
            <a:spLocks noGrp="1"/>
          </p:cNvSpPr>
          <p:nvPr>
            <p:ph type="title"/>
          </p:nvPr>
        </p:nvSpPr>
        <p:spPr>
          <a:xfrm>
            <a:off x="1189038" y="2125663"/>
            <a:ext cx="10058399" cy="1828800"/>
          </a:xfrm>
        </p:spPr>
        <p:txBody>
          <a:bodyPr/>
          <a:lstStyle>
            <a:lvl1pPr>
              <a:defRPr sz="4800" baseline="0"/>
            </a:lvl1pPr>
          </a:lstStyle>
          <a:p>
            <a:r>
              <a:rPr lang="en-US" smtClean="0"/>
              <a:t>Click to edit Master title style</a:t>
            </a:r>
            <a:endParaRPr lang="en-US" dirty="0"/>
          </a:p>
        </p:txBody>
      </p:sp>
    </p:spTree>
    <p:extLst>
      <p:ext uri="{BB962C8B-B14F-4D97-AF65-F5344CB8AC3E}">
        <p14:creationId xmlns:p14="http://schemas.microsoft.com/office/powerpoint/2010/main" val="1176974215"/>
      </p:ext>
    </p:extLst>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sz="quarter" idx="11" hasCustomPrompt="1"/>
          </p:nvPr>
        </p:nvSpPr>
        <p:spPr>
          <a:xfrm>
            <a:off x="283148" y="1668463"/>
            <a:ext cx="2743200" cy="5029200"/>
          </a:xfrm>
        </p:spPr>
        <p:txBody>
          <a:bodyPr>
            <a:noAutofit/>
          </a:bodyPr>
          <a:lstStyle>
            <a:lvl1pPr marL="342900" indent="-342900">
              <a:buNone/>
              <a:defRPr kumimoji="0" lang="en-US" sz="2400" b="0" i="0" u="none" strike="noStrike" kern="1200" cap="none" spc="0" normalizeH="0" baseline="0" dirty="0" smtClean="0">
                <a:ln>
                  <a:noFill/>
                </a:ln>
                <a:gradFill>
                  <a:gsLst>
                    <a:gs pos="100000">
                      <a:srgbClr val="000000">
                        <a:lumMod val="75000"/>
                        <a:lumOff val="25000"/>
                      </a:srgbClr>
                    </a:gs>
                    <a:gs pos="0">
                      <a:srgbClr val="000000">
                        <a:lumMod val="75000"/>
                        <a:lumOff val="25000"/>
                      </a:srgbClr>
                    </a:gs>
                  </a:gsLst>
                  <a:lin ang="5400000" scaled="0"/>
                </a:gradFill>
                <a:effectLst/>
                <a:uLnTx/>
                <a:uFillTx/>
                <a:latin typeface="+mn-lt"/>
                <a:ea typeface="+mj-ea"/>
                <a:cs typeface="+mj-cs"/>
              </a:defRPr>
            </a:lvl1pPr>
          </a:lstStyle>
          <a:p>
            <a:pPr marL="0" marR="0" lvl="0" indent="0" algn="l" defTabSz="914166" rtl="0" eaLnBrk="1" fontAlgn="auto" latinLnBrk="0" hangingPunct="1">
              <a:lnSpc>
                <a:spcPct val="100000"/>
              </a:lnSpc>
              <a:spcBef>
                <a:spcPct val="0"/>
              </a:spcBef>
              <a:spcAft>
                <a:spcPts val="0"/>
              </a:spcAft>
              <a:buClrTx/>
              <a:buSzTx/>
              <a:tabLst/>
              <a:defRPr/>
            </a:pPr>
            <a:r>
              <a:rPr lang="en-US" dirty="0" smtClean="0"/>
              <a:t>Click to edit</a:t>
            </a:r>
            <a:br>
              <a:rPr lang="en-US" dirty="0" smtClean="0"/>
            </a:br>
            <a:r>
              <a:rPr lang="en-US" dirty="0" smtClean="0"/>
              <a:t>Master text styles</a:t>
            </a:r>
          </a:p>
        </p:txBody>
      </p:sp>
    </p:spTree>
    <p:extLst>
      <p:ext uri="{BB962C8B-B14F-4D97-AF65-F5344CB8AC3E}">
        <p14:creationId xmlns:p14="http://schemas.microsoft.com/office/powerpoint/2010/main" val="3502778763"/>
      </p:ext>
    </p:extLst>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lor Shape &amp; Color Background">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wrap="square" lIns="182880" tIns="146304" rIns="182880" bIns="146304" anchor="ctr">
            <a:noAutofit/>
          </a:bodyPr>
          <a:lstStyle>
            <a:lvl1pPr marL="0" indent="0">
              <a:lnSpc>
                <a:spcPct val="95000"/>
              </a:lnSpc>
              <a:spcBef>
                <a:spcPts val="0"/>
              </a:spcBef>
              <a:spcAft>
                <a:spcPts val="1632"/>
              </a:spcAft>
              <a:buNone/>
              <a:defRPr lang="en-US" sz="3600" kern="1200" dirty="0" smtClean="0">
                <a:gradFill>
                  <a:gsLst>
                    <a:gs pos="28302">
                      <a:schemeClr val="tx1">
                        <a:lumMod val="75000"/>
                        <a:lumOff val="25000"/>
                      </a:schemeClr>
                    </a:gs>
                    <a:gs pos="67000">
                      <a:schemeClr val="tx1">
                        <a:lumMod val="75000"/>
                        <a:lumOff val="25000"/>
                      </a:schemeClr>
                    </a:gs>
                  </a:gsLst>
                  <a:lin ang="5400000" scaled="0"/>
                </a:gradFill>
                <a:latin typeface="+mj-lt"/>
                <a:ea typeface="+mn-ea"/>
                <a:cs typeface="+mn-cs"/>
              </a:defRPr>
            </a:lvl1pPr>
            <a:lvl2pPr>
              <a:lnSpc>
                <a:spcPct val="100000"/>
              </a:lnSpc>
              <a:spcBef>
                <a:spcPts val="816"/>
              </a:spcBef>
              <a:defRPr sz="1900">
                <a:solidFill>
                  <a:srgbClr val="FFFFFF"/>
                </a:solidFill>
              </a:defRPr>
            </a:lvl2pPr>
            <a:lvl3pPr>
              <a:lnSpc>
                <a:spcPct val="100000"/>
              </a:lnSpc>
              <a:spcBef>
                <a:spcPts val="816"/>
              </a:spcBef>
              <a:defRPr sz="1900">
                <a:solidFill>
                  <a:srgbClr val="FFFFFF"/>
                </a:solidFill>
              </a:defRPr>
            </a:lvl3pPr>
            <a:lvl4pPr>
              <a:lnSpc>
                <a:spcPct val="100000"/>
              </a:lnSpc>
              <a:spcBef>
                <a:spcPts val="816"/>
              </a:spcBef>
              <a:defRPr sz="1900">
                <a:solidFill>
                  <a:srgbClr val="FFFFFF"/>
                </a:solidFill>
              </a:defRPr>
            </a:lvl4pPr>
            <a:lvl5pPr>
              <a:lnSpc>
                <a:spcPct val="100000"/>
              </a:lnSpc>
              <a:spcBef>
                <a:spcPts val="816"/>
              </a:spcBef>
              <a:defRPr sz="1900">
                <a:solidFill>
                  <a:srgbClr val="FFFFFF"/>
                </a:solidFill>
              </a:defRPr>
            </a:lvl5pPr>
          </a:lstStyle>
          <a:p>
            <a:pPr marL="0" lvl="0" indent="0" algn="l" defTabSz="914166" rtl="0" eaLnBrk="1" latinLnBrk="0" hangingPunct="1">
              <a:spcBef>
                <a:spcPct val="20000"/>
              </a:spcBef>
            </a:pPr>
            <a:r>
              <a:rPr lang="en-US" smtClean="0"/>
              <a:t>Edit Master text styles</a:t>
            </a:r>
          </a:p>
        </p:txBody>
      </p:sp>
      <p:sp>
        <p:nvSpPr>
          <p:cNvPr id="15" name="Title 1"/>
          <p:cNvSpPr>
            <a:spLocks noGrp="1"/>
          </p:cNvSpPr>
          <p:nvPr>
            <p:ph type="ctrTitle" hasCustomPrompt="1"/>
          </p:nvPr>
        </p:nvSpPr>
        <p:spPr>
          <a:xfrm>
            <a:off x="274638" y="1537563"/>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chemeClr val="tx2"/>
          </a:solidFill>
          <a:ln>
            <a:noFill/>
          </a:ln>
          <a:extLst/>
        </p:spPr>
        <p:txBody>
          <a:bodyPr vert="horz" wrap="square" lIns="182880" tIns="146304" rIns="182880" bIns="146304"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2230844107"/>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lor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182880" tIns="146304" rIns="182880" bIns="146304" rtlCol="0" anchor="ctr">
            <a:noAutofit/>
          </a:bodyPr>
          <a:lstStyle>
            <a:lvl1pPr marL="0" indent="0">
              <a:buNone/>
              <a:defRPr lang="en-US" sz="3600" kern="1200" dirty="0" smtClean="0">
                <a:gradFill>
                  <a:gsLst>
                    <a:gs pos="8491">
                      <a:schemeClr val="tx1">
                        <a:lumMod val="75000"/>
                        <a:lumOff val="25000"/>
                      </a:schemeClr>
                    </a:gs>
                    <a:gs pos="100000">
                      <a:schemeClr val="tx1">
                        <a:lumMod val="75000"/>
                        <a:lumOff val="25000"/>
                      </a:schemeClr>
                    </a:gs>
                  </a:gsLst>
                  <a:lin ang="5400000" scaled="0"/>
                </a:gradFill>
                <a:latin typeface="+mj-lt"/>
                <a:ea typeface="+mn-ea"/>
                <a:cs typeface="+mn-cs"/>
              </a:defRPr>
            </a:lvl1pPr>
          </a:lstStyle>
          <a:p>
            <a:pPr marL="0" lvl="0" indent="0" algn="l" defTabSz="914166" rtl="0" eaLnBrk="1" latinLnBrk="0" hangingPunct="1">
              <a:spcBef>
                <a:spcPct val="20000"/>
              </a:spcBef>
              <a:spcAft>
                <a:spcPts val="1632"/>
              </a:spcAft>
            </a:pPr>
            <a:r>
              <a:rPr lang="en-US" smtClean="0"/>
              <a:t>Edit Master text styles</a:t>
            </a:r>
          </a:p>
        </p:txBody>
      </p:sp>
      <p:sp>
        <p:nvSpPr>
          <p:cNvPr id="6" name="Text Placeholder 8"/>
          <p:cNvSpPr>
            <a:spLocks noGrp="1"/>
          </p:cNvSpPr>
          <p:nvPr>
            <p:ph type="body" sz="quarter" idx="16" hasCustomPrompt="1"/>
          </p:nvPr>
        </p:nvSpPr>
        <p:spPr>
          <a:xfrm>
            <a:off x="274641" y="296864"/>
            <a:ext cx="11887199" cy="914400"/>
          </a:xfrm>
        </p:spPr>
        <p:txBody>
          <a:bodyPr vert="horz" lIns="182880" tIns="146304" rIns="182880" bIns="146304" rtlCol="0" anchor="t">
            <a:noAutofit/>
          </a:bodyPr>
          <a:lstStyle>
            <a:lvl1pPr marL="0" indent="0"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lvl="0">
              <a:spcBef>
                <a:spcPct val="0"/>
              </a:spcBef>
            </a:pPr>
            <a:r>
              <a:rPr lang="en-US" dirty="0" smtClean="0"/>
              <a:t>Click to edit master text styles</a:t>
            </a:r>
          </a:p>
        </p:txBody>
      </p:sp>
      <p:sp>
        <p:nvSpPr>
          <p:cNvPr id="5" name="Title 1"/>
          <p:cNvSpPr>
            <a:spLocks noGrp="1"/>
          </p:cNvSpPr>
          <p:nvPr>
            <p:ph type="ctrTitle" hasCustomPrompt="1"/>
          </p:nvPr>
        </p:nvSpPr>
        <p:spPr>
          <a:xfrm>
            <a:off x="274638" y="1537564"/>
            <a:ext cx="3931941" cy="391939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chemeClr val="tx2"/>
          </a:solidFill>
          <a:ln>
            <a:noFill/>
          </a:ln>
          <a:extLst/>
        </p:spPr>
        <p:txBody>
          <a:bodyPr vert="horz" wrap="square" lIns="182880" tIns="146304" rIns="182880" bIns="146304" numCol="1" anchor="ctr" anchorCtr="0" compatLnSpc="1">
            <a:prstTxWarp prst="textNoShape">
              <a:avLst/>
            </a:prstTxWarp>
            <a:noAutofit/>
          </a:bodyPr>
          <a:lstStyle>
            <a:lvl1pPr>
              <a:lnSpc>
                <a:spcPct val="95000"/>
              </a:lnSpc>
              <a:defRPr lang="en-US" sz="4000" kern="1200" dirty="0" smtClean="0">
                <a:gradFill>
                  <a:gsLst>
                    <a:gs pos="0">
                      <a:srgbClr val="FFFFFF"/>
                    </a:gs>
                    <a:gs pos="100000">
                      <a:srgbClr val="FFFFFF"/>
                    </a:gs>
                  </a:gsLst>
                  <a:lin ang="5400000" scaled="0"/>
                </a:gradFill>
                <a:latin typeface="Segoe UI Light"/>
                <a:ea typeface="ＭＳ Ｐゴシック" charset="0"/>
                <a:cs typeface="Segoe UI Light"/>
              </a:defRPr>
            </a:lvl1pPr>
          </a:lstStyle>
          <a:p>
            <a:pPr marL="0" lvl="0" indent="0" algn="l" defTabSz="1243266" rtl="0" eaLnBrk="1" fontAlgn="base" latinLnBrk="0" hangingPunct="1">
              <a:lnSpc>
                <a:spcPct val="100000"/>
              </a:lnSpc>
              <a:spcBef>
                <a:spcPct val="0"/>
              </a:spcBef>
              <a:spcAft>
                <a:spcPct val="0"/>
              </a:spcAft>
              <a:buFontTx/>
              <a:buNone/>
            </a:pPr>
            <a:r>
              <a:rPr lang="en-US" dirty="0" smtClean="0"/>
              <a:t>Click to edit master title style</a:t>
            </a:r>
            <a:endParaRPr lang="en-US" dirty="0"/>
          </a:p>
        </p:txBody>
      </p:sp>
    </p:spTree>
    <p:extLst>
      <p:ext uri="{BB962C8B-B14F-4D97-AF65-F5344CB8AC3E}">
        <p14:creationId xmlns:p14="http://schemas.microsoft.com/office/powerpoint/2010/main" val="2625152768"/>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846638" y="3040063"/>
            <a:ext cx="7315203" cy="914400"/>
          </a:xfrm>
        </p:spPr>
        <p:txBody>
          <a:bodyPr vert="horz" wrap="square" lIns="182880" tIns="146304" rIns="182880" bIns="146304" rtlCol="0" anchor="ctr">
            <a:noAutofit/>
          </a:bodyPr>
          <a:lstStyle>
            <a:lvl1pPr marL="0" indent="0">
              <a:buFont typeface="Arial" panose="020B0604020202020204" pitchFamily="34" charset="0"/>
              <a:buNone/>
              <a:defRPr lang="en-US" sz="3600" kern="1200" dirty="0" smtClean="0">
                <a:gradFill>
                  <a:gsLst>
                    <a:gs pos="1299">
                      <a:schemeClr val="tx1"/>
                    </a:gs>
                    <a:gs pos="100000">
                      <a:schemeClr val="tx1"/>
                    </a:gs>
                  </a:gsLst>
                  <a:lin ang="5400000" scaled="0"/>
                </a:gradFill>
                <a:latin typeface="+mj-lt"/>
                <a:ea typeface="+mn-ea"/>
                <a:cs typeface="+mn-cs"/>
              </a:defRPr>
            </a:lvl1pPr>
          </a:lstStyle>
          <a:p>
            <a:pPr marL="0" lvl="0" indent="0" algn="l" defTabSz="914166" rtl="0" eaLnBrk="1" latinLnBrk="0" hangingPunct="1">
              <a:spcBef>
                <a:spcPct val="20000"/>
              </a:spcBef>
            </a:pPr>
            <a:r>
              <a:rPr lang="en-US" smtClean="0"/>
              <a:t>Edit Master text styles</a:t>
            </a:r>
          </a:p>
        </p:txBody>
      </p:sp>
      <p:sp>
        <p:nvSpPr>
          <p:cNvPr id="7" name="Picture Placeholder 12"/>
          <p:cNvSpPr>
            <a:spLocks noGrp="1"/>
          </p:cNvSpPr>
          <p:nvPr>
            <p:ph type="pic" sz="quarter" idx="16"/>
          </p:nvPr>
        </p:nvSpPr>
        <p:spPr>
          <a:xfrm>
            <a:off x="274638" y="1535875"/>
            <a:ext cx="3931920" cy="392277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lIns="182880" tIns="146304" rIns="182880" bIns="146304" anchor="ctr" anchorCtr="1">
            <a:noAutofit/>
          </a:bodyPr>
          <a:lstStyle>
            <a:lvl1pPr marL="0" indent="0">
              <a:buNone/>
              <a:defRPr/>
            </a:lvl1pPr>
          </a:lstStyle>
          <a:p>
            <a:r>
              <a:rPr lang="en-US" smtClean="0"/>
              <a:t>Click icon to add picture</a:t>
            </a:r>
            <a:endParaRPr lang="en-US" dirty="0"/>
          </a:p>
        </p:txBody>
      </p:sp>
      <p:sp>
        <p:nvSpPr>
          <p:cNvPr id="3" name="Title 2"/>
          <p:cNvSpPr>
            <a:spLocks noGrp="1"/>
          </p:cNvSpPr>
          <p:nvPr>
            <p:ph type="title"/>
          </p:nvPr>
        </p:nvSpPr>
        <p:spPr/>
        <p:txBody>
          <a:bodyPr wrap="none" lIns="182880" tIns="146304" rIns="182880" bIns="146304"/>
          <a:lstStyle/>
          <a:p>
            <a:r>
              <a:rPr lang="en-US" smtClean="0"/>
              <a:t>Click to edit Master title style</a:t>
            </a:r>
            <a:endParaRPr lang="en-US" dirty="0"/>
          </a:p>
        </p:txBody>
      </p:sp>
    </p:spTree>
    <p:extLst>
      <p:ext uri="{BB962C8B-B14F-4D97-AF65-F5344CB8AC3E}">
        <p14:creationId xmlns:p14="http://schemas.microsoft.com/office/powerpoint/2010/main" val="2851166617"/>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ontent - Code">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1534779"/>
          </a:xfrm>
        </p:spPr>
        <p:txBody>
          <a:bodyPr>
            <a:spAutoFit/>
          </a:bodyPr>
          <a:lstStyle>
            <a:lvl1pPr>
              <a:defRPr lang="en-US" sz="2400" kern="1200" dirty="0" smtClean="0">
                <a:gradFill>
                  <a:gsLst>
                    <a:gs pos="100000">
                      <a:schemeClr val="tx1"/>
                    </a:gs>
                    <a:gs pos="0">
                      <a:schemeClr val="tx1"/>
                    </a:gs>
                  </a:gsLst>
                  <a:lin ang="5400000" scaled="0"/>
                </a:gradFill>
                <a:latin typeface="Consolas" pitchFamily="49" charset="0"/>
                <a:ea typeface="+mn-ea"/>
                <a:cs typeface="Consolas" pitchFamily="49" charset="0"/>
              </a:defRPr>
            </a:lvl1pPr>
            <a:lvl2pPr marL="584200" indent="-241300">
              <a:defRPr lang="en-US" sz="2400" kern="1200" dirty="0" smtClean="0">
                <a:gradFill>
                  <a:gsLst>
                    <a:gs pos="100000">
                      <a:schemeClr val="tx1"/>
                    </a:gs>
                    <a:gs pos="0">
                      <a:schemeClr val="tx1"/>
                    </a:gs>
                  </a:gsLst>
                  <a:lin ang="5400000" scaled="0"/>
                </a:gradFill>
                <a:latin typeface="Consolas" pitchFamily="49" charset="0"/>
                <a:ea typeface="+mn-ea"/>
                <a:cs typeface="Consolas" pitchFamily="49" charset="0"/>
              </a:defRPr>
            </a:lvl2pPr>
            <a:lvl3pPr marL="571441" indent="-342900">
              <a:defRPr lang="en-US" sz="2400" kern="1200" dirty="0" smtClean="0">
                <a:gradFill>
                  <a:gsLst>
                    <a:gs pos="100000">
                      <a:schemeClr val="tx1"/>
                    </a:gs>
                    <a:gs pos="0">
                      <a:schemeClr val="tx1"/>
                    </a:gs>
                  </a:gsLst>
                  <a:lin ang="5400000" scaled="0"/>
                </a:gradFill>
                <a:latin typeface="Consolas" pitchFamily="49" charset="0"/>
                <a:ea typeface="+mn-ea"/>
                <a:cs typeface="Consolas" pitchFamily="49" charset="0"/>
              </a:defRPr>
            </a:lvl3pPr>
            <a:lvl4pPr>
              <a:defRPr sz="2000"/>
            </a:lvl4pPr>
            <a:lvl5pPr>
              <a:defRPr sz="2000"/>
            </a:lvl5pPr>
          </a:lstStyle>
          <a:p>
            <a:pPr marL="0" lvl="0" indent="0" algn="l" defTabSz="914166" rtl="0" eaLnBrk="1" latinLnBrk="0" hangingPunct="1">
              <a:spcBef>
                <a:spcPct val="20000"/>
              </a:spcBef>
              <a:spcAft>
                <a:spcPts val="816"/>
              </a:spcAft>
              <a:buFont typeface="Arial" pitchFamily="34" charset="0"/>
              <a:buNone/>
            </a:pPr>
            <a:r>
              <a:rPr lang="en-US" smtClean="0"/>
              <a:t>Edit Master text styles</a:t>
            </a:r>
          </a:p>
          <a:p>
            <a:pPr marL="0" lvl="1" indent="0" algn="l" defTabSz="914166" rtl="0" eaLnBrk="1" latinLnBrk="0" hangingPunct="1">
              <a:spcBef>
                <a:spcPct val="20000"/>
              </a:spcBef>
              <a:spcAft>
                <a:spcPts val="816"/>
              </a:spcAft>
              <a:buFont typeface="Arial" pitchFamily="34" charset="0"/>
              <a:buNone/>
            </a:pPr>
            <a:r>
              <a:rPr lang="en-US" smtClean="0"/>
              <a:t>Second level</a:t>
            </a:r>
          </a:p>
          <a:p>
            <a:pPr marL="0" lvl="2" indent="0" algn="l" defTabSz="914166" rtl="0" eaLnBrk="1" latinLnBrk="0" hangingPunct="1">
              <a:spcBef>
                <a:spcPct val="20000"/>
              </a:spcBef>
              <a:spcAft>
                <a:spcPts val="816"/>
              </a:spcAft>
              <a:buFont typeface="Arial" pitchFamily="34" charset="0"/>
              <a:buNone/>
            </a:pPr>
            <a:r>
              <a:rPr lang="en-US" smtClean="0"/>
              <a:t>Third level</a:t>
            </a:r>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384167390"/>
      </p:ext>
    </p:extLst>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
    <p:bg bwMode="gray">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329743"/>
      </p:ext>
    </p:extLst>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losing logo slide">
    <p:spTree>
      <p:nvGrpSpPr>
        <p:cNvPr id="1" name=""/>
        <p:cNvGrpSpPr/>
        <p:nvPr/>
      </p:nvGrpSpPr>
      <p:grpSpPr>
        <a:xfrm>
          <a:off x="0" y="0"/>
          <a:ext cx="0" cy="0"/>
          <a:chOff x="0" y="0"/>
          <a:chExt cx="0" cy="0"/>
        </a:xfrm>
      </p:grpSpPr>
      <p:sp>
        <p:nvSpPr>
          <p:cNvPr id="2" name="Text Box 3"/>
          <p:cNvSpPr txBox="1">
            <a:spLocks noChangeArrowheads="1"/>
          </p:cNvSpPr>
          <p:nvPr/>
        </p:nvSpPr>
        <p:spPr bwMode="blackWhite">
          <a:xfrm>
            <a:off x="274638" y="6294476"/>
            <a:ext cx="11887199"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a:t>
            </a:r>
            <a:r>
              <a:rPr lang="en-US" sz="700" dirty="0" smtClean="0">
                <a:gradFill>
                  <a:gsLst>
                    <a:gs pos="0">
                      <a:schemeClr val="tx1"/>
                    </a:gs>
                    <a:gs pos="100000">
                      <a:schemeClr val="tx1"/>
                    </a:gs>
                  </a:gsLst>
                  <a:lin ang="5400000" scaled="0"/>
                </a:gradFill>
                <a:cs typeface="Segoe UI" pitchFamily="34" charset="0"/>
              </a:rPr>
              <a:t>2015 </a:t>
            </a:r>
            <a:r>
              <a:rPr lang="en-US" sz="700" dirty="0">
                <a:gradFill>
                  <a:gsLst>
                    <a:gs pos="0">
                      <a:schemeClr val="tx1"/>
                    </a:gs>
                    <a:gs pos="100000">
                      <a:schemeClr val="tx1"/>
                    </a:gs>
                  </a:gsLst>
                  <a:lin ang="5400000" scaled="0"/>
                </a:gradFill>
                <a:cs typeface="Segoe UI" pitchFamily="34" charset="0"/>
              </a:rPr>
              <a:t>Microsoft Corporation. All rights reserved.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232" y="3147122"/>
            <a:ext cx="3291840" cy="701671"/>
          </a:xfrm>
          <a:prstGeom prst="rect">
            <a:avLst/>
          </a:prstGeom>
        </p:spPr>
      </p:pic>
    </p:spTree>
    <p:extLst>
      <p:ext uri="{BB962C8B-B14F-4D97-AF65-F5344CB8AC3E}">
        <p14:creationId xmlns:p14="http://schemas.microsoft.com/office/powerpoint/2010/main" val="736940314"/>
      </p:ext>
    </p:extLst>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Multiple Shapes &amp; Color Background">
    <p:spTree>
      <p:nvGrpSpPr>
        <p:cNvPr id="1" name=""/>
        <p:cNvGrpSpPr/>
        <p:nvPr/>
      </p:nvGrpSpPr>
      <p:grpSpPr>
        <a:xfrm>
          <a:off x="0" y="0"/>
          <a:ext cx="0" cy="0"/>
          <a:chOff x="0" y="0"/>
          <a:chExt cx="0" cy="0"/>
        </a:xfrm>
      </p:grpSpPr>
      <p:sp>
        <p:nvSpPr>
          <p:cNvPr id="6" name="Picture Placeholder 12"/>
          <p:cNvSpPr>
            <a:spLocks noGrp="1"/>
          </p:cNvSpPr>
          <p:nvPr>
            <p:ph type="pic" sz="quarter" idx="17"/>
          </p:nvPr>
        </p:nvSpPr>
        <p:spPr>
          <a:xfrm>
            <a:off x="274638" y="2307518"/>
            <a:ext cx="1563194" cy="3232996"/>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 y="0"/>
                </a:moveTo>
                <a:lnTo>
                  <a:pt x="10000" y="2854"/>
                </a:lnTo>
                <a:cubicBezTo>
                  <a:pt x="9998" y="7335"/>
                  <a:pt x="9970" y="2648"/>
                  <a:pt x="9969" y="7131"/>
                </a:cubicBezTo>
                <a:cubicBezTo>
                  <a:pt x="9964" y="7082"/>
                  <a:pt x="-38" y="10005"/>
                  <a:pt x="0" y="10000"/>
                </a:cubicBezTo>
                <a:cubicBezTo>
                  <a:pt x="6" y="580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8" name="Picture Placeholder 12"/>
          <p:cNvSpPr>
            <a:spLocks noGrp="1"/>
          </p:cNvSpPr>
          <p:nvPr>
            <p:ph type="pic" sz="quarter" idx="18"/>
          </p:nvPr>
        </p:nvSpPr>
        <p:spPr>
          <a:xfrm>
            <a:off x="4745014" y="2301239"/>
            <a:ext cx="3232905" cy="32455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9" name="Picture Placeholder 12"/>
          <p:cNvSpPr>
            <a:spLocks noGrp="1"/>
          </p:cNvSpPr>
          <p:nvPr>
            <p:ph type="pic" sz="quarter" idx="19"/>
          </p:nvPr>
        </p:nvSpPr>
        <p:spPr>
          <a:xfrm>
            <a:off x="8258122" y="2302035"/>
            <a:ext cx="3903716" cy="3243962"/>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54"/>
              <a:gd name="connsiteY0" fmla="*/ 0 h 10000"/>
              <a:gd name="connsiteX1" fmla="*/ 10046 w 10054"/>
              <a:gd name="connsiteY1" fmla="*/ 693 h 10000"/>
              <a:gd name="connsiteX2" fmla="*/ 10054 w 10054"/>
              <a:gd name="connsiteY2" fmla="*/ 8579 h 10000"/>
              <a:gd name="connsiteX3" fmla="*/ 0 w 10054"/>
              <a:gd name="connsiteY3" fmla="*/ 10000 h 10000"/>
              <a:gd name="connsiteX4" fmla="*/ 9 w 10054"/>
              <a:gd name="connsiteY4" fmla="*/ 0 h 10000"/>
              <a:gd name="connsiteX0" fmla="*/ 9 w 10047"/>
              <a:gd name="connsiteY0" fmla="*/ 0 h 10000"/>
              <a:gd name="connsiteX1" fmla="*/ 10046 w 10047"/>
              <a:gd name="connsiteY1" fmla="*/ 693 h 10000"/>
              <a:gd name="connsiteX2" fmla="*/ 10043 w 10047"/>
              <a:gd name="connsiteY2" fmla="*/ 9284 h 10000"/>
              <a:gd name="connsiteX3" fmla="*/ 0 w 10047"/>
              <a:gd name="connsiteY3" fmla="*/ 10000 h 10000"/>
              <a:gd name="connsiteX4" fmla="*/ 9 w 10047"/>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7" h="10000">
                <a:moveTo>
                  <a:pt x="9" y="0"/>
                </a:moveTo>
                <a:cubicBezTo>
                  <a:pt x="-9" y="5"/>
                  <a:pt x="5027" y="346"/>
                  <a:pt x="10046" y="693"/>
                </a:cubicBezTo>
                <a:cubicBezTo>
                  <a:pt x="10052" y="3075"/>
                  <a:pt x="10037" y="6902"/>
                  <a:pt x="10043" y="9284"/>
                </a:cubicBezTo>
                <a:lnTo>
                  <a:pt x="0" y="10000"/>
                </a:lnTo>
                <a:cubicBezTo>
                  <a:pt x="6" y="6667"/>
                  <a:pt x="4" y="5000"/>
                  <a:pt x="9" y="0"/>
                </a:cubicBezTo>
                <a:close/>
              </a:path>
            </a:pathLst>
          </a:custGeom>
        </p:spPr>
        <p:txBody>
          <a:bodyPr anchor="ctr" anchorCtr="0">
            <a:normAutofit/>
          </a:bodyPr>
          <a:lstStyle>
            <a:lvl1pPr>
              <a:defRPr sz="1600"/>
            </a:lvl1pPr>
          </a:lstStyle>
          <a:p>
            <a:r>
              <a:rPr lang="en-US" smtClean="0"/>
              <a:t>Click icon to add picture</a:t>
            </a:r>
            <a:endParaRPr lang="en-US" dirty="0"/>
          </a:p>
        </p:txBody>
      </p:sp>
      <p:sp>
        <p:nvSpPr>
          <p:cNvPr id="10" name="Picture Placeholder 12"/>
          <p:cNvSpPr>
            <a:spLocks noGrp="1"/>
          </p:cNvSpPr>
          <p:nvPr>
            <p:ph type="pic" sz="quarter" idx="20"/>
          </p:nvPr>
        </p:nvSpPr>
        <p:spPr>
          <a:xfrm>
            <a:off x="2118039" y="2301050"/>
            <a:ext cx="2346769" cy="3245927"/>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8579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10000"/>
              <a:gd name="connsiteX1" fmla="*/ 10057 w 10057"/>
              <a:gd name="connsiteY1" fmla="*/ 1452 h 10000"/>
              <a:gd name="connsiteX2" fmla="*/ 10054 w 10057"/>
              <a:gd name="connsiteY2" fmla="*/ 5606 h 10000"/>
              <a:gd name="connsiteX3" fmla="*/ 0 w 10057"/>
              <a:gd name="connsiteY3" fmla="*/ 10000 h 10000"/>
              <a:gd name="connsiteX4" fmla="*/ 9 w 10057"/>
              <a:gd name="connsiteY4" fmla="*/ 0 h 10000"/>
              <a:gd name="connsiteX0" fmla="*/ 9 w 10057"/>
              <a:gd name="connsiteY0" fmla="*/ 0 h 7951"/>
              <a:gd name="connsiteX1" fmla="*/ 10057 w 10057"/>
              <a:gd name="connsiteY1" fmla="*/ 1452 h 7951"/>
              <a:gd name="connsiteX2" fmla="*/ 10054 w 10057"/>
              <a:gd name="connsiteY2" fmla="*/ 5606 h 7951"/>
              <a:gd name="connsiteX3" fmla="*/ 0 w 10057"/>
              <a:gd name="connsiteY3" fmla="*/ 7951 h 7951"/>
              <a:gd name="connsiteX4" fmla="*/ 9 w 10057"/>
              <a:gd name="connsiteY4" fmla="*/ 0 h 7951"/>
              <a:gd name="connsiteX0" fmla="*/ 9 w 10000"/>
              <a:gd name="connsiteY0" fmla="*/ 0 h 10000"/>
              <a:gd name="connsiteX1" fmla="*/ 10000 w 10000"/>
              <a:gd name="connsiteY1" fmla="*/ 1826 h 10000"/>
              <a:gd name="connsiteX2" fmla="*/ 9997 w 10000"/>
              <a:gd name="connsiteY2" fmla="*/ 705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1826 h 10000"/>
              <a:gd name="connsiteX2" fmla="*/ 9969 w 10000"/>
              <a:gd name="connsiteY2" fmla="*/ 7131 h 10000"/>
              <a:gd name="connsiteX3" fmla="*/ 0 w 10000"/>
              <a:gd name="connsiteY3" fmla="*/ 10000 h 10000"/>
              <a:gd name="connsiteX4" fmla="*/ 9 w 10000"/>
              <a:gd name="connsiteY4" fmla="*/ 0 h 10000"/>
              <a:gd name="connsiteX0" fmla="*/ 9 w 10000"/>
              <a:gd name="connsiteY0" fmla="*/ 0 h 10000"/>
              <a:gd name="connsiteX1" fmla="*/ 10000 w 10000"/>
              <a:gd name="connsiteY1" fmla="*/ 2854 h 10000"/>
              <a:gd name="connsiteX2" fmla="*/ 9969 w 10000"/>
              <a:gd name="connsiteY2" fmla="*/ 7131 h 10000"/>
              <a:gd name="connsiteX3" fmla="*/ 0 w 10000"/>
              <a:gd name="connsiteY3" fmla="*/ 10000 h 10000"/>
              <a:gd name="connsiteX4" fmla="*/ 9 w 10000"/>
              <a:gd name="connsiteY4" fmla="*/ 0 h 10000"/>
              <a:gd name="connsiteX0" fmla="*/ 9 w 15000"/>
              <a:gd name="connsiteY0" fmla="*/ 0 h 10000"/>
              <a:gd name="connsiteX1" fmla="*/ 15000 w 15000"/>
              <a:gd name="connsiteY1" fmla="*/ 2173 h 10000"/>
              <a:gd name="connsiteX2" fmla="*/ 9969 w 15000"/>
              <a:gd name="connsiteY2" fmla="*/ 7131 h 10000"/>
              <a:gd name="connsiteX3" fmla="*/ 0 w 15000"/>
              <a:gd name="connsiteY3" fmla="*/ 10000 h 10000"/>
              <a:gd name="connsiteX4" fmla="*/ 9 w 15000"/>
              <a:gd name="connsiteY4" fmla="*/ 0 h 10000"/>
              <a:gd name="connsiteX0" fmla="*/ 9 w 15024"/>
              <a:gd name="connsiteY0" fmla="*/ 0 h 10000"/>
              <a:gd name="connsiteX1" fmla="*/ 15000 w 15024"/>
              <a:gd name="connsiteY1" fmla="*/ 2173 h 10000"/>
              <a:gd name="connsiteX2" fmla="*/ 15024 w 15024"/>
              <a:gd name="connsiteY2" fmla="*/ 7919 h 10000"/>
              <a:gd name="connsiteX3" fmla="*/ 0 w 15024"/>
              <a:gd name="connsiteY3" fmla="*/ 10000 h 10000"/>
              <a:gd name="connsiteX4" fmla="*/ 9 w 15024"/>
              <a:gd name="connsiteY4" fmla="*/ 0 h 10000"/>
              <a:gd name="connsiteX0" fmla="*/ 9 w 15024"/>
              <a:gd name="connsiteY0" fmla="*/ 0 h 10000"/>
              <a:gd name="connsiteX1" fmla="*/ 15000 w 15024"/>
              <a:gd name="connsiteY1" fmla="*/ 2173 h 10000"/>
              <a:gd name="connsiteX2" fmla="*/ 15024 w 15024"/>
              <a:gd name="connsiteY2" fmla="*/ 7906 h 10000"/>
              <a:gd name="connsiteX3" fmla="*/ 0 w 15024"/>
              <a:gd name="connsiteY3" fmla="*/ 10000 h 10000"/>
              <a:gd name="connsiteX4" fmla="*/ 9 w 15024"/>
              <a:gd name="connsiteY4" fmla="*/ 0 h 10000"/>
              <a:gd name="connsiteX0" fmla="*/ 1 w 15016"/>
              <a:gd name="connsiteY0" fmla="*/ 0 h 10053"/>
              <a:gd name="connsiteX1" fmla="*/ 14992 w 15016"/>
              <a:gd name="connsiteY1" fmla="*/ 2173 h 10053"/>
              <a:gd name="connsiteX2" fmla="*/ 15016 w 15016"/>
              <a:gd name="connsiteY2" fmla="*/ 7906 h 10053"/>
              <a:gd name="connsiteX3" fmla="*/ 20 w 15016"/>
              <a:gd name="connsiteY3" fmla="*/ 10053 h 10053"/>
              <a:gd name="connsiteX4" fmla="*/ 1 w 15016"/>
              <a:gd name="connsiteY4" fmla="*/ 0 h 10053"/>
              <a:gd name="connsiteX0" fmla="*/ 9 w 15024"/>
              <a:gd name="connsiteY0" fmla="*/ 0 h 10040"/>
              <a:gd name="connsiteX1" fmla="*/ 15000 w 15024"/>
              <a:gd name="connsiteY1" fmla="*/ 2173 h 10040"/>
              <a:gd name="connsiteX2" fmla="*/ 15024 w 15024"/>
              <a:gd name="connsiteY2" fmla="*/ 7906 h 10040"/>
              <a:gd name="connsiteX3" fmla="*/ 0 w 15024"/>
              <a:gd name="connsiteY3" fmla="*/ 10040 h 10040"/>
              <a:gd name="connsiteX4" fmla="*/ 9 w 15024"/>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39"/>
              <a:gd name="connsiteY0" fmla="*/ 0 h 10040"/>
              <a:gd name="connsiteX1" fmla="*/ 15139 w 15139"/>
              <a:gd name="connsiteY1" fmla="*/ 2200 h 10040"/>
              <a:gd name="connsiteX2" fmla="*/ 15024 w 15139"/>
              <a:gd name="connsiteY2" fmla="*/ 7906 h 10040"/>
              <a:gd name="connsiteX3" fmla="*/ 0 w 15139"/>
              <a:gd name="connsiteY3" fmla="*/ 10040 h 10040"/>
              <a:gd name="connsiteX4" fmla="*/ 9 w 15139"/>
              <a:gd name="connsiteY4" fmla="*/ 0 h 10040"/>
              <a:gd name="connsiteX0" fmla="*/ 9 w 15148"/>
              <a:gd name="connsiteY0" fmla="*/ 0 h 10040"/>
              <a:gd name="connsiteX1" fmla="*/ 15139 w 15148"/>
              <a:gd name="connsiteY1" fmla="*/ 2200 h 10040"/>
              <a:gd name="connsiteX2" fmla="*/ 15135 w 15148"/>
              <a:gd name="connsiteY2" fmla="*/ 7906 h 10040"/>
              <a:gd name="connsiteX3" fmla="*/ 0 w 15148"/>
              <a:gd name="connsiteY3" fmla="*/ 10040 h 10040"/>
              <a:gd name="connsiteX4" fmla="*/ 9 w 15148"/>
              <a:gd name="connsiteY4" fmla="*/ 0 h 10040"/>
              <a:gd name="connsiteX0" fmla="*/ 9 w 15143"/>
              <a:gd name="connsiteY0" fmla="*/ 0 h 10040"/>
              <a:gd name="connsiteX1" fmla="*/ 15111 w 15143"/>
              <a:gd name="connsiteY1" fmla="*/ 2240 h 10040"/>
              <a:gd name="connsiteX2" fmla="*/ 15135 w 15143"/>
              <a:gd name="connsiteY2" fmla="*/ 7906 h 10040"/>
              <a:gd name="connsiteX3" fmla="*/ 0 w 15143"/>
              <a:gd name="connsiteY3" fmla="*/ 10040 h 10040"/>
              <a:gd name="connsiteX4" fmla="*/ 9 w 15143"/>
              <a:gd name="connsiteY4" fmla="*/ 0 h 10040"/>
              <a:gd name="connsiteX0" fmla="*/ 9 w 15141"/>
              <a:gd name="connsiteY0" fmla="*/ 0 h 10040"/>
              <a:gd name="connsiteX1" fmla="*/ 15083 w 15141"/>
              <a:gd name="connsiteY1" fmla="*/ 2187 h 10040"/>
              <a:gd name="connsiteX2" fmla="*/ 15135 w 15141"/>
              <a:gd name="connsiteY2" fmla="*/ 7906 h 10040"/>
              <a:gd name="connsiteX3" fmla="*/ 0 w 15141"/>
              <a:gd name="connsiteY3" fmla="*/ 10040 h 10040"/>
              <a:gd name="connsiteX4" fmla="*/ 9 w 15141"/>
              <a:gd name="connsiteY4" fmla="*/ 0 h 10040"/>
              <a:gd name="connsiteX0" fmla="*/ 9 w 15083"/>
              <a:gd name="connsiteY0" fmla="*/ 0 h 10040"/>
              <a:gd name="connsiteX1" fmla="*/ 15083 w 15083"/>
              <a:gd name="connsiteY1" fmla="*/ 2187 h 10040"/>
              <a:gd name="connsiteX2" fmla="*/ 15052 w 15083"/>
              <a:gd name="connsiteY2" fmla="*/ 7906 h 10040"/>
              <a:gd name="connsiteX3" fmla="*/ 0 w 15083"/>
              <a:gd name="connsiteY3" fmla="*/ 10040 h 10040"/>
              <a:gd name="connsiteX4" fmla="*/ 9 w 15083"/>
              <a:gd name="connsiteY4" fmla="*/ 0 h 10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3" h="10040">
                <a:moveTo>
                  <a:pt x="9" y="0"/>
                </a:moveTo>
                <a:lnTo>
                  <a:pt x="15083" y="2187"/>
                </a:lnTo>
                <a:cubicBezTo>
                  <a:pt x="15081" y="2167"/>
                  <a:pt x="15081" y="7843"/>
                  <a:pt x="15052" y="7906"/>
                </a:cubicBezTo>
                <a:cubicBezTo>
                  <a:pt x="15047" y="7857"/>
                  <a:pt x="-38" y="10045"/>
                  <a:pt x="0" y="10040"/>
                </a:cubicBezTo>
                <a:cubicBezTo>
                  <a:pt x="6" y="5848"/>
                  <a:pt x="3" y="4192"/>
                  <a:pt x="9" y="0"/>
                </a:cubicBezTo>
                <a:close/>
              </a:path>
            </a:pathLst>
          </a:custGeom>
        </p:spPr>
        <p:txBody>
          <a:bodyPr anchor="ctr" anchorCtr="0">
            <a:normAutofit/>
          </a:bodyPr>
          <a:lstStyle>
            <a:lvl1pPr marL="0" marR="0" indent="0" algn="l" defTabSz="1243266" rtl="0" eaLnBrk="1" fontAlgn="base" latinLnBrk="0" hangingPunct="1">
              <a:lnSpc>
                <a:spcPct val="95000"/>
              </a:lnSpc>
              <a:spcBef>
                <a:spcPts val="0"/>
              </a:spcBef>
              <a:spcAft>
                <a:spcPts val="0"/>
              </a:spcAft>
              <a:buClr>
                <a:schemeClr val="accent1"/>
              </a:buClr>
              <a:buSzPct val="110000"/>
              <a:buFont typeface="Avenir LT Pro 45 Book" charset="0"/>
              <a:buNone/>
              <a:tabLst/>
              <a:defRPr sz="1600"/>
            </a:lvl1pPr>
          </a:lstStyle>
          <a:p>
            <a:r>
              <a:rPr lang="en-US" smtClean="0"/>
              <a:t>Click icon to add picture</a:t>
            </a:r>
            <a:endParaRPr lang="en-US" dirty="0"/>
          </a:p>
        </p:txBody>
      </p:sp>
      <p:sp>
        <p:nvSpPr>
          <p:cNvPr id="2" name="Title 1"/>
          <p:cNvSpPr>
            <a:spLocks noGrp="1"/>
          </p:cNvSpPr>
          <p:nvPr>
            <p:ph type="title" hasCustomPrompt="1"/>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1580992051"/>
      </p:ext>
    </p:extLst>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88406439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ck Notes slide Layout No Bar">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3836457819"/>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Slide - ANIMATED">
    <p:spTree>
      <p:nvGrpSpPr>
        <p:cNvPr id="1" name=""/>
        <p:cNvGrpSpPr/>
        <p:nvPr/>
      </p:nvGrpSpPr>
      <p:grpSpPr>
        <a:xfrm>
          <a:off x="0" y="0"/>
          <a:ext cx="0" cy="0"/>
          <a:chOff x="0" y="0"/>
          <a:chExt cx="0" cy="0"/>
        </a:xfrm>
      </p:grpSpPr>
      <p:sp>
        <p:nvSpPr>
          <p:cNvPr id="12" name="Rectangle 5"/>
          <p:cNvSpPr>
            <a:spLocks noChangeArrowheads="1"/>
          </p:cNvSpPr>
          <p:nvPr userDrawn="1"/>
        </p:nvSpPr>
        <p:spPr bwMode="auto">
          <a:xfrm>
            <a:off x="3175" y="4395788"/>
            <a:ext cx="12433300" cy="2601913"/>
          </a:xfrm>
          <a:prstGeom prst="rect">
            <a:avLst/>
          </a:prstGeom>
          <a:solidFill>
            <a:srgbClr val="4D9ED7"/>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Rectangle 7"/>
          <p:cNvSpPr>
            <a:spLocks noChangeArrowheads="1"/>
          </p:cNvSpPr>
          <p:nvPr userDrawn="1"/>
        </p:nvSpPr>
        <p:spPr bwMode="auto">
          <a:xfrm>
            <a:off x="0" y="5843588"/>
            <a:ext cx="12433301" cy="1154113"/>
          </a:xfrm>
          <a:prstGeom prst="rect">
            <a:avLst/>
          </a:prstGeom>
          <a:solidFill>
            <a:srgbClr val="00188F"/>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1" name="Rectangle 8"/>
          <p:cNvSpPr>
            <a:spLocks noChangeArrowheads="1"/>
          </p:cNvSpPr>
          <p:nvPr userDrawn="1"/>
        </p:nvSpPr>
        <p:spPr bwMode="auto">
          <a:xfrm>
            <a:off x="3175" y="3409950"/>
            <a:ext cx="12430127" cy="282575"/>
          </a:xfrm>
          <a:prstGeom prst="rect">
            <a:avLst/>
          </a:prstGeom>
          <a:solidFill>
            <a:srgbClr val="25B9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12"/>
          <p:cNvSpPr/>
          <p:nvPr userDrawn="1"/>
        </p:nvSpPr>
        <p:spPr bwMode="white">
          <a:xfrm>
            <a:off x="635" y="-318"/>
            <a:ext cx="12435840" cy="699516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6540" y="3954457"/>
            <a:ext cx="6399213" cy="1830388"/>
          </a:xfrm>
          <a:noFill/>
        </p:spPr>
        <p:txBody>
          <a:bodyPr lIns="146304" tIns="109728" rIns="146304" bIns="109728">
            <a:noAutofit/>
          </a:bodyPr>
          <a:lstStyle>
            <a:lvl1pPr marL="0" indent="0">
              <a:spcBef>
                <a:spcPts val="0"/>
              </a:spcBef>
              <a:buNone/>
              <a:defRPr sz="3600"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9" name="Title 1"/>
          <p:cNvSpPr>
            <a:spLocks noGrp="1"/>
          </p:cNvSpPr>
          <p:nvPr>
            <p:ph type="title" hasCustomPrompt="1"/>
          </p:nvPr>
        </p:nvSpPr>
        <p:spPr>
          <a:xfrm>
            <a:off x="274703" y="2117165"/>
            <a:ext cx="10058336" cy="1837298"/>
          </a:xfrm>
          <a:noFill/>
        </p:spPr>
        <p:txBody>
          <a:bodyPr lIns="146304" tIns="91440" rIns="146304" bIns="91440" anchor="t" anchorCtr="0"/>
          <a:lstStyle>
            <a:lvl1pPr>
              <a:defRPr sz="6000" spc="-100" baseline="0">
                <a:gradFill>
                  <a:gsLst>
                    <a:gs pos="3333">
                      <a:schemeClr val="tx1"/>
                    </a:gs>
                    <a:gs pos="39000">
                      <a:schemeClr val="tx1"/>
                    </a:gs>
                  </a:gsLst>
                  <a:lin ang="5400000" scaled="0"/>
                </a:gradFill>
              </a:defRPr>
            </a:lvl1pPr>
          </a:lstStyle>
          <a:p>
            <a:r>
              <a:rPr lang="en-US" dirty="0" smtClean="0"/>
              <a:t>Presentation title</a:t>
            </a:r>
            <a:endParaRPr lang="en-US" dirty="0"/>
          </a:p>
        </p:txBody>
      </p:sp>
      <p:sp>
        <p:nvSpPr>
          <p:cNvPr id="8" name="Rectangle 6"/>
          <p:cNvSpPr>
            <a:spLocks noChangeArrowheads="1"/>
          </p:cNvSpPr>
          <p:nvPr userDrawn="1"/>
        </p:nvSpPr>
        <p:spPr bwMode="auto">
          <a:xfrm>
            <a:off x="3175" y="4395788"/>
            <a:ext cx="12433300" cy="260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Text Placeholder 16"/>
          <p:cNvSpPr>
            <a:spLocks noGrp="1"/>
          </p:cNvSpPr>
          <p:nvPr>
            <p:ph type="body" sz="quarter" idx="13" hasCustomPrompt="1"/>
          </p:nvPr>
        </p:nvSpPr>
        <p:spPr>
          <a:xfrm>
            <a:off x="274638" y="296863"/>
            <a:ext cx="3657600" cy="461665"/>
          </a:xfrm>
        </p:spPr>
        <p:txBody>
          <a:bodyPr/>
          <a:lstStyle>
            <a:lvl1pPr marL="0" indent="0">
              <a:buNone/>
              <a:defRPr sz="2000">
                <a:latin typeface="+mn-lt"/>
              </a:defRPr>
            </a:lvl1pPr>
            <a:lvl2pPr marL="342900" indent="0">
              <a:buNone/>
              <a:defRPr sz="2000"/>
            </a:lvl2pPr>
            <a:lvl3pPr marL="571500" indent="0">
              <a:buNone/>
              <a:defRPr sz="2000"/>
            </a:lvl3pPr>
            <a:lvl4pPr marL="800100" indent="0">
              <a:buNone/>
              <a:defRPr sz="2000"/>
            </a:lvl4pPr>
            <a:lvl5pPr marL="1028700" indent="0">
              <a:buNone/>
              <a:defRPr sz="2000"/>
            </a:lvl5pPr>
          </a:lstStyle>
          <a:p>
            <a:pPr lvl="0"/>
            <a:r>
              <a:rPr lang="en-US" dirty="0" smtClean="0"/>
              <a:t>Session Code</a:t>
            </a:r>
            <a:endParaRPr lang="en-US" dirty="0"/>
          </a:p>
        </p:txBody>
      </p:sp>
    </p:spTree>
    <p:extLst>
      <p:ext uri="{BB962C8B-B14F-4D97-AF65-F5344CB8AC3E}">
        <p14:creationId xmlns:p14="http://schemas.microsoft.com/office/powerpoint/2010/main" val="401486756"/>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24000" decel="76000" fill="hold" grpId="0" nodeType="withEffect">
                                  <p:stCondLst>
                                    <p:cond delay="0"/>
                                  </p:stCondLst>
                                  <p:childTnLst>
                                    <p:animMotion origin="layout" path="M 0 3.25011E-6 L 1.00728 3.25011E-6 " pathEditMode="relative" rAng="0" ptsTypes="AA">
                                      <p:cBhvr>
                                        <p:cTn id="6" dur="750" fill="hold"/>
                                        <p:tgtEl>
                                          <p:spTgt spid="11"/>
                                        </p:tgtEl>
                                        <p:attrNameLst>
                                          <p:attrName>ppt_x</p:attrName>
                                          <p:attrName>ppt_y</p:attrName>
                                        </p:attrNameLst>
                                      </p:cBhvr>
                                      <p:rCtr x="50357" y="0"/>
                                    </p:animMotion>
                                  </p:childTnLst>
                                </p:cTn>
                              </p:par>
                              <p:par>
                                <p:cTn id="7" presetID="63" presetClass="path" presetSubtype="0" accel="24000" decel="76000" fill="hold" grpId="0" nodeType="withEffect">
                                  <p:stCondLst>
                                    <p:cond delay="250"/>
                                  </p:stCondLst>
                                  <p:childTnLst>
                                    <p:animMotion origin="layout" path="M 0 3.25011E-6 L 1.00728 3.25011E-6 " pathEditMode="relative" rAng="0" ptsTypes="AA">
                                      <p:cBhvr>
                                        <p:cTn id="8" dur="750" fill="hold"/>
                                        <p:tgtEl>
                                          <p:spTgt spid="12"/>
                                        </p:tgtEl>
                                        <p:attrNameLst>
                                          <p:attrName>ppt_x</p:attrName>
                                          <p:attrName>ppt_y</p:attrName>
                                        </p:attrNameLst>
                                      </p:cBhvr>
                                      <p:rCtr x="50357" y="0"/>
                                    </p:animMotion>
                                  </p:childTnLst>
                                </p:cTn>
                              </p:par>
                              <p:par>
                                <p:cTn id="9" presetID="63" presetClass="path" presetSubtype="0" accel="24000" decel="76000" fill="hold" grpId="0" nodeType="withEffect">
                                  <p:stCondLst>
                                    <p:cond delay="150"/>
                                  </p:stCondLst>
                                  <p:childTnLst>
                                    <p:animMotion origin="layout" path="M 0 3.25011E-6 L 1.00728 3.25011E-6 " pathEditMode="relative" rAng="0" ptsTypes="AA">
                                      <p:cBhvr>
                                        <p:cTn id="10" dur="750" fill="hold"/>
                                        <p:tgtEl>
                                          <p:spTgt spid="10"/>
                                        </p:tgtEl>
                                        <p:attrNameLst>
                                          <p:attrName>ppt_x</p:attrName>
                                          <p:attrName>ppt_y</p:attrName>
                                        </p:attrNameLst>
                                      </p:cBhvr>
                                      <p:rCtr x="50357" y="0"/>
                                    </p:animMotion>
                                  </p:childTnLst>
                                </p:cTn>
                              </p:par>
                              <p:par>
                                <p:cTn id="11" presetID="1" presetClass="entr" presetSubtype="0" fill="hold" grpId="0" nodeType="withEffect">
                                  <p:stCondLst>
                                    <p:cond delay="1000"/>
                                  </p:stCondLst>
                                  <p:childTnLst>
                                    <p:set>
                                      <p:cBhvr>
                                        <p:cTn id="12" dur="1" fill="hold">
                                          <p:stCondLst>
                                            <p:cond delay="0"/>
                                          </p:stCondLst>
                                        </p:cTn>
                                        <p:tgtEl>
                                          <p:spTgt spid="13"/>
                                        </p:tgtEl>
                                        <p:attrNameLst>
                                          <p:attrName>style.visibility</p:attrName>
                                        </p:attrNameLst>
                                      </p:cBhvr>
                                      <p:to>
                                        <p:strVal val="visible"/>
                                      </p:to>
                                    </p:set>
                                  </p:childTnLst>
                                </p:cTn>
                              </p:par>
                              <p:par>
                                <p:cTn id="13" presetID="10" presetClass="entr" presetSubtype="0" fill="hold" grpId="0" nodeType="withEffect">
                                  <p:stCondLst>
                                    <p:cond delay="75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950"/>
                                        <p:tgtEl>
                                          <p:spTgt spid="9"/>
                                        </p:tgtEl>
                                      </p:cBhvr>
                                    </p:animEffect>
                                  </p:childTnLst>
                                </p:cTn>
                              </p:par>
                              <p:par>
                                <p:cTn id="16" presetID="63" presetClass="path" presetSubtype="0" decel="100000" fill="hold" grpId="1" nodeType="withEffect">
                                  <p:stCondLst>
                                    <p:cond delay="750"/>
                                  </p:stCondLst>
                                  <p:childTnLst>
                                    <p:animMotion origin="layout" path="M -0.01455 -1.34362E-6 L -3.90605E-7 -1.34362E-6 " pathEditMode="relative" rAng="0" ptsTypes="AA">
                                      <p:cBhvr>
                                        <p:cTn id="17" dur="950" fill="hold"/>
                                        <p:tgtEl>
                                          <p:spTgt spid="9"/>
                                        </p:tgtEl>
                                        <p:attrNameLst>
                                          <p:attrName>ppt_x</p:attrName>
                                          <p:attrName>ppt_y</p:attrName>
                                        </p:attrNameLst>
                                      </p:cBhvr>
                                      <p:rCtr x="728" y="0"/>
                                    </p:animMotion>
                                  </p:childTnLst>
                                </p:cTn>
                              </p:par>
                              <p:par>
                                <p:cTn id="18" presetID="6" presetClass="emph" presetSubtype="0" accel="100000" autoRev="1" fill="hold" grpId="2" nodeType="withEffect">
                                  <p:stCondLst>
                                    <p:cond delay="50"/>
                                  </p:stCondLst>
                                  <p:childTnLst>
                                    <p:animScale>
                                      <p:cBhvr>
                                        <p:cTn id="19" dur="500" fill="hold"/>
                                        <p:tgtEl>
                                          <p:spTgt spid="9"/>
                                        </p:tgtEl>
                                      </p:cBhvr>
                                      <p:by x="95000" y="95000"/>
                                    </p:animScale>
                                  </p:childTnLst>
                                </p:cTn>
                              </p:par>
                              <p:par>
                                <p:cTn id="20" presetID="10" presetClass="entr" presetSubtype="0" fill="hold" grpId="0" nodeType="withEffect">
                                  <p:stCondLst>
                                    <p:cond delay="8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950"/>
                                        <p:tgtEl>
                                          <p:spTgt spid="5"/>
                                        </p:tgtEl>
                                      </p:cBhvr>
                                    </p:animEffect>
                                  </p:childTnLst>
                                </p:cTn>
                              </p:par>
                              <p:par>
                                <p:cTn id="23" presetID="63" presetClass="path" presetSubtype="0" decel="100000" fill="hold" grpId="1" nodeType="withEffect">
                                  <p:stCondLst>
                                    <p:cond delay="800"/>
                                  </p:stCondLst>
                                  <p:childTnLst>
                                    <p:animMotion origin="layout" path="M -0.01455 -1.34362E-6 L -3.90605E-7 -1.34362E-6 " pathEditMode="relative" rAng="0" ptsTypes="AA">
                                      <p:cBhvr>
                                        <p:cTn id="24" dur="950" fill="hold"/>
                                        <p:tgtEl>
                                          <p:spTgt spid="5"/>
                                        </p:tgtEl>
                                        <p:attrNameLst>
                                          <p:attrName>ppt_x</p:attrName>
                                          <p:attrName>ppt_y</p:attrName>
                                        </p:attrNameLst>
                                      </p:cBhvr>
                                      <p:rCtr x="728" y="0"/>
                                    </p:animMotion>
                                  </p:childTnLst>
                                </p:cTn>
                              </p:par>
                              <p:par>
                                <p:cTn id="25" presetID="6" presetClass="emph" presetSubtype="0" accel="100000" autoRev="1" fill="hold" grpId="2" nodeType="withEffect">
                                  <p:stCondLst>
                                    <p:cond delay="100"/>
                                  </p:stCondLst>
                                  <p:childTnLst>
                                    <p:animScale>
                                      <p:cBhvr>
                                        <p:cTn id="26" dur="500" fill="hold"/>
                                        <p:tgtEl>
                                          <p:spTgt spid="5"/>
                                        </p:tgtEl>
                                      </p:cBhvr>
                                      <p:by x="95000" y="95000"/>
                                    </p:animScale>
                                  </p:childTnLst>
                                </p:cTn>
                              </p:par>
                              <p:par>
                                <p:cTn id="27" presetID="10" presetClass="entr" presetSubtype="0" fill="hold" grpId="0" nodeType="withEffect">
                                  <p:stCondLst>
                                    <p:cond delay="7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950"/>
                                        <p:tgtEl>
                                          <p:spTgt spid="17"/>
                                        </p:tgtEl>
                                      </p:cBhvr>
                                    </p:animEffect>
                                  </p:childTnLst>
                                </p:cTn>
                              </p:par>
                              <p:par>
                                <p:cTn id="30" presetID="63" presetClass="path" presetSubtype="0" decel="100000" fill="hold" grpId="1" nodeType="withEffect">
                                  <p:stCondLst>
                                    <p:cond delay="700"/>
                                  </p:stCondLst>
                                  <p:childTnLst>
                                    <p:animMotion origin="layout" path="M -0.01455 -1.34362E-6 L -3.90605E-7 -1.34362E-6 " pathEditMode="relative" rAng="0" ptsTypes="AA">
                                      <p:cBhvr>
                                        <p:cTn id="31" dur="950" fill="hold"/>
                                        <p:tgtEl>
                                          <p:spTgt spid="17"/>
                                        </p:tgtEl>
                                        <p:attrNameLst>
                                          <p:attrName>ppt_x</p:attrName>
                                          <p:attrName>ppt_y</p:attrName>
                                        </p:attrNameLst>
                                      </p:cBhvr>
                                      <p:rCtr x="728" y="0"/>
                                    </p:animMotion>
                                  </p:childTnLst>
                                </p:cTn>
                              </p:par>
                              <p:par>
                                <p:cTn id="32" presetID="6" presetClass="emph" presetSubtype="0" accel="100000" autoRev="1" fill="hold" grpId="2" nodeType="withEffect">
                                  <p:stCondLst>
                                    <p:cond delay="0"/>
                                  </p:stCondLst>
                                  <p:childTnLst>
                                    <p:animScale>
                                      <p:cBhvr>
                                        <p:cTn id="33" dur="500" fill="hold"/>
                                        <p:tgtEl>
                                          <p:spTgt spid="17"/>
                                        </p:tgtEl>
                                      </p:cBhvr>
                                      <p:by x="95000" y="9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0" grpId="0" animBg="1"/>
      <p:bldP spid="11" grpId="0" animBg="1"/>
      <p:bldP spid="13" grpId="0" animBg="1"/>
      <p:bldP spid="5" grpId="0">
        <p:tmplLst>
          <p:tmpl>
            <p:tnLst>
              <p:par>
                <p:cTn presetID="10" presetClass="entr" presetSubtype="0" fill="hold" nodeType="withEffect">
                  <p:stCondLst>
                    <p:cond delay="800"/>
                  </p:stCondLst>
                  <p:childTnLst>
                    <p:set>
                      <p:cBhvr>
                        <p:cTn dur="1" fill="hold">
                          <p:stCondLst>
                            <p:cond delay="0"/>
                          </p:stCondLst>
                        </p:cTn>
                        <p:tgtEl>
                          <p:spTgt spid="5"/>
                        </p:tgtEl>
                        <p:attrNameLst>
                          <p:attrName>style.visibility</p:attrName>
                        </p:attrNameLst>
                      </p:cBhvr>
                      <p:to>
                        <p:strVal val="visible"/>
                      </p:to>
                    </p:set>
                    <p:animEffect transition="in" filter="fade">
                      <p:cBhvr>
                        <p:cTn dur="950"/>
                        <p:tgtEl>
                          <p:spTgt spid="5"/>
                        </p:tgtEl>
                      </p:cBhvr>
                    </p:animEffect>
                  </p:childTnLst>
                </p:cTn>
              </p:par>
            </p:tnLst>
          </p:tmpl>
        </p:tmplLst>
      </p:bldP>
      <p:bldP spid="5" grpId="1">
        <p:tmplLst>
          <p:tmpl>
            <p:tnLst>
              <p:par>
                <p:cTn presetID="63" presetClass="path" presetSubtype="0" decel="100000" fill="hold" nodeType="withEffect">
                  <p:stCondLst>
                    <p:cond delay="800"/>
                  </p:stCondLst>
                  <p:childTnLst>
                    <p:animMotion origin="layout" path="M -0.01455 -1.34362E-6 L -3.90605E-7 -1.34362E-6 " pathEditMode="relative" rAng="0" ptsTypes="AA">
                      <p:cBhvr>
                        <p:cTn dur="950" fill="hold"/>
                        <p:tgtEl>
                          <p:spTgt spid="5"/>
                        </p:tgtEl>
                        <p:attrNameLst>
                          <p:attrName>ppt_x</p:attrName>
                          <p:attrName>ppt_y</p:attrName>
                        </p:attrNameLst>
                      </p:cBhvr>
                      <p:rCtr x="728" y="0"/>
                    </p:animMotion>
                  </p:childTnLst>
                </p:cTn>
              </p:par>
            </p:tnLst>
          </p:tmpl>
        </p:tmplLst>
      </p:bldP>
      <p:bldP spid="5" grpId="2">
        <p:tmplLst>
          <p:tmpl>
            <p:tnLst>
              <p:par>
                <p:cTn presetID="6" presetClass="emph" presetSubtype="0" accel="100000" autoRev="1" fill="hold" nodeType="withEffect">
                  <p:stCondLst>
                    <p:cond delay="100"/>
                  </p:stCondLst>
                  <p:childTnLst>
                    <p:animScale>
                      <p:cBhvr>
                        <p:cTn dur="500" fill="hold"/>
                        <p:tgtEl>
                          <p:spTgt spid="5"/>
                        </p:tgtEl>
                      </p:cBhvr>
                      <p:by x="95000" y="95000"/>
                    </p:animScale>
                  </p:childTnLst>
                </p:cTn>
              </p:par>
            </p:tnLst>
          </p:tmpl>
        </p:tmplLst>
      </p:bldP>
      <p:bldP spid="9" grpId="0"/>
      <p:bldP spid="9" grpId="1"/>
      <p:bldP spid="9" grpId="2"/>
      <p:bldP spid="17" grpId="0">
        <p:tmplLst>
          <p:tmpl>
            <p:tnLst>
              <p:par>
                <p:cTn presetID="10" presetClass="entr" presetSubtype="0" fill="hold" nodeType="withEffect">
                  <p:stCondLst>
                    <p:cond delay="700"/>
                  </p:stCondLst>
                  <p:childTnLst>
                    <p:set>
                      <p:cBhvr>
                        <p:cTn dur="1" fill="hold">
                          <p:stCondLst>
                            <p:cond delay="0"/>
                          </p:stCondLst>
                        </p:cTn>
                        <p:tgtEl>
                          <p:spTgt spid="17"/>
                        </p:tgtEl>
                        <p:attrNameLst>
                          <p:attrName>style.visibility</p:attrName>
                        </p:attrNameLst>
                      </p:cBhvr>
                      <p:to>
                        <p:strVal val="visible"/>
                      </p:to>
                    </p:set>
                    <p:animEffect transition="in" filter="fade">
                      <p:cBhvr>
                        <p:cTn dur="950"/>
                        <p:tgtEl>
                          <p:spTgt spid="17"/>
                        </p:tgtEl>
                      </p:cBhvr>
                    </p:animEffect>
                  </p:childTnLst>
                </p:cTn>
              </p:par>
            </p:tnLst>
          </p:tmpl>
        </p:tmplLst>
      </p:bldP>
      <p:bldP spid="17" grpId="1"/>
      <p:bldP spid="17" grpId="2"/>
    </p:bldLst>
  </p:timing>
  <p:extLst mod="1">
    <p:ext uri="{DCECCB84-F9BA-43D5-87BE-67443E8EF086}">
      <p15:sldGuideLst xmlns:p15="http://schemas.microsoft.com/office/powerpoint/2012/main">
        <p15:guide id="4" orient="horz" pos="4406">
          <p15:clr>
            <a:srgbClr val="C35E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1"/>
          </p:nvPr>
        </p:nvSpPr>
        <p:spPr>
          <a:xfrm>
            <a:off x="274639" y="1212849"/>
            <a:ext cx="11889564" cy="2059025"/>
          </a:xfrm>
        </p:spPr>
        <p:txBody>
          <a:bodyPr/>
          <a:lstStyle>
            <a:lvl1pPr marL="0" indent="0">
              <a:buNone/>
              <a:defRPr/>
            </a:lvl1pPr>
            <a:lvl2pPr marL="28575" indent="0">
              <a:buNone/>
              <a:defRPr sz="2000"/>
            </a:lvl2pPr>
            <a:lvl3pPr marL="223838" indent="0">
              <a:buNone/>
              <a:defRPr sz="2000"/>
            </a:lvl3pPr>
            <a:lvl4pPr marL="476250" indent="0">
              <a:buNone/>
              <a:defRPr sz="1800"/>
            </a:lvl4pPr>
            <a:lvl5pPr marL="739775" indent="0">
              <a:buNone/>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63926737"/>
      </p:ext>
    </p:extLst>
  </p:cSld>
  <p:clrMapOvr>
    <a:masterClrMapping/>
  </p:clrMapOvr>
  <p:transition>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1"/>
          </p:nvPr>
        </p:nvSpPr>
        <p:spPr>
          <a:xfrm>
            <a:off x="274639" y="1212849"/>
            <a:ext cx="11889564" cy="2059025"/>
          </a:xfrm>
        </p:spPr>
        <p:txBody>
          <a:bodyPr/>
          <a:lstStyle>
            <a:lvl1pPr marL="0" indent="0">
              <a:buNone/>
              <a:defRPr>
                <a:gradFill>
                  <a:gsLst>
                    <a:gs pos="2920">
                      <a:schemeClr val="tx2"/>
                    </a:gs>
                    <a:gs pos="39000">
                      <a:schemeClr val="tx2"/>
                    </a:gs>
                  </a:gsLst>
                  <a:lin ang="5400000" scaled="0"/>
                </a:gradFill>
              </a:defRPr>
            </a:lvl1pPr>
            <a:lvl2pPr marL="28575" indent="0">
              <a:buNone/>
              <a:defRPr sz="2000"/>
            </a:lvl2pPr>
            <a:lvl3pPr marL="223838" indent="0">
              <a:buNone/>
              <a:defRPr sz="2000"/>
            </a:lvl3pPr>
            <a:lvl4pPr marL="476250" indent="0">
              <a:buNone/>
              <a:defRPr sz="1800"/>
            </a:lvl4pPr>
            <a:lvl5pPr marL="739775" indent="0">
              <a:buNone/>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14076694"/>
      </p:ext>
    </p:extLst>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Walkin">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MS logo white"/>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471538" y="483677"/>
            <a:ext cx="1811112" cy="387966"/>
          </a:xfrm>
          <a:prstGeom prst="rect">
            <a:avLst/>
          </a:prstGeom>
        </p:spPr>
      </p:pic>
      <p:pic>
        <p:nvPicPr>
          <p:cNvPr id="6" name="TechEd 2014 logo white"/>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058190" y="448802"/>
            <a:ext cx="2965328" cy="1283012"/>
          </a:xfrm>
          <a:prstGeom prst="rect">
            <a:avLst/>
          </a:prstGeom>
        </p:spPr>
      </p:pic>
    </p:spTree>
    <p:extLst>
      <p:ext uri="{BB962C8B-B14F-4D97-AF65-F5344CB8AC3E}">
        <p14:creationId xmlns:p14="http://schemas.microsoft.com/office/powerpoint/2010/main" val="1499138121"/>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pos="288">
          <p15:clr>
            <a:srgbClr val="C35EA4"/>
          </p15:clr>
        </p15:guide>
        <p15:guide id="2" pos="7546">
          <p15:clr>
            <a:srgbClr val="C35EA4"/>
          </p15:clr>
        </p15:guide>
        <p15:guide id="3" orient="horz" pos="302">
          <p15:clr>
            <a:srgbClr val="C35EA4"/>
          </p15:clr>
        </p15:guide>
        <p15:guide id="4" orient="horz" pos="4104">
          <p15:clr>
            <a:srgbClr val="C35E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hoto Layout">
    <p:bg bwMode="gray">
      <p:bgPr>
        <a:solidFill>
          <a:srgbClr val="002050"/>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1028"/>
            <a:ext cx="12436474" cy="6992469"/>
          </a:xfrm>
          <a:prstGeom prst="rect">
            <a:avLst/>
          </a:prstGeom>
        </p:spPr>
      </p:pic>
      <p:sp>
        <p:nvSpPr>
          <p:cNvPr id="14" name="Dark gradation bottom"/>
          <p:cNvSpPr/>
          <p:nvPr userDrawn="1"/>
        </p:nvSpPr>
        <p:spPr bwMode="gray">
          <a:xfrm flipV="1">
            <a:off x="0" y="-4"/>
            <a:ext cx="12446758" cy="6994525"/>
          </a:xfrm>
          <a:prstGeom prst="rect">
            <a:avLst/>
          </a:prstGeom>
          <a:gradFill flip="none" rotWithShape="1">
            <a:gsLst>
              <a:gs pos="0">
                <a:srgbClr val="000000">
                  <a:alpha val="73000"/>
                </a:srgbClr>
              </a:gs>
              <a:gs pos="40000">
                <a:srgbClr val="000000">
                  <a:alpha val="0"/>
                </a:srgb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defRPr/>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19" name="Dark gradation top"/>
          <p:cNvSpPr/>
          <p:nvPr userDrawn="1"/>
        </p:nvSpPr>
        <p:spPr bwMode="gray">
          <a:xfrm>
            <a:off x="0" y="-1028"/>
            <a:ext cx="12446757" cy="6994525"/>
          </a:xfrm>
          <a:prstGeom prst="rect">
            <a:avLst/>
          </a:prstGeom>
          <a:gradFill flip="none" rotWithShape="1">
            <a:gsLst>
              <a:gs pos="0">
                <a:srgbClr val="000000">
                  <a:alpha val="50000"/>
                </a:srgbClr>
              </a:gs>
              <a:gs pos="40000">
                <a:srgbClr val="000000">
                  <a:alpha val="0"/>
                </a:srgb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defRPr/>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p:cNvSpPr/>
          <p:nvPr userDrawn="1"/>
        </p:nvSpPr>
        <p:spPr bwMode="gray">
          <a:xfrm>
            <a:off x="274638" y="2125663"/>
            <a:ext cx="6400800" cy="3657600"/>
          </a:xfrm>
          <a:prstGeom prst="rect">
            <a:avLst/>
          </a:prstGeom>
          <a:solidFill>
            <a:schemeClr val="bg2">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defRPr/>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ltGray">
          <a:xfrm>
            <a:off x="273050" y="2125661"/>
            <a:ext cx="6402388" cy="2103119"/>
          </a:xfrm>
          <a:noFill/>
        </p:spPr>
        <p:txBody>
          <a:bodyPr vert="horz" wrap="square" lIns="146304" tIns="91440" rIns="146304" bIns="91440" rtlCol="0" anchor="t" anchorCtr="0">
            <a:noAutofit/>
          </a:bodyPr>
          <a:lstStyle>
            <a:lvl1pPr>
              <a:defRPr lang="en-US" sz="6000" spc="-100" baseline="0" dirty="0">
                <a:gradFill>
                  <a:gsLst>
                    <a:gs pos="5833">
                      <a:srgbClr val="FFFFFF"/>
                    </a:gs>
                    <a:gs pos="18000">
                      <a:srgbClr val="FFFFFF"/>
                    </a:gs>
                  </a:gsLst>
                  <a:lin ang="5400000" scaled="0"/>
                </a:gradFill>
              </a:defRPr>
            </a:lvl1pPr>
          </a:lstStyle>
          <a:p>
            <a:pPr lvl="0"/>
            <a:r>
              <a:rPr lang="en-US" dirty="0" smtClean="0"/>
              <a:t>Presentation title</a:t>
            </a:r>
            <a:endParaRPr lang="en-US" dirty="0"/>
          </a:p>
        </p:txBody>
      </p:sp>
      <p:sp>
        <p:nvSpPr>
          <p:cNvPr id="3" name="Text Placeholder 2"/>
          <p:cNvSpPr>
            <a:spLocks noGrp="1"/>
          </p:cNvSpPr>
          <p:nvPr>
            <p:ph type="body" sz="quarter" idx="14" hasCustomPrompt="1"/>
          </p:nvPr>
        </p:nvSpPr>
        <p:spPr bwMode="ltGray">
          <a:xfrm>
            <a:off x="274638" y="4228783"/>
            <a:ext cx="6400800" cy="1554478"/>
          </a:xfrm>
        </p:spPr>
        <p:txBody>
          <a:bodyPr tIns="109728" bIns="109728">
            <a:noAutofit/>
          </a:bodyPr>
          <a:lstStyle>
            <a:lvl1pPr marL="0" indent="0">
              <a:spcBef>
                <a:spcPts val="0"/>
              </a:spcBef>
              <a:buNone/>
              <a:defRPr sz="3200">
                <a:gradFill>
                  <a:gsLst>
                    <a:gs pos="1250">
                      <a:srgbClr val="FFFFFF"/>
                    </a:gs>
                    <a:gs pos="99000">
                      <a:srgbClr val="FFFFFF"/>
                    </a:gs>
                  </a:gsLst>
                  <a:lin ang="5400000" scaled="0"/>
                </a:gradFill>
              </a:defRPr>
            </a:lvl1pPr>
          </a:lstStyle>
          <a:p>
            <a:pPr lvl="0"/>
            <a:r>
              <a:rPr lang="en-US" dirty="0" smtClean="0"/>
              <a:t>Speaker Name</a:t>
            </a:r>
            <a:endParaRPr lang="en-US" dirty="0"/>
          </a:p>
        </p:txBody>
      </p:sp>
      <p:pic>
        <p:nvPicPr>
          <p:cNvPr id="11" name="MS logo white"/>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458332" y="6182440"/>
            <a:ext cx="1552931" cy="332660"/>
          </a:xfrm>
          <a:prstGeom prst="rect">
            <a:avLst/>
          </a:prstGeom>
        </p:spPr>
      </p:pic>
      <p:pic>
        <p:nvPicPr>
          <p:cNvPr id="12" name="TechEd 2014 logo white"/>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74108" y="448802"/>
            <a:ext cx="2965328" cy="1283012"/>
          </a:xfrm>
          <a:prstGeom prst="rect">
            <a:avLst/>
          </a:prstGeom>
        </p:spPr>
      </p:pic>
    </p:spTree>
    <p:extLst>
      <p:ext uri="{BB962C8B-B14F-4D97-AF65-F5344CB8AC3E}">
        <p14:creationId xmlns:p14="http://schemas.microsoft.com/office/powerpoint/2010/main" val="206292232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1">
    <p:bg bwMode="auto">
      <p:bgPr>
        <a:solidFill>
          <a:srgbClr val="002050"/>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6540" y="3954457"/>
            <a:ext cx="6399213" cy="1830388"/>
          </a:xfrm>
          <a:noFill/>
        </p:spPr>
        <p:txBody>
          <a:bodyPr lIns="146304" tIns="109728" rIns="146304" bIns="109728">
            <a:noAutofit/>
          </a:bodyPr>
          <a:lstStyle>
            <a:lvl1pPr marL="0" indent="0">
              <a:spcBef>
                <a:spcPts val="0"/>
              </a:spcBef>
              <a:buNone/>
              <a:defRPr sz="3600"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9" name="Title 1"/>
          <p:cNvSpPr>
            <a:spLocks noGrp="1"/>
          </p:cNvSpPr>
          <p:nvPr>
            <p:ph type="title" hasCustomPrompt="1"/>
          </p:nvPr>
        </p:nvSpPr>
        <p:spPr>
          <a:xfrm>
            <a:off x="274703" y="2117165"/>
            <a:ext cx="8229535" cy="1837298"/>
          </a:xfrm>
          <a:noFill/>
        </p:spPr>
        <p:txBody>
          <a:bodyPr lIns="146304" tIns="91440" rIns="146304" bIns="91440" anchor="t" anchorCtr="0"/>
          <a:lstStyle>
            <a:lvl1pPr>
              <a:defRPr sz="6000" spc="-100" baseline="0">
                <a:gradFill>
                  <a:gsLst>
                    <a:gs pos="3333">
                      <a:schemeClr val="tx1"/>
                    </a:gs>
                    <a:gs pos="39000">
                      <a:schemeClr val="tx1"/>
                    </a:gs>
                  </a:gsLst>
                  <a:lin ang="5400000" scaled="0"/>
                </a:gradFill>
              </a:defRPr>
            </a:lvl1pPr>
          </a:lstStyle>
          <a:p>
            <a:r>
              <a:rPr lang="en-US" dirty="0" smtClean="0"/>
              <a:t>Presentation title</a:t>
            </a:r>
            <a:endParaRPr lang="en-US" dirty="0"/>
          </a:p>
        </p:txBody>
      </p:sp>
      <p:pic>
        <p:nvPicPr>
          <p:cNvPr id="11" name="TechEd 2014 logo whit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74108" y="448802"/>
            <a:ext cx="2965328" cy="1283012"/>
          </a:xfrm>
          <a:prstGeom prst="rect">
            <a:avLst/>
          </a:prstGeom>
        </p:spPr>
      </p:pic>
      <p:pic>
        <p:nvPicPr>
          <p:cNvPr id="8" name="MS logo white"/>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458332" y="6182440"/>
            <a:ext cx="1552931" cy="332660"/>
          </a:xfrm>
          <a:prstGeom prst="rect">
            <a:avLst/>
          </a:prstGeom>
        </p:spPr>
      </p:pic>
    </p:spTree>
    <p:extLst>
      <p:ext uri="{BB962C8B-B14F-4D97-AF65-F5344CB8AC3E}">
        <p14:creationId xmlns:p14="http://schemas.microsoft.com/office/powerpoint/2010/main" val="226422977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4406">
          <p15:clr>
            <a:srgbClr val="C35E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 name="Rectangle 2"/>
          <p:cNvSpPr/>
          <p:nvPr userDrawn="1"/>
        </p:nvSpPr>
        <p:spPr bwMode="auto">
          <a:xfrm>
            <a:off x="274638" y="2125663"/>
            <a:ext cx="8229600" cy="3657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defRPr/>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274702" y="2125678"/>
            <a:ext cx="8229536" cy="1828786"/>
          </a:xfrm>
          <a:noFill/>
        </p:spPr>
        <p:txBody>
          <a:bodyPr lIns="146304" tIns="91440" rIns="146304" bIns="91440" anchor="t" anchorCtr="0"/>
          <a:lstStyle>
            <a:lvl1pPr>
              <a:defRPr sz="6000" spc="-100" baseline="0">
                <a:gradFill>
                  <a:gsLst>
                    <a:gs pos="5833">
                      <a:srgbClr val="FFFFFF"/>
                    </a:gs>
                    <a:gs pos="18000">
                      <a:srgbClr val="FFFFFF"/>
                    </a:gs>
                  </a:gsLst>
                  <a:lin ang="5400000" scaled="0"/>
                </a:gradFill>
              </a:defRPr>
            </a:lvl1pPr>
          </a:lstStyle>
          <a:p>
            <a:r>
              <a:rPr lang="en-US" dirty="0" smtClean="0"/>
              <a:t>Presentation title</a:t>
            </a:r>
            <a:endParaRPr lang="en-US" dirty="0"/>
          </a:p>
        </p:txBody>
      </p:sp>
      <p:sp>
        <p:nvSpPr>
          <p:cNvPr id="5" name="Text Placeholder 4"/>
          <p:cNvSpPr>
            <a:spLocks noGrp="1"/>
          </p:cNvSpPr>
          <p:nvPr>
            <p:ph type="body" sz="quarter" idx="12" hasCustomPrompt="1"/>
          </p:nvPr>
        </p:nvSpPr>
        <p:spPr>
          <a:xfrm>
            <a:off x="274701" y="3955786"/>
            <a:ext cx="8229537" cy="1828007"/>
          </a:xfrm>
          <a:noFill/>
        </p:spPr>
        <p:txBody>
          <a:bodyPr lIns="146304" tIns="109728" rIns="146304" bIns="109728">
            <a:noAutofit/>
          </a:bodyPr>
          <a:lstStyle>
            <a:lvl1pPr marL="0" indent="0">
              <a:spcBef>
                <a:spcPts val="0"/>
              </a:spcBef>
              <a:buNone/>
              <a:defRPr sz="3600" spc="0" baseline="0">
                <a:gradFill>
                  <a:gsLst>
                    <a:gs pos="2917">
                      <a:srgbClr val="FFFFFF"/>
                    </a:gs>
                    <a:gs pos="30000">
                      <a:srgbClr val="FFFFFF"/>
                    </a:gs>
                  </a:gsLst>
                  <a:lin ang="5400000" scaled="0"/>
                </a:gradFill>
                <a:latin typeface="+mj-lt"/>
              </a:defRPr>
            </a:lvl1pPr>
          </a:lstStyle>
          <a:p>
            <a:pPr lvl="0"/>
            <a:r>
              <a:rPr lang="en-US" dirty="0" smtClean="0"/>
              <a:t>Speaker Name</a:t>
            </a:r>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bwMode="invGray">
          <a:xfrm>
            <a:off x="458332" y="6182440"/>
            <a:ext cx="1552931" cy="332660"/>
          </a:xfrm>
          <a:prstGeom prst="rect">
            <a:avLst/>
          </a:prstGeom>
        </p:spPr>
      </p:pic>
      <p:pic>
        <p:nvPicPr>
          <p:cNvPr id="10" name="TechEd 2014 logo white"/>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invGray">
          <a:xfrm>
            <a:off x="474108" y="448802"/>
            <a:ext cx="2965328" cy="1283012"/>
          </a:xfrm>
          <a:prstGeom prst="rect">
            <a:avLst/>
          </a:prstGeom>
        </p:spPr>
      </p:pic>
    </p:spTree>
    <p:extLst>
      <p:ext uri="{BB962C8B-B14F-4D97-AF65-F5344CB8AC3E}">
        <p14:creationId xmlns:p14="http://schemas.microsoft.com/office/powerpoint/2010/main" val="293902996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emo slide">
    <p:bg bwMode="auto">
      <p:bgPr>
        <a:solidFill>
          <a:schemeClr val="accent1"/>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74702" y="1211287"/>
            <a:ext cx="8229536" cy="274317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defRPr/>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9" y="1209973"/>
            <a:ext cx="8229599" cy="2751698"/>
          </a:xfrm>
          <a:noFill/>
        </p:spPr>
        <p:txBody>
          <a:bodyPr tIns="91440" bIns="91440" anchor="t" anchorCtr="0"/>
          <a:lstStyle>
            <a:lvl1pPr>
              <a:defRPr sz="7200" spc="-100" baseline="0">
                <a:gradFill>
                  <a:gsLst>
                    <a:gs pos="5833">
                      <a:srgbClr val="FFFFFF"/>
                    </a:gs>
                    <a:gs pos="18000">
                      <a:srgbClr val="FFFFFF"/>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63"/>
            <a:ext cx="8229589" cy="1829593"/>
          </a:xfrm>
          <a:noFill/>
        </p:spPr>
        <p:txBody>
          <a:bodyPr lIns="182880" tIns="146304" rIns="182880" bIns="146304">
            <a:noAutofit/>
          </a:bodyPr>
          <a:lstStyle>
            <a:lvl1pPr marL="0" indent="0">
              <a:spcBef>
                <a:spcPts val="0"/>
              </a:spcBef>
              <a:buNone/>
              <a:defRPr sz="3600" spc="0" baseline="0">
                <a:gradFill>
                  <a:gsLst>
                    <a:gs pos="0">
                      <a:srgbClr val="FFFFFF"/>
                    </a:gs>
                    <a:gs pos="100000">
                      <a:srgbClr val="FFFFFF"/>
                    </a:gs>
                  </a:gsLst>
                  <a:lin ang="5400000" scaled="0"/>
                </a:gradFill>
                <a:latin typeface="+mj-lt"/>
              </a:defRPr>
            </a:lvl1pPr>
          </a:lstStyle>
          <a:p>
            <a:pPr lvl="0"/>
            <a:r>
              <a:rPr lang="en-US" dirty="0" smtClean="0"/>
              <a:t>Speaker Name</a:t>
            </a:r>
          </a:p>
        </p:txBody>
      </p:sp>
      <p:pic>
        <p:nvPicPr>
          <p:cNvPr id="6" name="TechEd 2014 logo whit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9058190" y="448802"/>
            <a:ext cx="2965328" cy="1283012"/>
          </a:xfrm>
          <a:prstGeom prst="rect">
            <a:avLst/>
          </a:prstGeom>
        </p:spPr>
      </p:pic>
    </p:spTree>
    <p:extLst>
      <p:ext uri="{BB962C8B-B14F-4D97-AF65-F5344CB8AC3E}">
        <p14:creationId xmlns:p14="http://schemas.microsoft.com/office/powerpoint/2010/main" val="100206987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3"/>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74702" y="1211287"/>
            <a:ext cx="8229536" cy="274317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defRPr/>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9" y="1209973"/>
            <a:ext cx="8229599" cy="2751698"/>
          </a:xfrm>
          <a:noFill/>
        </p:spPr>
        <p:txBody>
          <a:bodyPr tIns="91440" bIns="91440" anchor="t" anchorCtr="0"/>
          <a:lstStyle>
            <a:lvl1pPr>
              <a:defRPr sz="7200" spc="-100" baseline="0">
                <a:gradFill>
                  <a:gsLst>
                    <a:gs pos="5833">
                      <a:srgbClr val="FFFFFF"/>
                    </a:gs>
                    <a:gs pos="18000">
                      <a:srgbClr val="FFFFFF"/>
                    </a:gs>
                  </a:gsLst>
                  <a:lin ang="5400000" scaled="0"/>
                </a:gradFill>
              </a:defRPr>
            </a:lvl1pPr>
          </a:lstStyle>
          <a:p>
            <a:r>
              <a:rPr lang="en-US" dirty="0" smtClean="0"/>
              <a:t>Video title</a:t>
            </a:r>
            <a:endParaRPr lang="en-US" dirty="0"/>
          </a:p>
        </p:txBody>
      </p:sp>
      <p:pic>
        <p:nvPicPr>
          <p:cNvPr id="5" name="TechEd 2014 logo whit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9058190" y="448802"/>
            <a:ext cx="2965328" cy="1283012"/>
          </a:xfrm>
          <a:prstGeom prst="rect">
            <a:avLst/>
          </a:prstGeom>
        </p:spPr>
      </p:pic>
    </p:spTree>
    <p:extLst>
      <p:ext uri="{BB962C8B-B14F-4D97-AF65-F5344CB8AC3E}">
        <p14:creationId xmlns:p14="http://schemas.microsoft.com/office/powerpoint/2010/main" val="378292199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defRPr sz="8800" spc="-100" baseline="0">
                <a:gradFill>
                  <a:gsLst>
                    <a:gs pos="87586">
                      <a:srgbClr val="FFFFFF"/>
                    </a:gs>
                    <a:gs pos="52000">
                      <a:srgbClr val="FFFFFF"/>
                    </a:gs>
                  </a:gsLst>
                  <a:lin ang="5400000" scaled="0"/>
                </a:gradFill>
              </a:defRPr>
            </a:lvl1pPr>
          </a:lstStyle>
          <a:p>
            <a:r>
              <a:rPr lang="en-US" dirty="0" smtClean="0"/>
              <a:t>Section title</a:t>
            </a:r>
            <a:endParaRPr lang="en-US" dirty="0"/>
          </a:p>
        </p:txBody>
      </p:sp>
      <p:pic>
        <p:nvPicPr>
          <p:cNvPr id="4" name="TechEd 2014 logo whit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9058190" y="448802"/>
            <a:ext cx="2965328" cy="1283012"/>
          </a:xfrm>
          <a:prstGeom prst="rect">
            <a:avLst/>
          </a:prstGeom>
        </p:spPr>
      </p:pic>
    </p:spTree>
    <p:extLst>
      <p:ext uri="{BB962C8B-B14F-4D97-AF65-F5344CB8AC3E}">
        <p14:creationId xmlns:p14="http://schemas.microsoft.com/office/powerpoint/2010/main" val="2615642850"/>
      </p:ext>
    </p:extLst>
  </p:cSld>
  <p:clrMapOvr>
    <a:masterClrMapping/>
  </p:clrMapOvr>
  <p:transition>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defRPr sz="8800" spc="-100" baseline="0">
                <a:gradFill>
                  <a:gsLst>
                    <a:gs pos="87586">
                      <a:srgbClr val="FFFFFF"/>
                    </a:gs>
                    <a:gs pos="52000">
                      <a:srgbClr val="FFFFFF"/>
                    </a:gs>
                  </a:gsLst>
                  <a:lin ang="5400000" scaled="0"/>
                </a:gradFill>
              </a:defRPr>
            </a:lvl1pPr>
          </a:lstStyle>
          <a:p>
            <a:r>
              <a:rPr lang="en-US" dirty="0" smtClean="0"/>
              <a:t>Section title</a:t>
            </a:r>
            <a:endParaRPr lang="en-US" dirty="0"/>
          </a:p>
        </p:txBody>
      </p:sp>
      <p:pic>
        <p:nvPicPr>
          <p:cNvPr id="4" name="TechEd 2014 logo whit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9058190" y="448802"/>
            <a:ext cx="2965328" cy="1283012"/>
          </a:xfrm>
          <a:prstGeom prst="rect">
            <a:avLst/>
          </a:prstGeom>
        </p:spPr>
      </p:pic>
    </p:spTree>
    <p:extLst>
      <p:ext uri="{BB962C8B-B14F-4D97-AF65-F5344CB8AC3E}">
        <p14:creationId xmlns:p14="http://schemas.microsoft.com/office/powerpoint/2010/main" val="4275595911"/>
      </p:ext>
    </p:extLst>
  </p:cSld>
  <p:clrMapOvr>
    <a:masterClrMapping/>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lgn="l" defTabSz="932742" rtl="0" eaLnBrk="1" latinLnBrk="0" hangingPunct="1">
              <a:lnSpc>
                <a:spcPct val="90000"/>
              </a:lnSpc>
              <a:spcBef>
                <a:spcPct val="0"/>
              </a:spcBef>
              <a:buNone/>
              <a:defRPr lang="en-US" sz="8800" b="0" kern="1200" cap="none" spc="-100" baseline="0" dirty="0">
                <a:ln w="3175">
                  <a:noFill/>
                </a:ln>
                <a:gradFill>
                  <a:gsLst>
                    <a:gs pos="84828">
                      <a:srgbClr val="FFFFFF"/>
                    </a:gs>
                    <a:gs pos="59000">
                      <a:srgbClr val="FFFFFF"/>
                    </a:gs>
                  </a:gsLst>
                  <a:lin ang="5400000" scaled="0"/>
                </a:gradFill>
                <a:effectLst/>
                <a:latin typeface="+mj-lt"/>
                <a:ea typeface="+mn-ea"/>
                <a:cs typeface="Segoe UI" pitchFamily="34" charset="0"/>
              </a:defRPr>
            </a:lvl1pPr>
          </a:lstStyle>
          <a:p>
            <a:r>
              <a:rPr lang="en-US" dirty="0" smtClean="0"/>
              <a:t>Section title</a:t>
            </a:r>
            <a:endParaRPr lang="en-US" dirty="0"/>
          </a:p>
        </p:txBody>
      </p:sp>
      <p:pic>
        <p:nvPicPr>
          <p:cNvPr id="4" name="TechEd 2014 logo whit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9058190" y="448802"/>
            <a:ext cx="2965328" cy="1283012"/>
          </a:xfrm>
          <a:prstGeom prst="rect">
            <a:avLst/>
          </a:prstGeom>
        </p:spPr>
      </p:pic>
    </p:spTree>
    <p:extLst>
      <p:ext uri="{BB962C8B-B14F-4D97-AF65-F5344CB8AC3E}">
        <p14:creationId xmlns:p14="http://schemas.microsoft.com/office/powerpoint/2010/main" val="3594915154"/>
      </p:ext>
    </p:extLst>
  </p:cSld>
  <p:clrMapOvr>
    <a:masterClrMapping/>
  </p:clrMapOvr>
  <p:transition>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Title Accent Color 3">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lgn="l" defTabSz="932742" rtl="0" eaLnBrk="1" latinLnBrk="0" hangingPunct="1">
              <a:lnSpc>
                <a:spcPct val="90000"/>
              </a:lnSpc>
              <a:spcBef>
                <a:spcPct val="0"/>
              </a:spcBef>
              <a:buNone/>
              <a:defRPr lang="en-US" sz="8800" b="0" kern="1200" cap="none" spc="-100" baseline="0" dirty="0">
                <a:ln w="3175">
                  <a:noFill/>
                </a:ln>
                <a:gradFill>
                  <a:gsLst>
                    <a:gs pos="83448">
                      <a:schemeClr val="tx1"/>
                    </a:gs>
                    <a:gs pos="53000">
                      <a:schemeClr val="tx1"/>
                    </a:gs>
                  </a:gsLst>
                  <a:lin ang="5400000" scaled="0"/>
                </a:gradFill>
                <a:effectLst/>
                <a:latin typeface="+mj-lt"/>
                <a:ea typeface="+mn-ea"/>
                <a:cs typeface="Segoe UI" pitchFamily="34" charset="0"/>
              </a:defRPr>
            </a:lvl1pPr>
          </a:lstStyle>
          <a:p>
            <a:r>
              <a:rPr lang="en-US" dirty="0" smtClean="0"/>
              <a:t>Section title</a:t>
            </a:r>
            <a:endParaRPr lang="en-US" dirty="0"/>
          </a:p>
        </p:txBody>
      </p:sp>
      <p:pic>
        <p:nvPicPr>
          <p:cNvPr id="4" name="TechEd 2014 logo whit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9058190" y="448802"/>
            <a:ext cx="2965328" cy="1283012"/>
          </a:xfrm>
          <a:prstGeom prst="rect">
            <a:avLst/>
          </a:prstGeom>
        </p:spPr>
      </p:pic>
    </p:spTree>
    <p:extLst>
      <p:ext uri="{BB962C8B-B14F-4D97-AF65-F5344CB8AC3E}">
        <p14:creationId xmlns:p14="http://schemas.microsoft.com/office/powerpoint/2010/main" val="2065533531"/>
      </p:ext>
    </p:extLst>
  </p:cSld>
  <p:clrMapOvr>
    <a:masterClrMapping/>
  </p:clrMapOvr>
  <p:transition>
    <p:fade/>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1"/>
          </p:nvPr>
        </p:nvSpPr>
        <p:spPr>
          <a:xfrm>
            <a:off x="274639" y="1212849"/>
            <a:ext cx="11889564" cy="2059025"/>
          </a:xfrm>
        </p:spPr>
        <p:txBody>
          <a:bodyPr/>
          <a:lstStyle>
            <a:lvl1pPr marL="0" indent="0">
              <a:buNone/>
              <a:defRPr/>
            </a:lvl1pPr>
            <a:lvl2pPr marL="28575" indent="0">
              <a:buNone/>
              <a:defRPr sz="2000"/>
            </a:lvl2pPr>
            <a:lvl3pPr marL="223838" indent="0">
              <a:buNone/>
              <a:defRPr sz="2000"/>
            </a:lvl3pPr>
            <a:lvl4pPr marL="476250" indent="0">
              <a:buNone/>
              <a:defRPr sz="1800"/>
            </a:lvl4pPr>
            <a:lvl5pPr marL="739775" indent="0">
              <a:buNone/>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50689706"/>
      </p:ext>
    </p:extLst>
  </p:cSld>
  <p:clrMapOvr>
    <a:masterClrMapping/>
  </p:clrMapOvr>
  <p:transition>
    <p:fade/>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1"/>
          </p:nvPr>
        </p:nvSpPr>
        <p:spPr>
          <a:xfrm>
            <a:off x="274639" y="1212849"/>
            <a:ext cx="11889564" cy="2059025"/>
          </a:xfrm>
        </p:spPr>
        <p:txBody>
          <a:bodyPr/>
          <a:lstStyle>
            <a:lvl1pPr marL="0" indent="0">
              <a:buNone/>
              <a:defRPr>
                <a:gradFill>
                  <a:gsLst>
                    <a:gs pos="2920">
                      <a:schemeClr val="tx2"/>
                    </a:gs>
                    <a:gs pos="39000">
                      <a:schemeClr val="tx2"/>
                    </a:gs>
                  </a:gsLst>
                  <a:lin ang="5400000" scaled="0"/>
                </a:gradFill>
              </a:defRPr>
            </a:lvl1pPr>
            <a:lvl2pPr marL="28575" indent="0">
              <a:buNone/>
              <a:defRPr sz="2000"/>
            </a:lvl2pPr>
            <a:lvl3pPr marL="223838" indent="0">
              <a:buNone/>
              <a:defRPr sz="2000"/>
            </a:lvl3pPr>
            <a:lvl4pPr marL="476250" indent="0">
              <a:buNone/>
              <a:defRPr sz="1800"/>
            </a:lvl4pPr>
            <a:lvl5pPr marL="739775" indent="0">
              <a:buNone/>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62313310"/>
      </p:ext>
    </p:extLst>
  </p:cSld>
  <p:clrMapOvr>
    <a:masterClrMapping/>
  </p:clrMapOvr>
  <p:transition>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228302"/>
          </a:xfrm>
        </p:spPr>
        <p:txBody>
          <a:bodyPr>
            <a:spAutoFit/>
          </a:bodyPr>
          <a:lstStyle>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843185992"/>
      </p:ext>
    </p:extLst>
  </p:cSld>
  <p:clrMapOvr>
    <a:masterClrMapping/>
  </p:clrMapOvr>
  <p:transition>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2-color bullete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228302"/>
          </a:xfrm>
        </p:spPr>
        <p:txBody>
          <a:bodyPr>
            <a:spAutoFit/>
          </a:bodyPr>
          <a:lstStyle>
            <a:lvl1pPr>
              <a:buClr>
                <a:schemeClr val="tx2"/>
              </a:buClr>
              <a:defRPr>
                <a:gradFill>
                  <a:gsLst>
                    <a:gs pos="13869">
                      <a:schemeClr val="tx2"/>
                    </a:gs>
                    <a:gs pos="42000">
                      <a:schemeClr val="tx2"/>
                    </a:gs>
                  </a:gsLst>
                  <a:lin ang="5400000" scaled="0"/>
                </a:gradFill>
              </a:defRPr>
            </a:lvl1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490808195"/>
      </p:ext>
    </p:extLst>
  </p:cSld>
  <p:clrMapOvr>
    <a:masterClrMapping/>
  </p:clrMapOvr>
  <p:transition>
    <p:fade/>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39" y="1212849"/>
            <a:ext cx="5486399" cy="2468368"/>
          </a:xfrm>
        </p:spPr>
        <p:txBody>
          <a:bodyPr wrap="square">
            <a:spAutoFit/>
          </a:bodyPr>
          <a:lstStyle>
            <a:lvl1pPr marL="0" indent="0">
              <a:spcBef>
                <a:spcPts val="1224"/>
              </a:spcBef>
              <a:buClr>
                <a:schemeClr val="tx1"/>
              </a:buClr>
              <a:buFont typeface="Wingdings" pitchFamily="2" charset="2"/>
              <a:buNone/>
              <a:defRPr sz="36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6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67770416"/>
      </p:ext>
    </p:extLst>
  </p:cSld>
  <p:clrMapOvr>
    <a:masterClrMapping/>
  </p:clrMapOvr>
  <p:transition>
    <p:fade/>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lumn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39" y="1212849"/>
            <a:ext cx="5486399" cy="2536079"/>
          </a:xfrm>
        </p:spPr>
        <p:txBody>
          <a:bodyPr wrap="square">
            <a:spAutoFit/>
          </a:bodyPr>
          <a:lstStyle>
            <a:lvl1pPr marL="0" indent="0">
              <a:spcBef>
                <a:spcPts val="1224"/>
              </a:spcBef>
              <a:buClr>
                <a:schemeClr val="tx1"/>
              </a:buClr>
              <a:buFont typeface="Wingdings" pitchFamily="2" charset="2"/>
              <a:buNone/>
              <a:defRPr sz="3600">
                <a:gradFill>
                  <a:gsLst>
                    <a:gs pos="5109">
                      <a:schemeClr val="tx2"/>
                    </a:gs>
                    <a:gs pos="25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39" y="1212849"/>
            <a:ext cx="5486399" cy="2536079"/>
          </a:xfrm>
        </p:spPr>
        <p:txBody>
          <a:bodyPr wrap="square">
            <a:spAutoFit/>
          </a:bodyPr>
          <a:lstStyle>
            <a:lvl1pPr marL="0" indent="0">
              <a:spcBef>
                <a:spcPts val="1224"/>
              </a:spcBef>
              <a:buClr>
                <a:schemeClr val="tx1"/>
              </a:buClr>
              <a:buFont typeface="Wingdings" pitchFamily="2" charset="2"/>
              <a:buNone/>
              <a:defRPr sz="3600">
                <a:gradFill>
                  <a:gsLst>
                    <a:gs pos="100000">
                      <a:schemeClr val="tx2"/>
                    </a:gs>
                    <a:gs pos="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14960048"/>
      </p:ext>
    </p:extLst>
  </p:cSld>
  <p:clrMapOvr>
    <a:masterClrMapping/>
  </p:clrMapOvr>
  <p:transition>
    <p:fade/>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39" y="1212849"/>
            <a:ext cx="5486399" cy="2603790"/>
          </a:xfrm>
        </p:spPr>
        <p:txBody>
          <a:bodyPr wrap="square">
            <a:spAutoFit/>
          </a:bodyPr>
          <a:lstStyle>
            <a:lvl1pPr marL="287338" indent="-287338">
              <a:spcBef>
                <a:spcPts val="1224"/>
              </a:spcBef>
              <a:buClr>
                <a:schemeClr val="tx1"/>
              </a:buClr>
              <a:buFontTx/>
              <a:buBlip>
                <a:blip r:embed="rId2"/>
              </a:buBlip>
              <a:defRPr sz="36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39" y="1212849"/>
            <a:ext cx="5486399" cy="2603790"/>
          </a:xfrm>
        </p:spPr>
        <p:txBody>
          <a:bodyPr wrap="square">
            <a:spAutoFit/>
          </a:bodyPr>
          <a:lstStyle>
            <a:lvl1pPr marL="287338" indent="-287338">
              <a:spcBef>
                <a:spcPts val="1224"/>
              </a:spcBef>
              <a:buClr>
                <a:schemeClr val="tx1"/>
              </a:buClr>
              <a:buFontTx/>
              <a:buBlip>
                <a:blip r:embed="rId2"/>
              </a:buBlip>
              <a:defRPr sz="36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9356426"/>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lumn 2-color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39" y="1212849"/>
            <a:ext cx="5486399" cy="2603790"/>
          </a:xfrm>
        </p:spPr>
        <p:txBody>
          <a:bodyPr wrap="square">
            <a:spAutoFit/>
          </a:bodyPr>
          <a:lstStyle>
            <a:lvl1pPr marL="287338" indent="-287338">
              <a:spcBef>
                <a:spcPts val="1224"/>
              </a:spcBef>
              <a:buClr>
                <a:schemeClr val="tx2"/>
              </a:buClr>
              <a:buFontTx/>
              <a:buBlip>
                <a:blip r:embed="rId2"/>
              </a:buBlip>
              <a:defRPr sz="3600">
                <a:gradFill>
                  <a:gsLst>
                    <a:gs pos="5109">
                      <a:schemeClr val="tx2"/>
                    </a:gs>
                    <a:gs pos="100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39" y="1212849"/>
            <a:ext cx="5486399" cy="2603790"/>
          </a:xfrm>
        </p:spPr>
        <p:txBody>
          <a:bodyPr wrap="square">
            <a:spAutoFit/>
          </a:bodyPr>
          <a:lstStyle>
            <a:lvl1pPr marL="287338" indent="-287338">
              <a:spcBef>
                <a:spcPts val="1224"/>
              </a:spcBef>
              <a:buClr>
                <a:schemeClr val="tx2"/>
              </a:buClr>
              <a:buFontTx/>
              <a:buBlip>
                <a:blip r:embed="rId2"/>
              </a:buBlip>
              <a:defRPr sz="3600">
                <a:gradFill>
                  <a:gsLst>
                    <a:gs pos="5109">
                      <a:schemeClr val="tx2"/>
                    </a:gs>
                    <a:gs pos="100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19298524"/>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06629899"/>
      </p:ext>
    </p:extLst>
  </p:cSld>
  <p:clrMapOvr>
    <a:masterClrMapping/>
  </p:clrMapOvr>
  <p:transition>
    <p:fade/>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ig Idea Layout">
    <p:spTree>
      <p:nvGrpSpPr>
        <p:cNvPr id="1" name=""/>
        <p:cNvGrpSpPr/>
        <p:nvPr/>
      </p:nvGrpSpPr>
      <p:grpSpPr>
        <a:xfrm>
          <a:off x="0" y="0"/>
          <a:ext cx="0" cy="0"/>
          <a:chOff x="0" y="0"/>
          <a:chExt cx="0" cy="0"/>
        </a:xfrm>
      </p:grpSpPr>
      <p:sp>
        <p:nvSpPr>
          <p:cNvPr id="2" name="Title 1"/>
          <p:cNvSpPr>
            <a:spLocks noGrp="1"/>
          </p:cNvSpPr>
          <p:nvPr>
            <p:ph type="title"/>
          </p:nvPr>
        </p:nvSpPr>
        <p:spPr>
          <a:xfrm>
            <a:off x="282576" y="1211263"/>
            <a:ext cx="11889564" cy="917575"/>
          </a:xfrm>
        </p:spPr>
        <p:txBody>
          <a:bodyPr/>
          <a:lstStyle>
            <a:lvl1pPr>
              <a:defRPr sz="7200" baseline="0"/>
            </a:lvl1pPr>
          </a:lstStyle>
          <a:p>
            <a:r>
              <a:rPr lang="en-US" smtClean="0"/>
              <a:t>Click to edit Master title style</a:t>
            </a:r>
            <a:endParaRPr lang="en-US" dirty="0"/>
          </a:p>
        </p:txBody>
      </p:sp>
    </p:spTree>
    <p:extLst>
      <p:ext uri="{BB962C8B-B14F-4D97-AF65-F5344CB8AC3E}">
        <p14:creationId xmlns:p14="http://schemas.microsoft.com/office/powerpoint/2010/main" val="563814033"/>
      </p:ext>
    </p:extLst>
  </p:cSld>
  <p:clrMapOvr>
    <a:masterClrMapping/>
  </p:clrMapOvr>
  <p:transition>
    <p:fade/>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act Layout">
    <p:spTree>
      <p:nvGrpSpPr>
        <p:cNvPr id="1" name=""/>
        <p:cNvGrpSpPr/>
        <p:nvPr/>
      </p:nvGrpSpPr>
      <p:grpSpPr>
        <a:xfrm>
          <a:off x="0" y="0"/>
          <a:ext cx="0" cy="0"/>
          <a:chOff x="0" y="0"/>
          <a:chExt cx="0" cy="0"/>
        </a:xfrm>
      </p:grpSpPr>
      <p:sp>
        <p:nvSpPr>
          <p:cNvPr id="2" name="Title 1"/>
          <p:cNvSpPr>
            <a:spLocks noGrp="1"/>
          </p:cNvSpPr>
          <p:nvPr>
            <p:ph type="title"/>
          </p:nvPr>
        </p:nvSpPr>
        <p:spPr>
          <a:xfrm>
            <a:off x="2113225" y="2125663"/>
            <a:ext cx="8219813" cy="1828800"/>
          </a:xfrm>
        </p:spPr>
        <p:txBody>
          <a:bodyPr/>
          <a:lstStyle>
            <a:lvl1pPr>
              <a:defRPr sz="6000" baseline="0"/>
            </a:lvl1pPr>
          </a:lstStyle>
          <a:p>
            <a:r>
              <a:rPr lang="en-US" smtClean="0"/>
              <a:t>Click to edit Master title style</a:t>
            </a:r>
            <a:endParaRPr lang="en-US" dirty="0"/>
          </a:p>
        </p:txBody>
      </p:sp>
    </p:spTree>
    <p:extLst>
      <p:ext uri="{BB962C8B-B14F-4D97-AF65-F5344CB8AC3E}">
        <p14:creationId xmlns:p14="http://schemas.microsoft.com/office/powerpoint/2010/main" val="3129054535"/>
      </p:ext>
    </p:extLst>
  </p:cSld>
  <p:clrMapOvr>
    <a:masterClrMapping/>
  </p:clrMapOvr>
  <p:transition>
    <p:fade/>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act Layout_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13225" y="2125663"/>
            <a:ext cx="8219813" cy="1828800"/>
          </a:xfrm>
        </p:spPr>
        <p:txBody>
          <a:bodyPr/>
          <a:lstStyle>
            <a:lvl1pPr>
              <a:defRPr sz="6000" baseline="0"/>
            </a:lvl1pPr>
          </a:lstStyle>
          <a:p>
            <a:r>
              <a:rPr lang="en-US" smtClean="0"/>
              <a:t>Click to edit Master title style</a:t>
            </a:r>
            <a:endParaRPr lang="en-US" dirty="0"/>
          </a:p>
        </p:txBody>
      </p:sp>
    </p:spTree>
    <p:extLst>
      <p:ext uri="{BB962C8B-B14F-4D97-AF65-F5344CB8AC3E}">
        <p14:creationId xmlns:p14="http://schemas.microsoft.com/office/powerpoint/2010/main" val="1180017962"/>
      </p:ext>
    </p:extLst>
  </p:cSld>
  <p:clrMapOvr>
    <a:masterClrMapping/>
  </p:clrMapOvr>
  <p:transition>
    <p:fade/>
  </p:transition>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1189038" y="1201806"/>
            <a:ext cx="10058399" cy="917575"/>
          </a:xfrm>
        </p:spPr>
        <p:txBody>
          <a:bodyPr/>
          <a:lstStyle>
            <a:lvl1pPr marL="233363" indent="-233363">
              <a:defRPr sz="6000" baseline="0"/>
            </a:lvl1pPr>
          </a:lstStyle>
          <a:p>
            <a:r>
              <a:rPr lang="en-US" dirty="0" smtClean="0"/>
              <a:t>“Sample quote goes here. Design is easier than it looks, and more important than it seems.”</a:t>
            </a:r>
            <a:endParaRPr lang="en-US" dirty="0"/>
          </a:p>
        </p:txBody>
      </p:sp>
      <p:sp>
        <p:nvSpPr>
          <p:cNvPr id="4" name="Text Placeholder 3"/>
          <p:cNvSpPr>
            <a:spLocks noGrp="1"/>
          </p:cNvSpPr>
          <p:nvPr>
            <p:ph type="body" sz="quarter" idx="10" hasCustomPrompt="1"/>
          </p:nvPr>
        </p:nvSpPr>
        <p:spPr>
          <a:xfrm>
            <a:off x="5761038" y="5126038"/>
            <a:ext cx="5486400" cy="1071062"/>
          </a:xfrm>
        </p:spPr>
        <p:txBody>
          <a:bodyPr/>
          <a:lstStyle>
            <a:lvl1pPr marL="0" indent="0">
              <a:spcBef>
                <a:spcPts val="0"/>
              </a:spcBef>
              <a:buNone/>
              <a:defRPr sz="3200" baseline="0">
                <a:latin typeface="+mj-lt"/>
              </a:defRPr>
            </a:lvl1pPr>
          </a:lstStyle>
          <a:p>
            <a:pPr lvl="0"/>
            <a:r>
              <a:rPr lang="en-US" dirty="0" smtClean="0"/>
              <a:t>Author Name</a:t>
            </a:r>
          </a:p>
          <a:p>
            <a:pPr lvl="0"/>
            <a:r>
              <a:rPr lang="en-US" dirty="0" smtClean="0"/>
              <a:t>Title</a:t>
            </a:r>
          </a:p>
        </p:txBody>
      </p:sp>
    </p:spTree>
    <p:extLst>
      <p:ext uri="{BB962C8B-B14F-4D97-AF65-F5344CB8AC3E}">
        <p14:creationId xmlns:p14="http://schemas.microsoft.com/office/powerpoint/2010/main" val="1528637714"/>
      </p:ext>
    </p:extLst>
  </p:cSld>
  <p:clrMapOvr>
    <a:masterClrMapping/>
  </p:clrMapOvr>
  <p:transition>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Layout_Accent Color 2">
    <p:bg>
      <p:bgPr>
        <a:solidFill>
          <a:schemeClr val="accent1"/>
        </a:solidFill>
        <a:effectLst/>
      </p:bgPr>
    </p:bg>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1189038" y="2125663"/>
            <a:ext cx="10058399" cy="917575"/>
          </a:xfrm>
        </p:spPr>
        <p:txBody>
          <a:bodyPr/>
          <a:lstStyle>
            <a:lvl1pPr marL="282575" indent="-282575">
              <a:tabLst>
                <a:tab pos="282575" algn="l"/>
              </a:tabLst>
              <a:defRPr sz="6000" baseline="0"/>
            </a:lvl1pPr>
          </a:lstStyle>
          <a:p>
            <a:r>
              <a:rPr lang="en-US" dirty="0" smtClean="0"/>
              <a:t>“	Add a quote here. Design is easier than it looks, and more important than it seems.”</a:t>
            </a:r>
            <a:endParaRPr lang="en-US" dirty="0"/>
          </a:p>
        </p:txBody>
      </p:sp>
      <p:sp>
        <p:nvSpPr>
          <p:cNvPr id="4" name="Text Placeholder 3"/>
          <p:cNvSpPr>
            <a:spLocks noGrp="1"/>
          </p:cNvSpPr>
          <p:nvPr>
            <p:ph type="body" sz="quarter" idx="10" hasCustomPrompt="1"/>
          </p:nvPr>
        </p:nvSpPr>
        <p:spPr>
          <a:xfrm>
            <a:off x="5761038" y="4868847"/>
            <a:ext cx="5486400" cy="1071062"/>
          </a:xfrm>
        </p:spPr>
        <p:txBody>
          <a:bodyPr/>
          <a:lstStyle>
            <a:lvl1pPr marL="0" indent="0">
              <a:spcBef>
                <a:spcPts val="0"/>
              </a:spcBef>
              <a:buNone/>
              <a:defRPr sz="3200" baseline="0">
                <a:latin typeface="+mj-lt"/>
              </a:defRPr>
            </a:lvl1pPr>
          </a:lstStyle>
          <a:p>
            <a:pPr lvl="0"/>
            <a:r>
              <a:rPr lang="en-US" dirty="0" smtClean="0"/>
              <a:t>Author’s Name</a:t>
            </a:r>
          </a:p>
          <a:p>
            <a:pPr lvl="0"/>
            <a:r>
              <a:rPr lang="en-US" dirty="0" smtClean="0"/>
              <a:t>Title</a:t>
            </a:r>
          </a:p>
        </p:txBody>
      </p:sp>
    </p:spTree>
    <p:extLst>
      <p:ext uri="{BB962C8B-B14F-4D97-AF65-F5344CB8AC3E}">
        <p14:creationId xmlns:p14="http://schemas.microsoft.com/office/powerpoint/2010/main" val="3917563007"/>
      </p:ext>
    </p:extLst>
  </p:cSld>
  <p:clrMapOvr>
    <a:masterClrMapping/>
  </p:clrMapOvr>
  <p:transition>
    <p:fade/>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ig Idea &amp; 3 Points">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282576" y="2430462"/>
            <a:ext cx="11887200" cy="932563"/>
          </a:xfrm>
        </p:spPr>
        <p:txBody>
          <a:bodyPr/>
          <a:lstStyle>
            <a:lvl1pPr marL="0" indent="0">
              <a:buNone/>
              <a:defRPr sz="5400">
                <a:gradFill>
                  <a:gsLst>
                    <a:gs pos="3333">
                      <a:schemeClr val="tx1"/>
                    </a:gs>
                    <a:gs pos="39000">
                      <a:schemeClr val="tx1"/>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smtClean="0"/>
              <a:t>Click to edit Master text styles</a:t>
            </a:r>
          </a:p>
        </p:txBody>
      </p:sp>
      <p:sp>
        <p:nvSpPr>
          <p:cNvPr id="4" name="Title 1"/>
          <p:cNvSpPr>
            <a:spLocks noGrp="1"/>
          </p:cNvSpPr>
          <p:nvPr>
            <p:ph type="title"/>
          </p:nvPr>
        </p:nvSpPr>
        <p:spPr>
          <a:xfrm>
            <a:off x="282576" y="1211263"/>
            <a:ext cx="11889564" cy="917575"/>
          </a:xfrm>
        </p:spPr>
        <p:txBody>
          <a:bodyPr/>
          <a:lstStyle>
            <a:lvl1pPr>
              <a:defRPr sz="7200" baseline="0">
                <a:gradFill>
                  <a:gsLst>
                    <a:gs pos="1250">
                      <a:schemeClr val="tx1"/>
                    </a:gs>
                    <a:gs pos="100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3834400757"/>
      </p:ext>
    </p:extLst>
  </p:cSld>
  <p:clrMapOvr>
    <a:masterClrMapping/>
  </p:clrMapOvr>
  <p:transition>
    <p:fade/>
  </p:transition>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00205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2724930"/>
      </p:ext>
    </p:extLst>
  </p:cSld>
  <p:clrMapOvr>
    <a:masterClrMapping/>
  </p:clrMapOvr>
  <p:transition>
    <p:fade/>
  </p:transition>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5121776"/>
      </p:ext>
    </p:extLst>
  </p:cSld>
  <p:clrMapOvr>
    <a:masterClrMapping/>
  </p:clrMapOvr>
  <p:transition>
    <p:fade/>
  </p:transition>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3495860"/>
      </p:ext>
    </p:extLst>
  </p:cSld>
  <p:clrMapOvr>
    <a:masterClrMapping/>
  </p:clrMapOvr>
  <p:transition>
    <p:fade/>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8695897"/>
      </p:ext>
    </p:extLst>
  </p:cSld>
  <p:clrMapOvr>
    <a:masterClrMapping/>
  </p:clrMapOvr>
  <p:transition>
    <p:fade/>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Wingdings" panose="05000000000000000000" pitchFamily="2" charset="2"/>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Wingdings" panose="05000000000000000000" pitchFamily="2" charset="2"/>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Wingdings" panose="05000000000000000000" pitchFamily="2" charset="2"/>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Wingdings" panose="05000000000000000000" pitchFamily="2" charset="2"/>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Wingdings" panose="05000000000000000000" pitchFamily="2" charset="2"/>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C9E"/>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10462813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ck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Wingdings" panose="05000000000000000000" pitchFamily="2" charset="2"/>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Wingdings" panose="05000000000000000000" pitchFamily="2" charset="2"/>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Wingdings" panose="05000000000000000000" pitchFamily="2" charset="2"/>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Wingdings" panose="05000000000000000000" pitchFamily="2" charset="2"/>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Wingdings" panose="05000000000000000000" pitchFamily="2" charset="2"/>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765991875"/>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388642" y="286003"/>
            <a:ext cx="11375536" cy="786503"/>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385533" y="1429994"/>
            <a:ext cx="11375536" cy="223152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18608970"/>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Walkin No tile">
    <p:bg>
      <p:bgRef idx="1001">
        <a:schemeClr val="bg2"/>
      </p:bgRef>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820" y="1587"/>
            <a:ext cx="12430199" cy="6991986"/>
          </a:xfrm>
          <a:prstGeom prst="rect">
            <a:avLst/>
          </a:prstGeom>
          <a:noFill/>
          <a:ln>
            <a:noFill/>
          </a:ln>
        </p:spPr>
      </p:pic>
      <p:sp>
        <p:nvSpPr>
          <p:cNvPr id="3" name="Rectangle 2"/>
          <p:cNvSpPr/>
          <p:nvPr userDrawn="1"/>
        </p:nvSpPr>
        <p:spPr bwMode="gray">
          <a:xfrm>
            <a:off x="0" y="6537325"/>
            <a:ext cx="12435840" cy="457200"/>
          </a:xfrm>
          <a:prstGeom prst="rect">
            <a:avLst/>
          </a:prstGeom>
          <a:solidFill>
            <a:srgbClr val="505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p:cNvSpPr/>
          <p:nvPr userDrawn="1"/>
        </p:nvSpPr>
        <p:spPr bwMode="auto">
          <a:xfrm>
            <a:off x="274638" y="2119165"/>
            <a:ext cx="6400800" cy="27497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5507" y="6678218"/>
            <a:ext cx="822951" cy="175415"/>
          </a:xfrm>
          <a:prstGeom prst="rect">
            <a:avLst/>
          </a:prstGeom>
        </p:spPr>
      </p:pic>
      <p:sp>
        <p:nvSpPr>
          <p:cNvPr id="9" name="Rectangle 8"/>
          <p:cNvSpPr/>
          <p:nvPr userDrawn="1"/>
        </p:nvSpPr>
        <p:spPr>
          <a:xfrm>
            <a:off x="293752" y="3040063"/>
            <a:ext cx="4333238" cy="784830"/>
          </a:xfrm>
          <a:prstGeom prst="rect">
            <a:avLst/>
          </a:prstGeom>
        </p:spPr>
        <p:txBody>
          <a:bodyPr wrap="none" anchor="ctr">
            <a:spAutoFit/>
          </a:bodyPr>
          <a:lstStyle/>
          <a:p>
            <a:pPr algn="r" defTabSz="1165834">
              <a:lnSpc>
                <a:spcPct val="90000"/>
              </a:lnSpc>
              <a:spcBef>
                <a:spcPct val="0"/>
              </a:spcBef>
            </a:pPr>
            <a:r>
              <a:rPr lang="en-US" sz="5000" spc="-125" dirty="0" smtClean="0">
                <a:ln w="3175">
                  <a:noFill/>
                </a:ln>
                <a:gradFill>
                  <a:gsLst>
                    <a:gs pos="84066">
                      <a:srgbClr val="000000"/>
                    </a:gs>
                    <a:gs pos="57576">
                      <a:srgbClr val="000000"/>
                    </a:gs>
                  </a:gsLst>
                  <a:lin ang="5400000" scaled="0"/>
                </a:gradFill>
                <a:latin typeface="Segoe UI Light"/>
                <a:cs typeface="Segoe UI" pitchFamily="34" charset="0"/>
              </a:rPr>
              <a:t>Spark the future.</a:t>
            </a:r>
            <a:endParaRPr lang="en-US" sz="5000" spc="-125" dirty="0">
              <a:ln w="3175">
                <a:noFill/>
              </a:ln>
              <a:gradFill>
                <a:gsLst>
                  <a:gs pos="84066">
                    <a:srgbClr val="000000"/>
                  </a:gs>
                  <a:gs pos="57576">
                    <a:srgbClr val="000000"/>
                  </a:gs>
                </a:gsLst>
                <a:lin ang="5400000" scaled="0"/>
              </a:gradFill>
              <a:latin typeface="Segoe UI Light"/>
              <a:cs typeface="Segoe UI" pitchFamily="34" charset="0"/>
            </a:endParaRPr>
          </a:p>
        </p:txBody>
      </p:sp>
      <p:sp>
        <p:nvSpPr>
          <p:cNvPr id="10" name="Rectangle 9"/>
          <p:cNvSpPr/>
          <p:nvPr userDrawn="1"/>
        </p:nvSpPr>
        <p:spPr>
          <a:xfrm>
            <a:off x="2441776" y="4617847"/>
            <a:ext cx="2185214" cy="715581"/>
          </a:xfrm>
          <a:prstGeom prst="rect">
            <a:avLst/>
          </a:prstGeom>
        </p:spPr>
        <p:txBody>
          <a:bodyPr wrap="none" anchor="ctr">
            <a:spAutoFit/>
          </a:bodyPr>
          <a:lstStyle/>
          <a:p>
            <a:pPr algn="r" defTabSz="1165834">
              <a:lnSpc>
                <a:spcPct val="90000"/>
              </a:lnSpc>
              <a:spcBef>
                <a:spcPct val="0"/>
              </a:spcBef>
            </a:pPr>
            <a:r>
              <a:rPr lang="en-US" sz="2250" dirty="0" smtClean="0">
                <a:ln w="3175">
                  <a:noFill/>
                </a:ln>
                <a:gradFill>
                  <a:gsLst>
                    <a:gs pos="84066">
                      <a:srgbClr val="000000"/>
                    </a:gs>
                    <a:gs pos="57576">
                      <a:srgbClr val="000000"/>
                    </a:gs>
                  </a:gsLst>
                  <a:lin ang="5400000" scaled="0"/>
                </a:gradFill>
                <a:cs typeface="Segoe UI" pitchFamily="34" charset="0"/>
              </a:rPr>
              <a:t>May 4 – 8, 2015</a:t>
            </a:r>
            <a:br>
              <a:rPr lang="en-US" sz="2250" dirty="0" smtClean="0">
                <a:ln w="3175">
                  <a:noFill/>
                </a:ln>
                <a:gradFill>
                  <a:gsLst>
                    <a:gs pos="84066">
                      <a:srgbClr val="000000"/>
                    </a:gs>
                    <a:gs pos="57576">
                      <a:srgbClr val="000000"/>
                    </a:gs>
                  </a:gsLst>
                  <a:lin ang="5400000" scaled="0"/>
                </a:gradFill>
                <a:cs typeface="Segoe UI" pitchFamily="34" charset="0"/>
              </a:rPr>
            </a:br>
            <a:r>
              <a:rPr lang="en-US" sz="2250" dirty="0" smtClean="0">
                <a:ln w="3175">
                  <a:noFill/>
                </a:ln>
                <a:gradFill>
                  <a:gsLst>
                    <a:gs pos="84066">
                      <a:srgbClr val="000000"/>
                    </a:gs>
                    <a:gs pos="57576">
                      <a:srgbClr val="000000"/>
                    </a:gs>
                  </a:gsLst>
                  <a:lin ang="5400000" scaled="0"/>
                </a:gradFill>
                <a:cs typeface="Segoe UI" pitchFamily="34" charset="0"/>
              </a:rPr>
              <a:t>Chicago, IL</a:t>
            </a:r>
            <a:endParaRPr lang="en-US" sz="2250" dirty="0">
              <a:ln w="3175">
                <a:noFill/>
              </a:ln>
              <a:gradFill>
                <a:gsLst>
                  <a:gs pos="84066">
                    <a:srgbClr val="000000"/>
                  </a:gs>
                  <a:gs pos="57576">
                    <a:srgbClr val="000000"/>
                  </a:gs>
                </a:gsLst>
                <a:lin ang="5400000" scaled="0"/>
              </a:gradFill>
              <a:cs typeface="Segoe UI" pitchFamily="34" charset="0"/>
            </a:endParaRPr>
          </a:p>
        </p:txBody>
      </p:sp>
      <p:pic>
        <p:nvPicPr>
          <p:cNvPr id="11" name="Picture 1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002510" y="4088040"/>
            <a:ext cx="2494315" cy="384949"/>
          </a:xfrm>
          <a:prstGeom prst="rect">
            <a:avLst/>
          </a:prstGeom>
        </p:spPr>
      </p:pic>
    </p:spTree>
    <p:extLst>
      <p:ext uri="{BB962C8B-B14F-4D97-AF65-F5344CB8AC3E}">
        <p14:creationId xmlns:p14="http://schemas.microsoft.com/office/powerpoint/2010/main" val="12675834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Slide - Color">
    <p:bg>
      <p:bgRef idx="1001">
        <a:schemeClr val="bg2"/>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820" y="1090"/>
            <a:ext cx="12430199" cy="6991987"/>
          </a:xfrm>
          <a:prstGeom prst="rect">
            <a:avLst/>
          </a:prstGeom>
        </p:spPr>
      </p:pic>
      <p:sp>
        <p:nvSpPr>
          <p:cNvPr id="9" name="Title 1"/>
          <p:cNvSpPr>
            <a:spLocks noGrp="1"/>
          </p:cNvSpPr>
          <p:nvPr>
            <p:ph type="title" hasCustomPrompt="1"/>
          </p:nvPr>
        </p:nvSpPr>
        <p:spPr>
          <a:xfrm>
            <a:off x="274702" y="2125677"/>
            <a:ext cx="9143936" cy="1828786"/>
          </a:xfrm>
          <a:noFill/>
        </p:spPr>
        <p:txBody>
          <a:bodyPr lIns="146304" tIns="91440" rIns="146304" bIns="91440" anchor="t" anchorCtr="0"/>
          <a:lstStyle>
            <a:lvl1pPr>
              <a:defRPr sz="5399" spc="-100" baseline="0">
                <a:gradFill>
                  <a:gsLst>
                    <a:gs pos="99115">
                      <a:schemeClr val="tx1"/>
                    </a:gs>
                    <a:gs pos="79000">
                      <a:schemeClr val="tx1"/>
                    </a:gs>
                  </a:gsLst>
                  <a:lin ang="5400000" scaled="0"/>
                </a:gradFill>
              </a:defRPr>
            </a:lvl1pPr>
          </a:lstStyle>
          <a:p>
            <a:r>
              <a:rPr lang="en-US" dirty="0" smtClean="0"/>
              <a:t>Presentation title</a:t>
            </a:r>
            <a:endParaRPr lang="en-US" dirty="0"/>
          </a:p>
        </p:txBody>
      </p:sp>
      <p:sp>
        <p:nvSpPr>
          <p:cNvPr id="5" name="Text Placeholder 4"/>
          <p:cNvSpPr>
            <a:spLocks noGrp="1"/>
          </p:cNvSpPr>
          <p:nvPr>
            <p:ph type="body" sz="quarter" idx="12" hasCustomPrompt="1"/>
          </p:nvPr>
        </p:nvSpPr>
        <p:spPr>
          <a:xfrm>
            <a:off x="274702" y="3955785"/>
            <a:ext cx="7315137" cy="1828007"/>
          </a:xfrm>
          <a:noFill/>
        </p:spPr>
        <p:txBody>
          <a:bodyPr lIns="146304" tIns="109728" rIns="146304" bIns="109728">
            <a:noAutofit/>
          </a:bodyPr>
          <a:lstStyle>
            <a:lvl1pPr marL="0" indent="0">
              <a:spcBef>
                <a:spcPts val="0"/>
              </a:spcBef>
              <a:buNone/>
              <a:defRPr sz="3200" spc="0" baseline="0">
                <a:gradFill>
                  <a:gsLst>
                    <a:gs pos="99115">
                      <a:schemeClr val="tx1"/>
                    </a:gs>
                    <a:gs pos="79000">
                      <a:schemeClr val="tx1"/>
                    </a:gs>
                  </a:gsLst>
                  <a:lin ang="5400000" scaled="0"/>
                </a:gradFill>
                <a:latin typeface="+mj-lt"/>
              </a:defRPr>
            </a:lvl1pPr>
          </a:lstStyle>
          <a:p>
            <a:pPr lvl="0"/>
            <a:r>
              <a:rPr lang="en-US" dirty="0" smtClean="0"/>
              <a:t>Speaker Name</a:t>
            </a:r>
          </a:p>
        </p:txBody>
      </p:sp>
      <p:sp>
        <p:nvSpPr>
          <p:cNvPr id="7" name="Rectangle 6"/>
          <p:cNvSpPr/>
          <p:nvPr userDrawn="1"/>
        </p:nvSpPr>
        <p:spPr bwMode="gray">
          <a:xfrm>
            <a:off x="0" y="6537325"/>
            <a:ext cx="12435840" cy="457200"/>
          </a:xfrm>
          <a:prstGeom prst="rect">
            <a:avLst/>
          </a:prstGeom>
          <a:solidFill>
            <a:srgbClr val="505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5507" y="6678218"/>
            <a:ext cx="822951" cy="175415"/>
          </a:xfrm>
          <a:prstGeom prst="rect">
            <a:avLst/>
          </a:prstGeom>
        </p:spPr>
      </p:pic>
    </p:spTree>
    <p:extLst>
      <p:ext uri="{BB962C8B-B14F-4D97-AF65-F5344CB8AC3E}">
        <p14:creationId xmlns:p14="http://schemas.microsoft.com/office/powerpoint/2010/main" val="24758073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20354">
                      <a:schemeClr val="tx2"/>
                    </a:gs>
                    <a:gs pos="40000">
                      <a:schemeClr val="tx2"/>
                    </a:gs>
                  </a:gsLst>
                  <a:lin ang="5400000" scaled="0"/>
                </a:gradFill>
              </a:defRPr>
            </a:lvl1pPr>
            <a:lvl2pPr marL="0" indent="0">
              <a:buFontTx/>
              <a:buNone/>
              <a:defRPr sz="2000"/>
            </a:lvl2pPr>
            <a:lvl3pPr marL="228582" indent="0">
              <a:buNone/>
              <a:defRPr/>
            </a:lvl3pPr>
            <a:lvl4pPr marL="457163" indent="0">
              <a:buNone/>
              <a:defRPr/>
            </a:lvl4pPr>
            <a:lvl5pPr marL="685745" indent="0">
              <a:buNone/>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20607122"/>
      </p:ext>
    </p:extLst>
  </p:cSld>
  <p:clrMapOvr>
    <a:masterClrMapping/>
  </p:clrMapOvr>
  <p:transition>
    <p:fade/>
  </p:transition>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582" indent="0">
              <a:buNone/>
              <a:defRPr/>
            </a:lvl3pPr>
            <a:lvl4pPr marL="457163" indent="0">
              <a:buNone/>
              <a:defRPr/>
            </a:lvl4pPr>
            <a:lvl5pPr marL="685745" indent="0">
              <a:buNone/>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92656461"/>
      </p:ext>
    </p:extLst>
  </p:cSld>
  <p:clrMapOvr>
    <a:masterClrMapping/>
  </p:clrMapOvr>
  <p:transition>
    <p:fade/>
  </p:transition>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1"/>
            <a:ext cx="11887200" cy="2092881"/>
          </a:xfrm>
        </p:spPr>
        <p:txBody>
          <a:bodyPr>
            <a:spAutoFit/>
          </a:bodyPr>
          <a:lstStyle>
            <a:lvl1pPr>
              <a:buClr>
                <a:schemeClr val="tx2"/>
              </a:buClr>
              <a:defRPr sz="4000">
                <a:gradFill>
                  <a:gsLst>
                    <a:gs pos="7080">
                      <a:schemeClr val="tx2"/>
                    </a:gs>
                    <a:gs pos="36283">
                      <a:schemeClr val="tx2"/>
                    </a:gs>
                  </a:gsLst>
                  <a:lin ang="5400000" scaled="0"/>
                </a:gra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441520109"/>
      </p:ext>
    </p:extLst>
  </p:cSld>
  <p:clrMapOvr>
    <a:masterClrMapping/>
  </p:clrMapOvr>
  <p:transition>
    <p:fade/>
  </p:transition>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1"/>
            <a:ext cx="11887200" cy="2092881"/>
          </a:xfrm>
        </p:spPr>
        <p:txBody>
          <a:bodyPr>
            <a:spAutoFit/>
          </a:bodyPr>
          <a:lstStyle>
            <a:lvl1pPr>
              <a:defRPr sz="4000"/>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092812385"/>
      </p:ext>
    </p:extLst>
  </p:cSld>
  <p:clrMapOvr>
    <a:masterClrMapping/>
  </p:clrMapOvr>
  <p:transition>
    <p:fade/>
  </p:transition>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Column 2-color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40" y="1212849"/>
            <a:ext cx="5486399" cy="1914370"/>
          </a:xfrm>
        </p:spPr>
        <p:txBody>
          <a:bodyPr wrap="square">
            <a:spAutoFit/>
          </a:bodyPr>
          <a:lstStyle>
            <a:lvl1pPr marL="0" indent="0">
              <a:spcBef>
                <a:spcPts val="1224"/>
              </a:spcBef>
              <a:buClr>
                <a:schemeClr val="tx1"/>
              </a:buClr>
              <a:buFont typeface="Wingdings" pitchFamily="2" charset="2"/>
              <a:buNone/>
              <a:defRPr sz="3200">
                <a:gradFill>
                  <a:gsLst>
                    <a:gs pos="12389">
                      <a:schemeClr val="tx2"/>
                    </a:gs>
                    <a:gs pos="31000">
                      <a:schemeClr val="tx2"/>
                    </a:gs>
                  </a:gsLst>
                  <a:lin ang="5400000" scaled="0"/>
                </a:gradFill>
              </a:defRPr>
            </a:lvl1pPr>
            <a:lvl2pPr marL="0" indent="0">
              <a:buNone/>
              <a:defRPr sz="2000"/>
            </a:lvl2pPr>
            <a:lvl3pPr marL="231757" indent="0">
              <a:buNone/>
              <a:tabLst/>
              <a:defRPr sz="2000"/>
            </a:lvl3pPr>
            <a:lvl4pPr marL="460338" indent="0">
              <a:buNone/>
              <a:defRPr/>
            </a:lvl4pPr>
            <a:lvl5pPr marL="685745"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40" y="1212849"/>
            <a:ext cx="5486399" cy="1914370"/>
          </a:xfrm>
        </p:spPr>
        <p:txBody>
          <a:bodyPr wrap="square">
            <a:spAutoFit/>
          </a:bodyPr>
          <a:lstStyle>
            <a:lvl1pPr marL="0" indent="0">
              <a:spcBef>
                <a:spcPts val="1224"/>
              </a:spcBef>
              <a:buClr>
                <a:schemeClr val="tx1"/>
              </a:buClr>
              <a:buFont typeface="Wingdings" pitchFamily="2" charset="2"/>
              <a:buNone/>
              <a:defRPr sz="3200">
                <a:gradFill>
                  <a:gsLst>
                    <a:gs pos="12389">
                      <a:schemeClr val="tx2"/>
                    </a:gs>
                    <a:gs pos="31000">
                      <a:schemeClr val="tx2"/>
                    </a:gs>
                  </a:gsLst>
                  <a:lin ang="5400000" scaled="0"/>
                </a:gradFill>
              </a:defRPr>
            </a:lvl1pPr>
            <a:lvl2pPr marL="0" indent="0">
              <a:buNone/>
              <a:defRPr sz="2000"/>
            </a:lvl2pPr>
            <a:lvl3pPr marL="231757" indent="0">
              <a:buNone/>
              <a:tabLst/>
              <a:defRPr sz="2000"/>
            </a:lvl3pPr>
            <a:lvl4pPr marL="460338" indent="0">
              <a:buNone/>
              <a:defRPr/>
            </a:lvl4pPr>
            <a:lvl5pPr marL="685745"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39833135"/>
      </p:ext>
    </p:extLst>
  </p:cSld>
  <p:clrMapOvr>
    <a:masterClrMapping/>
  </p:clrMapOvr>
  <p:transition>
    <p:fade/>
  </p:transition>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40" y="1212849"/>
            <a:ext cx="5486399" cy="1914370"/>
          </a:xfrm>
        </p:spPr>
        <p:txBody>
          <a:bodyPr wrap="square">
            <a:spAutoFit/>
          </a:bodyPr>
          <a:lstStyle>
            <a:lvl1pPr marL="0" indent="0">
              <a:spcBef>
                <a:spcPts val="1224"/>
              </a:spcBef>
              <a:buClr>
                <a:schemeClr val="tx1"/>
              </a:buClr>
              <a:buFont typeface="Wingdings" pitchFamily="2" charset="2"/>
              <a:buNone/>
              <a:defRPr sz="3200"/>
            </a:lvl1pPr>
            <a:lvl2pPr marL="0" indent="0">
              <a:buNone/>
              <a:defRPr sz="2000"/>
            </a:lvl2pPr>
            <a:lvl3pPr marL="231757" indent="0">
              <a:buNone/>
              <a:tabLst/>
              <a:defRPr sz="2000"/>
            </a:lvl3pPr>
            <a:lvl4pPr marL="460338" indent="0">
              <a:buNone/>
              <a:defRPr/>
            </a:lvl4pPr>
            <a:lvl5pPr marL="685745"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40" y="1212849"/>
            <a:ext cx="5486399" cy="1914370"/>
          </a:xfrm>
        </p:spPr>
        <p:txBody>
          <a:bodyPr wrap="square">
            <a:spAutoFit/>
          </a:bodyPr>
          <a:lstStyle>
            <a:lvl1pPr marL="0" indent="0">
              <a:spcBef>
                <a:spcPts val="1224"/>
              </a:spcBef>
              <a:buClr>
                <a:schemeClr val="tx1"/>
              </a:buClr>
              <a:buFont typeface="Wingdings" pitchFamily="2" charset="2"/>
              <a:buNone/>
              <a:defRPr sz="3200"/>
            </a:lvl1pPr>
            <a:lvl2pPr marL="0" indent="0">
              <a:buNone/>
              <a:defRPr sz="2000"/>
            </a:lvl2pPr>
            <a:lvl3pPr marL="231757" indent="0">
              <a:buNone/>
              <a:tabLst/>
              <a:defRPr sz="2000"/>
            </a:lvl3pPr>
            <a:lvl4pPr marL="460338" indent="0">
              <a:buNone/>
              <a:defRPr/>
            </a:lvl4pPr>
            <a:lvl5pPr marL="685745"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20005346"/>
      </p:ext>
    </p:extLst>
  </p:cSld>
  <p:clrMapOvr>
    <a:masterClrMapping/>
  </p:clrMapOvr>
  <p:transition>
    <p:fade/>
  </p:transition>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40" y="1212849"/>
            <a:ext cx="5486399" cy="2425279"/>
          </a:xfrm>
        </p:spPr>
        <p:txBody>
          <a:bodyPr wrap="square">
            <a:spAutoFit/>
          </a:bodyPr>
          <a:lstStyle>
            <a:lvl1pPr marL="287315" indent="-287315">
              <a:spcBef>
                <a:spcPts val="1224"/>
              </a:spcBef>
              <a:buClr>
                <a:schemeClr val="tx2"/>
              </a:buClr>
              <a:buFont typeface="Wingdings" panose="05000000000000000000" pitchFamily="2" charset="2"/>
              <a:buChar char="§"/>
              <a:defRPr sz="3200">
                <a:gradFill>
                  <a:gsLst>
                    <a:gs pos="19469">
                      <a:schemeClr val="tx2"/>
                    </a:gs>
                    <a:gs pos="32000">
                      <a:schemeClr val="tx2"/>
                    </a:gs>
                  </a:gsLst>
                  <a:lin ang="5400000" scaled="0"/>
                </a:gradFill>
              </a:defRPr>
            </a:lvl1pPr>
            <a:lvl2pPr marL="531123" indent="-233176">
              <a:buFont typeface="Wingdings" panose="05000000000000000000" pitchFamily="2" charset="2"/>
              <a:buChar char="§"/>
              <a:defRPr sz="2400"/>
            </a:lvl2pPr>
            <a:lvl3pPr marL="699529" indent="-168406">
              <a:buFont typeface="Wingdings" panose="05000000000000000000" pitchFamily="2" charset="2"/>
              <a:buChar char="§"/>
              <a:tabLst/>
              <a:defRPr sz="2000"/>
            </a:lvl3pPr>
            <a:lvl4pPr marL="880887" indent="-181359">
              <a:buFont typeface="Wingdings" panose="05000000000000000000" pitchFamily="2" charset="2"/>
              <a:buChar char="§"/>
              <a:defRPr/>
            </a:lvl4pPr>
            <a:lvl5pPr marL="1049293" indent="-168406">
              <a:buFont typeface="Wingdings" panose="05000000000000000000" pitchFamily="2" charset="2"/>
              <a:buChar char="§"/>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40" y="1212849"/>
            <a:ext cx="5486399" cy="2425279"/>
          </a:xfrm>
        </p:spPr>
        <p:txBody>
          <a:bodyPr wrap="square">
            <a:spAutoFit/>
          </a:bodyPr>
          <a:lstStyle>
            <a:lvl1pPr marL="287315" indent="-287315">
              <a:spcBef>
                <a:spcPts val="1224"/>
              </a:spcBef>
              <a:buClr>
                <a:schemeClr val="tx2"/>
              </a:buClr>
              <a:buFont typeface="Wingdings" panose="05000000000000000000" pitchFamily="2" charset="2"/>
              <a:buChar char="§"/>
              <a:defRPr sz="3200">
                <a:gradFill>
                  <a:gsLst>
                    <a:gs pos="19469">
                      <a:schemeClr val="tx2"/>
                    </a:gs>
                    <a:gs pos="32000">
                      <a:schemeClr val="tx2"/>
                    </a:gs>
                  </a:gsLst>
                  <a:lin ang="5400000" scaled="0"/>
                </a:gradFill>
              </a:defRPr>
            </a:lvl1pPr>
            <a:lvl2pPr marL="531123" indent="-233176">
              <a:buFont typeface="Wingdings" panose="05000000000000000000" pitchFamily="2" charset="2"/>
              <a:buChar char="§"/>
              <a:defRPr sz="2400"/>
            </a:lvl2pPr>
            <a:lvl3pPr marL="699529" indent="-168406">
              <a:buFont typeface="Wingdings" panose="05000000000000000000" pitchFamily="2" charset="2"/>
              <a:buChar char="§"/>
              <a:tabLst/>
              <a:defRPr sz="2000"/>
            </a:lvl3pPr>
            <a:lvl4pPr marL="880887" indent="-181359">
              <a:buFont typeface="Wingdings" panose="05000000000000000000" pitchFamily="2" charset="2"/>
              <a:buChar char="§"/>
              <a:defRPr/>
            </a:lvl4pPr>
            <a:lvl5pPr marL="1049293" indent="-168406">
              <a:buFont typeface="Wingdings" panose="05000000000000000000" pitchFamily="2" charset="2"/>
              <a:buChar char="§"/>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3471000"/>
      </p:ext>
    </p:extLst>
  </p:cSld>
  <p:clrMapOvr>
    <a:masterClrMapping/>
  </p:clrMapOvr>
  <p:transition>
    <p:fade/>
  </p:transition>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74640" y="1212849"/>
            <a:ext cx="5486399" cy="2425279"/>
          </a:xfrm>
        </p:spPr>
        <p:txBody>
          <a:bodyPr wrap="square">
            <a:spAutoFit/>
          </a:bodyPr>
          <a:lstStyle>
            <a:lvl1pPr marL="287315" indent="-287315">
              <a:spcBef>
                <a:spcPts val="1224"/>
              </a:spcBef>
              <a:buClr>
                <a:schemeClr val="tx1"/>
              </a:buClr>
              <a:buFont typeface="Wingdings" panose="05000000000000000000" pitchFamily="2" charset="2"/>
              <a:buChar char="§"/>
              <a:defRPr sz="3200"/>
            </a:lvl1pPr>
            <a:lvl2pPr marL="531123" indent="-233176">
              <a:buFont typeface="Wingdings" panose="05000000000000000000" pitchFamily="2" charset="2"/>
              <a:buChar char="§"/>
              <a:defRPr sz="2400"/>
            </a:lvl2pPr>
            <a:lvl3pPr marL="699529" indent="-168406">
              <a:buFont typeface="Wingdings" panose="05000000000000000000" pitchFamily="2" charset="2"/>
              <a:buChar char="§"/>
              <a:tabLst/>
              <a:defRPr sz="2000"/>
            </a:lvl3pPr>
            <a:lvl4pPr marL="880887" indent="-181359">
              <a:buFont typeface="Wingdings" panose="05000000000000000000" pitchFamily="2" charset="2"/>
              <a:buChar char="§"/>
              <a:defRPr/>
            </a:lvl4pPr>
            <a:lvl5pPr marL="1049293" indent="-168406">
              <a:buFont typeface="Wingdings" panose="05000000000000000000" pitchFamily="2" charset="2"/>
              <a:buChar char="§"/>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675440" y="1212849"/>
            <a:ext cx="5486399" cy="2425279"/>
          </a:xfrm>
        </p:spPr>
        <p:txBody>
          <a:bodyPr wrap="square">
            <a:spAutoFit/>
          </a:bodyPr>
          <a:lstStyle>
            <a:lvl1pPr marL="287315" indent="-287315">
              <a:spcBef>
                <a:spcPts val="1224"/>
              </a:spcBef>
              <a:buClr>
                <a:schemeClr val="tx1"/>
              </a:buClr>
              <a:buFont typeface="Wingdings" panose="05000000000000000000" pitchFamily="2" charset="2"/>
              <a:buChar char="§"/>
              <a:defRPr sz="3200"/>
            </a:lvl1pPr>
            <a:lvl2pPr marL="531123" indent="-233176">
              <a:buFont typeface="Wingdings" panose="05000000000000000000" pitchFamily="2" charset="2"/>
              <a:buChar char="§"/>
              <a:defRPr sz="2400"/>
            </a:lvl2pPr>
            <a:lvl3pPr marL="699529" indent="-168406">
              <a:buFont typeface="Wingdings" panose="05000000000000000000" pitchFamily="2" charset="2"/>
              <a:buChar char="§"/>
              <a:tabLst/>
              <a:defRPr sz="2000"/>
            </a:lvl3pPr>
            <a:lvl4pPr marL="880887" indent="-181359">
              <a:buFont typeface="Wingdings" panose="05000000000000000000" pitchFamily="2" charset="2"/>
              <a:buChar char="§"/>
              <a:defRPr/>
            </a:lvl4pPr>
            <a:lvl5pPr marL="1049293" indent="-168406">
              <a:buFont typeface="Wingdings" panose="05000000000000000000" pitchFamily="2" charset="2"/>
              <a:buChar char="§"/>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54688895"/>
      </p:ext>
    </p:extLst>
  </p:cSld>
  <p:clrMapOvr>
    <a:masterClrMapping/>
  </p:clrMapOvr>
  <p:transition>
    <p:fade/>
  </p:transition>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4019503696"/>
      </p:ext>
    </p:extLst>
  </p:cSld>
  <p:clrMapOvr>
    <a:masterClrMapping/>
  </p:clrMapOvr>
  <p:transition>
    <p:fade/>
  </p:transition>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820" y="1090"/>
            <a:ext cx="12430199" cy="6991987"/>
          </a:xfrm>
          <a:prstGeom prst="rect">
            <a:avLst/>
          </a:prstGeom>
        </p:spPr>
      </p:pic>
      <p:sp>
        <p:nvSpPr>
          <p:cNvPr id="2" name="Title 1"/>
          <p:cNvSpPr>
            <a:spLocks noGrp="1"/>
          </p:cNvSpPr>
          <p:nvPr>
            <p:ph type="title" hasCustomPrompt="1"/>
          </p:nvPr>
        </p:nvSpPr>
        <p:spPr>
          <a:xfrm>
            <a:off x="274639" y="2136776"/>
            <a:ext cx="10056812" cy="1181862"/>
          </a:xfrm>
          <a:noFill/>
        </p:spPr>
        <p:txBody>
          <a:bodyPr tIns="91440" bIns="91440" anchor="t" anchorCtr="0">
            <a:spAutoFit/>
          </a:bodyPr>
          <a:lstStyle>
            <a:lvl1pPr>
              <a:defRPr sz="7199" spc="-100"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9" y="4881266"/>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6" name="Rectangle 5"/>
          <p:cNvSpPr/>
          <p:nvPr userDrawn="1"/>
        </p:nvSpPr>
        <p:spPr bwMode="gray">
          <a:xfrm>
            <a:off x="0" y="6537325"/>
            <a:ext cx="12435840" cy="457200"/>
          </a:xfrm>
          <a:prstGeom prst="rect">
            <a:avLst/>
          </a:prstGeom>
          <a:solidFill>
            <a:srgbClr val="505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5507" y="6678218"/>
            <a:ext cx="822951" cy="175415"/>
          </a:xfrm>
          <a:prstGeom prst="rect">
            <a:avLst/>
          </a:prstGeom>
        </p:spPr>
      </p:pic>
    </p:spTree>
    <p:extLst>
      <p:ext uri="{BB962C8B-B14F-4D97-AF65-F5344CB8AC3E}">
        <p14:creationId xmlns:p14="http://schemas.microsoft.com/office/powerpoint/2010/main" val="24518964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2"/>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820" y="1090"/>
            <a:ext cx="12430199" cy="6991987"/>
          </a:xfrm>
          <a:prstGeom prst="rect">
            <a:avLst/>
          </a:prstGeom>
        </p:spPr>
      </p:pic>
      <p:sp>
        <p:nvSpPr>
          <p:cNvPr id="2" name="Title 1"/>
          <p:cNvSpPr>
            <a:spLocks noGrp="1"/>
          </p:cNvSpPr>
          <p:nvPr>
            <p:ph type="title" hasCustomPrompt="1"/>
          </p:nvPr>
        </p:nvSpPr>
        <p:spPr>
          <a:xfrm>
            <a:off x="274639" y="2125663"/>
            <a:ext cx="10056812" cy="1181862"/>
          </a:xfrm>
          <a:noFill/>
        </p:spPr>
        <p:txBody>
          <a:bodyPr tIns="91440" bIns="91440" anchor="t" anchorCtr="0">
            <a:spAutoFit/>
          </a:bodyPr>
          <a:lstStyle>
            <a:lvl1pPr>
              <a:defRPr lang="en-US" sz="7199"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smtClean="0"/>
              <a:t>Video title</a:t>
            </a:r>
            <a:endParaRPr lang="en-US" dirty="0"/>
          </a:p>
        </p:txBody>
      </p:sp>
      <p:sp>
        <p:nvSpPr>
          <p:cNvPr id="4" name="Rectangle 3"/>
          <p:cNvSpPr/>
          <p:nvPr userDrawn="1"/>
        </p:nvSpPr>
        <p:spPr bwMode="gray">
          <a:xfrm>
            <a:off x="0" y="6537325"/>
            <a:ext cx="12435840" cy="457200"/>
          </a:xfrm>
          <a:prstGeom prst="rect">
            <a:avLst/>
          </a:prstGeom>
          <a:solidFill>
            <a:srgbClr val="505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5507" y="6678218"/>
            <a:ext cx="822951" cy="175415"/>
          </a:xfrm>
          <a:prstGeom prst="rect">
            <a:avLst/>
          </a:prstGeom>
        </p:spPr>
      </p:pic>
    </p:spTree>
    <p:extLst>
      <p:ext uri="{BB962C8B-B14F-4D97-AF65-F5344CB8AC3E}">
        <p14:creationId xmlns:p14="http://schemas.microsoft.com/office/powerpoint/2010/main" val="30945749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Title Light">
    <p:bg>
      <p:bgRef idx="1001">
        <a:schemeClr val="bg2"/>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820" y="1090"/>
            <a:ext cx="12430199" cy="6991987"/>
          </a:xfrm>
          <a:prstGeom prst="rect">
            <a:avLst/>
          </a:prstGeom>
        </p:spPr>
      </p:pic>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199" spc="-100" baseline="0">
                <a:gradFill>
                  <a:gsLst>
                    <a:gs pos="100000">
                      <a:schemeClr val="tx1"/>
                    </a:gs>
                    <a:gs pos="0">
                      <a:schemeClr val="tx1"/>
                    </a:gs>
                  </a:gsLst>
                  <a:lin ang="5400000" scaled="0"/>
                </a:gradFill>
              </a:defRPr>
            </a:lvl1pPr>
          </a:lstStyle>
          <a:p>
            <a:r>
              <a:rPr lang="en-US" dirty="0" smtClean="0"/>
              <a:t>Section title</a:t>
            </a:r>
            <a:endParaRPr lang="en-US" dirty="0"/>
          </a:p>
        </p:txBody>
      </p:sp>
    </p:spTree>
    <p:extLst>
      <p:ext uri="{BB962C8B-B14F-4D97-AF65-F5344CB8AC3E}">
        <p14:creationId xmlns:p14="http://schemas.microsoft.com/office/powerpoint/2010/main" val="1128150170"/>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ection Title Dark">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199" spc="-100" baseline="0">
                <a:gradFill>
                  <a:gsLst>
                    <a:gs pos="100000">
                      <a:schemeClr val="tx1"/>
                    </a:gs>
                    <a:gs pos="0">
                      <a:schemeClr val="tx1"/>
                    </a:gs>
                  </a:gsLst>
                  <a:lin ang="5400000" scaled="0"/>
                </a:gradFill>
              </a:defRPr>
            </a:lvl1pPr>
          </a:lstStyle>
          <a:p>
            <a:r>
              <a:rPr lang="en-US" dirty="0" smtClean="0"/>
              <a:t>Section title</a:t>
            </a:r>
            <a:endParaRPr lang="en-US" dirty="0"/>
          </a:p>
        </p:txBody>
      </p:sp>
    </p:spTree>
    <p:extLst>
      <p:ext uri="{BB962C8B-B14F-4D97-AF65-F5344CB8AC3E}">
        <p14:creationId xmlns:p14="http://schemas.microsoft.com/office/powerpoint/2010/main" val="36022352"/>
      </p:ext>
    </p:extLst>
  </p:cSld>
  <p:clrMapOvr>
    <a:masterClrMapping/>
  </p:clrMapOvr>
  <p:transition>
    <p:fade/>
  </p:transition>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199" spc="-100" baseline="0">
                <a:gradFill>
                  <a:gsLst>
                    <a:gs pos="100000">
                      <a:schemeClr val="tx1"/>
                    </a:gs>
                    <a:gs pos="0">
                      <a:schemeClr val="tx1"/>
                    </a:gs>
                  </a:gsLst>
                  <a:lin ang="5400000" scaled="0"/>
                </a:gradFill>
              </a:defRPr>
            </a:lvl1pPr>
          </a:lstStyle>
          <a:p>
            <a:r>
              <a:rPr lang="en-US" dirty="0" smtClean="0"/>
              <a:t>Section title</a:t>
            </a:r>
            <a:endParaRPr lang="en-US" dirty="0"/>
          </a:p>
        </p:txBody>
      </p:sp>
    </p:spTree>
    <p:extLst>
      <p:ext uri="{BB962C8B-B14F-4D97-AF65-F5344CB8AC3E}">
        <p14:creationId xmlns:p14="http://schemas.microsoft.com/office/powerpoint/2010/main" val="2694670468"/>
      </p:ext>
    </p:extLst>
  </p:cSld>
  <p:clrMapOvr>
    <a:masterClrMapping/>
  </p:clrMapOvr>
  <p:transition>
    <p:fade/>
  </p:transition>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199" spc="-100" baseline="0">
                <a:gradFill>
                  <a:gsLst>
                    <a:gs pos="100000">
                      <a:schemeClr val="tx1"/>
                    </a:gs>
                    <a:gs pos="0">
                      <a:schemeClr val="tx1"/>
                    </a:gs>
                  </a:gsLst>
                  <a:lin ang="5400000" scaled="0"/>
                </a:gradFill>
              </a:defRPr>
            </a:lvl1pPr>
          </a:lstStyle>
          <a:p>
            <a:r>
              <a:rPr lang="en-US" dirty="0" smtClean="0"/>
              <a:t>Section title</a:t>
            </a:r>
            <a:endParaRPr lang="en-US" dirty="0"/>
          </a:p>
        </p:txBody>
      </p:sp>
    </p:spTree>
    <p:extLst>
      <p:ext uri="{BB962C8B-B14F-4D97-AF65-F5344CB8AC3E}">
        <p14:creationId xmlns:p14="http://schemas.microsoft.com/office/powerpoint/2010/main" val="3943408802"/>
      </p:ext>
    </p:extLst>
  </p:cSld>
  <p:clrMapOvr>
    <a:masterClrMapping/>
  </p:clrMapOvr>
  <p:transition>
    <p:fade/>
  </p:transition>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ection Title Accent Color 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199" spc="-100" baseline="0">
                <a:gradFill>
                  <a:gsLst>
                    <a:gs pos="100000">
                      <a:schemeClr val="tx1"/>
                    </a:gs>
                    <a:gs pos="0">
                      <a:schemeClr val="tx1"/>
                    </a:gs>
                  </a:gsLst>
                  <a:lin ang="5400000" scaled="0"/>
                </a:gradFill>
              </a:defRPr>
            </a:lvl1pPr>
          </a:lstStyle>
          <a:p>
            <a:r>
              <a:rPr lang="en-US" dirty="0" smtClean="0"/>
              <a:t>Section title</a:t>
            </a:r>
            <a:endParaRPr lang="en-US" dirty="0"/>
          </a:p>
        </p:txBody>
      </p:sp>
    </p:spTree>
    <p:extLst>
      <p:ext uri="{BB962C8B-B14F-4D97-AF65-F5344CB8AC3E}">
        <p14:creationId xmlns:p14="http://schemas.microsoft.com/office/powerpoint/2010/main" val="320266763"/>
      </p:ext>
    </p:extLst>
  </p:cSld>
  <p:clrMapOvr>
    <a:masterClrMapping/>
  </p:clrMapOvr>
  <p:transition>
    <p:fade/>
  </p:transition>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50-50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40" y="1241426"/>
            <a:ext cx="5486399" cy="2012859"/>
          </a:xfrm>
        </p:spPr>
        <p:txBody>
          <a:bodyPr>
            <a:spAutoFit/>
          </a:bodyPr>
          <a:lstStyle>
            <a:lvl1pPr>
              <a:defRPr sz="6599" baseline="0">
                <a:gradFill>
                  <a:gsLst>
                    <a:gs pos="1250">
                      <a:schemeClr val="tx1"/>
                    </a:gs>
                    <a:gs pos="100000">
                      <a:schemeClr val="tx1"/>
                    </a:gs>
                  </a:gsLst>
                  <a:lin ang="5400000" scaled="0"/>
                </a:gradFill>
              </a:defRPr>
            </a:lvl1pPr>
          </a:lstStyle>
          <a:p>
            <a:r>
              <a:rPr lang="en-US" dirty="0" smtClean="0"/>
              <a:t>50/50 photo layout</a:t>
            </a:r>
            <a:endParaRPr lang="en-US" dirty="0"/>
          </a:p>
        </p:txBody>
      </p:sp>
      <p:sp>
        <p:nvSpPr>
          <p:cNvPr id="5" name="Picture Placeholder 4"/>
          <p:cNvSpPr>
            <a:spLocks noGrp="1"/>
          </p:cNvSpPr>
          <p:nvPr>
            <p:ph type="pic" sz="quarter" idx="10"/>
          </p:nvPr>
        </p:nvSpPr>
        <p:spPr bwMode="ltGray">
          <a:xfrm>
            <a:off x="6219825" y="1"/>
            <a:ext cx="6216650" cy="6992587"/>
          </a:xfr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smtClean="0"/>
              <a:t>Click icon to add picture</a:t>
            </a:r>
            <a:endParaRPr lang="en-US" dirty="0"/>
          </a:p>
        </p:txBody>
      </p:sp>
    </p:spTree>
    <p:extLst>
      <p:ext uri="{BB962C8B-B14F-4D97-AF65-F5344CB8AC3E}">
        <p14:creationId xmlns:p14="http://schemas.microsoft.com/office/powerpoint/2010/main" val="598794411"/>
      </p:ext>
    </p:extLst>
  </p:cSld>
  <p:clrMapOvr>
    <a:masterClrMapping/>
  </p:clrMapOvr>
  <p:transition>
    <p:fade/>
  </p:transition>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 Dark">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320799"/>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2541540"/>
      </p:ext>
    </p:extLst>
  </p:cSld>
  <p:clrMapOvr>
    <a:masterClrMapping/>
  </p:clrMapOvr>
  <p:transition>
    <p:fade/>
  </p:transition>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3172124"/>
      </p:ext>
    </p:extLst>
  </p:cSld>
  <p:clrMapOvr>
    <a:masterClrMapping/>
  </p:clrMapOvr>
  <p:transition>
    <p:fade/>
  </p:transition>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9201308"/>
      </p:ext>
    </p:extLst>
  </p:cSld>
  <p:clrMapOvr>
    <a:masterClrMapping/>
  </p:clrMapOvr>
  <p:transition>
    <p:fade/>
  </p:transition>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Slide for developer code</a:t>
            </a:r>
            <a:endParaRPr lang="en-US" dirty="0"/>
          </a:p>
        </p:txBody>
      </p:sp>
      <p:sp>
        <p:nvSpPr>
          <p:cNvPr id="3" name="Rectangle 2"/>
          <p:cNvSpPr/>
          <p:nvPr userDrawn="1"/>
        </p:nvSpPr>
        <p:spPr bwMode="hidden">
          <a:xfrm>
            <a:off x="2"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398" fontAlgn="base">
              <a:spcBef>
                <a:spcPct val="0"/>
              </a:spcBef>
              <a:spcAft>
                <a:spcPct val="0"/>
              </a:spcAft>
            </a:pPr>
            <a:endParaRPr lang="en-US" sz="225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9" y="1221158"/>
            <a:ext cx="11887199" cy="1995931"/>
          </a:xfrm>
        </p:spPr>
        <p:txBody>
          <a:bodyPr/>
          <a:lstStyle>
            <a:lvl1pPr marL="0" indent="0">
              <a:buNone/>
              <a:defRPr sz="33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526"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560"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498"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91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23621457"/>
      </p:ext>
    </p:extLst>
  </p:cSld>
  <p:clrMapOvr>
    <a:masterClrMapping/>
  </p:clrMapOvr>
  <p:transition>
    <p:fade/>
  </p:transition>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82" y="0"/>
            <a:ext cx="12435840" cy="6995160"/>
          </a:xfrm>
          <a:prstGeom prst="rect">
            <a:avLst/>
          </a:prstGeom>
        </p:spPr>
      </p:pic>
      <p:sp>
        <p:nvSpPr>
          <p:cNvPr id="6" name="Rectangle 5"/>
          <p:cNvSpPr/>
          <p:nvPr userDrawn="1"/>
        </p:nvSpPr>
        <p:spPr bwMode="gray">
          <a:xfrm>
            <a:off x="0" y="4868863"/>
            <a:ext cx="12436475" cy="2125662"/>
          </a:xfrm>
          <a:prstGeom prst="rect">
            <a:avLst/>
          </a:prstGeom>
          <a:solidFill>
            <a:srgbClr val="505050"/>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398" fontAlgn="base">
              <a:spcBef>
                <a:spcPct val="0"/>
              </a:spcBef>
              <a:spcAft>
                <a:spcPct val="0"/>
              </a:spcAft>
            </a:pPr>
            <a:endParaRPr lang="en-US" sz="2000" dirty="0">
              <a:gradFill>
                <a:gsLst>
                  <a:gs pos="16814">
                    <a:srgbClr val="FFFFFF"/>
                  </a:gs>
                  <a:gs pos="46000">
                    <a:srgbClr val="FFFFFF"/>
                  </a:gs>
                </a:gsLst>
                <a:lin ang="5400000" scaled="0"/>
              </a:gradFill>
            </a:endParaRPr>
          </a:p>
        </p:txBody>
      </p:sp>
      <p:sp>
        <p:nvSpPr>
          <p:cNvPr id="2" name="Text Box 3"/>
          <p:cNvSpPr txBox="1">
            <a:spLocks noChangeArrowheads="1"/>
          </p:cNvSpPr>
          <p:nvPr userDrawn="1"/>
        </p:nvSpPr>
        <p:spPr bwMode="white">
          <a:xfrm>
            <a:off x="7589822" y="6294476"/>
            <a:ext cx="4571999"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algn="r" defTabSz="932215" eaLnBrk="0" hangingPunct="0"/>
            <a:r>
              <a:rPr lang="en-US" sz="700" dirty="0">
                <a:gradFill>
                  <a:gsLst>
                    <a:gs pos="12389">
                      <a:srgbClr val="FFFFFF"/>
                    </a:gs>
                    <a:gs pos="54000">
                      <a:srgbClr val="FFFFFF"/>
                    </a:gs>
                  </a:gsLst>
                  <a:lin ang="5400000" scaled="0"/>
                </a:gradFill>
                <a:cs typeface="Segoe UI" pitchFamily="34" charset="0"/>
              </a:rPr>
              <a:t>© </a:t>
            </a:r>
            <a:r>
              <a:rPr lang="en-US" sz="700" dirty="0" smtClean="0">
                <a:gradFill>
                  <a:gsLst>
                    <a:gs pos="12389">
                      <a:srgbClr val="FFFFFF"/>
                    </a:gs>
                    <a:gs pos="54000">
                      <a:srgbClr val="FFFFFF"/>
                    </a:gs>
                  </a:gsLst>
                  <a:lin ang="5400000" scaled="0"/>
                </a:gradFill>
                <a:cs typeface="Segoe UI" pitchFamily="34" charset="0"/>
              </a:rPr>
              <a:t>2015 </a:t>
            </a:r>
            <a:r>
              <a:rPr lang="en-US" sz="700" dirty="0">
                <a:gradFill>
                  <a:gsLst>
                    <a:gs pos="12389">
                      <a:srgbClr val="FFFFFF"/>
                    </a:gs>
                    <a:gs pos="54000">
                      <a:srgbClr val="FFFFFF"/>
                    </a:gs>
                  </a:gsLst>
                  <a:lin ang="5400000" scaled="0"/>
                </a:gradFill>
                <a:cs typeface="Segoe UI" pitchFamily="34" charset="0"/>
              </a:rPr>
              <a:t>Microsoft Corporation. All rights reserved. </a:t>
            </a:r>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9230" y="5580859"/>
            <a:ext cx="3291840" cy="701671"/>
          </a:xfrm>
          <a:prstGeom prst="rect">
            <a:avLst/>
          </a:prstGeom>
        </p:spPr>
      </p:pic>
    </p:spTree>
    <p:extLst>
      <p:ext uri="{BB962C8B-B14F-4D97-AF65-F5344CB8AC3E}">
        <p14:creationId xmlns:p14="http://schemas.microsoft.com/office/powerpoint/2010/main" val="2114508294"/>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490" indent="-290490">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454" indent="-280966">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1944" indent="-290490">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526" indent="-228582">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107" indent="-228582">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4117540336"/>
      </p:ext>
    </p:extLst>
  </p:cSld>
  <p:clrMapOvr>
    <a:masterClrMapping/>
  </p:clrMapOvr>
  <p:transition>
    <p:fade/>
  </p:transition>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Black Notes slide Layout No Bar">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9884960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slideLayout" Target="../slideLayouts/slideLayout44.xml"/><Relationship Id="rId3" Type="http://schemas.openxmlformats.org/officeDocument/2006/relationships/slideLayout" Target="../slideLayouts/slideLayout21.xml"/><Relationship Id="rId21" Type="http://schemas.openxmlformats.org/officeDocument/2006/relationships/slideLayout" Target="../slideLayouts/slideLayout39.xml"/><Relationship Id="rId34" Type="http://schemas.openxmlformats.org/officeDocument/2006/relationships/image" Target="../media/image4.png"/><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slideLayout" Target="../slideLayouts/slideLayout43.xml"/><Relationship Id="rId33" Type="http://schemas.openxmlformats.org/officeDocument/2006/relationships/theme" Target="../theme/theme2.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29" Type="http://schemas.openxmlformats.org/officeDocument/2006/relationships/slideLayout" Target="../slideLayouts/slideLayout47.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slideLayout" Target="../slideLayouts/slideLayout42.xml"/><Relationship Id="rId32" Type="http://schemas.openxmlformats.org/officeDocument/2006/relationships/slideLayout" Target="../slideLayouts/slideLayout50.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slideLayout" Target="../slideLayouts/slideLayout46.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31" Type="http://schemas.openxmlformats.org/officeDocument/2006/relationships/slideLayout" Target="../slideLayouts/slideLayout49.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slideLayout" Target="../slideLayouts/slideLayout45.xml"/><Relationship Id="rId30" Type="http://schemas.openxmlformats.org/officeDocument/2006/relationships/slideLayout" Target="../slideLayouts/slideLayout48.xml"/><Relationship Id="rId35"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slideLayout" Target="../slideLayouts/slideLayout76.xml"/><Relationship Id="rId3" Type="http://schemas.openxmlformats.org/officeDocument/2006/relationships/slideLayout" Target="../slideLayouts/slideLayout53.xml"/><Relationship Id="rId21" Type="http://schemas.openxmlformats.org/officeDocument/2006/relationships/slideLayout" Target="../slideLayouts/slideLayout71.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0" Type="http://schemas.openxmlformats.org/officeDocument/2006/relationships/slideLayout" Target="../slideLayouts/slideLayout70.xml"/><Relationship Id="rId29" Type="http://schemas.openxmlformats.org/officeDocument/2006/relationships/image" Target="../media/image1.png"/><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28" Type="http://schemas.openxmlformats.org/officeDocument/2006/relationships/theme" Target="../theme/theme3.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 Id="rId27"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274640" y="1212851"/>
            <a:ext cx="11887198" cy="2092881"/>
          </a:xfrm>
          <a:prstGeom prst="rect">
            <a:avLst/>
          </a:prstGeom>
        </p:spPr>
        <p:txBody>
          <a:bodyPr vert="horz" wrap="square" lIns="146304" tIns="91440" rIns="146304" bIns="91440" rtlCol="0">
            <a:sp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7" name="Picture 6"/>
          <p:cNvPicPr>
            <a:picLocks noChangeAspect="1"/>
          </p:cNvPicPr>
          <p:nvPr/>
        </p:nvPicPr>
        <p:blipFill>
          <a:blip r:embed="rId20"/>
          <a:stretch>
            <a:fillRect/>
          </a:stretch>
        </p:blipFill>
        <p:spPr>
          <a:xfrm rot="5400000">
            <a:off x="9393899" y="3050513"/>
            <a:ext cx="6995160" cy="894134"/>
          </a:xfrm>
          <a:prstGeom prst="rect">
            <a:avLst/>
          </a:prstGeom>
        </p:spPr>
      </p:pic>
      <p:pic>
        <p:nvPicPr>
          <p:cNvPr id="5" name="Picture 4"/>
          <p:cNvPicPr>
            <a:picLocks noChangeAspect="1"/>
          </p:cNvPicPr>
          <p:nvPr userDrawn="1"/>
        </p:nvPicPr>
        <p:blipFill>
          <a:blip r:embed="rId20"/>
          <a:stretch>
            <a:fillRect/>
          </a:stretch>
        </p:blipFill>
        <p:spPr>
          <a:xfrm rot="5400000">
            <a:off x="9489149" y="3050513"/>
            <a:ext cx="6995160" cy="894134"/>
          </a:xfrm>
          <a:prstGeom prst="rect">
            <a:avLst/>
          </a:prstGeom>
        </p:spPr>
      </p:pic>
    </p:spTree>
    <p:extLst>
      <p:ext uri="{BB962C8B-B14F-4D97-AF65-F5344CB8AC3E}">
        <p14:creationId xmlns:p14="http://schemas.microsoft.com/office/powerpoint/2010/main" val="2942411306"/>
      </p:ext>
    </p:extLst>
  </p:cSld>
  <p:clrMap bg1="lt1" tx1="dk1" bg2="lt2" tx2="dk2" accent1="accent1" accent2="accent2" accent3="accent3" accent4="accent4" accent5="accent5" accent6="accent6" hlink="hlink" folHlink="folHlink"/>
  <p:sldLayoutIdLst>
    <p:sldLayoutId id="2147484219" r:id="rId1"/>
    <p:sldLayoutId id="2147484220" r:id="rId2"/>
    <p:sldLayoutId id="2147484221" r:id="rId3"/>
    <p:sldLayoutId id="2147484222" r:id="rId4"/>
    <p:sldLayoutId id="2147484223" r:id="rId5"/>
    <p:sldLayoutId id="2147484224" r:id="rId6"/>
    <p:sldLayoutId id="2147484225" r:id="rId7"/>
    <p:sldLayoutId id="2147484226" r:id="rId8"/>
    <p:sldLayoutId id="2147484227" r:id="rId9"/>
    <p:sldLayoutId id="2147484228" r:id="rId10"/>
    <p:sldLayoutId id="2147484229" r:id="rId11"/>
    <p:sldLayoutId id="2147484231" r:id="rId12"/>
    <p:sldLayoutId id="2147484232" r:id="rId13"/>
    <p:sldLayoutId id="2147484233" r:id="rId14"/>
    <p:sldLayoutId id="2147484234" r:id="rId15"/>
    <p:sldLayoutId id="2147484235" r:id="rId16"/>
    <p:sldLayoutId id="2147484237" r:id="rId17"/>
    <p:sldLayoutId id="2147484239" r:id="rId18"/>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7" orient="horz" pos="187" userDrawn="1">
          <p15:clr>
            <a:srgbClr val="5ACBF0"/>
          </p15:clr>
        </p15:guide>
        <p15:guide id="28" pos="173" userDrawn="1">
          <p15:clr>
            <a:srgbClr val="5ACBF0"/>
          </p15:clr>
        </p15:guide>
        <p15:guide id="29" pos="7661" userDrawn="1">
          <p15:clr>
            <a:srgbClr val="5ACBF0"/>
          </p15:clr>
        </p15:guide>
        <p15:guide id="30" orient="horz" pos="4219" userDrawn="1">
          <p15:clr>
            <a:srgbClr val="5ACBF0"/>
          </p15:clr>
        </p15:guide>
        <p15:guide id="31" pos="749" userDrawn="1">
          <p15:clr>
            <a:srgbClr val="5ACBF0"/>
          </p15:clr>
        </p15:guide>
        <p15:guide id="32" pos="1325" userDrawn="1">
          <p15:clr>
            <a:srgbClr val="5ACBF0"/>
          </p15:clr>
        </p15:guide>
        <p15:guide id="33" pos="1901" userDrawn="1">
          <p15:clr>
            <a:srgbClr val="5ACBF0"/>
          </p15:clr>
        </p15:guide>
        <p15:guide id="34" pos="2477" userDrawn="1">
          <p15:clr>
            <a:srgbClr val="5ACBF0"/>
          </p15:clr>
        </p15:guide>
        <p15:guide id="35" pos="3053" userDrawn="1">
          <p15:clr>
            <a:srgbClr val="5ACBF0"/>
          </p15:clr>
        </p15:guide>
        <p15:guide id="36" pos="3629" userDrawn="1">
          <p15:clr>
            <a:srgbClr val="5ACBF0"/>
          </p15:clr>
        </p15:guide>
        <p15:guide id="37" pos="4205" userDrawn="1">
          <p15:clr>
            <a:srgbClr val="5ACBF0"/>
          </p15:clr>
        </p15:guide>
        <p15:guide id="38" pos="4781" userDrawn="1">
          <p15:clr>
            <a:srgbClr val="5ACBF0"/>
          </p15:clr>
        </p15:guide>
        <p15:guide id="39" pos="5357" userDrawn="1">
          <p15:clr>
            <a:srgbClr val="5ACBF0"/>
          </p15:clr>
        </p15:guide>
        <p15:guide id="40" pos="5933" userDrawn="1">
          <p15:clr>
            <a:srgbClr val="5ACBF0"/>
          </p15:clr>
        </p15:guide>
        <p15:guide id="41" pos="6509" userDrawn="1">
          <p15:clr>
            <a:srgbClr val="5ACBF0"/>
          </p15:clr>
        </p15:guide>
        <p15:guide id="42" pos="7085" userDrawn="1">
          <p15:clr>
            <a:srgbClr val="5ACBF0"/>
          </p15:clr>
        </p15:guide>
        <p15:guide id="43" orient="horz" pos="763" userDrawn="1">
          <p15:clr>
            <a:srgbClr val="5ACBF0"/>
          </p15:clr>
        </p15:guide>
        <p15:guide id="44" orient="horz" pos="1339" userDrawn="1">
          <p15:clr>
            <a:srgbClr val="5ACBF0"/>
          </p15:clr>
        </p15:guide>
        <p15:guide id="45" orient="horz" pos="1915" userDrawn="1">
          <p15:clr>
            <a:srgbClr val="5ACBF0"/>
          </p15:clr>
        </p15:guide>
        <p15:guide id="46" orient="horz" pos="2491" userDrawn="1">
          <p15:clr>
            <a:srgbClr val="5ACBF0"/>
          </p15:clr>
        </p15:guide>
        <p15:guide id="47" orient="horz" pos="3067" userDrawn="1">
          <p15:clr>
            <a:srgbClr val="5ACBF0"/>
          </p15:clr>
        </p15:guide>
        <p15:guide id="48" orient="horz" pos="3643" userDrawn="1">
          <p15:clr>
            <a:srgbClr val="5ACBF0"/>
          </p15:clr>
        </p15:guide>
        <p15:guide id="49" pos="288" userDrawn="1">
          <p15:clr>
            <a:srgbClr val="C35EA4"/>
          </p15:clr>
        </p15:guide>
        <p15:guide id="50" pos="7546" userDrawn="1">
          <p15:clr>
            <a:srgbClr val="C35EA4"/>
          </p15:clr>
        </p15:guide>
        <p15:guide id="51" orient="horz" pos="302" userDrawn="1">
          <p15:clr>
            <a:srgbClr val="C35EA4"/>
          </p15:clr>
        </p15:guide>
        <p15:guide id="52" orient="horz" pos="4104"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0205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5" name="Picture 4"/>
          <p:cNvPicPr>
            <a:picLocks noChangeAspect="1"/>
          </p:cNvPicPr>
          <p:nvPr userDrawn="1"/>
        </p:nvPicPr>
        <p:blipFill>
          <a:blip r:embed="rId34" cstate="email">
            <a:extLst>
              <a:ext uri="{28A0092B-C50C-407E-A947-70E740481C1C}">
                <a14:useLocalDpi xmlns:a14="http://schemas.microsoft.com/office/drawing/2010/main" val="0"/>
              </a:ext>
            </a:extLst>
          </a:blip>
          <a:stretch>
            <a:fillRect/>
          </a:stretch>
        </p:blipFill>
        <p:spPr>
          <a:xfrm rot="5400000">
            <a:off x="10532394" y="1944335"/>
            <a:ext cx="4298019" cy="409351"/>
          </a:xfrm>
          <a:prstGeom prst="rect">
            <a:avLst/>
          </a:prstGeom>
        </p:spPr>
      </p:pic>
    </p:spTree>
    <p:extLst>
      <p:ext uri="{BB962C8B-B14F-4D97-AF65-F5344CB8AC3E}">
        <p14:creationId xmlns:p14="http://schemas.microsoft.com/office/powerpoint/2010/main" val="3977078980"/>
      </p:ext>
    </p:extLst>
  </p:cSld>
  <p:clrMap bg1="dk1" tx1="lt1" bg2="dk2" tx2="lt2" accent1="accent1" accent2="accent2" accent3="accent3" accent4="accent4" accent5="accent5" accent6="accent6" hlink="hlink" folHlink="folHlink"/>
  <p:sldLayoutIdLst>
    <p:sldLayoutId id="2147484242" r:id="rId1"/>
    <p:sldLayoutId id="2147484243" r:id="rId2"/>
    <p:sldLayoutId id="2147484244" r:id="rId3"/>
    <p:sldLayoutId id="2147484245" r:id="rId4"/>
    <p:sldLayoutId id="2147484246" r:id="rId5"/>
    <p:sldLayoutId id="2147484247" r:id="rId6"/>
    <p:sldLayoutId id="2147484248" r:id="rId7"/>
    <p:sldLayoutId id="2147484249" r:id="rId8"/>
    <p:sldLayoutId id="2147484250" r:id="rId9"/>
    <p:sldLayoutId id="2147484251" r:id="rId10"/>
    <p:sldLayoutId id="2147484252" r:id="rId11"/>
    <p:sldLayoutId id="2147484253" r:id="rId12"/>
    <p:sldLayoutId id="2147484254" r:id="rId13"/>
    <p:sldLayoutId id="2147484255" r:id="rId14"/>
    <p:sldLayoutId id="2147484256" r:id="rId15"/>
    <p:sldLayoutId id="2147484257" r:id="rId16"/>
    <p:sldLayoutId id="2147484258" r:id="rId17"/>
    <p:sldLayoutId id="2147484259" r:id="rId18"/>
    <p:sldLayoutId id="2147484260" r:id="rId19"/>
    <p:sldLayoutId id="2147484261" r:id="rId20"/>
    <p:sldLayoutId id="2147484262" r:id="rId21"/>
    <p:sldLayoutId id="2147484263" r:id="rId22"/>
    <p:sldLayoutId id="2147484264" r:id="rId23"/>
    <p:sldLayoutId id="2147484265" r:id="rId24"/>
    <p:sldLayoutId id="2147484266" r:id="rId25"/>
    <p:sldLayoutId id="2147484267" r:id="rId26"/>
    <p:sldLayoutId id="2147484268" r:id="rId27"/>
    <p:sldLayoutId id="2147484269" r:id="rId28"/>
    <p:sldLayoutId id="2147484270" r:id="rId29"/>
    <p:sldLayoutId id="2147484271" r:id="rId30"/>
    <p:sldLayoutId id="2147484272" r:id="rId31"/>
    <p:sldLayoutId id="2147484273" r:id="rId32"/>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54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
          <a:schemeClr val="tx1"/>
        </a:buClr>
        <a:buSzPct val="100000"/>
        <a:buFontTx/>
        <a:buBlip>
          <a:blip r:embed="rId35"/>
        </a:buBlip>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
          <a:schemeClr val="tx1"/>
        </a:buClr>
        <a:buSzPct val="100000"/>
        <a:buFontTx/>
        <a:buBlip>
          <a:blip r:embed="rId35"/>
        </a:buBlip>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
          <a:schemeClr val="tx1"/>
        </a:buClr>
        <a:buSzPct val="100000"/>
        <a:buFontTx/>
        <a:buBlip>
          <a:blip r:embed="rId35"/>
        </a:buBlip>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
          <a:schemeClr val="tx1"/>
        </a:buClr>
        <a:buSzPct val="100000"/>
        <a:buFontTx/>
        <a:buBlip>
          <a:blip r:embed="rId35"/>
        </a:buBlip>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
          <a:schemeClr val="tx1"/>
        </a:buClr>
        <a:buSzPct val="100000"/>
        <a:buFontTx/>
        <a:buBlip>
          <a:blip r:embed="rId35"/>
        </a:buBlip>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661">
          <p15:clr>
            <a:srgbClr val="5ACBF0"/>
          </p15:clr>
        </p15:guide>
        <p15:guide id="4" orient="horz" pos="4219">
          <p15:clr>
            <a:srgbClr val="5ACBF0"/>
          </p15:clr>
        </p15:guide>
        <p15:guide id="5" pos="749">
          <p15:clr>
            <a:srgbClr val="5ACBF0"/>
          </p15:clr>
        </p15:guide>
        <p15:guide id="6" pos="1325">
          <p15:clr>
            <a:srgbClr val="5ACBF0"/>
          </p15:clr>
        </p15:guide>
        <p15:guide id="7" pos="1901">
          <p15:clr>
            <a:srgbClr val="5ACBF0"/>
          </p15:clr>
        </p15:guide>
        <p15:guide id="8" pos="2477">
          <p15:clr>
            <a:srgbClr val="5ACBF0"/>
          </p15:clr>
        </p15:guide>
        <p15:guide id="9" pos="3053">
          <p15:clr>
            <a:srgbClr val="5ACBF0"/>
          </p15:clr>
        </p15:guide>
        <p15:guide id="10" pos="3629">
          <p15:clr>
            <a:srgbClr val="5ACBF0"/>
          </p15:clr>
        </p15:guide>
        <p15:guide id="11" pos="4205">
          <p15:clr>
            <a:srgbClr val="5ACBF0"/>
          </p15:clr>
        </p15:guide>
        <p15:guide id="12" pos="4781">
          <p15:clr>
            <a:srgbClr val="5ACBF0"/>
          </p15:clr>
        </p15:guide>
        <p15:guide id="13" pos="5357">
          <p15:clr>
            <a:srgbClr val="5ACBF0"/>
          </p15:clr>
        </p15:guide>
        <p15:guide id="14" pos="5933">
          <p15:clr>
            <a:srgbClr val="5ACBF0"/>
          </p15:clr>
        </p15:guide>
        <p15:guide id="15" pos="6509">
          <p15:clr>
            <a:srgbClr val="5ACBF0"/>
          </p15:clr>
        </p15:guide>
        <p15:guide id="16" pos="7085">
          <p15:clr>
            <a:srgbClr val="5ACBF0"/>
          </p15:clr>
        </p15:guide>
        <p15:guide id="17" orient="horz" pos="763">
          <p15:clr>
            <a:srgbClr val="5ACBF0"/>
          </p15:clr>
        </p15:guide>
        <p15:guide id="18" orient="horz" pos="1339">
          <p15:clr>
            <a:srgbClr val="5ACBF0"/>
          </p15:clr>
        </p15:guide>
        <p15:guide id="19" orient="horz" pos="1915">
          <p15:clr>
            <a:srgbClr val="5ACBF0"/>
          </p15:clr>
        </p15:guide>
        <p15:guide id="20" orient="horz" pos="2491">
          <p15:clr>
            <a:srgbClr val="5ACBF0"/>
          </p15:clr>
        </p15:guide>
        <p15:guide id="21" orient="horz" pos="3067">
          <p15:clr>
            <a:srgbClr val="5ACBF0"/>
          </p15:clr>
        </p15:guide>
        <p15:guide id="22" orient="horz" pos="3643">
          <p15:clr>
            <a:srgbClr val="5ACBF0"/>
          </p15:clr>
        </p15:guide>
        <p15:guide id="23" pos="288">
          <p15:clr>
            <a:srgbClr val="C35EA4"/>
          </p15:clr>
        </p15:guide>
        <p15:guide id="24" pos="7546">
          <p15:clr>
            <a:srgbClr val="C35EA4"/>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5"/>
            <a:ext cx="11889564" cy="917575"/>
          </a:xfrm>
          <a:prstGeom prst="rect">
            <a:avLst/>
          </a:prstGeom>
        </p:spPr>
        <p:txBody>
          <a:bodyPr vert="horz" wrap="square" lIns="146304" tIns="91440" rIns="146304" bIns="9144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274640" y="1212852"/>
            <a:ext cx="11887198" cy="2092881"/>
          </a:xfrm>
          <a:prstGeom prst="rect">
            <a:avLst/>
          </a:prstGeom>
        </p:spPr>
        <p:txBody>
          <a:bodyPr vert="horz" wrap="square" lIns="146304" tIns="91440" rIns="146304" bIns="9144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7" name="Picture 6"/>
          <p:cNvPicPr>
            <a:picLocks noChangeAspect="1"/>
          </p:cNvPicPr>
          <p:nvPr userDrawn="1"/>
        </p:nvPicPr>
        <p:blipFill>
          <a:blip r:embed="rId29"/>
          <a:stretch>
            <a:fillRect/>
          </a:stretch>
        </p:blipFill>
        <p:spPr>
          <a:xfrm rot="5400000">
            <a:off x="9393899" y="3050513"/>
            <a:ext cx="6995160" cy="894134"/>
          </a:xfrm>
          <a:prstGeom prst="rect">
            <a:avLst/>
          </a:prstGeom>
        </p:spPr>
      </p:pic>
    </p:spTree>
    <p:extLst>
      <p:ext uri="{BB962C8B-B14F-4D97-AF65-F5344CB8AC3E}">
        <p14:creationId xmlns:p14="http://schemas.microsoft.com/office/powerpoint/2010/main" val="2522924739"/>
      </p:ext>
    </p:extLst>
  </p:cSld>
  <p:clrMap bg1="dk1" tx1="lt1" bg2="dk2" tx2="lt2" accent1="accent1" accent2="accent2" accent3="accent3" accent4="accent4" accent5="accent5" accent6="accent6" hlink="hlink" folHlink="folHlink"/>
  <p:sldLayoutIdLst>
    <p:sldLayoutId id="2147484275" r:id="rId1"/>
    <p:sldLayoutId id="2147484276" r:id="rId2"/>
    <p:sldLayoutId id="2147484277" r:id="rId3"/>
    <p:sldLayoutId id="2147484278" r:id="rId4"/>
    <p:sldLayoutId id="2147484279" r:id="rId5"/>
    <p:sldLayoutId id="2147484280" r:id="rId6"/>
    <p:sldLayoutId id="2147484281" r:id="rId7"/>
    <p:sldLayoutId id="2147484282" r:id="rId8"/>
    <p:sldLayoutId id="2147484283" r:id="rId9"/>
    <p:sldLayoutId id="2147484284" r:id="rId10"/>
    <p:sldLayoutId id="2147484285" r:id="rId11"/>
    <p:sldLayoutId id="2147484286" r:id="rId12"/>
    <p:sldLayoutId id="2147484287" r:id="rId13"/>
    <p:sldLayoutId id="2147484288" r:id="rId14"/>
    <p:sldLayoutId id="2147484289" r:id="rId15"/>
    <p:sldLayoutId id="2147484290" r:id="rId16"/>
    <p:sldLayoutId id="2147484291" r:id="rId17"/>
    <p:sldLayoutId id="2147484292" r:id="rId18"/>
    <p:sldLayoutId id="2147484293" r:id="rId19"/>
    <p:sldLayoutId id="2147484294" r:id="rId20"/>
    <p:sldLayoutId id="2147484295" r:id="rId21"/>
    <p:sldLayoutId id="2147484296" r:id="rId22"/>
    <p:sldLayoutId id="2147484297" r:id="rId23"/>
    <p:sldLayoutId id="2147484298" r:id="rId24"/>
    <p:sldLayoutId id="2147484299" r:id="rId25"/>
    <p:sldLayoutId id="2147484300" r:id="rId26"/>
    <p:sldLayoutId id="2147484301" r:id="rId27"/>
  </p:sldLayoutIdLst>
  <p:transition>
    <p:fade/>
  </p:transition>
  <p:timing>
    <p:tnLst>
      <p:par>
        <p:cTn id="1" dur="indefinite" restart="never" nodeType="tmRoot"/>
      </p:par>
    </p:tnLst>
  </p:timing>
  <p:txStyles>
    <p:titleStyle>
      <a:lvl1pPr algn="l" defTabSz="932667"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873" marR="0" indent="-342873" algn="l" defTabSz="932667"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4000" kern="1200" spc="0" baseline="0">
          <a:gradFill>
            <a:gsLst>
              <a:gs pos="1250">
                <a:schemeClr val="tx1"/>
              </a:gs>
              <a:gs pos="100000">
                <a:schemeClr val="tx1"/>
              </a:gs>
            </a:gsLst>
            <a:lin ang="5400000" scaled="0"/>
          </a:gradFill>
          <a:latin typeface="+mj-lt"/>
          <a:ea typeface="+mn-ea"/>
          <a:cs typeface="+mn-cs"/>
        </a:defRPr>
      </a:lvl1pPr>
      <a:lvl2pPr marL="584154" marR="0" indent="-241281" algn="l" defTabSz="932667"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2pPr>
      <a:lvl3pPr marL="800036" marR="0" indent="-228582" algn="l" defTabSz="932667"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3pPr>
      <a:lvl4pPr marL="1028618" marR="0" indent="-228582" algn="l" defTabSz="932667"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800" kern="1200" spc="0" baseline="0">
          <a:gradFill>
            <a:gsLst>
              <a:gs pos="1250">
                <a:schemeClr val="tx1"/>
              </a:gs>
              <a:gs pos="100000">
                <a:schemeClr val="tx1"/>
              </a:gs>
            </a:gsLst>
            <a:lin ang="5400000" scaled="0"/>
          </a:gradFill>
          <a:latin typeface="+mn-lt"/>
          <a:ea typeface="+mn-ea"/>
          <a:cs typeface="+mn-cs"/>
        </a:defRPr>
      </a:lvl4pPr>
      <a:lvl5pPr marL="1257199" marR="0" indent="-228582" algn="l" defTabSz="932667"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800" kern="1200" spc="0" baseline="0">
          <a:gradFill>
            <a:gsLst>
              <a:gs pos="1250">
                <a:schemeClr val="tx1"/>
              </a:gs>
              <a:gs pos="100000">
                <a:schemeClr val="tx1"/>
              </a:gs>
            </a:gsLst>
            <a:lin ang="5400000" scaled="0"/>
          </a:gradFill>
          <a:latin typeface="+mn-lt"/>
          <a:ea typeface="+mn-ea"/>
          <a:cs typeface="+mn-cs"/>
        </a:defRPr>
      </a:lvl5pPr>
      <a:lvl6pPr marL="2564834" indent="-233167" algn="l" defTabSz="93266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170" indent="-233167" algn="l" defTabSz="93266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503" indent="-233167" algn="l" defTabSz="93266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838" indent="-233167" algn="l" defTabSz="93266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667" rtl="0" eaLnBrk="1" latinLnBrk="0" hangingPunct="1">
        <a:defRPr sz="1800" kern="1200">
          <a:solidFill>
            <a:schemeClr val="tx1"/>
          </a:solidFill>
          <a:latin typeface="+mn-lt"/>
          <a:ea typeface="+mn-ea"/>
          <a:cs typeface="+mn-cs"/>
        </a:defRPr>
      </a:lvl1pPr>
      <a:lvl2pPr marL="466334" algn="l" defTabSz="932667" rtl="0" eaLnBrk="1" latinLnBrk="0" hangingPunct="1">
        <a:defRPr sz="1800" kern="1200">
          <a:solidFill>
            <a:schemeClr val="tx1"/>
          </a:solidFill>
          <a:latin typeface="+mn-lt"/>
          <a:ea typeface="+mn-ea"/>
          <a:cs typeface="+mn-cs"/>
        </a:defRPr>
      </a:lvl2pPr>
      <a:lvl3pPr marL="932667" algn="l" defTabSz="932667" rtl="0" eaLnBrk="1" latinLnBrk="0" hangingPunct="1">
        <a:defRPr sz="1800" kern="1200">
          <a:solidFill>
            <a:schemeClr val="tx1"/>
          </a:solidFill>
          <a:latin typeface="+mn-lt"/>
          <a:ea typeface="+mn-ea"/>
          <a:cs typeface="+mn-cs"/>
        </a:defRPr>
      </a:lvl3pPr>
      <a:lvl4pPr marL="1399001" algn="l" defTabSz="932667" rtl="0" eaLnBrk="1" latinLnBrk="0" hangingPunct="1">
        <a:defRPr sz="1800" kern="1200">
          <a:solidFill>
            <a:schemeClr val="tx1"/>
          </a:solidFill>
          <a:latin typeface="+mn-lt"/>
          <a:ea typeface="+mn-ea"/>
          <a:cs typeface="+mn-cs"/>
        </a:defRPr>
      </a:lvl4pPr>
      <a:lvl5pPr marL="1865334" algn="l" defTabSz="932667" rtl="0" eaLnBrk="1" latinLnBrk="0" hangingPunct="1">
        <a:defRPr sz="1800" kern="1200">
          <a:solidFill>
            <a:schemeClr val="tx1"/>
          </a:solidFill>
          <a:latin typeface="+mn-lt"/>
          <a:ea typeface="+mn-ea"/>
          <a:cs typeface="+mn-cs"/>
        </a:defRPr>
      </a:lvl5pPr>
      <a:lvl6pPr marL="2331670" algn="l" defTabSz="932667" rtl="0" eaLnBrk="1" latinLnBrk="0" hangingPunct="1">
        <a:defRPr sz="1800" kern="1200">
          <a:solidFill>
            <a:schemeClr val="tx1"/>
          </a:solidFill>
          <a:latin typeface="+mn-lt"/>
          <a:ea typeface="+mn-ea"/>
          <a:cs typeface="+mn-cs"/>
        </a:defRPr>
      </a:lvl6pPr>
      <a:lvl7pPr marL="2798002" algn="l" defTabSz="932667" rtl="0" eaLnBrk="1" latinLnBrk="0" hangingPunct="1">
        <a:defRPr sz="1800" kern="1200">
          <a:solidFill>
            <a:schemeClr val="tx1"/>
          </a:solidFill>
          <a:latin typeface="+mn-lt"/>
          <a:ea typeface="+mn-ea"/>
          <a:cs typeface="+mn-cs"/>
        </a:defRPr>
      </a:lvl7pPr>
      <a:lvl8pPr marL="3264336" algn="l" defTabSz="932667" rtl="0" eaLnBrk="1" latinLnBrk="0" hangingPunct="1">
        <a:defRPr sz="1800" kern="1200">
          <a:solidFill>
            <a:schemeClr val="tx1"/>
          </a:solidFill>
          <a:latin typeface="+mn-lt"/>
          <a:ea typeface="+mn-ea"/>
          <a:cs typeface="+mn-cs"/>
        </a:defRPr>
      </a:lvl8pPr>
      <a:lvl9pPr marL="3730670" algn="l" defTabSz="93266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3.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3.xml"/><Relationship Id="rId6" Type="http://schemas.openxmlformats.org/officeDocument/2006/relationships/image" Target="../media/image21.png"/><Relationship Id="rId5" Type="http://schemas.openxmlformats.org/officeDocument/2006/relationships/image" Target="../media/image20.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6.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53.xml"/><Relationship Id="rId5" Type="http://schemas.openxmlformats.org/officeDocument/2006/relationships/image" Target="../media/image23.png"/><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53.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2.wdp"/></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3.xml"/><Relationship Id="rId5" Type="http://schemas.openxmlformats.org/officeDocument/2006/relationships/image" Target="../media/image20.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6.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1.xml"/><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3.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0.png"/><Relationship Id="rId1" Type="http://schemas.openxmlformats.org/officeDocument/2006/relationships/slideLayout" Target="../slideLayouts/slideLayout57.xml"/><Relationship Id="rId6" Type="http://schemas.openxmlformats.org/officeDocument/2006/relationships/hyperlink" Target="http://www.github.com/microsoft/dotnet" TargetMode="External"/><Relationship Id="rId5" Type="http://schemas.openxmlformats.org/officeDocument/2006/relationships/image" Target="../media/image20.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5.xml"/><Relationship Id="rId4" Type="http://schemas.microsoft.com/office/2007/relationships/hdphoto" Target="../media/hdphoto3.wd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5.xml"/><Relationship Id="rId4" Type="http://schemas.microsoft.com/office/2007/relationships/hdphoto" Target="../media/hdphoto3.wdp"/></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3.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aspnet/home" TargetMode="External"/><Relationship Id="rId2" Type="http://schemas.openxmlformats.org/officeDocument/2006/relationships/hyperlink" Target="http://www.asp.net/vnext" TargetMode="External"/><Relationship Id="rId1" Type="http://schemas.openxmlformats.org/officeDocument/2006/relationships/slideLayout" Target="../slideLayouts/slideLayout18.xml"/><Relationship Id="rId4" Type="http://schemas.openxmlformats.org/officeDocument/2006/relationships/hyperlink" Target="http://docs.asp.net/"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03237" y="5326062"/>
            <a:ext cx="6829755" cy="1369606"/>
          </a:xfrm>
          <a:prstGeom prst="rect">
            <a:avLst/>
          </a:prstGeom>
          <a:noFill/>
        </p:spPr>
        <p:txBody>
          <a:bodyPr wrap="none" lIns="182880" tIns="146304" rIns="182880" bIns="146304" rtlCol="0">
            <a:spAutoFit/>
          </a:bodyPr>
          <a:lstStyle/>
          <a:p>
            <a:pPr>
              <a:lnSpc>
                <a:spcPct val="90000"/>
              </a:lnSpc>
              <a:spcAft>
                <a:spcPts val="600"/>
              </a:spcAft>
            </a:pPr>
            <a:r>
              <a:rPr lang="en-US" sz="3600" dirty="0" smtClean="0">
                <a:solidFill>
                  <a:srgbClr val="56B846"/>
                </a:solidFill>
              </a:rPr>
              <a:t>ASP.NET 5 Workshop</a:t>
            </a:r>
          </a:p>
          <a:p>
            <a:pPr>
              <a:lnSpc>
                <a:spcPct val="90000"/>
              </a:lnSpc>
              <a:spcAft>
                <a:spcPts val="600"/>
              </a:spcAft>
            </a:pPr>
            <a:r>
              <a:rPr lang="en-US" sz="3600" dirty="0" smtClean="0">
                <a:solidFill>
                  <a:srgbClr val="56B846"/>
                </a:solidFill>
              </a:rPr>
              <a:t>Damian Edwards / David Fowler</a:t>
            </a:r>
          </a:p>
        </p:txBody>
      </p:sp>
      <p:sp>
        <p:nvSpPr>
          <p:cNvPr id="2" name="TextBox 1"/>
          <p:cNvSpPr txBox="1"/>
          <p:nvPr/>
        </p:nvSpPr>
        <p:spPr>
          <a:xfrm>
            <a:off x="2408237" y="373062"/>
            <a:ext cx="9601200" cy="1403461"/>
          </a:xfrm>
          <a:prstGeom prst="rect">
            <a:avLst/>
          </a:prstGeom>
          <a:noFill/>
        </p:spPr>
        <p:txBody>
          <a:bodyPr wrap="square" lIns="182880" tIns="146304" rIns="182880" bIns="146304" rtlCol="0">
            <a:spAutoFit/>
          </a:bodyPr>
          <a:lstStyle/>
          <a:p>
            <a:pPr algn="r">
              <a:lnSpc>
                <a:spcPct val="90000"/>
              </a:lnSpc>
              <a:spcAft>
                <a:spcPts val="600"/>
              </a:spcAft>
            </a:pPr>
            <a:r>
              <a:rPr lang="en-US" sz="8000" b="1" dirty="0" smtClean="0">
                <a:gradFill>
                  <a:gsLst>
                    <a:gs pos="2917">
                      <a:schemeClr val="tx1"/>
                    </a:gs>
                    <a:gs pos="30000">
                      <a:schemeClr val="tx1"/>
                    </a:gs>
                  </a:gsLst>
                  <a:lin ang="5400000" scaled="0"/>
                </a:gradFill>
              </a:rPr>
              <a:t>NDC</a:t>
            </a:r>
            <a:r>
              <a:rPr lang="en-US" sz="8000" dirty="0" smtClean="0">
                <a:gradFill>
                  <a:gsLst>
                    <a:gs pos="2917">
                      <a:schemeClr val="tx1"/>
                    </a:gs>
                    <a:gs pos="30000">
                      <a:schemeClr val="tx1"/>
                    </a:gs>
                  </a:gsLst>
                  <a:lin ang="5400000" scaled="0"/>
                </a:gradFill>
              </a:rPr>
              <a:t> { London }</a:t>
            </a:r>
          </a:p>
        </p:txBody>
      </p:sp>
    </p:spTree>
    <p:extLst>
      <p:ext uri="{BB962C8B-B14F-4D97-AF65-F5344CB8AC3E}">
        <p14:creationId xmlns:p14="http://schemas.microsoft.com/office/powerpoint/2010/main" val="2157461947"/>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3803770"/>
              </p:ext>
            </p:extLst>
          </p:nvPr>
        </p:nvGraphicFramePr>
        <p:xfrm>
          <a:off x="655637" y="1017059"/>
          <a:ext cx="10972800" cy="5697339"/>
        </p:xfrm>
        <a:graphic>
          <a:graphicData uri="http://schemas.openxmlformats.org/drawingml/2006/table">
            <a:tbl>
              <a:tblPr firstRow="1">
                <a:tableStyleId>{9DCAF9ED-07DC-4A11-8D7F-57B35C25682E}</a:tableStyleId>
              </a:tblPr>
              <a:tblGrid>
                <a:gridCol w="10972800">
                  <a:extLst>
                    <a:ext uri="{9D8B030D-6E8A-4147-A177-3AD203B41FA5}">
                      <a16:colId xmlns:a16="http://schemas.microsoft.com/office/drawing/2014/main" val="20000"/>
                    </a:ext>
                  </a:extLst>
                </a:gridCol>
              </a:tblGrid>
              <a:tr h="396084">
                <a:tc>
                  <a:txBody>
                    <a:bodyPr/>
                    <a:lstStyle/>
                    <a:p>
                      <a:pPr marL="0" marR="0" fontAlgn="t">
                        <a:spcBef>
                          <a:spcPts val="0"/>
                        </a:spcBef>
                        <a:spcAft>
                          <a:spcPts val="0"/>
                        </a:spcAft>
                      </a:pPr>
                      <a:r>
                        <a:rPr lang="en-US" sz="2800" dirty="0" smtClean="0">
                          <a:effectLst/>
                        </a:rPr>
                        <a:t>Day 1</a:t>
                      </a:r>
                      <a:endParaRPr lang="en-US" sz="2800" dirty="0">
                        <a:solidFill>
                          <a:srgbClr val="000000"/>
                        </a:solidFill>
                        <a:effectLst/>
                        <a:latin typeface="Calibri" panose="020F0502020204030204" pitchFamily="34" charset="0"/>
                      </a:endParaRPr>
                    </a:p>
                  </a:txBody>
                  <a:tcPr marL="27494" marR="27494" marT="27494" marB="27494">
                    <a:solidFill>
                      <a:srgbClr val="56B846"/>
                    </a:solidFill>
                  </a:tcPr>
                </a:tc>
                <a:extLst>
                  <a:ext uri="{0D108BD9-81ED-4DB2-BD59-A6C34878D82A}">
                    <a16:rowId xmlns:a16="http://schemas.microsoft.com/office/drawing/2014/main" val="10000"/>
                  </a:ext>
                </a:extLst>
              </a:tr>
              <a:tr h="585094">
                <a:tc>
                  <a:txBody>
                    <a:bodyPr/>
                    <a:lstStyle/>
                    <a:p>
                      <a:pPr marL="0" marR="0" fontAlgn="t">
                        <a:spcBef>
                          <a:spcPts val="0"/>
                        </a:spcBef>
                        <a:spcAft>
                          <a:spcPts val="0"/>
                        </a:spcAft>
                      </a:pPr>
                      <a:r>
                        <a:rPr lang="en-US" sz="2400" dirty="0">
                          <a:effectLst/>
                        </a:rPr>
                        <a:t>ASP.NET 5 What and Why</a:t>
                      </a:r>
                      <a:endParaRPr lang="en-US" sz="2400" dirty="0">
                        <a:solidFill>
                          <a:srgbClr val="000000"/>
                        </a:solidFill>
                        <a:effectLst/>
                        <a:latin typeface="Calibri" panose="020F0502020204030204" pitchFamily="34" charset="0"/>
                      </a:endParaRPr>
                    </a:p>
                  </a:txBody>
                  <a:tcPr/>
                </a:tc>
                <a:extLst>
                  <a:ext uri="{0D108BD9-81ED-4DB2-BD59-A6C34878D82A}">
                    <a16:rowId xmlns:a16="http://schemas.microsoft.com/office/drawing/2014/main" val="10001"/>
                  </a:ext>
                </a:extLst>
              </a:tr>
              <a:tr h="457200">
                <a:tc>
                  <a:txBody>
                    <a:bodyPr/>
                    <a:lstStyle/>
                    <a:p>
                      <a:pPr marL="0" marR="0" fontAlgn="t">
                        <a:spcBef>
                          <a:spcPts val="0"/>
                        </a:spcBef>
                        <a:spcAft>
                          <a:spcPts val="0"/>
                        </a:spcAft>
                      </a:pPr>
                      <a:r>
                        <a:rPr lang="en-US" sz="2400" kern="1200" dirty="0" smtClean="0">
                          <a:solidFill>
                            <a:schemeClr val="bg1"/>
                          </a:solidFill>
                          <a:effectLst/>
                          <a:latin typeface="+mn-lt"/>
                          <a:ea typeface="+mn-ea"/>
                          <a:cs typeface="+mn-cs"/>
                        </a:rPr>
                        <a:t>Lab</a:t>
                      </a:r>
                      <a:endParaRPr lang="en-US" sz="2400" kern="1200" dirty="0">
                        <a:solidFill>
                          <a:schemeClr val="bg1"/>
                        </a:solidFill>
                        <a:effectLst/>
                        <a:latin typeface="+mn-lt"/>
                        <a:ea typeface="+mn-ea"/>
                        <a:cs typeface="+mn-cs"/>
                      </a:endParaRPr>
                    </a:p>
                  </a:txBody>
                  <a:tcPr marL="27494" marR="27494" marT="27494" marB="27494">
                    <a:solidFill>
                      <a:srgbClr val="9ED795"/>
                    </a:solidFill>
                  </a:tcPr>
                </a:tc>
                <a:extLst>
                  <a:ext uri="{0D108BD9-81ED-4DB2-BD59-A6C34878D82A}">
                    <a16:rowId xmlns:a16="http://schemas.microsoft.com/office/drawing/2014/main" val="1546960720"/>
                  </a:ext>
                </a:extLst>
              </a:tr>
              <a:tr h="585216">
                <a:tc>
                  <a:txBody>
                    <a:bodyPr/>
                    <a:lstStyle/>
                    <a:p>
                      <a:pPr marL="0" marR="0" fontAlgn="t">
                        <a:spcBef>
                          <a:spcPts val="0"/>
                        </a:spcBef>
                        <a:spcAft>
                          <a:spcPts val="0"/>
                        </a:spcAft>
                      </a:pPr>
                      <a:r>
                        <a:rPr lang="en-US" sz="2400" dirty="0" smtClean="0">
                          <a:solidFill>
                            <a:schemeClr val="dk1"/>
                          </a:solidFill>
                          <a:effectLst/>
                          <a:latin typeface="+mn-lt"/>
                        </a:rPr>
                        <a:t>Introduction</a:t>
                      </a:r>
                      <a:r>
                        <a:rPr lang="en-US" sz="2400" baseline="0" dirty="0" smtClean="0">
                          <a:solidFill>
                            <a:schemeClr val="dk1"/>
                          </a:solidFill>
                          <a:effectLst/>
                          <a:latin typeface="+mn-lt"/>
                        </a:rPr>
                        <a:t> to ASP.NET 5</a:t>
                      </a:r>
                      <a:endParaRPr lang="en-US" sz="2400" dirty="0">
                        <a:solidFill>
                          <a:srgbClr val="000000"/>
                        </a:solidFill>
                        <a:effectLst/>
                        <a:latin typeface="Calibri" panose="020F0502020204030204" pitchFamily="34" charset="0"/>
                      </a:endParaRPr>
                    </a:p>
                  </a:txBody>
                  <a:tcPr marL="27494" marR="27494" marT="27494" marB="27494"/>
                </a:tc>
                <a:extLst>
                  <a:ext uri="{0D108BD9-81ED-4DB2-BD59-A6C34878D82A}">
                    <a16:rowId xmlns:a16="http://schemas.microsoft.com/office/drawing/2014/main" val="10002"/>
                  </a:ext>
                </a:extLst>
              </a:tr>
              <a:tr h="457200">
                <a:tc>
                  <a:txBody>
                    <a:bodyPr/>
                    <a:lstStyle/>
                    <a:p>
                      <a:pPr marL="0" marR="0" fontAlgn="t">
                        <a:spcBef>
                          <a:spcPts val="0"/>
                        </a:spcBef>
                        <a:spcAft>
                          <a:spcPts val="0"/>
                        </a:spcAft>
                      </a:pPr>
                      <a:r>
                        <a:rPr lang="en-US" sz="2400" dirty="0">
                          <a:solidFill>
                            <a:schemeClr val="bg1"/>
                          </a:solidFill>
                          <a:effectLst/>
                        </a:rPr>
                        <a:t>Lab</a:t>
                      </a:r>
                      <a:endParaRPr lang="en-US" sz="2400" dirty="0">
                        <a:solidFill>
                          <a:schemeClr val="bg1"/>
                        </a:solidFill>
                        <a:effectLst/>
                        <a:latin typeface="Calibri" panose="020F0502020204030204" pitchFamily="34" charset="0"/>
                      </a:endParaRPr>
                    </a:p>
                  </a:txBody>
                  <a:tcPr marL="27494" marR="27494" marT="27494" marB="27494">
                    <a:solidFill>
                      <a:srgbClr val="9ED795"/>
                    </a:solidFill>
                  </a:tcPr>
                </a:tc>
                <a:extLst>
                  <a:ext uri="{0D108BD9-81ED-4DB2-BD59-A6C34878D82A}">
                    <a16:rowId xmlns:a16="http://schemas.microsoft.com/office/drawing/2014/main" val="10003"/>
                  </a:ext>
                </a:extLst>
              </a:tr>
              <a:tr h="585094">
                <a:tc>
                  <a:txBody>
                    <a:bodyPr/>
                    <a:lstStyle/>
                    <a:p>
                      <a:pPr marL="0" marR="0" fontAlgn="t">
                        <a:spcBef>
                          <a:spcPts val="0"/>
                        </a:spcBef>
                        <a:spcAft>
                          <a:spcPts val="0"/>
                        </a:spcAft>
                      </a:pPr>
                      <a:r>
                        <a:rPr lang="en-US" sz="2400" dirty="0" smtClean="0">
                          <a:effectLst/>
                        </a:rPr>
                        <a:t>Introduction</a:t>
                      </a:r>
                      <a:r>
                        <a:rPr lang="en-US" sz="2400" baseline="0" dirty="0" smtClean="0">
                          <a:effectLst/>
                        </a:rPr>
                        <a:t> to Routing &amp; MVC</a:t>
                      </a:r>
                      <a:endParaRPr lang="en-US" sz="2400" dirty="0">
                        <a:solidFill>
                          <a:srgbClr val="000000"/>
                        </a:solidFill>
                        <a:effectLst/>
                        <a:latin typeface="Calibri" panose="020F0502020204030204" pitchFamily="34" charset="0"/>
                      </a:endParaRPr>
                    </a:p>
                  </a:txBody>
                  <a:tcPr marL="27494" marR="27494" marT="27494" marB="27494"/>
                </a:tc>
                <a:extLst>
                  <a:ext uri="{0D108BD9-81ED-4DB2-BD59-A6C34878D82A}">
                    <a16:rowId xmlns:a16="http://schemas.microsoft.com/office/drawing/2014/main" val="10004"/>
                  </a:ext>
                </a:extLst>
              </a:tr>
              <a:tr h="461117">
                <a:tc>
                  <a:txBody>
                    <a:bodyPr/>
                    <a:lstStyle/>
                    <a:p>
                      <a:pPr marL="0" marR="0" fontAlgn="t">
                        <a:spcBef>
                          <a:spcPts val="0"/>
                        </a:spcBef>
                        <a:spcAft>
                          <a:spcPts val="0"/>
                        </a:spcAft>
                      </a:pPr>
                      <a:r>
                        <a:rPr lang="en-US" sz="2400" kern="1200" dirty="0" smtClean="0">
                          <a:solidFill>
                            <a:schemeClr val="bg1"/>
                          </a:solidFill>
                          <a:effectLst/>
                          <a:latin typeface="+mn-lt"/>
                          <a:ea typeface="+mn-ea"/>
                          <a:cs typeface="+mn-cs"/>
                        </a:rPr>
                        <a:t>Lab</a:t>
                      </a:r>
                      <a:endParaRPr lang="en-US" sz="2400" kern="1200" dirty="0">
                        <a:solidFill>
                          <a:schemeClr val="bg1"/>
                        </a:solidFill>
                        <a:effectLst/>
                        <a:latin typeface="+mn-lt"/>
                        <a:ea typeface="+mn-ea"/>
                        <a:cs typeface="+mn-cs"/>
                      </a:endParaRPr>
                    </a:p>
                  </a:txBody>
                  <a:tcPr marL="27494" marR="27494" marT="27494" marB="27494">
                    <a:solidFill>
                      <a:srgbClr val="9ED795"/>
                    </a:solidFill>
                  </a:tcPr>
                </a:tc>
                <a:extLst>
                  <a:ext uri="{0D108BD9-81ED-4DB2-BD59-A6C34878D82A}">
                    <a16:rowId xmlns:a16="http://schemas.microsoft.com/office/drawing/2014/main" val="10005"/>
                  </a:ext>
                </a:extLst>
              </a:tr>
              <a:tr h="585094">
                <a:tc>
                  <a:txBody>
                    <a:bodyPr/>
                    <a:lstStyle/>
                    <a:p>
                      <a:pPr marL="0" marR="0" fontAlgn="t">
                        <a:spcBef>
                          <a:spcPts val="0"/>
                        </a:spcBef>
                        <a:spcAft>
                          <a:spcPts val="0"/>
                        </a:spcAft>
                      </a:pPr>
                      <a:r>
                        <a:rPr lang="en-US" sz="2400" dirty="0" smtClean="0">
                          <a:effectLst/>
                        </a:rPr>
                        <a:t>Logging &amp; Error Handling</a:t>
                      </a:r>
                      <a:endParaRPr lang="en-US" sz="2400" dirty="0">
                        <a:solidFill>
                          <a:srgbClr val="000000"/>
                        </a:solidFill>
                        <a:effectLst/>
                        <a:latin typeface="Calibri" panose="020F0502020204030204" pitchFamily="34" charset="0"/>
                      </a:endParaRPr>
                    </a:p>
                  </a:txBody>
                  <a:tcPr marL="27494" marR="27494" marT="27494" marB="27494"/>
                </a:tc>
                <a:extLst>
                  <a:ext uri="{0D108BD9-81ED-4DB2-BD59-A6C34878D82A}">
                    <a16:rowId xmlns:a16="http://schemas.microsoft.com/office/drawing/2014/main" val="10007"/>
                  </a:ext>
                </a:extLst>
              </a:tr>
              <a:tr h="457200">
                <a:tc>
                  <a:txBody>
                    <a:bodyPr/>
                    <a:lstStyle/>
                    <a:p>
                      <a:pPr marL="0" marR="0" fontAlgn="t">
                        <a:spcBef>
                          <a:spcPts val="0"/>
                        </a:spcBef>
                        <a:spcAft>
                          <a:spcPts val="0"/>
                        </a:spcAft>
                      </a:pPr>
                      <a:r>
                        <a:rPr lang="en-US" sz="2400" dirty="0">
                          <a:solidFill>
                            <a:schemeClr val="bg1"/>
                          </a:solidFill>
                          <a:effectLst/>
                        </a:rPr>
                        <a:t>Lab</a:t>
                      </a:r>
                      <a:endParaRPr lang="en-US" sz="2400" dirty="0">
                        <a:solidFill>
                          <a:schemeClr val="bg1"/>
                        </a:solidFill>
                        <a:effectLst/>
                        <a:latin typeface="Calibri" panose="020F0502020204030204" pitchFamily="34" charset="0"/>
                      </a:endParaRPr>
                    </a:p>
                  </a:txBody>
                  <a:tcPr marL="27494" marR="27494" marT="27494" marB="27494">
                    <a:solidFill>
                      <a:srgbClr val="9ED795"/>
                    </a:solidFill>
                  </a:tcPr>
                </a:tc>
                <a:extLst>
                  <a:ext uri="{0D108BD9-81ED-4DB2-BD59-A6C34878D82A}">
                    <a16:rowId xmlns:a16="http://schemas.microsoft.com/office/drawing/2014/main" val="10008"/>
                  </a:ext>
                </a:extLst>
              </a:tr>
              <a:tr h="585216">
                <a:tc>
                  <a:txBody>
                    <a:bodyPr/>
                    <a:lstStyle/>
                    <a:p>
                      <a:pPr marL="0" marR="0" fontAlgn="t">
                        <a:spcBef>
                          <a:spcPts val="0"/>
                        </a:spcBef>
                        <a:spcAft>
                          <a:spcPts val="0"/>
                        </a:spcAft>
                      </a:pPr>
                      <a:r>
                        <a:rPr lang="en-US" sz="2400" dirty="0">
                          <a:effectLst/>
                        </a:rPr>
                        <a:t>Dependency Injection and Unit Testing</a:t>
                      </a:r>
                      <a:endParaRPr lang="en-US" sz="2400" dirty="0">
                        <a:solidFill>
                          <a:srgbClr val="000000"/>
                        </a:solidFill>
                        <a:effectLst/>
                        <a:latin typeface="Calibri" panose="020F0502020204030204" pitchFamily="34" charset="0"/>
                      </a:endParaRPr>
                    </a:p>
                  </a:txBody>
                  <a:tcPr marL="27494" marR="27494" marT="27494" marB="27494"/>
                </a:tc>
                <a:extLst>
                  <a:ext uri="{0D108BD9-81ED-4DB2-BD59-A6C34878D82A}">
                    <a16:rowId xmlns:a16="http://schemas.microsoft.com/office/drawing/2014/main" val="10009"/>
                  </a:ext>
                </a:extLst>
              </a:tr>
              <a:tr h="457200">
                <a:tc>
                  <a:txBody>
                    <a:bodyPr/>
                    <a:lstStyle/>
                    <a:p>
                      <a:pPr marL="0" marR="0" fontAlgn="t">
                        <a:spcBef>
                          <a:spcPts val="0"/>
                        </a:spcBef>
                        <a:spcAft>
                          <a:spcPts val="0"/>
                        </a:spcAft>
                      </a:pPr>
                      <a:r>
                        <a:rPr lang="en-US" sz="2400" kern="1200" dirty="0" smtClean="0">
                          <a:solidFill>
                            <a:schemeClr val="bg1"/>
                          </a:solidFill>
                          <a:effectLst/>
                          <a:latin typeface="+mn-lt"/>
                          <a:ea typeface="+mn-ea"/>
                          <a:cs typeface="+mn-cs"/>
                        </a:rPr>
                        <a:t>Lab</a:t>
                      </a:r>
                      <a:endParaRPr lang="en-US" sz="2400" kern="1200" dirty="0">
                        <a:solidFill>
                          <a:schemeClr val="bg1"/>
                        </a:solidFill>
                        <a:effectLst/>
                        <a:latin typeface="+mn-lt"/>
                        <a:ea typeface="+mn-ea"/>
                        <a:cs typeface="+mn-cs"/>
                      </a:endParaRPr>
                    </a:p>
                  </a:txBody>
                  <a:tcPr marL="27494" marR="27494" marT="27494" marB="27494">
                    <a:solidFill>
                      <a:srgbClr val="9ED795"/>
                    </a:solidFill>
                  </a:tcPr>
                </a:tc>
                <a:extLst>
                  <a:ext uri="{0D108BD9-81ED-4DB2-BD59-A6C34878D82A}">
                    <a16:rowId xmlns:a16="http://schemas.microsoft.com/office/drawing/2014/main" val="2717545506"/>
                  </a:ext>
                </a:extLst>
              </a:tr>
            </a:tbl>
          </a:graphicData>
        </a:graphic>
      </p:graphicFrame>
      <p:sp>
        <p:nvSpPr>
          <p:cNvPr id="3" name="TextBox 2"/>
          <p:cNvSpPr txBox="1"/>
          <p:nvPr/>
        </p:nvSpPr>
        <p:spPr>
          <a:xfrm>
            <a:off x="468311" y="144462"/>
            <a:ext cx="2121415" cy="849463"/>
          </a:xfrm>
          <a:prstGeom prst="rect">
            <a:avLst/>
          </a:prstGeom>
          <a:noFill/>
        </p:spPr>
        <p:txBody>
          <a:bodyPr wrap="none" lIns="182880" tIns="146304" rIns="182880" bIns="146304" rtlCol="0">
            <a:spAutoFit/>
          </a:bodyPr>
          <a:lstStyle/>
          <a:p>
            <a:pPr>
              <a:lnSpc>
                <a:spcPct val="90000"/>
              </a:lnSpc>
              <a:spcAft>
                <a:spcPts val="600"/>
              </a:spcAft>
            </a:pPr>
            <a:r>
              <a:rPr lang="en-US" sz="4000" dirty="0" smtClean="0">
                <a:solidFill>
                  <a:srgbClr val="56B846"/>
                </a:solidFill>
              </a:rPr>
              <a:t>Agenda</a:t>
            </a:r>
          </a:p>
        </p:txBody>
      </p:sp>
    </p:spTree>
    <p:extLst>
      <p:ext uri="{BB962C8B-B14F-4D97-AF65-F5344CB8AC3E}">
        <p14:creationId xmlns:p14="http://schemas.microsoft.com/office/powerpoint/2010/main" val="469960503"/>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68311" y="144462"/>
            <a:ext cx="2121415" cy="849463"/>
          </a:xfrm>
          <a:prstGeom prst="rect">
            <a:avLst/>
          </a:prstGeom>
          <a:noFill/>
        </p:spPr>
        <p:txBody>
          <a:bodyPr wrap="none" lIns="182880" tIns="146304" rIns="182880" bIns="146304" rtlCol="0">
            <a:spAutoFit/>
          </a:bodyPr>
          <a:lstStyle/>
          <a:p>
            <a:pPr>
              <a:lnSpc>
                <a:spcPct val="90000"/>
              </a:lnSpc>
              <a:spcAft>
                <a:spcPts val="600"/>
              </a:spcAft>
            </a:pPr>
            <a:r>
              <a:rPr lang="en-US" sz="4000" dirty="0" smtClean="0">
                <a:solidFill>
                  <a:srgbClr val="56B846"/>
                </a:solidFill>
              </a:rPr>
              <a:t>Agenda</a:t>
            </a:r>
          </a:p>
        </p:txBody>
      </p:sp>
      <p:graphicFrame>
        <p:nvGraphicFramePr>
          <p:cNvPr id="5" name="Table 4"/>
          <p:cNvGraphicFramePr>
            <a:graphicFrameLocks noGrp="1"/>
          </p:cNvGraphicFramePr>
          <p:nvPr>
            <p:extLst>
              <p:ext uri="{D42A27DB-BD31-4B8C-83A1-F6EECF244321}">
                <p14:modId xmlns:p14="http://schemas.microsoft.com/office/powerpoint/2010/main" val="3405778002"/>
              </p:ext>
            </p:extLst>
          </p:nvPr>
        </p:nvGraphicFramePr>
        <p:xfrm>
          <a:off x="655637" y="1017059"/>
          <a:ext cx="10972800" cy="5697339"/>
        </p:xfrm>
        <a:graphic>
          <a:graphicData uri="http://schemas.openxmlformats.org/drawingml/2006/table">
            <a:tbl>
              <a:tblPr firstRow="1">
                <a:tableStyleId>{9DCAF9ED-07DC-4A11-8D7F-57B35C25682E}</a:tableStyleId>
              </a:tblPr>
              <a:tblGrid>
                <a:gridCol w="10972800">
                  <a:extLst>
                    <a:ext uri="{9D8B030D-6E8A-4147-A177-3AD203B41FA5}">
                      <a16:colId xmlns:a16="http://schemas.microsoft.com/office/drawing/2014/main" val="20000"/>
                    </a:ext>
                  </a:extLst>
                </a:gridCol>
              </a:tblGrid>
              <a:tr h="396084">
                <a:tc>
                  <a:txBody>
                    <a:bodyPr/>
                    <a:lstStyle/>
                    <a:p>
                      <a:pPr marL="0" marR="0" fontAlgn="t">
                        <a:spcBef>
                          <a:spcPts val="0"/>
                        </a:spcBef>
                        <a:spcAft>
                          <a:spcPts val="0"/>
                        </a:spcAft>
                      </a:pPr>
                      <a:r>
                        <a:rPr lang="en-US" sz="2800" dirty="0" smtClean="0">
                          <a:effectLst/>
                        </a:rPr>
                        <a:t>Day 2</a:t>
                      </a:r>
                      <a:endParaRPr lang="en-US" sz="2800" dirty="0">
                        <a:solidFill>
                          <a:srgbClr val="000000"/>
                        </a:solidFill>
                        <a:effectLst/>
                        <a:latin typeface="Calibri" panose="020F0502020204030204" pitchFamily="34" charset="0"/>
                      </a:endParaRPr>
                    </a:p>
                  </a:txBody>
                  <a:tcPr marL="27494" marR="27494" marT="27494" marB="27494">
                    <a:solidFill>
                      <a:srgbClr val="56B846"/>
                    </a:solidFill>
                  </a:tcPr>
                </a:tc>
                <a:extLst>
                  <a:ext uri="{0D108BD9-81ED-4DB2-BD59-A6C34878D82A}">
                    <a16:rowId xmlns:a16="http://schemas.microsoft.com/office/drawing/2014/main" val="10000"/>
                  </a:ext>
                </a:extLst>
              </a:tr>
              <a:tr h="585094">
                <a:tc>
                  <a:txBody>
                    <a:bodyPr/>
                    <a:lstStyle/>
                    <a:p>
                      <a:pPr marL="0" marR="0" fontAlgn="t">
                        <a:spcBef>
                          <a:spcPts val="0"/>
                        </a:spcBef>
                        <a:spcAft>
                          <a:spcPts val="0"/>
                        </a:spcAft>
                      </a:pPr>
                      <a:r>
                        <a:rPr lang="en-US" sz="2400" dirty="0" smtClean="0">
                          <a:effectLst/>
                        </a:rPr>
                        <a:t>Authorization</a:t>
                      </a:r>
                      <a:endParaRPr lang="en-US" sz="2400" dirty="0">
                        <a:solidFill>
                          <a:srgbClr val="000000"/>
                        </a:solidFill>
                        <a:effectLst/>
                        <a:latin typeface="Calibri" panose="020F0502020204030204" pitchFamily="34" charset="0"/>
                      </a:endParaRPr>
                    </a:p>
                  </a:txBody>
                  <a:tcPr/>
                </a:tc>
                <a:extLst>
                  <a:ext uri="{0D108BD9-81ED-4DB2-BD59-A6C34878D82A}">
                    <a16:rowId xmlns:a16="http://schemas.microsoft.com/office/drawing/2014/main" val="10001"/>
                  </a:ext>
                </a:extLst>
              </a:tr>
              <a:tr h="457200">
                <a:tc>
                  <a:txBody>
                    <a:bodyPr/>
                    <a:lstStyle/>
                    <a:p>
                      <a:pPr marL="0" marR="0" fontAlgn="t">
                        <a:spcBef>
                          <a:spcPts val="0"/>
                        </a:spcBef>
                        <a:spcAft>
                          <a:spcPts val="0"/>
                        </a:spcAft>
                      </a:pPr>
                      <a:r>
                        <a:rPr lang="en-US" sz="2400" kern="1200" dirty="0" smtClean="0">
                          <a:solidFill>
                            <a:schemeClr val="bg1"/>
                          </a:solidFill>
                          <a:effectLst/>
                          <a:latin typeface="+mn-lt"/>
                          <a:ea typeface="+mn-ea"/>
                          <a:cs typeface="+mn-cs"/>
                        </a:rPr>
                        <a:t>Lab</a:t>
                      </a:r>
                      <a:endParaRPr lang="en-US" sz="2400" kern="1200" dirty="0">
                        <a:solidFill>
                          <a:schemeClr val="bg1"/>
                        </a:solidFill>
                        <a:effectLst/>
                        <a:latin typeface="+mn-lt"/>
                        <a:ea typeface="+mn-ea"/>
                        <a:cs typeface="+mn-cs"/>
                      </a:endParaRPr>
                    </a:p>
                  </a:txBody>
                  <a:tcPr marL="27494" marR="27494" marT="27494" marB="27494">
                    <a:solidFill>
                      <a:srgbClr val="9ED795"/>
                    </a:solidFill>
                  </a:tcPr>
                </a:tc>
                <a:extLst>
                  <a:ext uri="{0D108BD9-81ED-4DB2-BD59-A6C34878D82A}">
                    <a16:rowId xmlns:a16="http://schemas.microsoft.com/office/drawing/2014/main" val="1546960720"/>
                  </a:ext>
                </a:extLst>
              </a:tr>
              <a:tr h="585216">
                <a:tc>
                  <a:txBody>
                    <a:bodyPr/>
                    <a:lstStyle/>
                    <a:p>
                      <a:pPr marL="0" marR="0" fontAlgn="t">
                        <a:spcBef>
                          <a:spcPts val="0"/>
                        </a:spcBef>
                        <a:spcAft>
                          <a:spcPts val="0"/>
                        </a:spcAft>
                      </a:pPr>
                      <a:r>
                        <a:rPr lang="en-US" sz="2400" dirty="0" smtClean="0">
                          <a:solidFill>
                            <a:schemeClr val="dk1"/>
                          </a:solidFill>
                          <a:effectLst/>
                          <a:latin typeface="+mn-lt"/>
                        </a:rPr>
                        <a:t>Razor &amp; Tag Helpers</a:t>
                      </a:r>
                      <a:endParaRPr lang="en-US" sz="2400" dirty="0">
                        <a:solidFill>
                          <a:srgbClr val="000000"/>
                        </a:solidFill>
                        <a:effectLst/>
                        <a:latin typeface="Calibri" panose="020F0502020204030204" pitchFamily="34" charset="0"/>
                      </a:endParaRPr>
                    </a:p>
                  </a:txBody>
                  <a:tcPr marL="27494" marR="27494" marT="27494" marB="27494"/>
                </a:tc>
                <a:extLst>
                  <a:ext uri="{0D108BD9-81ED-4DB2-BD59-A6C34878D82A}">
                    <a16:rowId xmlns:a16="http://schemas.microsoft.com/office/drawing/2014/main" val="10002"/>
                  </a:ext>
                </a:extLst>
              </a:tr>
              <a:tr h="457200">
                <a:tc>
                  <a:txBody>
                    <a:bodyPr/>
                    <a:lstStyle/>
                    <a:p>
                      <a:pPr marL="0" marR="0" fontAlgn="t">
                        <a:spcBef>
                          <a:spcPts val="0"/>
                        </a:spcBef>
                        <a:spcAft>
                          <a:spcPts val="0"/>
                        </a:spcAft>
                      </a:pPr>
                      <a:r>
                        <a:rPr lang="en-US" sz="2400" dirty="0">
                          <a:solidFill>
                            <a:schemeClr val="bg1"/>
                          </a:solidFill>
                          <a:effectLst/>
                        </a:rPr>
                        <a:t>Lab</a:t>
                      </a:r>
                      <a:endParaRPr lang="en-US" sz="2400" dirty="0">
                        <a:solidFill>
                          <a:schemeClr val="bg1"/>
                        </a:solidFill>
                        <a:effectLst/>
                        <a:latin typeface="Calibri" panose="020F0502020204030204" pitchFamily="34" charset="0"/>
                      </a:endParaRPr>
                    </a:p>
                  </a:txBody>
                  <a:tcPr marL="27494" marR="27494" marT="27494" marB="27494">
                    <a:solidFill>
                      <a:srgbClr val="9ED795"/>
                    </a:solidFill>
                  </a:tcPr>
                </a:tc>
                <a:extLst>
                  <a:ext uri="{0D108BD9-81ED-4DB2-BD59-A6C34878D82A}">
                    <a16:rowId xmlns:a16="http://schemas.microsoft.com/office/drawing/2014/main" val="10003"/>
                  </a:ext>
                </a:extLst>
              </a:tr>
              <a:tr h="585094">
                <a:tc>
                  <a:txBody>
                    <a:bodyPr/>
                    <a:lstStyle/>
                    <a:p>
                      <a:pPr marL="0" marR="0" fontAlgn="t">
                        <a:spcBef>
                          <a:spcPts val="0"/>
                        </a:spcBef>
                        <a:spcAft>
                          <a:spcPts val="0"/>
                        </a:spcAft>
                      </a:pPr>
                      <a:r>
                        <a:rPr lang="en-US" sz="2400" dirty="0" smtClean="0">
                          <a:effectLst/>
                        </a:rPr>
                        <a:t>MVC Web API</a:t>
                      </a:r>
                      <a:endParaRPr lang="en-US" sz="2400" dirty="0">
                        <a:solidFill>
                          <a:srgbClr val="000000"/>
                        </a:solidFill>
                        <a:effectLst/>
                        <a:latin typeface="Calibri" panose="020F0502020204030204" pitchFamily="34" charset="0"/>
                      </a:endParaRPr>
                    </a:p>
                  </a:txBody>
                  <a:tcPr marL="27494" marR="27494" marT="27494" marB="27494"/>
                </a:tc>
                <a:extLst>
                  <a:ext uri="{0D108BD9-81ED-4DB2-BD59-A6C34878D82A}">
                    <a16:rowId xmlns:a16="http://schemas.microsoft.com/office/drawing/2014/main" val="10004"/>
                  </a:ext>
                </a:extLst>
              </a:tr>
              <a:tr h="461117">
                <a:tc>
                  <a:txBody>
                    <a:bodyPr/>
                    <a:lstStyle/>
                    <a:p>
                      <a:pPr marL="0" marR="0" fontAlgn="t">
                        <a:spcBef>
                          <a:spcPts val="0"/>
                        </a:spcBef>
                        <a:spcAft>
                          <a:spcPts val="0"/>
                        </a:spcAft>
                      </a:pPr>
                      <a:r>
                        <a:rPr lang="en-US" sz="2400" kern="1200" dirty="0" smtClean="0">
                          <a:solidFill>
                            <a:schemeClr val="bg1"/>
                          </a:solidFill>
                          <a:effectLst/>
                          <a:latin typeface="+mn-lt"/>
                          <a:ea typeface="+mn-ea"/>
                          <a:cs typeface="+mn-cs"/>
                        </a:rPr>
                        <a:t>Lab</a:t>
                      </a:r>
                      <a:endParaRPr lang="en-US" sz="2400" kern="1200" dirty="0">
                        <a:solidFill>
                          <a:schemeClr val="bg1"/>
                        </a:solidFill>
                        <a:effectLst/>
                        <a:latin typeface="+mn-lt"/>
                        <a:ea typeface="+mn-ea"/>
                        <a:cs typeface="+mn-cs"/>
                      </a:endParaRPr>
                    </a:p>
                  </a:txBody>
                  <a:tcPr marL="27494" marR="27494" marT="27494" marB="27494">
                    <a:solidFill>
                      <a:srgbClr val="9ED795"/>
                    </a:solidFill>
                  </a:tcPr>
                </a:tc>
                <a:extLst>
                  <a:ext uri="{0D108BD9-81ED-4DB2-BD59-A6C34878D82A}">
                    <a16:rowId xmlns:a16="http://schemas.microsoft.com/office/drawing/2014/main" val="10005"/>
                  </a:ext>
                </a:extLst>
              </a:tr>
              <a:tr h="585094">
                <a:tc>
                  <a:txBody>
                    <a:bodyPr/>
                    <a:lstStyle/>
                    <a:p>
                      <a:pPr marL="0" marR="0" fontAlgn="t">
                        <a:spcBef>
                          <a:spcPts val="0"/>
                        </a:spcBef>
                        <a:spcAft>
                          <a:spcPts val="0"/>
                        </a:spcAft>
                      </a:pPr>
                      <a:r>
                        <a:rPr lang="en-US" sz="2400" dirty="0" smtClean="0">
                          <a:effectLst/>
                        </a:rPr>
                        <a:t>Deployment &amp; Hosting</a:t>
                      </a:r>
                      <a:endParaRPr lang="en-US" sz="2400" dirty="0">
                        <a:solidFill>
                          <a:srgbClr val="000000"/>
                        </a:solidFill>
                        <a:effectLst/>
                        <a:latin typeface="Calibri" panose="020F0502020204030204" pitchFamily="34" charset="0"/>
                      </a:endParaRPr>
                    </a:p>
                  </a:txBody>
                  <a:tcPr marL="27494" marR="27494" marT="27494" marB="27494"/>
                </a:tc>
                <a:extLst>
                  <a:ext uri="{0D108BD9-81ED-4DB2-BD59-A6C34878D82A}">
                    <a16:rowId xmlns:a16="http://schemas.microsoft.com/office/drawing/2014/main" val="10007"/>
                  </a:ext>
                </a:extLst>
              </a:tr>
              <a:tr h="457200">
                <a:tc>
                  <a:txBody>
                    <a:bodyPr/>
                    <a:lstStyle/>
                    <a:p>
                      <a:pPr marL="0" marR="0" fontAlgn="t">
                        <a:spcBef>
                          <a:spcPts val="0"/>
                        </a:spcBef>
                        <a:spcAft>
                          <a:spcPts val="0"/>
                        </a:spcAft>
                      </a:pPr>
                      <a:r>
                        <a:rPr lang="en-US" sz="2400" dirty="0">
                          <a:solidFill>
                            <a:schemeClr val="bg1"/>
                          </a:solidFill>
                          <a:effectLst/>
                        </a:rPr>
                        <a:t>Lab</a:t>
                      </a:r>
                      <a:endParaRPr lang="en-US" sz="2400" dirty="0">
                        <a:solidFill>
                          <a:schemeClr val="bg1"/>
                        </a:solidFill>
                        <a:effectLst/>
                        <a:latin typeface="Calibri" panose="020F0502020204030204" pitchFamily="34" charset="0"/>
                      </a:endParaRPr>
                    </a:p>
                  </a:txBody>
                  <a:tcPr marL="27494" marR="27494" marT="27494" marB="27494">
                    <a:solidFill>
                      <a:srgbClr val="9ED795"/>
                    </a:solidFill>
                  </a:tcPr>
                </a:tc>
                <a:extLst>
                  <a:ext uri="{0D108BD9-81ED-4DB2-BD59-A6C34878D82A}">
                    <a16:rowId xmlns:a16="http://schemas.microsoft.com/office/drawing/2014/main" val="10008"/>
                  </a:ext>
                </a:extLst>
              </a:tr>
              <a:tr h="585216">
                <a:tc>
                  <a:txBody>
                    <a:bodyPr/>
                    <a:lstStyle/>
                    <a:p>
                      <a:pPr marL="0" marR="0" fontAlgn="t">
                        <a:spcBef>
                          <a:spcPts val="0"/>
                        </a:spcBef>
                        <a:spcAft>
                          <a:spcPts val="0"/>
                        </a:spcAft>
                      </a:pPr>
                      <a:r>
                        <a:rPr lang="en-US" sz="2400" dirty="0" smtClean="0">
                          <a:effectLst/>
                        </a:rPr>
                        <a:t>The</a:t>
                      </a:r>
                      <a:r>
                        <a:rPr lang="en-US" sz="2400" baseline="0" dirty="0" smtClean="0">
                          <a:effectLst/>
                        </a:rPr>
                        <a:t> </a:t>
                      </a:r>
                      <a:r>
                        <a:rPr lang="en-US" sz="2400" dirty="0" smtClean="0">
                          <a:effectLst/>
                        </a:rPr>
                        <a:t>.NET CLI</a:t>
                      </a:r>
                      <a:endParaRPr lang="en-US" sz="2400" dirty="0">
                        <a:solidFill>
                          <a:srgbClr val="000000"/>
                        </a:solidFill>
                        <a:effectLst/>
                        <a:latin typeface="Calibri" panose="020F0502020204030204" pitchFamily="34" charset="0"/>
                      </a:endParaRPr>
                    </a:p>
                  </a:txBody>
                  <a:tcPr marL="27494" marR="27494" marT="27494" marB="27494"/>
                </a:tc>
                <a:extLst>
                  <a:ext uri="{0D108BD9-81ED-4DB2-BD59-A6C34878D82A}">
                    <a16:rowId xmlns:a16="http://schemas.microsoft.com/office/drawing/2014/main" val="10009"/>
                  </a:ext>
                </a:extLst>
              </a:tr>
              <a:tr h="457200">
                <a:tc>
                  <a:txBody>
                    <a:bodyPr/>
                    <a:lstStyle/>
                    <a:p>
                      <a:pPr marL="0" marR="0" fontAlgn="t">
                        <a:spcBef>
                          <a:spcPts val="0"/>
                        </a:spcBef>
                        <a:spcAft>
                          <a:spcPts val="0"/>
                        </a:spcAft>
                      </a:pPr>
                      <a:r>
                        <a:rPr lang="en-US" sz="2400" kern="1200" dirty="0" smtClean="0">
                          <a:solidFill>
                            <a:schemeClr val="bg1"/>
                          </a:solidFill>
                          <a:effectLst/>
                          <a:latin typeface="+mn-lt"/>
                          <a:ea typeface="+mn-ea"/>
                          <a:cs typeface="+mn-cs"/>
                        </a:rPr>
                        <a:t>Lab</a:t>
                      </a:r>
                      <a:endParaRPr lang="en-US" sz="2400" kern="1200" dirty="0">
                        <a:solidFill>
                          <a:schemeClr val="bg1"/>
                        </a:solidFill>
                        <a:effectLst/>
                        <a:latin typeface="+mn-lt"/>
                        <a:ea typeface="+mn-ea"/>
                        <a:cs typeface="+mn-cs"/>
                      </a:endParaRPr>
                    </a:p>
                  </a:txBody>
                  <a:tcPr marL="27494" marR="27494" marT="27494" marB="27494">
                    <a:solidFill>
                      <a:srgbClr val="9ED795"/>
                    </a:solidFill>
                  </a:tcPr>
                </a:tc>
                <a:extLst>
                  <a:ext uri="{0D108BD9-81ED-4DB2-BD59-A6C34878D82A}">
                    <a16:rowId xmlns:a16="http://schemas.microsoft.com/office/drawing/2014/main" val="2717545506"/>
                  </a:ext>
                </a:extLst>
              </a:tr>
            </a:tbl>
          </a:graphicData>
        </a:graphic>
      </p:graphicFrame>
    </p:spTree>
    <p:extLst>
      <p:ext uri="{BB962C8B-B14F-4D97-AF65-F5344CB8AC3E}">
        <p14:creationId xmlns:p14="http://schemas.microsoft.com/office/powerpoint/2010/main" val="3132613911"/>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0" y="0"/>
            <a:ext cx="12436475" cy="2887662"/>
          </a:xfrm>
          <a:prstGeom prst="rect">
            <a:avLst/>
          </a:prstGeom>
          <a:solidFill>
            <a:srgbClr val="56B8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91440" tIns="91440" rIns="34294" bIns="34294" rtlCol="0" anchor="b" anchorCtr="0"/>
          <a:lstStyle/>
          <a:p>
            <a:pPr algn="ctr" defTabSz="932406"/>
            <a:endParaRPr lang="en-US" sz="8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Box 2"/>
          <p:cNvSpPr txBox="1"/>
          <p:nvPr/>
        </p:nvSpPr>
        <p:spPr>
          <a:xfrm>
            <a:off x="0" y="3802062"/>
            <a:ext cx="11552458" cy="794064"/>
          </a:xfrm>
          <a:prstGeom prst="rect">
            <a:avLst/>
          </a:prstGeom>
          <a:noFill/>
        </p:spPr>
        <p:txBody>
          <a:bodyPr wrap="none" lIns="182880" tIns="146304" rIns="182880" bIns="146304" rtlCol="0">
            <a:spAutoFit/>
          </a:bodyPr>
          <a:lstStyle/>
          <a:p>
            <a:pPr>
              <a:lnSpc>
                <a:spcPct val="90000"/>
              </a:lnSpc>
              <a:spcAft>
                <a:spcPts val="600"/>
              </a:spcAft>
            </a:pPr>
            <a:r>
              <a:rPr lang="en-US" sz="3600" dirty="0">
                <a:solidFill>
                  <a:srgbClr val="56B846"/>
                </a:solidFill>
              </a:rPr>
              <a:t>https://</a:t>
            </a:r>
            <a:r>
              <a:rPr lang="en-US" sz="3600" dirty="0" smtClean="0">
                <a:solidFill>
                  <a:srgbClr val="56B846"/>
                </a:solidFill>
              </a:rPr>
              <a:t>github.com/DamianEdwards/aspnet5-workshop</a:t>
            </a:r>
          </a:p>
        </p:txBody>
      </p:sp>
      <p:sp>
        <p:nvSpPr>
          <p:cNvPr id="5" name="TextBox 4"/>
          <p:cNvSpPr txBox="1"/>
          <p:nvPr/>
        </p:nvSpPr>
        <p:spPr>
          <a:xfrm>
            <a:off x="130174" y="963699"/>
            <a:ext cx="3743654" cy="960263"/>
          </a:xfrm>
          <a:prstGeom prst="rect">
            <a:avLst/>
          </a:prstGeom>
          <a:noFill/>
        </p:spPr>
        <p:txBody>
          <a:bodyPr wrap="none" lIns="182880" tIns="146304" rIns="182880" bIns="146304" rtlCol="0">
            <a:spAutoFit/>
          </a:bodyPr>
          <a:lstStyle/>
          <a:p>
            <a:pPr>
              <a:lnSpc>
                <a:spcPct val="90000"/>
              </a:lnSpc>
              <a:spcAft>
                <a:spcPts val="600"/>
              </a:spcAft>
            </a:pPr>
            <a:r>
              <a:rPr lang="en-US" sz="4800" dirty="0" smtClean="0">
                <a:solidFill>
                  <a:schemeClr val="bg1"/>
                </a:solidFill>
              </a:rPr>
              <a:t>Labs / Slides</a:t>
            </a:r>
          </a:p>
        </p:txBody>
      </p:sp>
    </p:spTree>
    <p:extLst>
      <p:ext uri="{BB962C8B-B14F-4D97-AF65-F5344CB8AC3E}">
        <p14:creationId xmlns:p14="http://schemas.microsoft.com/office/powerpoint/2010/main" val="1104601103"/>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ASP.NET 5</a:t>
            </a:r>
            <a:br>
              <a:rPr lang="en-US" dirty="0" smtClean="0"/>
            </a:br>
            <a:r>
              <a:rPr lang="en-US" dirty="0"/>
              <a:t>	</a:t>
            </a:r>
            <a:r>
              <a:rPr lang="en-US" dirty="0" smtClean="0"/>
              <a:t>What and Why</a:t>
            </a:r>
            <a:endParaRPr lang="en-US" dirty="0"/>
          </a:p>
        </p:txBody>
      </p:sp>
      <p:sp>
        <p:nvSpPr>
          <p:cNvPr id="2" name="Text Placeholder 1"/>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7858036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 in 2015</a:t>
            </a:r>
            <a:endParaRPr lang="en-US" dirty="0"/>
          </a:p>
        </p:txBody>
      </p:sp>
    </p:spTree>
    <p:extLst>
      <p:ext uri="{BB962C8B-B14F-4D97-AF65-F5344CB8AC3E}">
        <p14:creationId xmlns:p14="http://schemas.microsoft.com/office/powerpoint/2010/main" val="425005828"/>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of .NET “verticals”</a:t>
            </a:r>
            <a:endParaRPr lang="en-US" dirty="0"/>
          </a:p>
        </p:txBody>
      </p:sp>
      <p:sp>
        <p:nvSpPr>
          <p:cNvPr id="4" name="Rectangle 3"/>
          <p:cNvSpPr/>
          <p:nvPr/>
        </p:nvSpPr>
        <p:spPr bwMode="auto">
          <a:xfrm>
            <a:off x="1396846" y="1569703"/>
            <a:ext cx="9442765" cy="4583817"/>
          </a:xfrm>
          <a:prstGeom prst="rect">
            <a:avLst/>
          </a:prstGeom>
          <a:solidFill>
            <a:srgbClr val="D5D5D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a:lnSpc>
                <a:spcPct val="90000"/>
              </a:lnSpc>
            </a:pPr>
            <a:endParaRPr lang="en-US" sz="1600" i="1" dirty="0">
              <a:gradFill>
                <a:gsLst>
                  <a:gs pos="0">
                    <a:srgbClr val="3F3F3F"/>
                  </a:gs>
                  <a:gs pos="100000">
                    <a:srgbClr val="3F3F3F"/>
                  </a:gs>
                </a:gsLst>
                <a:lin ang="5400000" scaled="0"/>
              </a:gradFill>
              <a:ea typeface="Segoe UI" pitchFamily="34" charset="0"/>
              <a:cs typeface="Segoe UI" pitchFamily="34" charset="0"/>
            </a:endParaRPr>
          </a:p>
        </p:txBody>
      </p:sp>
      <p:sp>
        <p:nvSpPr>
          <p:cNvPr id="5" name="Rectangle 4"/>
          <p:cNvSpPr/>
          <p:nvPr/>
        </p:nvSpPr>
        <p:spPr bwMode="auto">
          <a:xfrm>
            <a:off x="2732369" y="1706637"/>
            <a:ext cx="1516320" cy="4308318"/>
          </a:xfrm>
          <a:prstGeom prst="rect">
            <a:avLst/>
          </a:prstGeom>
          <a:solidFill>
            <a:schemeClr val="bg1">
              <a:lumMod val="50000"/>
            </a:schemeClr>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6" name="Rectangle 5"/>
          <p:cNvSpPr/>
          <p:nvPr/>
        </p:nvSpPr>
        <p:spPr>
          <a:xfrm>
            <a:off x="2732369" y="1742849"/>
            <a:ext cx="1516320" cy="258532"/>
          </a:xfrm>
          <a:prstGeom prst="rect">
            <a:avLst/>
          </a:prstGeom>
        </p:spPr>
        <p:txBody>
          <a:bodyPr wrap="square">
            <a:spAutoFit/>
          </a:bodyPr>
          <a:lstStyle/>
          <a:p>
            <a:pPr marL="0" lvl="1" defTabSz="932048">
              <a:lnSpc>
                <a:spcPct val="90000"/>
              </a:lnSpc>
              <a:spcAft>
                <a:spcPts val="340"/>
              </a:spcAft>
              <a:defRPr/>
            </a:pPr>
            <a:r>
              <a:rPr lang="en-US" sz="1200" b="1" dirty="0" smtClean="0">
                <a:solidFill>
                  <a:srgbClr val="FFFFFF"/>
                </a:solidFill>
              </a:rPr>
              <a:t>Windows Desktop</a:t>
            </a:r>
            <a:endParaRPr lang="en-US" sz="1200" b="1" dirty="0">
              <a:solidFill>
                <a:srgbClr val="FFFFFF"/>
              </a:solidFill>
            </a:endParaRPr>
          </a:p>
        </p:txBody>
      </p:sp>
      <p:sp>
        <p:nvSpPr>
          <p:cNvPr id="7" name="Freeform 626"/>
          <p:cNvSpPr>
            <a:spLocks noChangeAspect="1" noEditPoints="1"/>
          </p:cNvSpPr>
          <p:nvPr/>
        </p:nvSpPr>
        <p:spPr bwMode="auto">
          <a:xfrm>
            <a:off x="3285690" y="2013418"/>
            <a:ext cx="366058" cy="246994"/>
          </a:xfrm>
          <a:custGeom>
            <a:avLst/>
            <a:gdLst>
              <a:gd name="T0" fmla="*/ 340 w 400"/>
              <a:gd name="T1" fmla="*/ 0 h 214"/>
              <a:gd name="T2" fmla="*/ 61 w 400"/>
              <a:gd name="T3" fmla="*/ 0 h 214"/>
              <a:gd name="T4" fmla="*/ 51 w 400"/>
              <a:gd name="T5" fmla="*/ 10 h 214"/>
              <a:gd name="T6" fmla="*/ 51 w 400"/>
              <a:gd name="T7" fmla="*/ 181 h 214"/>
              <a:gd name="T8" fmla="*/ 61 w 400"/>
              <a:gd name="T9" fmla="*/ 191 h 214"/>
              <a:gd name="T10" fmla="*/ 340 w 400"/>
              <a:gd name="T11" fmla="*/ 191 h 214"/>
              <a:gd name="T12" fmla="*/ 350 w 400"/>
              <a:gd name="T13" fmla="*/ 181 h 214"/>
              <a:gd name="T14" fmla="*/ 350 w 400"/>
              <a:gd name="T15" fmla="*/ 10 h 214"/>
              <a:gd name="T16" fmla="*/ 340 w 400"/>
              <a:gd name="T17" fmla="*/ 0 h 214"/>
              <a:gd name="T18" fmla="*/ 337 w 400"/>
              <a:gd name="T19" fmla="*/ 179 h 214"/>
              <a:gd name="T20" fmla="*/ 64 w 400"/>
              <a:gd name="T21" fmla="*/ 179 h 214"/>
              <a:gd name="T22" fmla="*/ 64 w 400"/>
              <a:gd name="T23" fmla="*/ 11 h 214"/>
              <a:gd name="T24" fmla="*/ 337 w 400"/>
              <a:gd name="T25" fmla="*/ 11 h 214"/>
              <a:gd name="T26" fmla="*/ 337 w 400"/>
              <a:gd name="T27" fmla="*/ 179 h 214"/>
              <a:gd name="T28" fmla="*/ 228 w 400"/>
              <a:gd name="T29" fmla="*/ 198 h 214"/>
              <a:gd name="T30" fmla="*/ 228 w 400"/>
              <a:gd name="T31" fmla="*/ 200 h 214"/>
              <a:gd name="T32" fmla="*/ 224 w 400"/>
              <a:gd name="T33" fmla="*/ 203 h 214"/>
              <a:gd name="T34" fmla="*/ 177 w 400"/>
              <a:gd name="T35" fmla="*/ 203 h 214"/>
              <a:gd name="T36" fmla="*/ 173 w 400"/>
              <a:gd name="T37" fmla="*/ 200 h 214"/>
              <a:gd name="T38" fmla="*/ 173 w 400"/>
              <a:gd name="T39" fmla="*/ 198 h 214"/>
              <a:gd name="T40" fmla="*/ 0 w 400"/>
              <a:gd name="T41" fmla="*/ 198 h 214"/>
              <a:gd name="T42" fmla="*/ 0 w 400"/>
              <a:gd name="T43" fmla="*/ 208 h 214"/>
              <a:gd name="T44" fmla="*/ 13 w 400"/>
              <a:gd name="T45" fmla="*/ 214 h 214"/>
              <a:gd name="T46" fmla="*/ 13 w 400"/>
              <a:gd name="T47" fmla="*/ 214 h 214"/>
              <a:gd name="T48" fmla="*/ 387 w 400"/>
              <a:gd name="T49" fmla="*/ 214 h 214"/>
              <a:gd name="T50" fmla="*/ 387 w 400"/>
              <a:gd name="T51" fmla="*/ 214 h 214"/>
              <a:gd name="T52" fmla="*/ 400 w 400"/>
              <a:gd name="T53" fmla="*/ 208 h 214"/>
              <a:gd name="T54" fmla="*/ 400 w 400"/>
              <a:gd name="T55" fmla="*/ 198 h 214"/>
              <a:gd name="T56" fmla="*/ 228 w 400"/>
              <a:gd name="T57" fmla="*/ 19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0" h="214">
                <a:moveTo>
                  <a:pt x="340" y="0"/>
                </a:moveTo>
                <a:cubicBezTo>
                  <a:pt x="61" y="0"/>
                  <a:pt x="61" y="0"/>
                  <a:pt x="61" y="0"/>
                </a:cubicBezTo>
                <a:cubicBezTo>
                  <a:pt x="56" y="0"/>
                  <a:pt x="51" y="4"/>
                  <a:pt x="51" y="10"/>
                </a:cubicBezTo>
                <a:cubicBezTo>
                  <a:pt x="51" y="181"/>
                  <a:pt x="51" y="181"/>
                  <a:pt x="51" y="181"/>
                </a:cubicBezTo>
                <a:cubicBezTo>
                  <a:pt x="51" y="187"/>
                  <a:pt x="56" y="191"/>
                  <a:pt x="61" y="191"/>
                </a:cubicBezTo>
                <a:cubicBezTo>
                  <a:pt x="340" y="191"/>
                  <a:pt x="340" y="191"/>
                  <a:pt x="340" y="191"/>
                </a:cubicBezTo>
                <a:cubicBezTo>
                  <a:pt x="346" y="191"/>
                  <a:pt x="350" y="187"/>
                  <a:pt x="350" y="181"/>
                </a:cubicBezTo>
                <a:cubicBezTo>
                  <a:pt x="350" y="10"/>
                  <a:pt x="350" y="10"/>
                  <a:pt x="350" y="10"/>
                </a:cubicBezTo>
                <a:cubicBezTo>
                  <a:pt x="350" y="4"/>
                  <a:pt x="346" y="0"/>
                  <a:pt x="340" y="0"/>
                </a:cubicBezTo>
                <a:close/>
                <a:moveTo>
                  <a:pt x="337" y="179"/>
                </a:moveTo>
                <a:cubicBezTo>
                  <a:pt x="64" y="179"/>
                  <a:pt x="64" y="179"/>
                  <a:pt x="64" y="179"/>
                </a:cubicBezTo>
                <a:cubicBezTo>
                  <a:pt x="64" y="11"/>
                  <a:pt x="64" y="11"/>
                  <a:pt x="64" y="11"/>
                </a:cubicBezTo>
                <a:cubicBezTo>
                  <a:pt x="337" y="11"/>
                  <a:pt x="337" y="11"/>
                  <a:pt x="337" y="11"/>
                </a:cubicBezTo>
                <a:cubicBezTo>
                  <a:pt x="337" y="179"/>
                  <a:pt x="337" y="179"/>
                  <a:pt x="337" y="179"/>
                </a:cubicBezTo>
                <a:close/>
                <a:moveTo>
                  <a:pt x="228" y="198"/>
                </a:moveTo>
                <a:cubicBezTo>
                  <a:pt x="228" y="200"/>
                  <a:pt x="228" y="200"/>
                  <a:pt x="228" y="200"/>
                </a:cubicBezTo>
                <a:cubicBezTo>
                  <a:pt x="228" y="202"/>
                  <a:pt x="226" y="203"/>
                  <a:pt x="224" y="203"/>
                </a:cubicBezTo>
                <a:cubicBezTo>
                  <a:pt x="177" y="203"/>
                  <a:pt x="177" y="203"/>
                  <a:pt x="177" y="203"/>
                </a:cubicBezTo>
                <a:cubicBezTo>
                  <a:pt x="175" y="203"/>
                  <a:pt x="173" y="202"/>
                  <a:pt x="173" y="200"/>
                </a:cubicBezTo>
                <a:cubicBezTo>
                  <a:pt x="173" y="198"/>
                  <a:pt x="173" y="198"/>
                  <a:pt x="173" y="198"/>
                </a:cubicBezTo>
                <a:cubicBezTo>
                  <a:pt x="0" y="198"/>
                  <a:pt x="0" y="198"/>
                  <a:pt x="0" y="198"/>
                </a:cubicBezTo>
                <a:cubicBezTo>
                  <a:pt x="0" y="208"/>
                  <a:pt x="0" y="208"/>
                  <a:pt x="0" y="208"/>
                </a:cubicBezTo>
                <a:cubicBezTo>
                  <a:pt x="0" y="208"/>
                  <a:pt x="9" y="214"/>
                  <a:pt x="13" y="214"/>
                </a:cubicBezTo>
                <a:cubicBezTo>
                  <a:pt x="13" y="214"/>
                  <a:pt x="13" y="214"/>
                  <a:pt x="13" y="214"/>
                </a:cubicBezTo>
                <a:cubicBezTo>
                  <a:pt x="387" y="214"/>
                  <a:pt x="387" y="214"/>
                  <a:pt x="387" y="214"/>
                </a:cubicBezTo>
                <a:cubicBezTo>
                  <a:pt x="387" y="214"/>
                  <a:pt x="387" y="214"/>
                  <a:pt x="387" y="214"/>
                </a:cubicBezTo>
                <a:cubicBezTo>
                  <a:pt x="391" y="214"/>
                  <a:pt x="400" y="208"/>
                  <a:pt x="400" y="208"/>
                </a:cubicBezTo>
                <a:cubicBezTo>
                  <a:pt x="400" y="198"/>
                  <a:pt x="400" y="198"/>
                  <a:pt x="400" y="198"/>
                </a:cubicBezTo>
                <a:lnTo>
                  <a:pt x="228" y="198"/>
                </a:lnTo>
                <a:close/>
              </a:path>
            </a:pathLst>
          </a:custGeom>
          <a:solidFill>
            <a:srgbClr val="FFFFFF"/>
          </a:solidFill>
          <a:ln>
            <a:noFill/>
          </a:ln>
          <a:extLst/>
        </p:spPr>
        <p:txBody>
          <a:bodyPr vert="horz" wrap="square" lIns="68570" tIns="34285" rIns="68570" bIns="34285" numCol="1" anchor="t" anchorCtr="0" compatLnSpc="1">
            <a:prstTxWarp prst="textNoShape">
              <a:avLst/>
            </a:prstTxWarp>
          </a:bodyPr>
          <a:lstStyle/>
          <a:p>
            <a:pPr defTabSz="685711">
              <a:defRPr/>
            </a:pPr>
            <a:endParaRPr lang="en-US" sz="809" b="1" kern="0">
              <a:gradFill>
                <a:gsLst>
                  <a:gs pos="14679">
                    <a:srgbClr val="FFFFFF"/>
                  </a:gs>
                  <a:gs pos="38000">
                    <a:srgbClr val="FFFFFF"/>
                  </a:gs>
                </a:gsLst>
                <a:lin ang="5400000" scaled="1"/>
              </a:gradFill>
              <a:cs typeface="Segoe UI" panose="020B0502040204020203" pitchFamily="34" charset="0"/>
            </a:endParaRPr>
          </a:p>
        </p:txBody>
      </p:sp>
      <p:sp>
        <p:nvSpPr>
          <p:cNvPr id="8" name="Rectangle 7"/>
          <p:cNvSpPr/>
          <p:nvPr/>
        </p:nvSpPr>
        <p:spPr>
          <a:xfrm>
            <a:off x="1521053" y="1648478"/>
            <a:ext cx="987130" cy="584775"/>
          </a:xfrm>
          <a:prstGeom prst="rect">
            <a:avLst/>
          </a:prstGeom>
        </p:spPr>
        <p:txBody>
          <a:bodyPr wrap="none">
            <a:spAutoFit/>
          </a:bodyPr>
          <a:lstStyle/>
          <a:p>
            <a:pPr defTabSz="932228"/>
            <a:r>
              <a:rPr lang="en-US" sz="3200" spc="-102" dirty="0">
                <a:ln w="3175">
                  <a:noFill/>
                </a:ln>
                <a:gradFill>
                  <a:gsLst>
                    <a:gs pos="58716">
                      <a:srgbClr val="002050"/>
                    </a:gs>
                    <a:gs pos="37000">
                      <a:srgbClr val="002050"/>
                    </a:gs>
                  </a:gsLst>
                  <a:lin ang="5400000" scaled="1"/>
                </a:gradFill>
                <a:latin typeface="Segoe UI Semibold" panose="020B0702040204020203" pitchFamily="34" charset="0"/>
                <a:cs typeface="Segoe UI Semibold" panose="020B0702040204020203" pitchFamily="34" charset="0"/>
              </a:rPr>
              <a:t>.</a:t>
            </a:r>
            <a:r>
              <a:rPr lang="en-US" sz="3200" spc="-102" dirty="0" smtClean="0">
                <a:ln w="3175">
                  <a:noFill/>
                </a:ln>
                <a:gradFill>
                  <a:gsLst>
                    <a:gs pos="58716">
                      <a:srgbClr val="002050"/>
                    </a:gs>
                    <a:gs pos="37000">
                      <a:srgbClr val="002050"/>
                    </a:gs>
                  </a:gsLst>
                  <a:lin ang="5400000" scaled="1"/>
                </a:gradFill>
                <a:latin typeface="Segoe UI Semibold" panose="020B0702040204020203" pitchFamily="34" charset="0"/>
                <a:cs typeface="Segoe UI Semibold" panose="020B0702040204020203" pitchFamily="34" charset="0"/>
              </a:rPr>
              <a:t>NET</a:t>
            </a:r>
            <a:endParaRPr lang="en-US" sz="1000" dirty="0">
              <a:gradFill>
                <a:gsLst>
                  <a:gs pos="58716">
                    <a:srgbClr val="002050"/>
                  </a:gs>
                  <a:gs pos="37000">
                    <a:srgbClr val="002050"/>
                  </a:gs>
                </a:gsLst>
                <a:lin ang="5400000" scaled="1"/>
              </a:gradFill>
              <a:latin typeface="Segoe UI Semibold" panose="020B0702040204020203" pitchFamily="34" charset="0"/>
              <a:cs typeface="Segoe UI Semibold" panose="020B0702040204020203" pitchFamily="34" charset="0"/>
            </a:endParaRPr>
          </a:p>
        </p:txBody>
      </p:sp>
      <p:sp>
        <p:nvSpPr>
          <p:cNvPr id="9" name="Rectangle 8"/>
          <p:cNvSpPr/>
          <p:nvPr/>
        </p:nvSpPr>
        <p:spPr bwMode="auto">
          <a:xfrm>
            <a:off x="4331874" y="1706637"/>
            <a:ext cx="1516320" cy="4308318"/>
          </a:xfrm>
          <a:prstGeom prst="rect">
            <a:avLst/>
          </a:prstGeom>
          <a:solidFill>
            <a:schemeClr val="bg1">
              <a:lumMod val="50000"/>
            </a:schemeClr>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10" name="Rectangle 9"/>
          <p:cNvSpPr/>
          <p:nvPr/>
        </p:nvSpPr>
        <p:spPr bwMode="auto">
          <a:xfrm>
            <a:off x="5931379" y="1706637"/>
            <a:ext cx="1516320" cy="4308318"/>
          </a:xfrm>
          <a:prstGeom prst="rect">
            <a:avLst/>
          </a:prstGeom>
          <a:solidFill>
            <a:schemeClr val="bg1">
              <a:lumMod val="50000"/>
            </a:schemeClr>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11" name="Rectangle 10"/>
          <p:cNvSpPr/>
          <p:nvPr/>
        </p:nvSpPr>
        <p:spPr bwMode="auto">
          <a:xfrm>
            <a:off x="7530884" y="1706637"/>
            <a:ext cx="1516320" cy="4308318"/>
          </a:xfrm>
          <a:prstGeom prst="rect">
            <a:avLst/>
          </a:prstGeom>
          <a:solidFill>
            <a:schemeClr val="bg1">
              <a:lumMod val="50000"/>
            </a:schemeClr>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12" name="Rectangle 11"/>
          <p:cNvSpPr/>
          <p:nvPr/>
        </p:nvSpPr>
        <p:spPr bwMode="auto">
          <a:xfrm>
            <a:off x="9130389" y="1706637"/>
            <a:ext cx="1516320" cy="4308318"/>
          </a:xfrm>
          <a:prstGeom prst="rect">
            <a:avLst/>
          </a:prstGeom>
          <a:solidFill>
            <a:schemeClr val="bg1">
              <a:lumMod val="50000"/>
            </a:schemeClr>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13" name="Rectangle 12"/>
          <p:cNvSpPr/>
          <p:nvPr/>
        </p:nvSpPr>
        <p:spPr bwMode="auto">
          <a:xfrm>
            <a:off x="2824460" y="2374787"/>
            <a:ext cx="1332618" cy="1039640"/>
          </a:xfrm>
          <a:prstGeom prst="rect">
            <a:avLst/>
          </a:prstGeom>
          <a:solidFill>
            <a:srgbClr val="7FBA00"/>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14" name="Rectangle 13"/>
          <p:cNvSpPr/>
          <p:nvPr/>
        </p:nvSpPr>
        <p:spPr bwMode="auto">
          <a:xfrm>
            <a:off x="2824461" y="3475640"/>
            <a:ext cx="1332618" cy="1552487"/>
          </a:xfrm>
          <a:prstGeom prst="rect">
            <a:avLst/>
          </a:prstGeom>
          <a:solidFill>
            <a:srgbClr val="0072C6"/>
          </a:solidFill>
          <a:ln w="25400" cap="flat" cmpd="sng" algn="ctr">
            <a:noFill/>
            <a:prstDash val="solid"/>
            <a:headEnd type="none" w="med" len="med"/>
            <a:tailEnd type="none" w="med" len="med"/>
          </a:ln>
          <a:effectLst/>
        </p:spPr>
        <p:txBody>
          <a:bodyPr vert="horz" wrap="square" lIns="745977" tIns="279742" rIns="91410" bIns="0"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15" name="Rectangle 14"/>
          <p:cNvSpPr/>
          <p:nvPr/>
        </p:nvSpPr>
        <p:spPr bwMode="auto">
          <a:xfrm>
            <a:off x="2824460" y="5089340"/>
            <a:ext cx="1332618" cy="816973"/>
          </a:xfrm>
          <a:prstGeom prst="rect">
            <a:avLst/>
          </a:prstGeom>
          <a:solidFill>
            <a:srgbClr val="68217A"/>
          </a:solidFill>
          <a:ln w="25400" cap="flat" cmpd="sng" algn="ctr">
            <a:noFill/>
            <a:prstDash val="solid"/>
            <a:headEnd type="none" w="med" len="med"/>
            <a:tailEnd type="none" w="med" len="med"/>
          </a:ln>
          <a:effectLst/>
        </p:spPr>
        <p:txBody>
          <a:bodyPr vert="horz" wrap="square" lIns="745872" tIns="45677" rIns="91348" bIns="73078" numCol="1" rtlCol="0" anchor="t" anchorCtr="0" compatLnSpc="1">
            <a:prstTxWarp prst="textNoShape">
              <a:avLst/>
            </a:prstTxWarp>
          </a:bodyPr>
          <a:lstStyle/>
          <a:p>
            <a:pPr defTabSz="932048"/>
            <a:endParaRPr lang="en-US" sz="2448" dirty="0">
              <a:gradFill>
                <a:gsLst>
                  <a:gs pos="14679">
                    <a:srgbClr val="FFFFFF"/>
                  </a:gs>
                  <a:gs pos="38000">
                    <a:srgbClr val="FFFFFF"/>
                  </a:gs>
                </a:gsLst>
                <a:lin ang="5400000" scaled="1"/>
              </a:gradFill>
            </a:endParaRPr>
          </a:p>
        </p:txBody>
      </p:sp>
      <p:sp>
        <p:nvSpPr>
          <p:cNvPr id="16" name="Rectangle 15"/>
          <p:cNvSpPr/>
          <p:nvPr/>
        </p:nvSpPr>
        <p:spPr>
          <a:xfrm>
            <a:off x="3139161" y="2663005"/>
            <a:ext cx="659116" cy="463204"/>
          </a:xfrm>
          <a:prstGeom prst="rect">
            <a:avLst/>
          </a:prstGeom>
        </p:spPr>
        <p:txBody>
          <a:bodyPr wrap="square">
            <a:spAutoFit/>
          </a:bodyPr>
          <a:lstStyle/>
          <a:p>
            <a:pPr marL="0" lvl="1" algn="ctr" defTabSz="932048">
              <a:lnSpc>
                <a:spcPct val="90000"/>
              </a:lnSpc>
              <a:spcAft>
                <a:spcPts val="340"/>
              </a:spcAft>
              <a:defRPr/>
            </a:pPr>
            <a:r>
              <a:rPr lang="en-US" sz="1200" dirty="0" smtClean="0">
                <a:solidFill>
                  <a:srgbClr val="FFFFFF"/>
                </a:solidFill>
              </a:rPr>
              <a:t>App</a:t>
            </a:r>
          </a:p>
          <a:p>
            <a:pPr marL="0" lvl="1" algn="ctr" defTabSz="932048">
              <a:lnSpc>
                <a:spcPct val="90000"/>
              </a:lnSpc>
              <a:spcAft>
                <a:spcPts val="340"/>
              </a:spcAft>
              <a:defRPr/>
            </a:pPr>
            <a:r>
              <a:rPr lang="en-US" sz="1200" dirty="0" smtClean="0">
                <a:solidFill>
                  <a:srgbClr val="FFFFFF"/>
                </a:solidFill>
              </a:rPr>
              <a:t>Model</a:t>
            </a:r>
            <a:endParaRPr lang="en-US" sz="1200" dirty="0">
              <a:solidFill>
                <a:srgbClr val="FFFFFF"/>
              </a:solidFill>
            </a:endParaRPr>
          </a:p>
        </p:txBody>
      </p:sp>
      <p:sp>
        <p:nvSpPr>
          <p:cNvPr id="17" name="Rectangle 16"/>
          <p:cNvSpPr/>
          <p:nvPr/>
        </p:nvSpPr>
        <p:spPr>
          <a:xfrm>
            <a:off x="3003620" y="4121685"/>
            <a:ext cx="973817" cy="258532"/>
          </a:xfrm>
          <a:prstGeom prst="rect">
            <a:avLst/>
          </a:prstGeom>
        </p:spPr>
        <p:txBody>
          <a:bodyPr wrap="square">
            <a:spAutoFit/>
          </a:bodyPr>
          <a:lstStyle/>
          <a:p>
            <a:pPr marL="0" lvl="1" algn="ctr" defTabSz="932048">
              <a:lnSpc>
                <a:spcPct val="90000"/>
              </a:lnSpc>
              <a:spcAft>
                <a:spcPts val="340"/>
              </a:spcAft>
              <a:defRPr/>
            </a:pPr>
            <a:r>
              <a:rPr lang="en-US" sz="1200" dirty="0" smtClean="0">
                <a:solidFill>
                  <a:srgbClr val="FFFFFF"/>
                </a:solidFill>
              </a:rPr>
              <a:t>Framework</a:t>
            </a:r>
            <a:endParaRPr lang="en-US" sz="1200" dirty="0">
              <a:solidFill>
                <a:srgbClr val="FFFFFF"/>
              </a:solidFill>
            </a:endParaRPr>
          </a:p>
        </p:txBody>
      </p:sp>
      <p:sp>
        <p:nvSpPr>
          <p:cNvPr id="18" name="Rectangle 17"/>
          <p:cNvSpPr/>
          <p:nvPr/>
        </p:nvSpPr>
        <p:spPr>
          <a:xfrm>
            <a:off x="2981810" y="5368560"/>
            <a:ext cx="973817" cy="258532"/>
          </a:xfrm>
          <a:prstGeom prst="rect">
            <a:avLst/>
          </a:prstGeom>
        </p:spPr>
        <p:txBody>
          <a:bodyPr wrap="square">
            <a:spAutoFit/>
          </a:bodyPr>
          <a:lstStyle/>
          <a:p>
            <a:pPr marL="0" lvl="1" algn="ctr" defTabSz="932048">
              <a:lnSpc>
                <a:spcPct val="90000"/>
              </a:lnSpc>
              <a:spcAft>
                <a:spcPts val="340"/>
              </a:spcAft>
              <a:defRPr/>
            </a:pPr>
            <a:r>
              <a:rPr lang="en-US" sz="1200" dirty="0" smtClean="0">
                <a:solidFill>
                  <a:srgbClr val="FFFFFF"/>
                </a:solidFill>
              </a:rPr>
              <a:t>Runtime</a:t>
            </a:r>
            <a:endParaRPr lang="en-US" sz="1200" dirty="0">
              <a:solidFill>
                <a:srgbClr val="FFFFFF"/>
              </a:solidFill>
            </a:endParaRPr>
          </a:p>
        </p:txBody>
      </p:sp>
      <p:sp>
        <p:nvSpPr>
          <p:cNvPr id="19" name="Rectangle 18"/>
          <p:cNvSpPr/>
          <p:nvPr/>
        </p:nvSpPr>
        <p:spPr>
          <a:xfrm>
            <a:off x="4353758" y="1742849"/>
            <a:ext cx="1516320" cy="258532"/>
          </a:xfrm>
          <a:prstGeom prst="rect">
            <a:avLst/>
          </a:prstGeom>
        </p:spPr>
        <p:txBody>
          <a:bodyPr wrap="square">
            <a:spAutoFit/>
          </a:bodyPr>
          <a:lstStyle/>
          <a:p>
            <a:pPr marL="0" lvl="1" algn="ctr" defTabSz="932048">
              <a:lnSpc>
                <a:spcPct val="90000"/>
              </a:lnSpc>
              <a:spcAft>
                <a:spcPts val="340"/>
              </a:spcAft>
              <a:defRPr/>
            </a:pPr>
            <a:r>
              <a:rPr lang="en-US" sz="1200" b="1" dirty="0" smtClean="0">
                <a:solidFill>
                  <a:srgbClr val="FFFFFF"/>
                </a:solidFill>
              </a:rPr>
              <a:t>Windows Store</a:t>
            </a:r>
            <a:endParaRPr lang="en-US" sz="1200" b="1" dirty="0">
              <a:solidFill>
                <a:srgbClr val="FFFFFF"/>
              </a:solidFill>
            </a:endParaRPr>
          </a:p>
        </p:txBody>
      </p:sp>
      <p:sp>
        <p:nvSpPr>
          <p:cNvPr id="20" name="Rectangle 19"/>
          <p:cNvSpPr/>
          <p:nvPr/>
        </p:nvSpPr>
        <p:spPr>
          <a:xfrm>
            <a:off x="5936760" y="1742849"/>
            <a:ext cx="1516320" cy="258532"/>
          </a:xfrm>
          <a:prstGeom prst="rect">
            <a:avLst/>
          </a:prstGeom>
        </p:spPr>
        <p:txBody>
          <a:bodyPr wrap="square">
            <a:spAutoFit/>
          </a:bodyPr>
          <a:lstStyle/>
          <a:p>
            <a:pPr marL="0" lvl="1" algn="ctr" defTabSz="932048">
              <a:lnSpc>
                <a:spcPct val="90000"/>
              </a:lnSpc>
              <a:spcAft>
                <a:spcPts val="340"/>
              </a:spcAft>
              <a:defRPr/>
            </a:pPr>
            <a:r>
              <a:rPr lang="en-US" sz="1200" b="1" dirty="0" smtClean="0">
                <a:solidFill>
                  <a:srgbClr val="FFFFFF"/>
                </a:solidFill>
              </a:rPr>
              <a:t>Windows Phone</a:t>
            </a:r>
            <a:endParaRPr lang="en-US" sz="1200" b="1" dirty="0">
              <a:solidFill>
                <a:srgbClr val="FFFFFF"/>
              </a:solidFill>
            </a:endParaRPr>
          </a:p>
        </p:txBody>
      </p:sp>
      <p:sp>
        <p:nvSpPr>
          <p:cNvPr id="21" name="Rectangle 20"/>
          <p:cNvSpPr/>
          <p:nvPr/>
        </p:nvSpPr>
        <p:spPr>
          <a:xfrm>
            <a:off x="7536265" y="1742849"/>
            <a:ext cx="1516320" cy="258532"/>
          </a:xfrm>
          <a:prstGeom prst="rect">
            <a:avLst/>
          </a:prstGeom>
        </p:spPr>
        <p:txBody>
          <a:bodyPr wrap="square">
            <a:spAutoFit/>
          </a:bodyPr>
          <a:lstStyle/>
          <a:p>
            <a:pPr marL="0" lvl="1" algn="ctr" defTabSz="932048">
              <a:lnSpc>
                <a:spcPct val="90000"/>
              </a:lnSpc>
              <a:spcAft>
                <a:spcPts val="340"/>
              </a:spcAft>
              <a:defRPr/>
            </a:pPr>
            <a:r>
              <a:rPr lang="en-US" sz="1200" b="1" dirty="0" smtClean="0">
                <a:solidFill>
                  <a:srgbClr val="FFFFFF"/>
                </a:solidFill>
              </a:rPr>
              <a:t>ASP.NET 4</a:t>
            </a:r>
            <a:endParaRPr lang="en-US" sz="1200" b="1" dirty="0">
              <a:solidFill>
                <a:srgbClr val="FFFFFF"/>
              </a:solidFill>
            </a:endParaRPr>
          </a:p>
        </p:txBody>
      </p:sp>
      <p:sp>
        <p:nvSpPr>
          <p:cNvPr id="22" name="Rectangle 21"/>
          <p:cNvSpPr/>
          <p:nvPr/>
        </p:nvSpPr>
        <p:spPr>
          <a:xfrm>
            <a:off x="9125008" y="1742849"/>
            <a:ext cx="1516320" cy="258532"/>
          </a:xfrm>
          <a:prstGeom prst="rect">
            <a:avLst/>
          </a:prstGeom>
        </p:spPr>
        <p:txBody>
          <a:bodyPr wrap="square">
            <a:spAutoFit/>
          </a:bodyPr>
          <a:lstStyle/>
          <a:p>
            <a:pPr marL="0" lvl="1" algn="ctr" defTabSz="932048">
              <a:lnSpc>
                <a:spcPct val="90000"/>
              </a:lnSpc>
              <a:spcAft>
                <a:spcPts val="340"/>
              </a:spcAft>
              <a:defRPr/>
            </a:pPr>
            <a:r>
              <a:rPr lang="en-US" sz="1200" b="1" dirty="0" smtClean="0">
                <a:solidFill>
                  <a:srgbClr val="FFFFFF"/>
                </a:solidFill>
              </a:rPr>
              <a:t>ASP.NET 5</a:t>
            </a:r>
            <a:endParaRPr lang="en-US" sz="1200" b="1" dirty="0">
              <a:solidFill>
                <a:srgbClr val="FFFFFF"/>
              </a:solidFill>
            </a:endParaRPr>
          </a:p>
        </p:txBody>
      </p:sp>
      <p:sp>
        <p:nvSpPr>
          <p:cNvPr id="23" name="Rectangle 22"/>
          <p:cNvSpPr/>
          <p:nvPr/>
        </p:nvSpPr>
        <p:spPr bwMode="auto">
          <a:xfrm>
            <a:off x="7613922" y="2374787"/>
            <a:ext cx="1332618" cy="634470"/>
          </a:xfrm>
          <a:prstGeom prst="rect">
            <a:avLst/>
          </a:prstGeom>
          <a:solidFill>
            <a:srgbClr val="7FBA00"/>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24" name="Rectangle 23"/>
          <p:cNvSpPr/>
          <p:nvPr/>
        </p:nvSpPr>
        <p:spPr bwMode="auto">
          <a:xfrm>
            <a:off x="7613923" y="3059195"/>
            <a:ext cx="1332618" cy="1552487"/>
          </a:xfrm>
          <a:prstGeom prst="rect">
            <a:avLst/>
          </a:prstGeom>
          <a:solidFill>
            <a:srgbClr val="0072C6"/>
          </a:solidFill>
          <a:ln w="25400" cap="flat" cmpd="sng" algn="ctr">
            <a:noFill/>
            <a:prstDash val="solid"/>
            <a:headEnd type="none" w="med" len="med"/>
            <a:tailEnd type="none" w="med" len="med"/>
          </a:ln>
          <a:effectLst/>
        </p:spPr>
        <p:txBody>
          <a:bodyPr vert="horz" wrap="square" lIns="745977" tIns="279742" rIns="91410" bIns="0"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25" name="Rectangle 24"/>
          <p:cNvSpPr/>
          <p:nvPr/>
        </p:nvSpPr>
        <p:spPr bwMode="auto">
          <a:xfrm>
            <a:off x="7613922" y="4654789"/>
            <a:ext cx="1332618" cy="816973"/>
          </a:xfrm>
          <a:prstGeom prst="rect">
            <a:avLst/>
          </a:prstGeom>
          <a:solidFill>
            <a:srgbClr val="68217A"/>
          </a:solidFill>
          <a:ln w="25400" cap="flat" cmpd="sng" algn="ctr">
            <a:noFill/>
            <a:prstDash val="solid"/>
            <a:headEnd type="none" w="med" len="med"/>
            <a:tailEnd type="none" w="med" len="med"/>
          </a:ln>
          <a:effectLst/>
        </p:spPr>
        <p:txBody>
          <a:bodyPr vert="horz" wrap="square" lIns="745872" tIns="45677" rIns="91348" bIns="73078" numCol="1" rtlCol="0" anchor="t" anchorCtr="0" compatLnSpc="1">
            <a:prstTxWarp prst="textNoShape">
              <a:avLst/>
            </a:prstTxWarp>
          </a:bodyPr>
          <a:lstStyle/>
          <a:p>
            <a:pPr defTabSz="932048"/>
            <a:endParaRPr lang="en-US" sz="2448" dirty="0">
              <a:gradFill>
                <a:gsLst>
                  <a:gs pos="14679">
                    <a:srgbClr val="FFFFFF"/>
                  </a:gs>
                  <a:gs pos="38000">
                    <a:srgbClr val="FFFFFF"/>
                  </a:gs>
                </a:gsLst>
                <a:lin ang="5400000" scaled="1"/>
              </a:gradFill>
            </a:endParaRPr>
          </a:p>
        </p:txBody>
      </p:sp>
      <p:sp>
        <p:nvSpPr>
          <p:cNvPr id="26" name="Rectangle 25"/>
          <p:cNvSpPr/>
          <p:nvPr/>
        </p:nvSpPr>
        <p:spPr>
          <a:xfrm>
            <a:off x="7918839" y="2455668"/>
            <a:ext cx="659116" cy="463204"/>
          </a:xfrm>
          <a:prstGeom prst="rect">
            <a:avLst/>
          </a:prstGeom>
        </p:spPr>
        <p:txBody>
          <a:bodyPr wrap="square">
            <a:spAutoFit/>
          </a:bodyPr>
          <a:lstStyle/>
          <a:p>
            <a:pPr marL="0" lvl="1" algn="ctr" defTabSz="932048">
              <a:lnSpc>
                <a:spcPct val="90000"/>
              </a:lnSpc>
              <a:spcAft>
                <a:spcPts val="340"/>
              </a:spcAft>
              <a:defRPr/>
            </a:pPr>
            <a:r>
              <a:rPr lang="en-US" sz="1200" dirty="0" smtClean="0">
                <a:solidFill>
                  <a:srgbClr val="FFFFFF"/>
                </a:solidFill>
              </a:rPr>
              <a:t>App</a:t>
            </a:r>
          </a:p>
          <a:p>
            <a:pPr marL="0" lvl="1" algn="ctr" defTabSz="932048">
              <a:lnSpc>
                <a:spcPct val="90000"/>
              </a:lnSpc>
              <a:spcAft>
                <a:spcPts val="340"/>
              </a:spcAft>
              <a:defRPr/>
            </a:pPr>
            <a:r>
              <a:rPr lang="en-US" sz="1200" dirty="0" smtClean="0">
                <a:solidFill>
                  <a:srgbClr val="FFFFFF"/>
                </a:solidFill>
              </a:rPr>
              <a:t>Model</a:t>
            </a:r>
            <a:endParaRPr lang="en-US" sz="1200" dirty="0">
              <a:solidFill>
                <a:srgbClr val="FFFFFF"/>
              </a:solidFill>
            </a:endParaRPr>
          </a:p>
        </p:txBody>
      </p:sp>
      <p:sp>
        <p:nvSpPr>
          <p:cNvPr id="27" name="Rectangle 26"/>
          <p:cNvSpPr/>
          <p:nvPr/>
        </p:nvSpPr>
        <p:spPr>
          <a:xfrm>
            <a:off x="7793082" y="3705240"/>
            <a:ext cx="973817" cy="258532"/>
          </a:xfrm>
          <a:prstGeom prst="rect">
            <a:avLst/>
          </a:prstGeom>
        </p:spPr>
        <p:txBody>
          <a:bodyPr wrap="square">
            <a:spAutoFit/>
          </a:bodyPr>
          <a:lstStyle/>
          <a:p>
            <a:pPr marL="0" lvl="1" algn="ctr" defTabSz="932048">
              <a:lnSpc>
                <a:spcPct val="90000"/>
              </a:lnSpc>
              <a:spcAft>
                <a:spcPts val="340"/>
              </a:spcAft>
              <a:defRPr/>
            </a:pPr>
            <a:r>
              <a:rPr lang="en-US" sz="1200" dirty="0" smtClean="0">
                <a:solidFill>
                  <a:srgbClr val="FFFFFF"/>
                </a:solidFill>
              </a:rPr>
              <a:t>Framework</a:t>
            </a:r>
            <a:endParaRPr lang="en-US" sz="1200" dirty="0">
              <a:solidFill>
                <a:srgbClr val="FFFFFF"/>
              </a:solidFill>
            </a:endParaRPr>
          </a:p>
        </p:txBody>
      </p:sp>
      <p:sp>
        <p:nvSpPr>
          <p:cNvPr id="28" name="Rectangle 27"/>
          <p:cNvSpPr/>
          <p:nvPr/>
        </p:nvSpPr>
        <p:spPr>
          <a:xfrm>
            <a:off x="7771272" y="4934009"/>
            <a:ext cx="973817" cy="258532"/>
          </a:xfrm>
          <a:prstGeom prst="rect">
            <a:avLst/>
          </a:prstGeom>
        </p:spPr>
        <p:txBody>
          <a:bodyPr wrap="square">
            <a:spAutoFit/>
          </a:bodyPr>
          <a:lstStyle/>
          <a:p>
            <a:pPr marL="0" lvl="1" algn="ctr" defTabSz="932048">
              <a:lnSpc>
                <a:spcPct val="90000"/>
              </a:lnSpc>
              <a:spcAft>
                <a:spcPts val="340"/>
              </a:spcAft>
              <a:defRPr/>
            </a:pPr>
            <a:r>
              <a:rPr lang="en-US" sz="1200" dirty="0" smtClean="0">
                <a:solidFill>
                  <a:srgbClr val="FFFFFF"/>
                </a:solidFill>
              </a:rPr>
              <a:t>Runtime</a:t>
            </a:r>
            <a:endParaRPr lang="en-US" sz="1200" dirty="0">
              <a:solidFill>
                <a:srgbClr val="FFFFFF"/>
              </a:solidFill>
            </a:endParaRPr>
          </a:p>
        </p:txBody>
      </p:sp>
      <p:sp>
        <p:nvSpPr>
          <p:cNvPr id="29" name="Rectangle 28"/>
          <p:cNvSpPr/>
          <p:nvPr/>
        </p:nvSpPr>
        <p:spPr bwMode="auto">
          <a:xfrm>
            <a:off x="4421379" y="3482774"/>
            <a:ext cx="1332618" cy="638911"/>
          </a:xfrm>
          <a:prstGeom prst="rect">
            <a:avLst/>
          </a:prstGeom>
          <a:solidFill>
            <a:srgbClr val="68217A"/>
          </a:solidFill>
          <a:ln w="25400" cap="flat" cmpd="sng" algn="ctr">
            <a:noFill/>
            <a:prstDash val="solid"/>
            <a:headEnd type="none" w="med" len="med"/>
            <a:tailEnd type="none" w="med" len="med"/>
          </a:ln>
          <a:effectLst/>
        </p:spPr>
        <p:txBody>
          <a:bodyPr vert="horz" wrap="square" lIns="745872" tIns="45677" rIns="91348" bIns="73078" numCol="1" rtlCol="0" anchor="t" anchorCtr="0" compatLnSpc="1">
            <a:prstTxWarp prst="textNoShape">
              <a:avLst/>
            </a:prstTxWarp>
          </a:bodyPr>
          <a:lstStyle/>
          <a:p>
            <a:pPr defTabSz="932048"/>
            <a:endParaRPr lang="en-US" sz="2448" dirty="0">
              <a:gradFill>
                <a:gsLst>
                  <a:gs pos="14679">
                    <a:srgbClr val="FFFFFF"/>
                  </a:gs>
                  <a:gs pos="38000">
                    <a:srgbClr val="FFFFFF"/>
                  </a:gs>
                </a:gsLst>
                <a:lin ang="5400000" scaled="1"/>
              </a:gradFill>
            </a:endParaRPr>
          </a:p>
        </p:txBody>
      </p:sp>
      <p:sp>
        <p:nvSpPr>
          <p:cNvPr id="30" name="Rectangle 29"/>
          <p:cNvSpPr/>
          <p:nvPr/>
        </p:nvSpPr>
        <p:spPr>
          <a:xfrm>
            <a:off x="4600779" y="3674915"/>
            <a:ext cx="973817" cy="258532"/>
          </a:xfrm>
          <a:prstGeom prst="rect">
            <a:avLst/>
          </a:prstGeom>
        </p:spPr>
        <p:txBody>
          <a:bodyPr wrap="square">
            <a:spAutoFit/>
          </a:bodyPr>
          <a:lstStyle/>
          <a:p>
            <a:pPr marL="0" lvl="1" algn="ctr" defTabSz="932048">
              <a:lnSpc>
                <a:spcPct val="90000"/>
              </a:lnSpc>
              <a:spcAft>
                <a:spcPts val="340"/>
              </a:spcAft>
              <a:defRPr/>
            </a:pPr>
            <a:r>
              <a:rPr lang="en-US" sz="1200" dirty="0" smtClean="0">
                <a:solidFill>
                  <a:srgbClr val="FFFFFF"/>
                </a:solidFill>
              </a:rPr>
              <a:t>Runtime</a:t>
            </a:r>
            <a:endParaRPr lang="en-US" sz="1200" dirty="0">
              <a:solidFill>
                <a:srgbClr val="FFFFFF"/>
              </a:solidFill>
            </a:endParaRPr>
          </a:p>
        </p:txBody>
      </p:sp>
      <p:sp>
        <p:nvSpPr>
          <p:cNvPr id="31" name="Rectangle 30"/>
          <p:cNvSpPr/>
          <p:nvPr/>
        </p:nvSpPr>
        <p:spPr bwMode="auto">
          <a:xfrm>
            <a:off x="4421379" y="2374787"/>
            <a:ext cx="1332618" cy="634470"/>
          </a:xfrm>
          <a:prstGeom prst="rect">
            <a:avLst/>
          </a:prstGeom>
          <a:solidFill>
            <a:srgbClr val="7FBA00"/>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32" name="Rectangle 31"/>
          <p:cNvSpPr/>
          <p:nvPr/>
        </p:nvSpPr>
        <p:spPr>
          <a:xfrm>
            <a:off x="4740024" y="2458562"/>
            <a:ext cx="659116" cy="463204"/>
          </a:xfrm>
          <a:prstGeom prst="rect">
            <a:avLst/>
          </a:prstGeom>
        </p:spPr>
        <p:txBody>
          <a:bodyPr wrap="square">
            <a:spAutoFit/>
          </a:bodyPr>
          <a:lstStyle/>
          <a:p>
            <a:pPr marL="0" lvl="1" algn="ctr" defTabSz="932048">
              <a:lnSpc>
                <a:spcPct val="90000"/>
              </a:lnSpc>
              <a:spcAft>
                <a:spcPts val="340"/>
              </a:spcAft>
              <a:defRPr/>
            </a:pPr>
            <a:r>
              <a:rPr lang="en-US" sz="1200" dirty="0" smtClean="0">
                <a:solidFill>
                  <a:srgbClr val="FFFFFF"/>
                </a:solidFill>
              </a:rPr>
              <a:t>App</a:t>
            </a:r>
          </a:p>
          <a:p>
            <a:pPr marL="0" lvl="1" algn="ctr" defTabSz="932048">
              <a:lnSpc>
                <a:spcPct val="90000"/>
              </a:lnSpc>
              <a:spcAft>
                <a:spcPts val="340"/>
              </a:spcAft>
              <a:defRPr/>
            </a:pPr>
            <a:r>
              <a:rPr lang="en-US" sz="1200" dirty="0" smtClean="0">
                <a:solidFill>
                  <a:srgbClr val="FFFFFF"/>
                </a:solidFill>
              </a:rPr>
              <a:t>Model</a:t>
            </a:r>
            <a:endParaRPr lang="en-US" sz="1200" dirty="0">
              <a:solidFill>
                <a:srgbClr val="FFFFFF"/>
              </a:solidFill>
            </a:endParaRPr>
          </a:p>
        </p:txBody>
      </p:sp>
      <p:sp>
        <p:nvSpPr>
          <p:cNvPr id="33" name="Rectangle 32"/>
          <p:cNvSpPr/>
          <p:nvPr/>
        </p:nvSpPr>
        <p:spPr bwMode="auto">
          <a:xfrm>
            <a:off x="4421379" y="3078642"/>
            <a:ext cx="1332618" cy="334747"/>
          </a:xfrm>
          <a:prstGeom prst="rect">
            <a:avLst/>
          </a:prstGeom>
          <a:solidFill>
            <a:srgbClr val="0072C6"/>
          </a:solidFill>
          <a:ln w="25400" cap="flat" cmpd="sng" algn="ctr">
            <a:noFill/>
            <a:prstDash val="solid"/>
            <a:headEnd type="none" w="med" len="med"/>
            <a:tailEnd type="none" w="med" len="med"/>
          </a:ln>
          <a:effectLst/>
        </p:spPr>
        <p:txBody>
          <a:bodyPr vert="horz" wrap="square" lIns="745977" tIns="279742" rIns="91410" bIns="0"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34" name="Rectangle 33"/>
          <p:cNvSpPr/>
          <p:nvPr/>
        </p:nvSpPr>
        <p:spPr>
          <a:xfrm>
            <a:off x="4610395" y="3125802"/>
            <a:ext cx="973817" cy="258532"/>
          </a:xfrm>
          <a:prstGeom prst="rect">
            <a:avLst/>
          </a:prstGeom>
        </p:spPr>
        <p:txBody>
          <a:bodyPr wrap="square">
            <a:spAutoFit/>
          </a:bodyPr>
          <a:lstStyle/>
          <a:p>
            <a:pPr marL="0" lvl="1" algn="ctr" defTabSz="932048">
              <a:lnSpc>
                <a:spcPct val="90000"/>
              </a:lnSpc>
              <a:spcAft>
                <a:spcPts val="340"/>
              </a:spcAft>
              <a:defRPr/>
            </a:pPr>
            <a:r>
              <a:rPr lang="en-US" sz="1200" dirty="0" smtClean="0">
                <a:solidFill>
                  <a:srgbClr val="FFFFFF"/>
                </a:solidFill>
              </a:rPr>
              <a:t>Framework</a:t>
            </a:r>
            <a:endParaRPr lang="en-US" sz="1200" dirty="0">
              <a:solidFill>
                <a:srgbClr val="FFFFFF"/>
              </a:solidFill>
            </a:endParaRPr>
          </a:p>
        </p:txBody>
      </p:sp>
      <p:sp>
        <p:nvSpPr>
          <p:cNvPr id="35" name="Rounded Rectangle 6"/>
          <p:cNvSpPr>
            <a:spLocks noChangeAspect="1"/>
          </p:cNvSpPr>
          <p:nvPr/>
        </p:nvSpPr>
        <p:spPr bwMode="black">
          <a:xfrm rot="16200000">
            <a:off x="4992405" y="1967629"/>
            <a:ext cx="220972" cy="341372"/>
          </a:xfrm>
          <a:custGeom>
            <a:avLst/>
            <a:gdLst/>
            <a:ahLst/>
            <a:cxnLst/>
            <a:rect l="l" t="t" r="r" b="b"/>
            <a:pathLst>
              <a:path w="3286897" h="4658497">
                <a:moveTo>
                  <a:pt x="1600200" y="4382531"/>
                </a:moveTo>
                <a:cubicBezTo>
                  <a:pt x="1600200" y="4367744"/>
                  <a:pt x="1588213" y="4355757"/>
                  <a:pt x="1573426" y="4355757"/>
                </a:cubicBezTo>
                <a:lnTo>
                  <a:pt x="811428" y="4355757"/>
                </a:lnTo>
                <a:cubicBezTo>
                  <a:pt x="796641" y="4355757"/>
                  <a:pt x="784654" y="4367744"/>
                  <a:pt x="784654" y="4382531"/>
                </a:cubicBezTo>
                <a:lnTo>
                  <a:pt x="784654" y="4489621"/>
                </a:lnTo>
                <a:cubicBezTo>
                  <a:pt x="784654" y="4504408"/>
                  <a:pt x="796641" y="4516395"/>
                  <a:pt x="811428" y="4516395"/>
                </a:cubicBezTo>
                <a:lnTo>
                  <a:pt x="1573426" y="4516395"/>
                </a:lnTo>
                <a:cubicBezTo>
                  <a:pt x="1588213" y="4516395"/>
                  <a:pt x="1600200" y="4504408"/>
                  <a:pt x="1600200" y="4489621"/>
                </a:cubicBezTo>
                <a:close/>
                <a:moveTo>
                  <a:pt x="2502243" y="4382531"/>
                </a:moveTo>
                <a:cubicBezTo>
                  <a:pt x="2502243" y="4367744"/>
                  <a:pt x="2490256" y="4355757"/>
                  <a:pt x="2475469" y="4355757"/>
                </a:cubicBezTo>
                <a:lnTo>
                  <a:pt x="1713471" y="4355757"/>
                </a:lnTo>
                <a:cubicBezTo>
                  <a:pt x="1698684" y="4355757"/>
                  <a:pt x="1686697" y="4367744"/>
                  <a:pt x="1686697" y="4382531"/>
                </a:cubicBezTo>
                <a:lnTo>
                  <a:pt x="1686697" y="4489621"/>
                </a:lnTo>
                <a:cubicBezTo>
                  <a:pt x="1686697" y="4504408"/>
                  <a:pt x="1698684" y="4516395"/>
                  <a:pt x="1713471" y="4516395"/>
                </a:cubicBezTo>
                <a:lnTo>
                  <a:pt x="2475469" y="4516395"/>
                </a:lnTo>
                <a:cubicBezTo>
                  <a:pt x="2490256" y="4516395"/>
                  <a:pt x="2502243" y="4504408"/>
                  <a:pt x="2502243" y="4489621"/>
                </a:cubicBezTo>
                <a:close/>
                <a:moveTo>
                  <a:pt x="3021231" y="480896"/>
                </a:moveTo>
                <a:cubicBezTo>
                  <a:pt x="3021231" y="375524"/>
                  <a:pt x="2935811" y="290104"/>
                  <a:pt x="2830439" y="290104"/>
                </a:cubicBezTo>
                <a:lnTo>
                  <a:pt x="444108" y="290104"/>
                </a:lnTo>
                <a:cubicBezTo>
                  <a:pt x="338736" y="290104"/>
                  <a:pt x="253316" y="375524"/>
                  <a:pt x="253316" y="480896"/>
                </a:cubicBezTo>
                <a:lnTo>
                  <a:pt x="253316" y="4029043"/>
                </a:lnTo>
                <a:cubicBezTo>
                  <a:pt x="253316" y="4134415"/>
                  <a:pt x="338736" y="4219835"/>
                  <a:pt x="444108" y="4219835"/>
                </a:cubicBezTo>
                <a:lnTo>
                  <a:pt x="2830439" y="4219835"/>
                </a:lnTo>
                <a:cubicBezTo>
                  <a:pt x="2935811" y="4219835"/>
                  <a:pt x="3021231" y="4134415"/>
                  <a:pt x="3021231" y="4029043"/>
                </a:cubicBezTo>
                <a:close/>
                <a:moveTo>
                  <a:pt x="3286897" y="226566"/>
                </a:moveTo>
                <a:lnTo>
                  <a:pt x="3286897" y="4431931"/>
                </a:lnTo>
                <a:cubicBezTo>
                  <a:pt x="3286897" y="4557060"/>
                  <a:pt x="3185460" y="4658497"/>
                  <a:pt x="3060331" y="4658497"/>
                </a:cubicBezTo>
                <a:lnTo>
                  <a:pt x="226566" y="4658497"/>
                </a:lnTo>
                <a:cubicBezTo>
                  <a:pt x="101437" y="4658497"/>
                  <a:pt x="0" y="4557060"/>
                  <a:pt x="0" y="4431931"/>
                </a:cubicBezTo>
                <a:lnTo>
                  <a:pt x="0" y="226566"/>
                </a:lnTo>
                <a:cubicBezTo>
                  <a:pt x="0" y="101437"/>
                  <a:pt x="101437" y="0"/>
                  <a:pt x="226566" y="0"/>
                </a:cubicBezTo>
                <a:lnTo>
                  <a:pt x="3060331" y="0"/>
                </a:lnTo>
                <a:cubicBezTo>
                  <a:pt x="3185460" y="0"/>
                  <a:pt x="3286897" y="101437"/>
                  <a:pt x="3286897" y="226566"/>
                </a:cubicBezTo>
                <a:close/>
              </a:path>
            </a:pathLst>
          </a:custGeom>
          <a:solidFill>
            <a:srgbClr val="FFFFFF"/>
          </a:solidFill>
          <a:ln w="10795" cap="flat" cmpd="sng" algn="ctr">
            <a:noFill/>
            <a:prstDash val="solid"/>
            <a:headEnd type="none" w="med" len="med"/>
            <a:tailEnd type="none" w="med" len="med"/>
          </a:ln>
          <a:effectLst/>
        </p:spPr>
        <p:txBody>
          <a:bodyPr vert="horz" wrap="square" lIns="0" tIns="30859" rIns="61717" bIns="30859" numCol="1" rtlCol="0" anchor="ctr" anchorCtr="0" compatLnSpc="1">
            <a:prstTxWarp prst="textNoShape">
              <a:avLst/>
            </a:prstTxWarp>
          </a:bodyPr>
          <a:lstStyle/>
          <a:p>
            <a:pPr algn="ctr" defTabSz="555505">
              <a:defRPr/>
            </a:pPr>
            <a:endParaRPr lang="en-US" sz="1324" b="1" kern="0" spc="-91" dirty="0" smtClean="0">
              <a:gradFill>
                <a:gsLst>
                  <a:gs pos="14679">
                    <a:srgbClr val="FFFFFF"/>
                  </a:gs>
                  <a:gs pos="38000">
                    <a:srgbClr val="FFFFFF"/>
                  </a:gs>
                </a:gsLst>
                <a:lin ang="5400000" scaled="1"/>
              </a:gradFill>
              <a:cs typeface="Segoe UI" panose="020B0502040204020203" pitchFamily="34" charset="0"/>
            </a:endParaRPr>
          </a:p>
        </p:txBody>
      </p:sp>
      <p:sp>
        <p:nvSpPr>
          <p:cNvPr id="36" name="Freeform 138"/>
          <p:cNvSpPr>
            <a:spLocks noChangeAspect="1" noEditPoints="1"/>
          </p:cNvSpPr>
          <p:nvPr/>
        </p:nvSpPr>
        <p:spPr bwMode="auto">
          <a:xfrm>
            <a:off x="6608388" y="1985711"/>
            <a:ext cx="139058" cy="277346"/>
          </a:xfrm>
          <a:custGeom>
            <a:avLst/>
            <a:gdLst>
              <a:gd name="T0" fmla="*/ 427 w 463"/>
              <a:gd name="T1" fmla="*/ 0 h 773"/>
              <a:gd name="T2" fmla="*/ 42 w 463"/>
              <a:gd name="T3" fmla="*/ 0 h 773"/>
              <a:gd name="T4" fmla="*/ 0 w 463"/>
              <a:gd name="T5" fmla="*/ 35 h 773"/>
              <a:gd name="T6" fmla="*/ 0 w 463"/>
              <a:gd name="T7" fmla="*/ 733 h 773"/>
              <a:gd name="T8" fmla="*/ 42 w 463"/>
              <a:gd name="T9" fmla="*/ 773 h 773"/>
              <a:gd name="T10" fmla="*/ 427 w 463"/>
              <a:gd name="T11" fmla="*/ 773 h 773"/>
              <a:gd name="T12" fmla="*/ 463 w 463"/>
              <a:gd name="T13" fmla="*/ 733 h 773"/>
              <a:gd name="T14" fmla="*/ 463 w 463"/>
              <a:gd name="T15" fmla="*/ 35 h 773"/>
              <a:gd name="T16" fmla="*/ 427 w 463"/>
              <a:gd name="T17" fmla="*/ 0 h 773"/>
              <a:gd name="T18" fmla="*/ 152 w 463"/>
              <a:gd name="T19" fmla="*/ 730 h 773"/>
              <a:gd name="T20" fmla="*/ 139 w 463"/>
              <a:gd name="T21" fmla="*/ 743 h 773"/>
              <a:gd name="T22" fmla="*/ 112 w 463"/>
              <a:gd name="T23" fmla="*/ 743 h 773"/>
              <a:gd name="T24" fmla="*/ 99 w 463"/>
              <a:gd name="T25" fmla="*/ 730 h 773"/>
              <a:gd name="T26" fmla="*/ 99 w 463"/>
              <a:gd name="T27" fmla="*/ 722 h 773"/>
              <a:gd name="T28" fmla="*/ 112 w 463"/>
              <a:gd name="T29" fmla="*/ 709 h 773"/>
              <a:gd name="T30" fmla="*/ 139 w 463"/>
              <a:gd name="T31" fmla="*/ 709 h 773"/>
              <a:gd name="T32" fmla="*/ 152 w 463"/>
              <a:gd name="T33" fmla="*/ 722 h 773"/>
              <a:gd name="T34" fmla="*/ 152 w 463"/>
              <a:gd name="T35" fmla="*/ 730 h 773"/>
              <a:gd name="T36" fmla="*/ 263 w 463"/>
              <a:gd name="T37" fmla="*/ 724 h 773"/>
              <a:gd name="T38" fmla="*/ 247 w 463"/>
              <a:gd name="T39" fmla="*/ 743 h 773"/>
              <a:gd name="T40" fmla="*/ 219 w 463"/>
              <a:gd name="T41" fmla="*/ 743 h 773"/>
              <a:gd name="T42" fmla="*/ 202 w 463"/>
              <a:gd name="T43" fmla="*/ 724 h 773"/>
              <a:gd name="T44" fmla="*/ 202 w 463"/>
              <a:gd name="T45" fmla="*/ 716 h 773"/>
              <a:gd name="T46" fmla="*/ 219 w 463"/>
              <a:gd name="T47" fmla="*/ 699 h 773"/>
              <a:gd name="T48" fmla="*/ 247 w 463"/>
              <a:gd name="T49" fmla="*/ 699 h 773"/>
              <a:gd name="T50" fmla="*/ 263 w 463"/>
              <a:gd name="T51" fmla="*/ 716 h 773"/>
              <a:gd name="T52" fmla="*/ 263 w 463"/>
              <a:gd name="T53" fmla="*/ 724 h 773"/>
              <a:gd name="T54" fmla="*/ 366 w 463"/>
              <a:gd name="T55" fmla="*/ 730 h 773"/>
              <a:gd name="T56" fmla="*/ 354 w 463"/>
              <a:gd name="T57" fmla="*/ 743 h 773"/>
              <a:gd name="T58" fmla="*/ 326 w 463"/>
              <a:gd name="T59" fmla="*/ 743 h 773"/>
              <a:gd name="T60" fmla="*/ 314 w 463"/>
              <a:gd name="T61" fmla="*/ 730 h 773"/>
              <a:gd name="T62" fmla="*/ 314 w 463"/>
              <a:gd name="T63" fmla="*/ 722 h 773"/>
              <a:gd name="T64" fmla="*/ 326 w 463"/>
              <a:gd name="T65" fmla="*/ 709 h 773"/>
              <a:gd name="T66" fmla="*/ 354 w 463"/>
              <a:gd name="T67" fmla="*/ 709 h 773"/>
              <a:gd name="T68" fmla="*/ 366 w 463"/>
              <a:gd name="T69" fmla="*/ 722 h 773"/>
              <a:gd name="T70" fmla="*/ 366 w 463"/>
              <a:gd name="T71" fmla="*/ 730 h 773"/>
              <a:gd name="T72" fmla="*/ 417 w 463"/>
              <a:gd name="T73" fmla="*/ 644 h 773"/>
              <a:gd name="T74" fmla="*/ 394 w 463"/>
              <a:gd name="T75" fmla="*/ 671 h 773"/>
              <a:gd name="T76" fmla="*/ 74 w 463"/>
              <a:gd name="T77" fmla="*/ 671 h 773"/>
              <a:gd name="T78" fmla="*/ 49 w 463"/>
              <a:gd name="T79" fmla="*/ 644 h 773"/>
              <a:gd name="T80" fmla="*/ 49 w 463"/>
              <a:gd name="T81" fmla="*/ 67 h 773"/>
              <a:gd name="T82" fmla="*/ 74 w 463"/>
              <a:gd name="T83" fmla="*/ 46 h 773"/>
              <a:gd name="T84" fmla="*/ 394 w 463"/>
              <a:gd name="T85" fmla="*/ 46 h 773"/>
              <a:gd name="T86" fmla="*/ 417 w 463"/>
              <a:gd name="T87" fmla="*/ 67 h 773"/>
              <a:gd name="T88" fmla="*/ 417 w 463"/>
              <a:gd name="T89" fmla="*/ 64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63" h="773">
                <a:moveTo>
                  <a:pt x="427" y="0"/>
                </a:moveTo>
                <a:cubicBezTo>
                  <a:pt x="42" y="0"/>
                  <a:pt x="42" y="0"/>
                  <a:pt x="42" y="0"/>
                </a:cubicBezTo>
                <a:cubicBezTo>
                  <a:pt x="19" y="0"/>
                  <a:pt x="0" y="17"/>
                  <a:pt x="0" y="35"/>
                </a:cubicBezTo>
                <a:cubicBezTo>
                  <a:pt x="0" y="733"/>
                  <a:pt x="0" y="733"/>
                  <a:pt x="0" y="733"/>
                </a:cubicBezTo>
                <a:cubicBezTo>
                  <a:pt x="0" y="756"/>
                  <a:pt x="17" y="773"/>
                  <a:pt x="42" y="773"/>
                </a:cubicBezTo>
                <a:cubicBezTo>
                  <a:pt x="427" y="773"/>
                  <a:pt x="427" y="773"/>
                  <a:pt x="427" y="773"/>
                </a:cubicBezTo>
                <a:cubicBezTo>
                  <a:pt x="448" y="773"/>
                  <a:pt x="463" y="756"/>
                  <a:pt x="463" y="733"/>
                </a:cubicBezTo>
                <a:cubicBezTo>
                  <a:pt x="463" y="35"/>
                  <a:pt x="463" y="35"/>
                  <a:pt x="463" y="35"/>
                </a:cubicBezTo>
                <a:cubicBezTo>
                  <a:pt x="463" y="19"/>
                  <a:pt x="451" y="0"/>
                  <a:pt x="427" y="0"/>
                </a:cubicBezTo>
                <a:close/>
                <a:moveTo>
                  <a:pt x="152" y="730"/>
                </a:moveTo>
                <a:cubicBezTo>
                  <a:pt x="152" y="737"/>
                  <a:pt x="146" y="743"/>
                  <a:pt x="139" y="743"/>
                </a:cubicBezTo>
                <a:cubicBezTo>
                  <a:pt x="112" y="743"/>
                  <a:pt x="112" y="743"/>
                  <a:pt x="112" y="743"/>
                </a:cubicBezTo>
                <a:cubicBezTo>
                  <a:pt x="106" y="743"/>
                  <a:pt x="99" y="737"/>
                  <a:pt x="99" y="730"/>
                </a:cubicBezTo>
                <a:cubicBezTo>
                  <a:pt x="99" y="722"/>
                  <a:pt x="99" y="722"/>
                  <a:pt x="99" y="722"/>
                </a:cubicBezTo>
                <a:cubicBezTo>
                  <a:pt x="99" y="714"/>
                  <a:pt x="106" y="709"/>
                  <a:pt x="112" y="709"/>
                </a:cubicBezTo>
                <a:cubicBezTo>
                  <a:pt x="139" y="709"/>
                  <a:pt x="139" y="709"/>
                  <a:pt x="139" y="709"/>
                </a:cubicBezTo>
                <a:cubicBezTo>
                  <a:pt x="146" y="709"/>
                  <a:pt x="152" y="714"/>
                  <a:pt x="152" y="722"/>
                </a:cubicBezTo>
                <a:cubicBezTo>
                  <a:pt x="152" y="730"/>
                  <a:pt x="152" y="730"/>
                  <a:pt x="152" y="730"/>
                </a:cubicBezTo>
                <a:close/>
                <a:moveTo>
                  <a:pt x="263" y="724"/>
                </a:moveTo>
                <a:cubicBezTo>
                  <a:pt x="263" y="735"/>
                  <a:pt x="255" y="743"/>
                  <a:pt x="247" y="743"/>
                </a:cubicBezTo>
                <a:cubicBezTo>
                  <a:pt x="219" y="743"/>
                  <a:pt x="219" y="743"/>
                  <a:pt x="219" y="743"/>
                </a:cubicBezTo>
                <a:cubicBezTo>
                  <a:pt x="211" y="743"/>
                  <a:pt x="202" y="735"/>
                  <a:pt x="202" y="724"/>
                </a:cubicBezTo>
                <a:cubicBezTo>
                  <a:pt x="202" y="716"/>
                  <a:pt x="202" y="716"/>
                  <a:pt x="202" y="716"/>
                </a:cubicBezTo>
                <a:cubicBezTo>
                  <a:pt x="202" y="705"/>
                  <a:pt x="209" y="699"/>
                  <a:pt x="219" y="699"/>
                </a:cubicBezTo>
                <a:cubicBezTo>
                  <a:pt x="247" y="699"/>
                  <a:pt x="247" y="699"/>
                  <a:pt x="247" y="699"/>
                </a:cubicBezTo>
                <a:cubicBezTo>
                  <a:pt x="255" y="699"/>
                  <a:pt x="263" y="705"/>
                  <a:pt x="263" y="716"/>
                </a:cubicBezTo>
                <a:cubicBezTo>
                  <a:pt x="263" y="724"/>
                  <a:pt x="263" y="724"/>
                  <a:pt x="263" y="724"/>
                </a:cubicBezTo>
                <a:close/>
                <a:moveTo>
                  <a:pt x="366" y="730"/>
                </a:moveTo>
                <a:cubicBezTo>
                  <a:pt x="366" y="737"/>
                  <a:pt x="360" y="743"/>
                  <a:pt x="354" y="743"/>
                </a:cubicBezTo>
                <a:cubicBezTo>
                  <a:pt x="326" y="743"/>
                  <a:pt x="326" y="743"/>
                  <a:pt x="326" y="743"/>
                </a:cubicBezTo>
                <a:cubicBezTo>
                  <a:pt x="320" y="743"/>
                  <a:pt x="314" y="737"/>
                  <a:pt x="314" y="730"/>
                </a:cubicBezTo>
                <a:cubicBezTo>
                  <a:pt x="314" y="722"/>
                  <a:pt x="314" y="722"/>
                  <a:pt x="314" y="722"/>
                </a:cubicBezTo>
                <a:cubicBezTo>
                  <a:pt x="314" y="714"/>
                  <a:pt x="320" y="709"/>
                  <a:pt x="326" y="709"/>
                </a:cubicBezTo>
                <a:cubicBezTo>
                  <a:pt x="354" y="709"/>
                  <a:pt x="354" y="709"/>
                  <a:pt x="354" y="709"/>
                </a:cubicBezTo>
                <a:cubicBezTo>
                  <a:pt x="360" y="709"/>
                  <a:pt x="366" y="714"/>
                  <a:pt x="366" y="722"/>
                </a:cubicBezTo>
                <a:cubicBezTo>
                  <a:pt x="366" y="730"/>
                  <a:pt x="366" y="730"/>
                  <a:pt x="366" y="730"/>
                </a:cubicBezTo>
                <a:close/>
                <a:moveTo>
                  <a:pt x="417" y="644"/>
                </a:moveTo>
                <a:cubicBezTo>
                  <a:pt x="417" y="657"/>
                  <a:pt x="409" y="671"/>
                  <a:pt x="394" y="671"/>
                </a:cubicBezTo>
                <a:cubicBezTo>
                  <a:pt x="74" y="671"/>
                  <a:pt x="74" y="671"/>
                  <a:pt x="74" y="671"/>
                </a:cubicBezTo>
                <a:cubicBezTo>
                  <a:pt x="59" y="671"/>
                  <a:pt x="49" y="659"/>
                  <a:pt x="49" y="644"/>
                </a:cubicBezTo>
                <a:cubicBezTo>
                  <a:pt x="49" y="67"/>
                  <a:pt x="49" y="67"/>
                  <a:pt x="49" y="67"/>
                </a:cubicBezTo>
                <a:cubicBezTo>
                  <a:pt x="49" y="50"/>
                  <a:pt x="61" y="46"/>
                  <a:pt x="74" y="46"/>
                </a:cubicBezTo>
                <a:cubicBezTo>
                  <a:pt x="394" y="46"/>
                  <a:pt x="394" y="46"/>
                  <a:pt x="394" y="46"/>
                </a:cubicBezTo>
                <a:cubicBezTo>
                  <a:pt x="404" y="46"/>
                  <a:pt x="417" y="48"/>
                  <a:pt x="417" y="67"/>
                </a:cubicBezTo>
                <a:cubicBezTo>
                  <a:pt x="417" y="644"/>
                  <a:pt x="417" y="644"/>
                  <a:pt x="417" y="644"/>
                </a:cubicBezTo>
                <a:close/>
              </a:path>
            </a:pathLst>
          </a:custGeom>
          <a:solidFill>
            <a:srgbClr val="FFFFFF"/>
          </a:solidFill>
          <a:ln>
            <a:noFill/>
          </a:ln>
        </p:spPr>
        <p:txBody>
          <a:bodyPr vert="horz" wrap="square" lIns="68570" tIns="34285" rIns="68570" bIns="34285" numCol="1" anchor="t" anchorCtr="0" compatLnSpc="1">
            <a:prstTxWarp prst="textNoShape">
              <a:avLst/>
            </a:prstTxWarp>
          </a:bodyPr>
          <a:lstStyle/>
          <a:p>
            <a:pPr defTabSz="685711">
              <a:defRPr/>
            </a:pPr>
            <a:endParaRPr lang="en-US" sz="1324" b="1" kern="0" smtClean="0">
              <a:gradFill>
                <a:gsLst>
                  <a:gs pos="14679">
                    <a:srgbClr val="FFFFFF"/>
                  </a:gs>
                  <a:gs pos="38000">
                    <a:srgbClr val="FFFFFF"/>
                  </a:gs>
                </a:gsLst>
                <a:lin ang="5400000" scaled="1"/>
              </a:gradFill>
              <a:cs typeface="Segoe UI" panose="020B0502040204020203" pitchFamily="34" charset="0"/>
            </a:endParaRPr>
          </a:p>
        </p:txBody>
      </p:sp>
      <p:sp>
        <p:nvSpPr>
          <p:cNvPr id="37" name="Freeform 10"/>
          <p:cNvSpPr>
            <a:spLocks noEditPoints="1"/>
          </p:cNvSpPr>
          <p:nvPr/>
        </p:nvSpPr>
        <p:spPr bwMode="black">
          <a:xfrm>
            <a:off x="8053536" y="1974657"/>
            <a:ext cx="248163" cy="157177"/>
          </a:xfrm>
          <a:custGeom>
            <a:avLst/>
            <a:gdLst>
              <a:gd name="T0" fmla="*/ 401 w 672"/>
              <a:gd name="T1" fmla="*/ 114 h 402"/>
              <a:gd name="T2" fmla="*/ 545 w 672"/>
              <a:gd name="T3" fmla="*/ 258 h 402"/>
              <a:gd name="T4" fmla="*/ 401 w 672"/>
              <a:gd name="T5" fmla="*/ 402 h 402"/>
              <a:gd name="T6" fmla="*/ 401 w 672"/>
              <a:gd name="T7" fmla="*/ 402 h 402"/>
              <a:gd name="T8" fmla="*/ 401 w 672"/>
              <a:gd name="T9" fmla="*/ 402 h 402"/>
              <a:gd name="T10" fmla="*/ 96 w 672"/>
              <a:gd name="T11" fmla="*/ 402 h 402"/>
              <a:gd name="T12" fmla="*/ 96 w 672"/>
              <a:gd name="T13" fmla="*/ 402 h 402"/>
              <a:gd name="T14" fmla="*/ 90 w 672"/>
              <a:gd name="T15" fmla="*/ 402 h 402"/>
              <a:gd name="T16" fmla="*/ 90 w 672"/>
              <a:gd name="T17" fmla="*/ 402 h 402"/>
              <a:gd name="T18" fmla="*/ 89 w 672"/>
              <a:gd name="T19" fmla="*/ 402 h 402"/>
              <a:gd name="T20" fmla="*/ 0 w 672"/>
              <a:gd name="T21" fmla="*/ 314 h 402"/>
              <a:gd name="T22" fmla="*/ 89 w 672"/>
              <a:gd name="T23" fmla="*/ 225 h 402"/>
              <a:gd name="T24" fmla="*/ 124 w 672"/>
              <a:gd name="T25" fmla="*/ 233 h 402"/>
              <a:gd name="T26" fmla="*/ 226 w 672"/>
              <a:gd name="T27" fmla="*/ 171 h 402"/>
              <a:gd name="T28" fmla="*/ 278 w 672"/>
              <a:gd name="T29" fmla="*/ 184 h 402"/>
              <a:gd name="T30" fmla="*/ 401 w 672"/>
              <a:gd name="T31" fmla="*/ 114 h 402"/>
              <a:gd name="T32" fmla="*/ 544 w 672"/>
              <a:gd name="T33" fmla="*/ 0 h 402"/>
              <a:gd name="T34" fmla="*/ 672 w 672"/>
              <a:gd name="T35" fmla="*/ 128 h 402"/>
              <a:gd name="T36" fmla="*/ 557 w 672"/>
              <a:gd name="T37" fmla="*/ 255 h 402"/>
              <a:gd name="T38" fmla="*/ 557 w 672"/>
              <a:gd name="T39" fmla="*/ 253 h 402"/>
              <a:gd name="T40" fmla="*/ 403 w 672"/>
              <a:gd name="T41" fmla="*/ 100 h 402"/>
              <a:gd name="T42" fmla="*/ 273 w 672"/>
              <a:gd name="T43" fmla="*/ 171 h 402"/>
              <a:gd name="T44" fmla="*/ 229 w 672"/>
              <a:gd name="T45" fmla="*/ 159 h 402"/>
              <a:gd name="T46" fmla="*/ 192 w 672"/>
              <a:gd name="T47" fmla="*/ 168 h 402"/>
              <a:gd name="T48" fmla="*/ 265 w 672"/>
              <a:gd name="T49" fmla="*/ 104 h 402"/>
              <a:gd name="T50" fmla="*/ 295 w 672"/>
              <a:gd name="T51" fmla="*/ 111 h 402"/>
              <a:gd name="T52" fmla="*/ 387 w 672"/>
              <a:gd name="T53" fmla="*/ 53 h 402"/>
              <a:gd name="T54" fmla="*/ 433 w 672"/>
              <a:gd name="T55" fmla="*/ 65 h 402"/>
              <a:gd name="T56" fmla="*/ 544 w 672"/>
              <a:gd name="T57" fmla="*/ 0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2" h="402">
                <a:moveTo>
                  <a:pt x="401" y="114"/>
                </a:moveTo>
                <a:cubicBezTo>
                  <a:pt x="481" y="114"/>
                  <a:pt x="545" y="178"/>
                  <a:pt x="545" y="258"/>
                </a:cubicBezTo>
                <a:cubicBezTo>
                  <a:pt x="545" y="338"/>
                  <a:pt x="481" y="402"/>
                  <a:pt x="401" y="402"/>
                </a:cubicBezTo>
                <a:cubicBezTo>
                  <a:pt x="401" y="402"/>
                  <a:pt x="401" y="402"/>
                  <a:pt x="401" y="402"/>
                </a:cubicBezTo>
                <a:cubicBezTo>
                  <a:pt x="401" y="402"/>
                  <a:pt x="401" y="402"/>
                  <a:pt x="401" y="402"/>
                </a:cubicBezTo>
                <a:cubicBezTo>
                  <a:pt x="96" y="402"/>
                  <a:pt x="96" y="402"/>
                  <a:pt x="96" y="402"/>
                </a:cubicBezTo>
                <a:cubicBezTo>
                  <a:pt x="96" y="402"/>
                  <a:pt x="96" y="402"/>
                  <a:pt x="96" y="402"/>
                </a:cubicBezTo>
                <a:cubicBezTo>
                  <a:pt x="90" y="402"/>
                  <a:pt x="90" y="402"/>
                  <a:pt x="90" y="402"/>
                </a:cubicBezTo>
                <a:cubicBezTo>
                  <a:pt x="90" y="402"/>
                  <a:pt x="90" y="402"/>
                  <a:pt x="90" y="402"/>
                </a:cubicBezTo>
                <a:cubicBezTo>
                  <a:pt x="90" y="402"/>
                  <a:pt x="89" y="402"/>
                  <a:pt x="89" y="402"/>
                </a:cubicBezTo>
                <a:cubicBezTo>
                  <a:pt x="40" y="402"/>
                  <a:pt x="0" y="363"/>
                  <a:pt x="0" y="314"/>
                </a:cubicBezTo>
                <a:cubicBezTo>
                  <a:pt x="0" y="265"/>
                  <a:pt x="40" y="225"/>
                  <a:pt x="89" y="225"/>
                </a:cubicBezTo>
                <a:cubicBezTo>
                  <a:pt x="102" y="225"/>
                  <a:pt x="114" y="228"/>
                  <a:pt x="124" y="233"/>
                </a:cubicBezTo>
                <a:cubicBezTo>
                  <a:pt x="143" y="196"/>
                  <a:pt x="181" y="171"/>
                  <a:pt x="226" y="171"/>
                </a:cubicBezTo>
                <a:cubicBezTo>
                  <a:pt x="244" y="171"/>
                  <a:pt x="262" y="176"/>
                  <a:pt x="278" y="184"/>
                </a:cubicBezTo>
                <a:cubicBezTo>
                  <a:pt x="303" y="142"/>
                  <a:pt x="349" y="114"/>
                  <a:pt x="401" y="114"/>
                </a:cubicBezTo>
                <a:close/>
                <a:moveTo>
                  <a:pt x="544" y="0"/>
                </a:moveTo>
                <a:cubicBezTo>
                  <a:pt x="615" y="0"/>
                  <a:pt x="672" y="57"/>
                  <a:pt x="672" y="128"/>
                </a:cubicBezTo>
                <a:cubicBezTo>
                  <a:pt x="672" y="194"/>
                  <a:pt x="622" y="249"/>
                  <a:pt x="557" y="255"/>
                </a:cubicBezTo>
                <a:cubicBezTo>
                  <a:pt x="557" y="253"/>
                  <a:pt x="557" y="253"/>
                  <a:pt x="557" y="253"/>
                </a:cubicBezTo>
                <a:cubicBezTo>
                  <a:pt x="557" y="168"/>
                  <a:pt x="488" y="100"/>
                  <a:pt x="403" y="100"/>
                </a:cubicBezTo>
                <a:cubicBezTo>
                  <a:pt x="348" y="100"/>
                  <a:pt x="300" y="128"/>
                  <a:pt x="273" y="171"/>
                </a:cubicBezTo>
                <a:cubicBezTo>
                  <a:pt x="260" y="163"/>
                  <a:pt x="245" y="159"/>
                  <a:pt x="229" y="159"/>
                </a:cubicBezTo>
                <a:cubicBezTo>
                  <a:pt x="216" y="159"/>
                  <a:pt x="203" y="162"/>
                  <a:pt x="192" y="168"/>
                </a:cubicBezTo>
                <a:cubicBezTo>
                  <a:pt x="196" y="132"/>
                  <a:pt x="227" y="104"/>
                  <a:pt x="265" y="104"/>
                </a:cubicBezTo>
                <a:cubicBezTo>
                  <a:pt x="275" y="104"/>
                  <a:pt x="286" y="106"/>
                  <a:pt x="295" y="111"/>
                </a:cubicBezTo>
                <a:cubicBezTo>
                  <a:pt x="311" y="77"/>
                  <a:pt x="346" y="53"/>
                  <a:pt x="387" y="53"/>
                </a:cubicBezTo>
                <a:cubicBezTo>
                  <a:pt x="403" y="53"/>
                  <a:pt x="419" y="57"/>
                  <a:pt x="433" y="65"/>
                </a:cubicBezTo>
                <a:cubicBezTo>
                  <a:pt x="455" y="26"/>
                  <a:pt x="496" y="0"/>
                  <a:pt x="54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3495" tIns="26748" rIns="53495" bIns="26748" numCol="1" anchor="t" anchorCtr="0" compatLnSpc="1">
            <a:prstTxWarp prst="textNoShape">
              <a:avLst/>
            </a:prstTxWarp>
          </a:bodyPr>
          <a:lstStyle/>
          <a:p>
            <a:pPr defTabSz="534976">
              <a:defRPr/>
            </a:pPr>
            <a:endParaRPr lang="en-US" sz="1029" b="1" kern="0" smtClean="0">
              <a:gradFill>
                <a:gsLst>
                  <a:gs pos="14679">
                    <a:srgbClr val="FFFFFF"/>
                  </a:gs>
                  <a:gs pos="38000">
                    <a:srgbClr val="FFFFFF"/>
                  </a:gs>
                </a:gsLst>
                <a:lin ang="5400000" scaled="1"/>
              </a:gradFill>
              <a:cs typeface="Segoe UI" panose="020B0502040204020203" pitchFamily="34" charset="0"/>
            </a:endParaRPr>
          </a:p>
        </p:txBody>
      </p:sp>
      <p:grpSp>
        <p:nvGrpSpPr>
          <p:cNvPr id="38" name="Group 37"/>
          <p:cNvGrpSpPr>
            <a:grpSpLocks noChangeAspect="1"/>
          </p:cNvGrpSpPr>
          <p:nvPr/>
        </p:nvGrpSpPr>
        <p:grpSpPr>
          <a:xfrm>
            <a:off x="8262976" y="2074598"/>
            <a:ext cx="217114" cy="227844"/>
            <a:chOff x="2870057" y="3971122"/>
            <a:chExt cx="478391" cy="502036"/>
          </a:xfrm>
        </p:grpSpPr>
        <p:pic>
          <p:nvPicPr>
            <p:cNvPr id="39" name="Picture 2" descr="\\MAGNUM\Projects\Microsoft\Cloud Power FY12\Design\Icons\PNGs\Server_2.png"/>
            <p:cNvPicPr>
              <a:picLocks noChangeAspect="1" noChangeArrowheads="1"/>
            </p:cNvPicPr>
            <p:nvPr/>
          </p:nvPicPr>
          <p:blipFill rotWithShape="1">
            <a:blip r:embed="rId2" cstate="print">
              <a:lum bright="100000"/>
            </a:blip>
            <a:srcRect l="23785" t="10057" r="26214" b="10776"/>
            <a:stretch/>
          </p:blipFill>
          <p:spPr bwMode="auto">
            <a:xfrm>
              <a:off x="3077831" y="3979427"/>
              <a:ext cx="270617" cy="428478"/>
            </a:xfrm>
            <a:prstGeom prst="rect">
              <a:avLst/>
            </a:prstGeom>
            <a:noFill/>
          </p:spPr>
        </p:pic>
        <p:pic>
          <p:nvPicPr>
            <p:cNvPr id="40" name="Picture 2" descr="\\MAGNUM\Projects\Microsoft\Cloud Power FY12\Design\Icons\PNGs\Server_2.png"/>
            <p:cNvPicPr>
              <a:picLocks noChangeAspect="1" noChangeArrowheads="1"/>
            </p:cNvPicPr>
            <p:nvPr/>
          </p:nvPicPr>
          <p:blipFill rotWithShape="1">
            <a:blip r:embed="rId2" cstate="print">
              <a:lum bright="100000"/>
            </a:blip>
            <a:srcRect l="23785" t="10057" r="26214" b="10776"/>
            <a:stretch/>
          </p:blipFill>
          <p:spPr bwMode="auto">
            <a:xfrm>
              <a:off x="2870057" y="3971122"/>
              <a:ext cx="317075" cy="502036"/>
            </a:xfrm>
            <a:prstGeom prst="rect">
              <a:avLst/>
            </a:prstGeom>
            <a:noFill/>
          </p:spPr>
        </p:pic>
      </p:grpSp>
      <p:sp>
        <p:nvSpPr>
          <p:cNvPr id="41" name="Freeform 10"/>
          <p:cNvSpPr>
            <a:spLocks noEditPoints="1"/>
          </p:cNvSpPr>
          <p:nvPr/>
        </p:nvSpPr>
        <p:spPr bwMode="black">
          <a:xfrm>
            <a:off x="9673320" y="1968057"/>
            <a:ext cx="248163" cy="157177"/>
          </a:xfrm>
          <a:custGeom>
            <a:avLst/>
            <a:gdLst>
              <a:gd name="T0" fmla="*/ 401 w 672"/>
              <a:gd name="T1" fmla="*/ 114 h 402"/>
              <a:gd name="T2" fmla="*/ 545 w 672"/>
              <a:gd name="T3" fmla="*/ 258 h 402"/>
              <a:gd name="T4" fmla="*/ 401 w 672"/>
              <a:gd name="T5" fmla="*/ 402 h 402"/>
              <a:gd name="T6" fmla="*/ 401 w 672"/>
              <a:gd name="T7" fmla="*/ 402 h 402"/>
              <a:gd name="T8" fmla="*/ 401 w 672"/>
              <a:gd name="T9" fmla="*/ 402 h 402"/>
              <a:gd name="T10" fmla="*/ 96 w 672"/>
              <a:gd name="T11" fmla="*/ 402 h 402"/>
              <a:gd name="T12" fmla="*/ 96 w 672"/>
              <a:gd name="T13" fmla="*/ 402 h 402"/>
              <a:gd name="T14" fmla="*/ 90 w 672"/>
              <a:gd name="T15" fmla="*/ 402 h 402"/>
              <a:gd name="T16" fmla="*/ 90 w 672"/>
              <a:gd name="T17" fmla="*/ 402 h 402"/>
              <a:gd name="T18" fmla="*/ 89 w 672"/>
              <a:gd name="T19" fmla="*/ 402 h 402"/>
              <a:gd name="T20" fmla="*/ 0 w 672"/>
              <a:gd name="T21" fmla="*/ 314 h 402"/>
              <a:gd name="T22" fmla="*/ 89 w 672"/>
              <a:gd name="T23" fmla="*/ 225 h 402"/>
              <a:gd name="T24" fmla="*/ 124 w 672"/>
              <a:gd name="T25" fmla="*/ 233 h 402"/>
              <a:gd name="T26" fmla="*/ 226 w 672"/>
              <a:gd name="T27" fmla="*/ 171 h 402"/>
              <a:gd name="T28" fmla="*/ 278 w 672"/>
              <a:gd name="T29" fmla="*/ 184 h 402"/>
              <a:gd name="T30" fmla="*/ 401 w 672"/>
              <a:gd name="T31" fmla="*/ 114 h 402"/>
              <a:gd name="T32" fmla="*/ 544 w 672"/>
              <a:gd name="T33" fmla="*/ 0 h 402"/>
              <a:gd name="T34" fmla="*/ 672 w 672"/>
              <a:gd name="T35" fmla="*/ 128 h 402"/>
              <a:gd name="T36" fmla="*/ 557 w 672"/>
              <a:gd name="T37" fmla="*/ 255 h 402"/>
              <a:gd name="T38" fmla="*/ 557 w 672"/>
              <a:gd name="T39" fmla="*/ 253 h 402"/>
              <a:gd name="T40" fmla="*/ 403 w 672"/>
              <a:gd name="T41" fmla="*/ 100 h 402"/>
              <a:gd name="T42" fmla="*/ 273 w 672"/>
              <a:gd name="T43" fmla="*/ 171 h 402"/>
              <a:gd name="T44" fmla="*/ 229 w 672"/>
              <a:gd name="T45" fmla="*/ 159 h 402"/>
              <a:gd name="T46" fmla="*/ 192 w 672"/>
              <a:gd name="T47" fmla="*/ 168 h 402"/>
              <a:gd name="T48" fmla="*/ 265 w 672"/>
              <a:gd name="T49" fmla="*/ 104 h 402"/>
              <a:gd name="T50" fmla="*/ 295 w 672"/>
              <a:gd name="T51" fmla="*/ 111 h 402"/>
              <a:gd name="T52" fmla="*/ 387 w 672"/>
              <a:gd name="T53" fmla="*/ 53 h 402"/>
              <a:gd name="T54" fmla="*/ 433 w 672"/>
              <a:gd name="T55" fmla="*/ 65 h 402"/>
              <a:gd name="T56" fmla="*/ 544 w 672"/>
              <a:gd name="T57" fmla="*/ 0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2" h="402">
                <a:moveTo>
                  <a:pt x="401" y="114"/>
                </a:moveTo>
                <a:cubicBezTo>
                  <a:pt x="481" y="114"/>
                  <a:pt x="545" y="178"/>
                  <a:pt x="545" y="258"/>
                </a:cubicBezTo>
                <a:cubicBezTo>
                  <a:pt x="545" y="338"/>
                  <a:pt x="481" y="402"/>
                  <a:pt x="401" y="402"/>
                </a:cubicBezTo>
                <a:cubicBezTo>
                  <a:pt x="401" y="402"/>
                  <a:pt x="401" y="402"/>
                  <a:pt x="401" y="402"/>
                </a:cubicBezTo>
                <a:cubicBezTo>
                  <a:pt x="401" y="402"/>
                  <a:pt x="401" y="402"/>
                  <a:pt x="401" y="402"/>
                </a:cubicBezTo>
                <a:cubicBezTo>
                  <a:pt x="96" y="402"/>
                  <a:pt x="96" y="402"/>
                  <a:pt x="96" y="402"/>
                </a:cubicBezTo>
                <a:cubicBezTo>
                  <a:pt x="96" y="402"/>
                  <a:pt x="96" y="402"/>
                  <a:pt x="96" y="402"/>
                </a:cubicBezTo>
                <a:cubicBezTo>
                  <a:pt x="90" y="402"/>
                  <a:pt x="90" y="402"/>
                  <a:pt x="90" y="402"/>
                </a:cubicBezTo>
                <a:cubicBezTo>
                  <a:pt x="90" y="402"/>
                  <a:pt x="90" y="402"/>
                  <a:pt x="90" y="402"/>
                </a:cubicBezTo>
                <a:cubicBezTo>
                  <a:pt x="90" y="402"/>
                  <a:pt x="89" y="402"/>
                  <a:pt x="89" y="402"/>
                </a:cubicBezTo>
                <a:cubicBezTo>
                  <a:pt x="40" y="402"/>
                  <a:pt x="0" y="363"/>
                  <a:pt x="0" y="314"/>
                </a:cubicBezTo>
                <a:cubicBezTo>
                  <a:pt x="0" y="265"/>
                  <a:pt x="40" y="225"/>
                  <a:pt x="89" y="225"/>
                </a:cubicBezTo>
                <a:cubicBezTo>
                  <a:pt x="102" y="225"/>
                  <a:pt x="114" y="228"/>
                  <a:pt x="124" y="233"/>
                </a:cubicBezTo>
                <a:cubicBezTo>
                  <a:pt x="143" y="196"/>
                  <a:pt x="181" y="171"/>
                  <a:pt x="226" y="171"/>
                </a:cubicBezTo>
                <a:cubicBezTo>
                  <a:pt x="244" y="171"/>
                  <a:pt x="262" y="176"/>
                  <a:pt x="278" y="184"/>
                </a:cubicBezTo>
                <a:cubicBezTo>
                  <a:pt x="303" y="142"/>
                  <a:pt x="349" y="114"/>
                  <a:pt x="401" y="114"/>
                </a:cubicBezTo>
                <a:close/>
                <a:moveTo>
                  <a:pt x="544" y="0"/>
                </a:moveTo>
                <a:cubicBezTo>
                  <a:pt x="615" y="0"/>
                  <a:pt x="672" y="57"/>
                  <a:pt x="672" y="128"/>
                </a:cubicBezTo>
                <a:cubicBezTo>
                  <a:pt x="672" y="194"/>
                  <a:pt x="622" y="249"/>
                  <a:pt x="557" y="255"/>
                </a:cubicBezTo>
                <a:cubicBezTo>
                  <a:pt x="557" y="253"/>
                  <a:pt x="557" y="253"/>
                  <a:pt x="557" y="253"/>
                </a:cubicBezTo>
                <a:cubicBezTo>
                  <a:pt x="557" y="168"/>
                  <a:pt x="488" y="100"/>
                  <a:pt x="403" y="100"/>
                </a:cubicBezTo>
                <a:cubicBezTo>
                  <a:pt x="348" y="100"/>
                  <a:pt x="300" y="128"/>
                  <a:pt x="273" y="171"/>
                </a:cubicBezTo>
                <a:cubicBezTo>
                  <a:pt x="260" y="163"/>
                  <a:pt x="245" y="159"/>
                  <a:pt x="229" y="159"/>
                </a:cubicBezTo>
                <a:cubicBezTo>
                  <a:pt x="216" y="159"/>
                  <a:pt x="203" y="162"/>
                  <a:pt x="192" y="168"/>
                </a:cubicBezTo>
                <a:cubicBezTo>
                  <a:pt x="196" y="132"/>
                  <a:pt x="227" y="104"/>
                  <a:pt x="265" y="104"/>
                </a:cubicBezTo>
                <a:cubicBezTo>
                  <a:pt x="275" y="104"/>
                  <a:pt x="286" y="106"/>
                  <a:pt x="295" y="111"/>
                </a:cubicBezTo>
                <a:cubicBezTo>
                  <a:pt x="311" y="77"/>
                  <a:pt x="346" y="53"/>
                  <a:pt x="387" y="53"/>
                </a:cubicBezTo>
                <a:cubicBezTo>
                  <a:pt x="403" y="53"/>
                  <a:pt x="419" y="57"/>
                  <a:pt x="433" y="65"/>
                </a:cubicBezTo>
                <a:cubicBezTo>
                  <a:pt x="455" y="26"/>
                  <a:pt x="496" y="0"/>
                  <a:pt x="54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3495" tIns="26748" rIns="53495" bIns="26748" numCol="1" anchor="t" anchorCtr="0" compatLnSpc="1">
            <a:prstTxWarp prst="textNoShape">
              <a:avLst/>
            </a:prstTxWarp>
          </a:bodyPr>
          <a:lstStyle/>
          <a:p>
            <a:pPr defTabSz="534976">
              <a:defRPr/>
            </a:pPr>
            <a:endParaRPr lang="en-US" sz="1029" b="1" kern="0" smtClean="0">
              <a:gradFill>
                <a:gsLst>
                  <a:gs pos="14679">
                    <a:srgbClr val="FFFFFF"/>
                  </a:gs>
                  <a:gs pos="38000">
                    <a:srgbClr val="FFFFFF"/>
                  </a:gs>
                </a:gsLst>
                <a:lin ang="5400000" scaled="1"/>
              </a:gradFill>
              <a:cs typeface="Segoe UI" panose="020B0502040204020203" pitchFamily="34" charset="0"/>
            </a:endParaRPr>
          </a:p>
        </p:txBody>
      </p:sp>
      <p:grpSp>
        <p:nvGrpSpPr>
          <p:cNvPr id="42" name="Group 41"/>
          <p:cNvGrpSpPr>
            <a:grpSpLocks noChangeAspect="1"/>
          </p:cNvGrpSpPr>
          <p:nvPr/>
        </p:nvGrpSpPr>
        <p:grpSpPr>
          <a:xfrm>
            <a:off x="9882760" y="2067998"/>
            <a:ext cx="217114" cy="227844"/>
            <a:chOff x="2870057" y="3971122"/>
            <a:chExt cx="478391" cy="502036"/>
          </a:xfrm>
        </p:grpSpPr>
        <p:pic>
          <p:nvPicPr>
            <p:cNvPr id="43" name="Picture 2" descr="\\MAGNUM\Projects\Microsoft\Cloud Power FY12\Design\Icons\PNGs\Server_2.png"/>
            <p:cNvPicPr>
              <a:picLocks noChangeAspect="1" noChangeArrowheads="1"/>
            </p:cNvPicPr>
            <p:nvPr/>
          </p:nvPicPr>
          <p:blipFill rotWithShape="1">
            <a:blip r:embed="rId2" cstate="print">
              <a:lum bright="100000"/>
            </a:blip>
            <a:srcRect l="23785" t="10057" r="26214" b="10776"/>
            <a:stretch/>
          </p:blipFill>
          <p:spPr bwMode="auto">
            <a:xfrm>
              <a:off x="3077831" y="3979427"/>
              <a:ext cx="270617" cy="428478"/>
            </a:xfrm>
            <a:prstGeom prst="rect">
              <a:avLst/>
            </a:prstGeom>
            <a:noFill/>
          </p:spPr>
        </p:pic>
        <p:pic>
          <p:nvPicPr>
            <p:cNvPr id="44" name="Picture 2" descr="\\MAGNUM\Projects\Microsoft\Cloud Power FY12\Design\Icons\PNGs\Server_2.png"/>
            <p:cNvPicPr>
              <a:picLocks noChangeAspect="1" noChangeArrowheads="1"/>
            </p:cNvPicPr>
            <p:nvPr/>
          </p:nvPicPr>
          <p:blipFill rotWithShape="1">
            <a:blip r:embed="rId2" cstate="print">
              <a:lum bright="100000"/>
            </a:blip>
            <a:srcRect l="23785" t="10057" r="26214" b="10776"/>
            <a:stretch/>
          </p:blipFill>
          <p:spPr bwMode="auto">
            <a:xfrm>
              <a:off x="2870057" y="3971122"/>
              <a:ext cx="317075" cy="502036"/>
            </a:xfrm>
            <a:prstGeom prst="rect">
              <a:avLst/>
            </a:prstGeom>
            <a:noFill/>
          </p:spPr>
        </p:pic>
      </p:grpSp>
      <p:sp>
        <p:nvSpPr>
          <p:cNvPr id="45" name="Rectangle 44"/>
          <p:cNvSpPr/>
          <p:nvPr/>
        </p:nvSpPr>
        <p:spPr bwMode="auto">
          <a:xfrm>
            <a:off x="6021072" y="3860076"/>
            <a:ext cx="1332618" cy="407559"/>
          </a:xfrm>
          <a:prstGeom prst="rect">
            <a:avLst/>
          </a:prstGeom>
          <a:solidFill>
            <a:srgbClr val="68217A"/>
          </a:solidFill>
          <a:ln w="25400" cap="flat" cmpd="sng" algn="ctr">
            <a:noFill/>
            <a:prstDash val="solid"/>
            <a:headEnd type="none" w="med" len="med"/>
            <a:tailEnd type="none" w="med" len="med"/>
          </a:ln>
          <a:effectLst/>
        </p:spPr>
        <p:txBody>
          <a:bodyPr vert="horz" wrap="square" lIns="745872" tIns="45677" rIns="91348" bIns="73078" numCol="1" rtlCol="0" anchor="t" anchorCtr="0" compatLnSpc="1">
            <a:prstTxWarp prst="textNoShape">
              <a:avLst/>
            </a:prstTxWarp>
          </a:bodyPr>
          <a:lstStyle/>
          <a:p>
            <a:pPr defTabSz="932048"/>
            <a:endParaRPr lang="en-US" sz="2448" dirty="0">
              <a:gradFill>
                <a:gsLst>
                  <a:gs pos="14679">
                    <a:srgbClr val="FFFFFF"/>
                  </a:gs>
                  <a:gs pos="38000">
                    <a:srgbClr val="FFFFFF"/>
                  </a:gs>
                </a:gsLst>
                <a:lin ang="5400000" scaled="1"/>
              </a:gradFill>
            </a:endParaRPr>
          </a:p>
        </p:txBody>
      </p:sp>
      <p:sp>
        <p:nvSpPr>
          <p:cNvPr id="46" name="Rectangle 45"/>
          <p:cNvSpPr/>
          <p:nvPr/>
        </p:nvSpPr>
        <p:spPr>
          <a:xfrm>
            <a:off x="6210088" y="3942500"/>
            <a:ext cx="973817" cy="258532"/>
          </a:xfrm>
          <a:prstGeom prst="rect">
            <a:avLst/>
          </a:prstGeom>
        </p:spPr>
        <p:txBody>
          <a:bodyPr wrap="square">
            <a:spAutoFit/>
          </a:bodyPr>
          <a:lstStyle/>
          <a:p>
            <a:pPr marL="0" lvl="1" algn="ctr" defTabSz="932048">
              <a:lnSpc>
                <a:spcPct val="90000"/>
              </a:lnSpc>
              <a:spcAft>
                <a:spcPts val="340"/>
              </a:spcAft>
              <a:defRPr/>
            </a:pPr>
            <a:r>
              <a:rPr lang="en-US" sz="1200" dirty="0" smtClean="0">
                <a:solidFill>
                  <a:srgbClr val="FFFFFF"/>
                </a:solidFill>
              </a:rPr>
              <a:t>Runtime</a:t>
            </a:r>
            <a:endParaRPr lang="en-US" sz="1200" dirty="0">
              <a:solidFill>
                <a:srgbClr val="FFFFFF"/>
              </a:solidFill>
            </a:endParaRPr>
          </a:p>
        </p:txBody>
      </p:sp>
      <p:sp>
        <p:nvSpPr>
          <p:cNvPr id="47" name="Rectangle 46"/>
          <p:cNvSpPr/>
          <p:nvPr/>
        </p:nvSpPr>
        <p:spPr bwMode="auto">
          <a:xfrm>
            <a:off x="6021072" y="2373936"/>
            <a:ext cx="1332618" cy="751865"/>
          </a:xfrm>
          <a:prstGeom prst="rect">
            <a:avLst/>
          </a:prstGeom>
          <a:solidFill>
            <a:srgbClr val="7FBA00"/>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48" name="Rectangle 47"/>
          <p:cNvSpPr/>
          <p:nvPr/>
        </p:nvSpPr>
        <p:spPr>
          <a:xfrm>
            <a:off x="6339717" y="2521083"/>
            <a:ext cx="659116" cy="463204"/>
          </a:xfrm>
          <a:prstGeom prst="rect">
            <a:avLst/>
          </a:prstGeom>
        </p:spPr>
        <p:txBody>
          <a:bodyPr wrap="square">
            <a:spAutoFit/>
          </a:bodyPr>
          <a:lstStyle/>
          <a:p>
            <a:pPr marL="0" lvl="1" algn="ctr" defTabSz="932048">
              <a:lnSpc>
                <a:spcPct val="90000"/>
              </a:lnSpc>
              <a:spcAft>
                <a:spcPts val="340"/>
              </a:spcAft>
              <a:defRPr/>
            </a:pPr>
            <a:r>
              <a:rPr lang="en-US" sz="1200" dirty="0" smtClean="0">
                <a:solidFill>
                  <a:srgbClr val="FFFFFF"/>
                </a:solidFill>
              </a:rPr>
              <a:t>App</a:t>
            </a:r>
          </a:p>
          <a:p>
            <a:pPr marL="0" lvl="1" algn="ctr" defTabSz="932048">
              <a:lnSpc>
                <a:spcPct val="90000"/>
              </a:lnSpc>
              <a:spcAft>
                <a:spcPts val="340"/>
              </a:spcAft>
              <a:defRPr/>
            </a:pPr>
            <a:r>
              <a:rPr lang="en-US" sz="1200" dirty="0" smtClean="0">
                <a:solidFill>
                  <a:srgbClr val="FFFFFF"/>
                </a:solidFill>
              </a:rPr>
              <a:t>Model</a:t>
            </a:r>
            <a:endParaRPr lang="en-US" sz="1200" dirty="0">
              <a:solidFill>
                <a:srgbClr val="FFFFFF"/>
              </a:solidFill>
            </a:endParaRPr>
          </a:p>
        </p:txBody>
      </p:sp>
      <p:sp>
        <p:nvSpPr>
          <p:cNvPr id="49" name="Rectangle 48"/>
          <p:cNvSpPr/>
          <p:nvPr/>
        </p:nvSpPr>
        <p:spPr bwMode="auto">
          <a:xfrm>
            <a:off x="6021072" y="3185481"/>
            <a:ext cx="1332618" cy="629496"/>
          </a:xfrm>
          <a:prstGeom prst="rect">
            <a:avLst/>
          </a:prstGeom>
          <a:solidFill>
            <a:srgbClr val="0072C6"/>
          </a:solidFill>
          <a:ln w="25400" cap="flat" cmpd="sng" algn="ctr">
            <a:noFill/>
            <a:prstDash val="solid"/>
            <a:headEnd type="none" w="med" len="med"/>
            <a:tailEnd type="none" w="med" len="med"/>
          </a:ln>
          <a:effectLst/>
        </p:spPr>
        <p:txBody>
          <a:bodyPr vert="horz" wrap="square" lIns="745977" tIns="279742" rIns="91410" bIns="0"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50" name="Rectangle 49"/>
          <p:cNvSpPr/>
          <p:nvPr/>
        </p:nvSpPr>
        <p:spPr>
          <a:xfrm>
            <a:off x="6210088" y="3368440"/>
            <a:ext cx="973817" cy="258532"/>
          </a:xfrm>
          <a:prstGeom prst="rect">
            <a:avLst/>
          </a:prstGeom>
        </p:spPr>
        <p:txBody>
          <a:bodyPr wrap="square">
            <a:spAutoFit/>
          </a:bodyPr>
          <a:lstStyle/>
          <a:p>
            <a:pPr marL="0" lvl="1" algn="ctr" defTabSz="932048">
              <a:lnSpc>
                <a:spcPct val="90000"/>
              </a:lnSpc>
              <a:spcAft>
                <a:spcPts val="340"/>
              </a:spcAft>
              <a:defRPr/>
            </a:pPr>
            <a:r>
              <a:rPr lang="en-US" sz="1200" dirty="0" smtClean="0">
                <a:solidFill>
                  <a:srgbClr val="FFFFFF"/>
                </a:solidFill>
              </a:rPr>
              <a:t>Framework</a:t>
            </a:r>
            <a:endParaRPr lang="en-US" sz="1200" dirty="0">
              <a:solidFill>
                <a:srgbClr val="FFFFFF"/>
              </a:solidFill>
            </a:endParaRPr>
          </a:p>
        </p:txBody>
      </p:sp>
      <p:sp>
        <p:nvSpPr>
          <p:cNvPr id="51" name="Rectangle 50"/>
          <p:cNvSpPr/>
          <p:nvPr/>
        </p:nvSpPr>
        <p:spPr bwMode="auto">
          <a:xfrm>
            <a:off x="9216451" y="3549288"/>
            <a:ext cx="1332618" cy="407559"/>
          </a:xfrm>
          <a:prstGeom prst="rect">
            <a:avLst/>
          </a:prstGeom>
          <a:solidFill>
            <a:srgbClr val="68217A"/>
          </a:solidFill>
          <a:ln w="25400" cap="flat" cmpd="sng" algn="ctr">
            <a:noFill/>
            <a:prstDash val="solid"/>
            <a:headEnd type="none" w="med" len="med"/>
            <a:tailEnd type="none" w="med" len="med"/>
          </a:ln>
          <a:effectLst/>
        </p:spPr>
        <p:txBody>
          <a:bodyPr vert="horz" wrap="square" lIns="745872" tIns="45677" rIns="91348" bIns="73078" numCol="1" rtlCol="0" anchor="t" anchorCtr="0" compatLnSpc="1">
            <a:prstTxWarp prst="textNoShape">
              <a:avLst/>
            </a:prstTxWarp>
          </a:bodyPr>
          <a:lstStyle/>
          <a:p>
            <a:pPr defTabSz="932048"/>
            <a:endParaRPr lang="en-US" sz="2448" dirty="0">
              <a:gradFill>
                <a:gsLst>
                  <a:gs pos="14679">
                    <a:srgbClr val="FFFFFF"/>
                  </a:gs>
                  <a:gs pos="38000">
                    <a:srgbClr val="FFFFFF"/>
                  </a:gs>
                </a:gsLst>
                <a:lin ang="5400000" scaled="1"/>
              </a:gradFill>
            </a:endParaRPr>
          </a:p>
        </p:txBody>
      </p:sp>
      <p:sp>
        <p:nvSpPr>
          <p:cNvPr id="52" name="Rectangle 51"/>
          <p:cNvSpPr/>
          <p:nvPr/>
        </p:nvSpPr>
        <p:spPr>
          <a:xfrm>
            <a:off x="9405467" y="3631712"/>
            <a:ext cx="973817" cy="258532"/>
          </a:xfrm>
          <a:prstGeom prst="rect">
            <a:avLst/>
          </a:prstGeom>
        </p:spPr>
        <p:txBody>
          <a:bodyPr wrap="square">
            <a:spAutoFit/>
          </a:bodyPr>
          <a:lstStyle/>
          <a:p>
            <a:pPr marL="0" lvl="1" algn="ctr" defTabSz="932048">
              <a:lnSpc>
                <a:spcPct val="90000"/>
              </a:lnSpc>
              <a:spcAft>
                <a:spcPts val="340"/>
              </a:spcAft>
              <a:defRPr/>
            </a:pPr>
            <a:r>
              <a:rPr lang="en-US" sz="1200" dirty="0" smtClean="0">
                <a:solidFill>
                  <a:srgbClr val="FFFFFF"/>
                </a:solidFill>
              </a:rPr>
              <a:t>Runtime</a:t>
            </a:r>
            <a:endParaRPr lang="en-US" sz="1200" dirty="0">
              <a:solidFill>
                <a:srgbClr val="FFFFFF"/>
              </a:solidFill>
            </a:endParaRPr>
          </a:p>
        </p:txBody>
      </p:sp>
      <p:sp>
        <p:nvSpPr>
          <p:cNvPr id="53" name="Rectangle 52"/>
          <p:cNvSpPr/>
          <p:nvPr/>
        </p:nvSpPr>
        <p:spPr bwMode="auto">
          <a:xfrm>
            <a:off x="9216451" y="2383263"/>
            <a:ext cx="1332618" cy="441608"/>
          </a:xfrm>
          <a:prstGeom prst="rect">
            <a:avLst/>
          </a:prstGeom>
          <a:solidFill>
            <a:srgbClr val="7FBA00"/>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54" name="Rectangle 53"/>
          <p:cNvSpPr/>
          <p:nvPr/>
        </p:nvSpPr>
        <p:spPr>
          <a:xfrm>
            <a:off x="9562817" y="2383263"/>
            <a:ext cx="659116" cy="463204"/>
          </a:xfrm>
          <a:prstGeom prst="rect">
            <a:avLst/>
          </a:prstGeom>
        </p:spPr>
        <p:txBody>
          <a:bodyPr wrap="square">
            <a:spAutoFit/>
          </a:bodyPr>
          <a:lstStyle/>
          <a:p>
            <a:pPr marL="0" lvl="1" algn="ctr" defTabSz="932048">
              <a:lnSpc>
                <a:spcPct val="90000"/>
              </a:lnSpc>
              <a:spcAft>
                <a:spcPts val="340"/>
              </a:spcAft>
              <a:defRPr/>
            </a:pPr>
            <a:r>
              <a:rPr lang="en-US" sz="1200" dirty="0" smtClean="0">
                <a:solidFill>
                  <a:srgbClr val="FFFFFF"/>
                </a:solidFill>
              </a:rPr>
              <a:t>App</a:t>
            </a:r>
          </a:p>
          <a:p>
            <a:pPr marL="0" lvl="1" algn="ctr" defTabSz="932048">
              <a:lnSpc>
                <a:spcPct val="90000"/>
              </a:lnSpc>
              <a:spcAft>
                <a:spcPts val="340"/>
              </a:spcAft>
              <a:defRPr/>
            </a:pPr>
            <a:r>
              <a:rPr lang="en-US" sz="1200" dirty="0" smtClean="0">
                <a:solidFill>
                  <a:srgbClr val="FFFFFF"/>
                </a:solidFill>
              </a:rPr>
              <a:t>Model</a:t>
            </a:r>
            <a:endParaRPr lang="en-US" sz="1200" dirty="0">
              <a:solidFill>
                <a:srgbClr val="FFFFFF"/>
              </a:solidFill>
            </a:endParaRPr>
          </a:p>
        </p:txBody>
      </p:sp>
      <p:sp>
        <p:nvSpPr>
          <p:cNvPr id="55" name="Rectangle 54"/>
          <p:cNvSpPr/>
          <p:nvPr/>
        </p:nvSpPr>
        <p:spPr bwMode="auto">
          <a:xfrm>
            <a:off x="9216451" y="2876858"/>
            <a:ext cx="1332618" cy="629496"/>
          </a:xfrm>
          <a:prstGeom prst="rect">
            <a:avLst/>
          </a:prstGeom>
          <a:solidFill>
            <a:srgbClr val="0072C6"/>
          </a:solidFill>
          <a:ln w="25400" cap="flat" cmpd="sng" algn="ctr">
            <a:noFill/>
            <a:prstDash val="solid"/>
            <a:headEnd type="none" w="med" len="med"/>
            <a:tailEnd type="none" w="med" len="med"/>
          </a:ln>
          <a:effectLst/>
        </p:spPr>
        <p:txBody>
          <a:bodyPr vert="horz" wrap="square" lIns="745977" tIns="279742" rIns="91410" bIns="0"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56" name="Rectangle 55"/>
          <p:cNvSpPr/>
          <p:nvPr/>
        </p:nvSpPr>
        <p:spPr>
          <a:xfrm>
            <a:off x="9405467" y="3059817"/>
            <a:ext cx="973817" cy="258532"/>
          </a:xfrm>
          <a:prstGeom prst="rect">
            <a:avLst/>
          </a:prstGeom>
        </p:spPr>
        <p:txBody>
          <a:bodyPr wrap="square">
            <a:spAutoFit/>
          </a:bodyPr>
          <a:lstStyle/>
          <a:p>
            <a:pPr marL="0" lvl="1" algn="ctr" defTabSz="932048">
              <a:lnSpc>
                <a:spcPct val="90000"/>
              </a:lnSpc>
              <a:spcAft>
                <a:spcPts val="340"/>
              </a:spcAft>
              <a:defRPr/>
            </a:pPr>
            <a:r>
              <a:rPr lang="en-US" sz="1200" dirty="0" smtClean="0">
                <a:solidFill>
                  <a:srgbClr val="FFFFFF"/>
                </a:solidFill>
              </a:rPr>
              <a:t>Framework</a:t>
            </a:r>
            <a:endParaRPr lang="en-US" sz="1200" dirty="0">
              <a:solidFill>
                <a:srgbClr val="FFFFFF"/>
              </a:solidFill>
            </a:endParaRPr>
          </a:p>
        </p:txBody>
      </p:sp>
    </p:spTree>
    <p:extLst>
      <p:ext uri="{BB962C8B-B14F-4D97-AF65-F5344CB8AC3E}">
        <p14:creationId xmlns:p14="http://schemas.microsoft.com/office/powerpoint/2010/main" val="3545252179"/>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527354" y="1200020"/>
            <a:ext cx="10016833" cy="5257054"/>
          </a:xfrm>
          <a:prstGeom prst="rect">
            <a:avLst/>
          </a:prstGeom>
          <a:solidFill>
            <a:schemeClr val="tx1">
              <a:alpha val="99000"/>
            </a:schemeClr>
          </a:solidFill>
          <a:ln w="12700" cap="flat" cmpd="sng" algn="ctr">
            <a:solidFill>
              <a:schemeClr val="tx1">
                <a:lumMod val="40000"/>
                <a:lumOff val="60000"/>
              </a:schemeClr>
            </a:solidFill>
            <a:prstDash val="solid"/>
            <a:headEnd type="none" w="med" len="med"/>
            <a:tailEnd type="none" w="med" len="med"/>
          </a:ln>
          <a:effectLst/>
        </p:spPr>
        <p:txBody>
          <a:bodyPr vert="horz" wrap="square" lIns="186495" tIns="186495" rIns="91361" bIns="73089" numCol="1" rtlCol="0" anchor="t" anchorCtr="0" compatLnSpc="1">
            <a:prstTxWarp prst="textNoShape">
              <a:avLst/>
            </a:prstTxWarp>
          </a:bodyPr>
          <a:lstStyle/>
          <a:p>
            <a:pPr defTabSz="932228"/>
            <a:endParaRPr lang="en-US" sz="1300" dirty="0">
              <a:gradFill>
                <a:gsLst>
                  <a:gs pos="58716">
                    <a:srgbClr val="002050"/>
                  </a:gs>
                  <a:gs pos="37000">
                    <a:srgbClr val="002050"/>
                  </a:gs>
                </a:gsLst>
                <a:lin ang="5400000" scaled="1"/>
              </a:gradFill>
              <a:latin typeface="Segoe UI Light"/>
            </a:endParaRPr>
          </a:p>
        </p:txBody>
      </p:sp>
      <p:sp>
        <p:nvSpPr>
          <p:cNvPr id="5" name="Rectangle 4"/>
          <p:cNvSpPr/>
          <p:nvPr/>
        </p:nvSpPr>
        <p:spPr>
          <a:xfrm>
            <a:off x="678836" y="1293519"/>
            <a:ext cx="2791855" cy="830868"/>
          </a:xfrm>
          <a:prstGeom prst="rect">
            <a:avLst/>
          </a:prstGeom>
        </p:spPr>
        <p:txBody>
          <a:bodyPr wrap="none">
            <a:spAutoFit/>
          </a:bodyPr>
          <a:lstStyle/>
          <a:p>
            <a:pPr defTabSz="932228"/>
            <a:r>
              <a:rPr lang="en-US" sz="4799" spc="-102" dirty="0">
                <a:ln w="3175">
                  <a:noFill/>
                </a:ln>
                <a:gradFill>
                  <a:gsLst>
                    <a:gs pos="58716">
                      <a:srgbClr val="002050"/>
                    </a:gs>
                    <a:gs pos="37000">
                      <a:srgbClr val="002050"/>
                    </a:gs>
                  </a:gsLst>
                  <a:lin ang="5400000" scaled="1"/>
                </a:gradFill>
                <a:latin typeface="Segoe UI Semibold" panose="020B0702040204020203" pitchFamily="34" charset="0"/>
                <a:cs typeface="Segoe UI Semibold" panose="020B0702040204020203" pitchFamily="34" charset="0"/>
              </a:rPr>
              <a:t>.NET 2015</a:t>
            </a:r>
            <a:endParaRPr lang="en-US" sz="1399" dirty="0">
              <a:gradFill>
                <a:gsLst>
                  <a:gs pos="58716">
                    <a:srgbClr val="002050"/>
                  </a:gs>
                  <a:gs pos="37000">
                    <a:srgbClr val="002050"/>
                  </a:gs>
                </a:gsLst>
                <a:lin ang="5400000" scaled="1"/>
              </a:gradFill>
              <a:latin typeface="Segoe UI Semibold" panose="020B0702040204020203" pitchFamily="34" charset="0"/>
              <a:cs typeface="Segoe UI Semibold" panose="020B0702040204020203" pitchFamily="34" charset="0"/>
            </a:endParaRPr>
          </a:p>
        </p:txBody>
      </p:sp>
      <p:sp>
        <p:nvSpPr>
          <p:cNvPr id="6" name="Rectangle 5"/>
          <p:cNvSpPr/>
          <p:nvPr/>
        </p:nvSpPr>
        <p:spPr bwMode="auto">
          <a:xfrm>
            <a:off x="5550019" y="2283399"/>
            <a:ext cx="4705367" cy="2431659"/>
          </a:xfrm>
          <a:prstGeom prst="rect">
            <a:avLst/>
          </a:prstGeom>
          <a:solidFill>
            <a:srgbClr val="0072C6"/>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endParaRPr lang="en-US" sz="2856" dirty="0">
              <a:gradFill>
                <a:gsLst>
                  <a:gs pos="14679">
                    <a:srgbClr val="FFFFFF"/>
                  </a:gs>
                  <a:gs pos="38000">
                    <a:srgbClr val="FFFFFF"/>
                  </a:gs>
                </a:gsLst>
                <a:lin ang="5400000" scaled="1"/>
              </a:gradFill>
              <a:latin typeface="Segoe UI Light"/>
            </a:endParaRPr>
          </a:p>
        </p:txBody>
      </p:sp>
      <p:sp>
        <p:nvSpPr>
          <p:cNvPr id="7" name="Rectangle 6"/>
          <p:cNvSpPr/>
          <p:nvPr/>
        </p:nvSpPr>
        <p:spPr bwMode="auto">
          <a:xfrm>
            <a:off x="803891" y="2283399"/>
            <a:ext cx="4689892" cy="2431659"/>
          </a:xfrm>
          <a:prstGeom prst="rect">
            <a:avLst/>
          </a:prstGeom>
          <a:solidFill>
            <a:srgbClr val="0072C6"/>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8" name="Trapezoid 7"/>
          <p:cNvSpPr/>
          <p:nvPr/>
        </p:nvSpPr>
        <p:spPr bwMode="auto">
          <a:xfrm rot="16200000" flipH="1" flipV="1">
            <a:off x="7996953" y="3747257"/>
            <a:ext cx="5257054" cy="162585"/>
          </a:xfrm>
          <a:prstGeom prst="trapezoid">
            <a:avLst>
              <a:gd name="adj" fmla="val 101149"/>
            </a:avLst>
          </a:prstGeom>
          <a:solidFill>
            <a:schemeClr val="tx1">
              <a:lumMod val="85000"/>
              <a:alpha val="39000"/>
            </a:schemeClr>
          </a:solidFill>
          <a:ln w="25400" cap="flat" cmpd="sng" algn="ctr">
            <a:noFill/>
            <a:prstDash val="solid"/>
            <a:headEnd type="none" w="med" len="med"/>
            <a:tailEnd type="none" w="med" len="med"/>
          </a:ln>
          <a:effectLst/>
        </p:spPr>
        <p:txBody>
          <a:bodyPr vert="horz" wrap="square" lIns="731416" tIns="274282" rIns="89627" bIns="89629" numCol="1" rtlCol="0" anchor="t" anchorCtr="0" compatLnSpc="1">
            <a:prstTxWarp prst="textNoShape">
              <a:avLst/>
            </a:prstTxWarp>
          </a:bodyPr>
          <a:lstStyle/>
          <a:p>
            <a:pPr defTabSz="914038"/>
            <a:endParaRPr lang="en-US" sz="2800" dirty="0" err="1">
              <a:gradFill>
                <a:gsLst>
                  <a:gs pos="14679">
                    <a:srgbClr val="FFFFFF"/>
                  </a:gs>
                  <a:gs pos="38000">
                    <a:srgbClr val="FFFFFF"/>
                  </a:gs>
                </a:gsLst>
                <a:lin ang="5400000" scaled="1"/>
              </a:gradFill>
              <a:latin typeface="Segoe UI Light"/>
            </a:endParaRPr>
          </a:p>
        </p:txBody>
      </p:sp>
      <p:sp>
        <p:nvSpPr>
          <p:cNvPr id="9" name="Rectangle 8"/>
          <p:cNvSpPr/>
          <p:nvPr/>
        </p:nvSpPr>
        <p:spPr bwMode="auto">
          <a:xfrm>
            <a:off x="803891" y="4795545"/>
            <a:ext cx="9463763" cy="1391339"/>
          </a:xfrm>
          <a:prstGeom prst="rect">
            <a:avLst/>
          </a:prstGeom>
          <a:solidFill>
            <a:srgbClr val="68217A"/>
          </a:solidFill>
          <a:ln w="25400" cap="flat" cmpd="sng" algn="ctr">
            <a:noFill/>
            <a:prstDash val="solid"/>
            <a:headEnd type="none" w="med" len="med"/>
            <a:tailEnd type="none" w="med" len="med"/>
          </a:ln>
          <a:effectLst/>
        </p:spPr>
        <p:txBody>
          <a:bodyPr vert="horz" wrap="square" lIns="745872" tIns="45677" rIns="91348" bIns="73078" numCol="1" rtlCol="0" anchor="t" anchorCtr="0" compatLnSpc="1">
            <a:prstTxWarp prst="textNoShape">
              <a:avLst/>
            </a:prstTxWarp>
          </a:bodyPr>
          <a:lstStyle/>
          <a:p>
            <a:pPr defTabSz="932048"/>
            <a:endParaRPr lang="en-US" sz="2448" dirty="0">
              <a:gradFill>
                <a:gsLst>
                  <a:gs pos="14679">
                    <a:srgbClr val="FFFFFF"/>
                  </a:gs>
                  <a:gs pos="38000">
                    <a:srgbClr val="FFFFFF"/>
                  </a:gs>
                </a:gsLst>
                <a:lin ang="5400000" scaled="1"/>
              </a:gradFill>
            </a:endParaRPr>
          </a:p>
        </p:txBody>
      </p:sp>
      <p:grpSp>
        <p:nvGrpSpPr>
          <p:cNvPr id="10" name="Group 9"/>
          <p:cNvGrpSpPr/>
          <p:nvPr/>
        </p:nvGrpSpPr>
        <p:grpSpPr>
          <a:xfrm>
            <a:off x="2420114" y="5063169"/>
            <a:ext cx="1467617" cy="832483"/>
            <a:chOff x="3631207" y="5550921"/>
            <a:chExt cx="1468033" cy="832719"/>
          </a:xfrm>
        </p:grpSpPr>
        <p:sp>
          <p:nvSpPr>
            <p:cNvPr id="11" name="Rectangle 10"/>
            <p:cNvSpPr/>
            <p:nvPr/>
          </p:nvSpPr>
          <p:spPr>
            <a:xfrm>
              <a:off x="3631208" y="5913635"/>
              <a:ext cx="1037757" cy="470005"/>
            </a:xfrm>
            <a:prstGeom prst="rect">
              <a:avLst/>
            </a:prstGeom>
          </p:spPr>
          <p:txBody>
            <a:bodyPr wrap="none">
              <a:spAutoFit/>
            </a:bodyPr>
            <a:lstStyle/>
            <a:p>
              <a:pPr marL="0" lvl="1" defTabSz="932048">
                <a:lnSpc>
                  <a:spcPct val="90000"/>
                </a:lnSpc>
                <a:spcAft>
                  <a:spcPts val="340"/>
                </a:spcAft>
                <a:defRPr/>
              </a:pPr>
              <a:r>
                <a:rPr lang="en-US" sz="1224" dirty="0">
                  <a:solidFill>
                    <a:srgbClr val="FFFFFF"/>
                  </a:solidFill>
                </a:rPr>
                <a:t>Next gen JIT</a:t>
              </a:r>
              <a:endParaRPr lang="en-US" sz="1072" dirty="0">
                <a:solidFill>
                  <a:srgbClr val="FFFFFF"/>
                </a:solidFill>
              </a:endParaRPr>
            </a:p>
            <a:p>
              <a:pPr marL="0" lvl="1" defTabSz="932048">
                <a:lnSpc>
                  <a:spcPct val="90000"/>
                </a:lnSpc>
                <a:spcAft>
                  <a:spcPts val="340"/>
                </a:spcAft>
                <a:defRPr/>
              </a:pPr>
              <a:r>
                <a:rPr lang="en-US" sz="1224" dirty="0">
                  <a:solidFill>
                    <a:srgbClr val="FFFFFF"/>
                  </a:solidFill>
                </a:rPr>
                <a:t>SIMD</a:t>
              </a:r>
            </a:p>
          </p:txBody>
        </p:sp>
        <p:sp>
          <p:nvSpPr>
            <p:cNvPr id="12" name="Rectangle 11"/>
            <p:cNvSpPr/>
            <p:nvPr/>
          </p:nvSpPr>
          <p:spPr>
            <a:xfrm>
              <a:off x="3631207" y="5550921"/>
              <a:ext cx="1468033" cy="318447"/>
            </a:xfrm>
            <a:prstGeom prst="rect">
              <a:avLst/>
            </a:prstGeom>
          </p:spPr>
          <p:txBody>
            <a:bodyPr wrap="square">
              <a:spAutoFit/>
            </a:bodyPr>
            <a:lstStyle/>
            <a:p>
              <a:pPr marL="0" lvl="1" defTabSz="932048">
                <a:lnSpc>
                  <a:spcPct val="90000"/>
                </a:lnSpc>
                <a:spcAft>
                  <a:spcPts val="340"/>
                </a:spcAft>
                <a:defRPr/>
              </a:pPr>
              <a:r>
                <a:rPr lang="en-US" sz="1632" b="1" dirty="0">
                  <a:solidFill>
                    <a:srgbClr val="FFFFFF"/>
                  </a:solidFill>
                </a:rPr>
                <a:t>Runtime</a:t>
              </a:r>
            </a:p>
          </p:txBody>
        </p:sp>
      </p:grpSp>
      <p:grpSp>
        <p:nvGrpSpPr>
          <p:cNvPr id="13" name="Group 12"/>
          <p:cNvGrpSpPr/>
          <p:nvPr/>
        </p:nvGrpSpPr>
        <p:grpSpPr>
          <a:xfrm>
            <a:off x="4921370" y="5063905"/>
            <a:ext cx="1803699" cy="811219"/>
            <a:chOff x="5954092" y="5572192"/>
            <a:chExt cx="1804211" cy="811444"/>
          </a:xfrm>
        </p:grpSpPr>
        <p:sp>
          <p:nvSpPr>
            <p:cNvPr id="14" name="Rectangle 13"/>
            <p:cNvSpPr/>
            <p:nvPr/>
          </p:nvSpPr>
          <p:spPr>
            <a:xfrm>
              <a:off x="5954092" y="5572192"/>
              <a:ext cx="1759619" cy="318445"/>
            </a:xfrm>
            <a:prstGeom prst="rect">
              <a:avLst/>
            </a:prstGeom>
          </p:spPr>
          <p:txBody>
            <a:bodyPr wrap="square">
              <a:spAutoFit/>
            </a:bodyPr>
            <a:lstStyle/>
            <a:p>
              <a:pPr marL="0" lvl="1" defTabSz="932048">
                <a:lnSpc>
                  <a:spcPct val="90000"/>
                </a:lnSpc>
                <a:spcAft>
                  <a:spcPts val="340"/>
                </a:spcAft>
                <a:defRPr/>
              </a:pPr>
              <a:r>
                <a:rPr lang="en-US" sz="1632" b="1" dirty="0">
                  <a:solidFill>
                    <a:srgbClr val="FFFFFF"/>
                  </a:solidFill>
                </a:rPr>
                <a:t>Compilers</a:t>
              </a:r>
            </a:p>
          </p:txBody>
        </p:sp>
        <p:sp>
          <p:nvSpPr>
            <p:cNvPr id="15" name="Rectangle 14"/>
            <p:cNvSpPr/>
            <p:nvPr/>
          </p:nvSpPr>
          <p:spPr>
            <a:xfrm>
              <a:off x="5954092" y="5913634"/>
              <a:ext cx="1804211" cy="470002"/>
            </a:xfrm>
            <a:prstGeom prst="rect">
              <a:avLst/>
            </a:prstGeom>
          </p:spPr>
          <p:txBody>
            <a:bodyPr wrap="none">
              <a:spAutoFit/>
            </a:bodyPr>
            <a:lstStyle/>
            <a:p>
              <a:pPr marL="0" lvl="1" defTabSz="932048">
                <a:lnSpc>
                  <a:spcPct val="90000"/>
                </a:lnSpc>
                <a:spcAft>
                  <a:spcPts val="340"/>
                </a:spcAft>
              </a:pPr>
              <a:r>
                <a:rPr lang="en-US" sz="1224" dirty="0">
                  <a:solidFill>
                    <a:srgbClr val="FFFFFF"/>
                  </a:solidFill>
                </a:rPr>
                <a:t>.NET Compiler Platform</a:t>
              </a:r>
              <a:endParaRPr lang="en-US" sz="1072" dirty="0">
                <a:solidFill>
                  <a:srgbClr val="FFFFFF"/>
                </a:solidFill>
              </a:endParaRPr>
            </a:p>
            <a:p>
              <a:pPr marL="0" lvl="1" defTabSz="932048">
                <a:lnSpc>
                  <a:spcPct val="90000"/>
                </a:lnSpc>
                <a:spcAft>
                  <a:spcPts val="340"/>
                </a:spcAft>
              </a:pPr>
              <a:r>
                <a:rPr lang="en-US" sz="1224" dirty="0">
                  <a:solidFill>
                    <a:srgbClr val="FFFFFF"/>
                  </a:solidFill>
                </a:rPr>
                <a:t>Languages innovation</a:t>
              </a:r>
            </a:p>
          </p:txBody>
        </p:sp>
      </p:grpSp>
      <p:grpSp>
        <p:nvGrpSpPr>
          <p:cNvPr id="16" name="Group 15"/>
          <p:cNvGrpSpPr/>
          <p:nvPr/>
        </p:nvGrpSpPr>
        <p:grpSpPr>
          <a:xfrm>
            <a:off x="7970300" y="5045813"/>
            <a:ext cx="2369122" cy="843108"/>
            <a:chOff x="8627481" y="5540297"/>
            <a:chExt cx="2369794" cy="843344"/>
          </a:xfrm>
        </p:grpSpPr>
        <p:sp>
          <p:nvSpPr>
            <p:cNvPr id="17" name="Rectangle 16"/>
            <p:cNvSpPr/>
            <p:nvPr/>
          </p:nvSpPr>
          <p:spPr>
            <a:xfrm>
              <a:off x="8627481" y="5913638"/>
              <a:ext cx="2179291" cy="470003"/>
            </a:xfrm>
            <a:prstGeom prst="rect">
              <a:avLst/>
            </a:prstGeom>
          </p:spPr>
          <p:txBody>
            <a:bodyPr wrap="none">
              <a:spAutoFit/>
            </a:bodyPr>
            <a:lstStyle/>
            <a:p>
              <a:pPr marL="0" lvl="1" defTabSz="932048">
                <a:lnSpc>
                  <a:spcPct val="90000"/>
                </a:lnSpc>
                <a:spcAft>
                  <a:spcPts val="340"/>
                </a:spcAft>
                <a:defRPr/>
              </a:pPr>
              <a:r>
                <a:rPr lang="en-US" sz="1224" dirty="0">
                  <a:solidFill>
                    <a:srgbClr val="FFFFFF"/>
                  </a:solidFill>
                </a:rPr>
                <a:t>.NET Core 5 Libraries</a:t>
              </a:r>
            </a:p>
            <a:p>
              <a:pPr marL="0" lvl="1" defTabSz="932048">
                <a:lnSpc>
                  <a:spcPct val="90000"/>
                </a:lnSpc>
                <a:spcAft>
                  <a:spcPts val="340"/>
                </a:spcAft>
                <a:defRPr/>
              </a:pPr>
              <a:r>
                <a:rPr lang="en-US" sz="1224" dirty="0">
                  <a:solidFill>
                    <a:srgbClr val="FFFFFF"/>
                  </a:solidFill>
                </a:rPr>
                <a:t>.NET Framework 4.6 Libraries</a:t>
              </a:r>
            </a:p>
          </p:txBody>
        </p:sp>
        <p:sp>
          <p:nvSpPr>
            <p:cNvPr id="18" name="Rectangle 17"/>
            <p:cNvSpPr/>
            <p:nvPr/>
          </p:nvSpPr>
          <p:spPr>
            <a:xfrm>
              <a:off x="8627482" y="5540297"/>
              <a:ext cx="2369793" cy="318446"/>
            </a:xfrm>
            <a:prstGeom prst="rect">
              <a:avLst/>
            </a:prstGeom>
          </p:spPr>
          <p:txBody>
            <a:bodyPr wrap="square">
              <a:spAutoFit/>
            </a:bodyPr>
            <a:lstStyle/>
            <a:p>
              <a:pPr marL="0" lvl="1" defTabSz="932048">
                <a:lnSpc>
                  <a:spcPct val="90000"/>
                </a:lnSpc>
                <a:spcAft>
                  <a:spcPts val="340"/>
                </a:spcAft>
                <a:defRPr/>
              </a:pPr>
              <a:r>
                <a:rPr lang="en-US" sz="1632" b="1" dirty="0">
                  <a:solidFill>
                    <a:srgbClr val="FFFFFF"/>
                  </a:solidFill>
                </a:rPr>
                <a:t>NuGet packages</a:t>
              </a:r>
            </a:p>
          </p:txBody>
        </p:sp>
      </p:grpSp>
      <p:grpSp>
        <p:nvGrpSpPr>
          <p:cNvPr id="19" name="Group 18"/>
          <p:cNvGrpSpPr/>
          <p:nvPr/>
        </p:nvGrpSpPr>
        <p:grpSpPr>
          <a:xfrm>
            <a:off x="1718277" y="5298837"/>
            <a:ext cx="630070" cy="514947"/>
            <a:chOff x="9061629" y="5706715"/>
            <a:chExt cx="380421" cy="310912"/>
          </a:xfrm>
        </p:grpSpPr>
        <p:sp>
          <p:nvSpPr>
            <p:cNvPr id="20" name="Freeform 86"/>
            <p:cNvSpPr>
              <a:spLocks noEditPoints="1"/>
            </p:cNvSpPr>
            <p:nvPr/>
          </p:nvSpPr>
          <p:spPr bwMode="black">
            <a:xfrm>
              <a:off x="9061629" y="5737038"/>
              <a:ext cx="277768" cy="280589"/>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sp>
          <p:nvSpPr>
            <p:cNvPr id="21" name="Oval 87"/>
            <p:cNvSpPr>
              <a:spLocks noChangeArrowheads="1"/>
            </p:cNvSpPr>
            <p:nvPr/>
          </p:nvSpPr>
          <p:spPr bwMode="black">
            <a:xfrm>
              <a:off x="9172736" y="5854128"/>
              <a:ext cx="51528" cy="5175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sp>
          <p:nvSpPr>
            <p:cNvPr id="22" name="Freeform 88"/>
            <p:cNvSpPr>
              <a:spLocks noEditPoints="1"/>
            </p:cNvSpPr>
            <p:nvPr/>
          </p:nvSpPr>
          <p:spPr bwMode="black">
            <a:xfrm>
              <a:off x="9301153" y="5706715"/>
              <a:ext cx="140897" cy="152424"/>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grpSp>
      <p:sp>
        <p:nvSpPr>
          <p:cNvPr id="23" name="Rectangle 22"/>
          <p:cNvSpPr/>
          <p:nvPr/>
        </p:nvSpPr>
        <p:spPr>
          <a:xfrm>
            <a:off x="851396" y="4778230"/>
            <a:ext cx="1492716" cy="469039"/>
          </a:xfrm>
          <a:prstGeom prst="rect">
            <a:avLst/>
          </a:prstGeom>
        </p:spPr>
        <p:txBody>
          <a:bodyPr wrap="none">
            <a:spAutoFit/>
          </a:bodyPr>
          <a:lstStyle/>
          <a:p>
            <a:pPr defTabSz="932048"/>
            <a:r>
              <a:rPr lang="en-US" sz="2448" dirty="0">
                <a:gradFill>
                  <a:gsLst>
                    <a:gs pos="14679">
                      <a:srgbClr val="FFFFFF"/>
                    </a:gs>
                    <a:gs pos="38000">
                      <a:srgbClr val="FFFFFF"/>
                    </a:gs>
                  </a:gsLst>
                  <a:lin ang="5400000" scaled="1"/>
                </a:gradFill>
                <a:latin typeface="Segoe UI Semibold" panose="020B0702040204020203" pitchFamily="34" charset="0"/>
                <a:cs typeface="Segoe UI Semibold" panose="020B0702040204020203" pitchFamily="34" charset="0"/>
              </a:rPr>
              <a:t>Common</a:t>
            </a:r>
          </a:p>
        </p:txBody>
      </p:sp>
      <p:sp>
        <p:nvSpPr>
          <p:cNvPr id="24" name="Freeform 25"/>
          <p:cNvSpPr>
            <a:spLocks noEditPoints="1"/>
          </p:cNvSpPr>
          <p:nvPr/>
        </p:nvSpPr>
        <p:spPr bwMode="black">
          <a:xfrm>
            <a:off x="7394302" y="5382116"/>
            <a:ext cx="499460" cy="463623"/>
          </a:xfrm>
          <a:custGeom>
            <a:avLst/>
            <a:gdLst>
              <a:gd name="T0" fmla="*/ 0 w 708"/>
              <a:gd name="T1" fmla="*/ 709 h 709"/>
              <a:gd name="T2" fmla="*/ 212 w 708"/>
              <a:gd name="T3" fmla="*/ 567 h 709"/>
              <a:gd name="T4" fmla="*/ 708 w 708"/>
              <a:gd name="T5" fmla="*/ 567 h 709"/>
              <a:gd name="T6" fmla="*/ 496 w 708"/>
              <a:gd name="T7" fmla="*/ 709 h 709"/>
              <a:gd name="T8" fmla="*/ 708 w 708"/>
              <a:gd name="T9" fmla="*/ 567 h 709"/>
              <a:gd name="T10" fmla="*/ 248 w 708"/>
              <a:gd name="T11" fmla="*/ 567 h 709"/>
              <a:gd name="T12" fmla="*/ 460 w 708"/>
              <a:gd name="T13" fmla="*/ 709 h 709"/>
              <a:gd name="T14" fmla="*/ 212 w 708"/>
              <a:gd name="T15" fmla="*/ 227 h 709"/>
              <a:gd name="T16" fmla="*/ 0 w 708"/>
              <a:gd name="T17" fmla="*/ 369 h 709"/>
              <a:gd name="T18" fmla="*/ 212 w 708"/>
              <a:gd name="T19" fmla="*/ 227 h 709"/>
              <a:gd name="T20" fmla="*/ 496 w 708"/>
              <a:gd name="T21" fmla="*/ 14 h 709"/>
              <a:gd name="T22" fmla="*/ 708 w 708"/>
              <a:gd name="T23" fmla="*/ 156 h 709"/>
              <a:gd name="T24" fmla="*/ 460 w 708"/>
              <a:gd name="T25" fmla="*/ 156 h 709"/>
              <a:gd name="T26" fmla="*/ 248 w 708"/>
              <a:gd name="T27" fmla="*/ 298 h 709"/>
              <a:gd name="T28" fmla="*/ 460 w 708"/>
              <a:gd name="T29" fmla="*/ 156 h 709"/>
              <a:gd name="T30" fmla="*/ 127 w 708"/>
              <a:gd name="T31" fmla="*/ 397 h 709"/>
              <a:gd name="T32" fmla="*/ 340 w 708"/>
              <a:gd name="T33" fmla="*/ 539 h 709"/>
              <a:gd name="T34" fmla="*/ 97 w 708"/>
              <a:gd name="T35" fmla="*/ 397 h 709"/>
              <a:gd name="T36" fmla="*/ 0 w 708"/>
              <a:gd name="T37" fmla="*/ 539 h 709"/>
              <a:gd name="T38" fmla="*/ 97 w 708"/>
              <a:gd name="T39" fmla="*/ 397 h 709"/>
              <a:gd name="T40" fmla="*/ 0 w 708"/>
              <a:gd name="T41" fmla="*/ 57 h 709"/>
              <a:gd name="T42" fmla="*/ 97 w 708"/>
              <a:gd name="T43" fmla="*/ 199 h 709"/>
              <a:gd name="T44" fmla="*/ 583 w 708"/>
              <a:gd name="T45" fmla="*/ 397 h 709"/>
              <a:gd name="T46" fmla="*/ 371 w 708"/>
              <a:gd name="T47" fmla="*/ 539 h 709"/>
              <a:gd name="T48" fmla="*/ 583 w 708"/>
              <a:gd name="T49" fmla="*/ 397 h 709"/>
              <a:gd name="T50" fmla="*/ 614 w 708"/>
              <a:gd name="T51" fmla="*/ 397 h 709"/>
              <a:gd name="T52" fmla="*/ 708 w 708"/>
              <a:gd name="T53" fmla="*/ 539 h 709"/>
              <a:gd name="T54" fmla="*/ 354 w 708"/>
              <a:gd name="T55" fmla="*/ 132 h 709"/>
              <a:gd name="T56" fmla="*/ 392 w 708"/>
              <a:gd name="T57" fmla="*/ 47 h 709"/>
              <a:gd name="T58" fmla="*/ 316 w 708"/>
              <a:gd name="T59" fmla="*/ 0 h 709"/>
              <a:gd name="T60" fmla="*/ 269 w 708"/>
              <a:gd name="T61" fmla="*/ 47 h 709"/>
              <a:gd name="T62" fmla="*/ 602 w 708"/>
              <a:gd name="T63" fmla="*/ 343 h 709"/>
              <a:gd name="T64" fmla="*/ 640 w 708"/>
              <a:gd name="T65" fmla="*/ 258 h 709"/>
              <a:gd name="T66" fmla="*/ 564 w 708"/>
              <a:gd name="T67" fmla="*/ 210 h 709"/>
              <a:gd name="T68" fmla="*/ 517 w 708"/>
              <a:gd name="T69" fmla="*/ 25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08" h="709">
                <a:moveTo>
                  <a:pt x="212" y="709"/>
                </a:moveTo>
                <a:lnTo>
                  <a:pt x="0" y="709"/>
                </a:lnTo>
                <a:lnTo>
                  <a:pt x="0" y="567"/>
                </a:lnTo>
                <a:lnTo>
                  <a:pt x="212" y="567"/>
                </a:lnTo>
                <a:lnTo>
                  <a:pt x="212" y="709"/>
                </a:lnTo>
                <a:close/>
                <a:moveTo>
                  <a:pt x="708" y="567"/>
                </a:moveTo>
                <a:lnTo>
                  <a:pt x="496" y="567"/>
                </a:lnTo>
                <a:lnTo>
                  <a:pt x="496" y="709"/>
                </a:lnTo>
                <a:lnTo>
                  <a:pt x="708" y="709"/>
                </a:lnTo>
                <a:lnTo>
                  <a:pt x="708" y="567"/>
                </a:lnTo>
                <a:close/>
                <a:moveTo>
                  <a:pt x="460" y="567"/>
                </a:moveTo>
                <a:lnTo>
                  <a:pt x="248" y="567"/>
                </a:lnTo>
                <a:lnTo>
                  <a:pt x="248" y="709"/>
                </a:lnTo>
                <a:lnTo>
                  <a:pt x="460" y="709"/>
                </a:lnTo>
                <a:lnTo>
                  <a:pt x="460" y="567"/>
                </a:lnTo>
                <a:close/>
                <a:moveTo>
                  <a:pt x="212" y="227"/>
                </a:moveTo>
                <a:lnTo>
                  <a:pt x="0" y="227"/>
                </a:lnTo>
                <a:lnTo>
                  <a:pt x="0" y="369"/>
                </a:lnTo>
                <a:lnTo>
                  <a:pt x="212" y="369"/>
                </a:lnTo>
                <a:lnTo>
                  <a:pt x="212" y="227"/>
                </a:lnTo>
                <a:close/>
                <a:moveTo>
                  <a:pt x="708" y="14"/>
                </a:moveTo>
                <a:lnTo>
                  <a:pt x="496" y="14"/>
                </a:lnTo>
                <a:lnTo>
                  <a:pt x="496" y="156"/>
                </a:lnTo>
                <a:lnTo>
                  <a:pt x="708" y="156"/>
                </a:lnTo>
                <a:lnTo>
                  <a:pt x="708" y="14"/>
                </a:lnTo>
                <a:close/>
                <a:moveTo>
                  <a:pt x="460" y="156"/>
                </a:moveTo>
                <a:lnTo>
                  <a:pt x="248" y="156"/>
                </a:lnTo>
                <a:lnTo>
                  <a:pt x="248" y="298"/>
                </a:lnTo>
                <a:lnTo>
                  <a:pt x="460" y="298"/>
                </a:lnTo>
                <a:lnTo>
                  <a:pt x="460" y="156"/>
                </a:lnTo>
                <a:close/>
                <a:moveTo>
                  <a:pt x="340" y="397"/>
                </a:moveTo>
                <a:lnTo>
                  <a:pt x="127" y="397"/>
                </a:lnTo>
                <a:lnTo>
                  <a:pt x="127" y="539"/>
                </a:lnTo>
                <a:lnTo>
                  <a:pt x="340" y="539"/>
                </a:lnTo>
                <a:lnTo>
                  <a:pt x="340" y="397"/>
                </a:lnTo>
                <a:close/>
                <a:moveTo>
                  <a:pt x="97" y="397"/>
                </a:moveTo>
                <a:lnTo>
                  <a:pt x="0" y="397"/>
                </a:lnTo>
                <a:lnTo>
                  <a:pt x="0" y="539"/>
                </a:lnTo>
                <a:lnTo>
                  <a:pt x="97" y="539"/>
                </a:lnTo>
                <a:lnTo>
                  <a:pt x="97" y="397"/>
                </a:lnTo>
                <a:close/>
                <a:moveTo>
                  <a:pt x="97" y="57"/>
                </a:moveTo>
                <a:lnTo>
                  <a:pt x="0" y="57"/>
                </a:lnTo>
                <a:lnTo>
                  <a:pt x="0" y="199"/>
                </a:lnTo>
                <a:lnTo>
                  <a:pt x="97" y="199"/>
                </a:lnTo>
                <a:lnTo>
                  <a:pt x="97" y="57"/>
                </a:lnTo>
                <a:close/>
                <a:moveTo>
                  <a:pt x="583" y="397"/>
                </a:moveTo>
                <a:lnTo>
                  <a:pt x="371" y="397"/>
                </a:lnTo>
                <a:lnTo>
                  <a:pt x="371" y="539"/>
                </a:lnTo>
                <a:lnTo>
                  <a:pt x="583" y="539"/>
                </a:lnTo>
                <a:lnTo>
                  <a:pt x="583" y="397"/>
                </a:lnTo>
                <a:close/>
                <a:moveTo>
                  <a:pt x="708" y="397"/>
                </a:moveTo>
                <a:lnTo>
                  <a:pt x="614" y="397"/>
                </a:lnTo>
                <a:lnTo>
                  <a:pt x="614" y="539"/>
                </a:lnTo>
                <a:lnTo>
                  <a:pt x="708" y="539"/>
                </a:lnTo>
                <a:lnTo>
                  <a:pt x="708" y="397"/>
                </a:lnTo>
                <a:close/>
                <a:moveTo>
                  <a:pt x="354" y="132"/>
                </a:moveTo>
                <a:lnTo>
                  <a:pt x="439" y="47"/>
                </a:lnTo>
                <a:lnTo>
                  <a:pt x="392" y="47"/>
                </a:lnTo>
                <a:lnTo>
                  <a:pt x="392" y="0"/>
                </a:lnTo>
                <a:lnTo>
                  <a:pt x="316" y="0"/>
                </a:lnTo>
                <a:lnTo>
                  <a:pt x="316" y="47"/>
                </a:lnTo>
                <a:lnTo>
                  <a:pt x="269" y="47"/>
                </a:lnTo>
                <a:lnTo>
                  <a:pt x="354" y="132"/>
                </a:lnTo>
                <a:close/>
                <a:moveTo>
                  <a:pt x="602" y="343"/>
                </a:moveTo>
                <a:lnTo>
                  <a:pt x="687" y="258"/>
                </a:lnTo>
                <a:lnTo>
                  <a:pt x="640" y="258"/>
                </a:lnTo>
                <a:lnTo>
                  <a:pt x="640" y="210"/>
                </a:lnTo>
                <a:lnTo>
                  <a:pt x="564" y="210"/>
                </a:lnTo>
                <a:lnTo>
                  <a:pt x="564" y="258"/>
                </a:lnTo>
                <a:lnTo>
                  <a:pt x="517" y="258"/>
                </a:lnTo>
                <a:lnTo>
                  <a:pt x="602" y="34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932" tIns="41966" rIns="83932" bIns="41966" numCol="1" anchor="t" anchorCtr="0" compatLnSpc="1">
            <a:prstTxWarp prst="textNoShape">
              <a:avLst/>
            </a:prstTxWarp>
          </a:bodyPr>
          <a:lstStyle/>
          <a:p>
            <a:pPr defTabSz="932536"/>
            <a:endParaRPr lang="en-US" sz="1632">
              <a:solidFill>
                <a:prstClr val="black"/>
              </a:solidFill>
            </a:endParaRPr>
          </a:p>
        </p:txBody>
      </p:sp>
      <p:sp>
        <p:nvSpPr>
          <p:cNvPr id="25" name="Freeform 84"/>
          <p:cNvSpPr>
            <a:spLocks noEditPoints="1"/>
          </p:cNvSpPr>
          <p:nvPr/>
        </p:nvSpPr>
        <p:spPr bwMode="black">
          <a:xfrm>
            <a:off x="4435894" y="5315243"/>
            <a:ext cx="409520" cy="489547"/>
          </a:xfrm>
          <a:custGeom>
            <a:avLst/>
            <a:gdLst>
              <a:gd name="T0" fmla="*/ 604 w 1838"/>
              <a:gd name="T1" fmla="*/ 253 h 2192"/>
              <a:gd name="T2" fmla="*/ 1159 w 1838"/>
              <a:gd name="T3" fmla="*/ 963 h 2192"/>
              <a:gd name="T4" fmla="*/ 1105 w 1838"/>
              <a:gd name="T5" fmla="*/ 573 h 2192"/>
              <a:gd name="T6" fmla="*/ 214 w 1838"/>
              <a:gd name="T7" fmla="*/ 0 h 2192"/>
              <a:gd name="T8" fmla="*/ 1159 w 1838"/>
              <a:gd name="T9" fmla="*/ 694 h 2192"/>
              <a:gd name="T10" fmla="*/ 1088 w 1838"/>
              <a:gd name="T11" fmla="*/ 764 h 2192"/>
              <a:gd name="T12" fmla="*/ 284 w 1838"/>
              <a:gd name="T13" fmla="*/ 198 h 2192"/>
              <a:gd name="T14" fmla="*/ 214 w 1838"/>
              <a:gd name="T15" fmla="*/ 128 h 2192"/>
              <a:gd name="T16" fmla="*/ 1443 w 1838"/>
              <a:gd name="T17" fmla="*/ 262 h 2192"/>
              <a:gd name="T18" fmla="*/ 1309 w 1838"/>
              <a:gd name="T19" fmla="*/ 1063 h 2192"/>
              <a:gd name="T20" fmla="*/ 903 w 1838"/>
              <a:gd name="T21" fmla="*/ 764 h 2192"/>
              <a:gd name="T22" fmla="*/ 639 w 1838"/>
              <a:gd name="T23" fmla="*/ 952 h 2192"/>
              <a:gd name="T24" fmla="*/ 704 w 1838"/>
              <a:gd name="T25" fmla="*/ 1683 h 2192"/>
              <a:gd name="T26" fmla="*/ 767 w 1838"/>
              <a:gd name="T27" fmla="*/ 1191 h 2192"/>
              <a:gd name="T28" fmla="*/ 1683 w 1838"/>
              <a:gd name="T29" fmla="*/ 390 h 2192"/>
              <a:gd name="T30" fmla="*/ 1443 w 1838"/>
              <a:gd name="T31" fmla="*/ 134 h 2192"/>
              <a:gd name="T32" fmla="*/ 960 w 1838"/>
              <a:gd name="T33" fmla="*/ 198 h 2192"/>
              <a:gd name="T34" fmla="*/ 704 w 1838"/>
              <a:gd name="T35" fmla="*/ 1555 h 2192"/>
              <a:gd name="T36" fmla="*/ 775 w 1838"/>
              <a:gd name="T37" fmla="*/ 1484 h 2192"/>
              <a:gd name="T38" fmla="*/ 704 w 1838"/>
              <a:gd name="T39" fmla="*/ 694 h 2192"/>
              <a:gd name="T40" fmla="*/ 1631 w 1838"/>
              <a:gd name="T41" fmla="*/ 128 h 2192"/>
              <a:gd name="T42" fmla="*/ 1560 w 1838"/>
              <a:gd name="T43" fmla="*/ 198 h 2192"/>
              <a:gd name="T44" fmla="*/ 1230 w 1838"/>
              <a:gd name="T45" fmla="*/ 198 h 2192"/>
              <a:gd name="T46" fmla="*/ 1159 w 1838"/>
              <a:gd name="T47" fmla="*/ 128 h 2192"/>
              <a:gd name="T48" fmla="*/ 1823 w 1838"/>
              <a:gd name="T49" fmla="*/ 1484 h 2192"/>
              <a:gd name="T50" fmla="*/ 1553 w 1838"/>
              <a:gd name="T51" fmla="*/ 1670 h 2192"/>
              <a:gd name="T52" fmla="*/ 1362 w 1838"/>
              <a:gd name="T53" fmla="*/ 1922 h 2192"/>
              <a:gd name="T54" fmla="*/ 1177 w 1838"/>
              <a:gd name="T55" fmla="*/ 2192 h 2192"/>
              <a:gd name="T56" fmla="*/ 1639 w 1838"/>
              <a:gd name="T57" fmla="*/ 2192 h 2192"/>
              <a:gd name="T58" fmla="*/ 1177 w 1838"/>
              <a:gd name="T59" fmla="*/ 2064 h 2192"/>
              <a:gd name="T60" fmla="*/ 1247 w 1838"/>
              <a:gd name="T61" fmla="*/ 1993 h 2192"/>
              <a:gd name="T62" fmla="*/ 1695 w 1838"/>
              <a:gd name="T63" fmla="*/ 1484 h 2192"/>
              <a:gd name="T64" fmla="*/ 1624 w 1838"/>
              <a:gd name="T65" fmla="*/ 1414 h 2192"/>
              <a:gd name="T66" fmla="*/ 1639 w 1838"/>
              <a:gd name="T67" fmla="*/ 1922 h 2192"/>
              <a:gd name="T68" fmla="*/ 1133 w 1838"/>
              <a:gd name="T69" fmla="*/ 1678 h 2192"/>
              <a:gd name="T70" fmla="*/ 1177 w 1838"/>
              <a:gd name="T71" fmla="*/ 1286 h 2192"/>
              <a:gd name="T72" fmla="*/ 807 w 1838"/>
              <a:gd name="T73" fmla="*/ 1823 h 2192"/>
              <a:gd name="T74" fmla="*/ 384 w 1838"/>
              <a:gd name="T75" fmla="*/ 1922 h 2192"/>
              <a:gd name="T76" fmla="*/ 412 w 1838"/>
              <a:gd name="T77" fmla="*/ 764 h 2192"/>
              <a:gd name="T78" fmla="*/ 157 w 1838"/>
              <a:gd name="T79" fmla="*/ 955 h 2192"/>
              <a:gd name="T80" fmla="*/ 199 w 1838"/>
              <a:gd name="T81" fmla="*/ 2192 h 2192"/>
              <a:gd name="T82" fmla="*/ 704 w 1838"/>
              <a:gd name="T83" fmla="*/ 2192 h 2192"/>
              <a:gd name="T84" fmla="*/ 1133 w 1838"/>
              <a:gd name="T85" fmla="*/ 1678 h 2192"/>
              <a:gd name="T86" fmla="*/ 1177 w 1838"/>
              <a:gd name="T87" fmla="*/ 1555 h 2192"/>
              <a:gd name="T88" fmla="*/ 199 w 1838"/>
              <a:gd name="T89" fmla="*/ 2064 h 2192"/>
              <a:gd name="T90" fmla="*/ 270 w 1838"/>
              <a:gd name="T91" fmla="*/ 1993 h 2192"/>
              <a:gd name="T92" fmla="*/ 143 w 1838"/>
              <a:gd name="T93" fmla="*/ 764 h 2192"/>
              <a:gd name="T94" fmla="*/ 214 w 1838"/>
              <a:gd name="T95" fmla="*/ 835 h 2192"/>
              <a:gd name="T96" fmla="*/ 704 w 1838"/>
              <a:gd name="T97" fmla="*/ 1922 h 2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838" h="2192">
                <a:moveTo>
                  <a:pt x="214" y="397"/>
                </a:moveTo>
                <a:cubicBezTo>
                  <a:pt x="304" y="397"/>
                  <a:pt x="381" y="336"/>
                  <a:pt x="405" y="253"/>
                </a:cubicBezTo>
                <a:cubicBezTo>
                  <a:pt x="604" y="253"/>
                  <a:pt x="604" y="253"/>
                  <a:pt x="604" y="253"/>
                </a:cubicBezTo>
                <a:cubicBezTo>
                  <a:pt x="998" y="647"/>
                  <a:pt x="998" y="647"/>
                  <a:pt x="998" y="647"/>
                </a:cubicBezTo>
                <a:cubicBezTo>
                  <a:pt x="974" y="680"/>
                  <a:pt x="960" y="720"/>
                  <a:pt x="960" y="764"/>
                </a:cubicBezTo>
                <a:cubicBezTo>
                  <a:pt x="960" y="874"/>
                  <a:pt x="1049" y="963"/>
                  <a:pt x="1159" y="963"/>
                </a:cubicBezTo>
                <a:cubicBezTo>
                  <a:pt x="1268" y="963"/>
                  <a:pt x="1358" y="874"/>
                  <a:pt x="1358" y="764"/>
                </a:cubicBezTo>
                <a:cubicBezTo>
                  <a:pt x="1358" y="655"/>
                  <a:pt x="1268" y="566"/>
                  <a:pt x="1159" y="566"/>
                </a:cubicBezTo>
                <a:cubicBezTo>
                  <a:pt x="1140" y="566"/>
                  <a:pt x="1122" y="568"/>
                  <a:pt x="1105" y="573"/>
                </a:cubicBezTo>
                <a:cubicBezTo>
                  <a:pt x="657" y="125"/>
                  <a:pt x="657" y="125"/>
                  <a:pt x="657" y="125"/>
                </a:cubicBezTo>
                <a:cubicBezTo>
                  <a:pt x="398" y="125"/>
                  <a:pt x="398" y="125"/>
                  <a:pt x="398" y="125"/>
                </a:cubicBezTo>
                <a:cubicBezTo>
                  <a:pt x="369" y="51"/>
                  <a:pt x="297" y="0"/>
                  <a:pt x="214" y="0"/>
                </a:cubicBezTo>
                <a:cubicBezTo>
                  <a:pt x="104" y="0"/>
                  <a:pt x="15" y="89"/>
                  <a:pt x="15" y="198"/>
                </a:cubicBezTo>
                <a:cubicBezTo>
                  <a:pt x="15" y="308"/>
                  <a:pt x="104" y="397"/>
                  <a:pt x="214" y="397"/>
                </a:cubicBezTo>
                <a:close/>
                <a:moveTo>
                  <a:pt x="1159" y="694"/>
                </a:moveTo>
                <a:cubicBezTo>
                  <a:pt x="1198" y="694"/>
                  <a:pt x="1230" y="725"/>
                  <a:pt x="1230" y="764"/>
                </a:cubicBezTo>
                <a:cubicBezTo>
                  <a:pt x="1230" y="803"/>
                  <a:pt x="1198" y="835"/>
                  <a:pt x="1159" y="835"/>
                </a:cubicBezTo>
                <a:cubicBezTo>
                  <a:pt x="1120" y="835"/>
                  <a:pt x="1088" y="803"/>
                  <a:pt x="1088" y="764"/>
                </a:cubicBezTo>
                <a:cubicBezTo>
                  <a:pt x="1088" y="725"/>
                  <a:pt x="1120" y="694"/>
                  <a:pt x="1159" y="694"/>
                </a:cubicBezTo>
                <a:close/>
                <a:moveTo>
                  <a:pt x="214" y="128"/>
                </a:moveTo>
                <a:cubicBezTo>
                  <a:pt x="253" y="128"/>
                  <a:pt x="284" y="159"/>
                  <a:pt x="284" y="198"/>
                </a:cubicBezTo>
                <a:cubicBezTo>
                  <a:pt x="284" y="237"/>
                  <a:pt x="253" y="269"/>
                  <a:pt x="214" y="269"/>
                </a:cubicBezTo>
                <a:cubicBezTo>
                  <a:pt x="175" y="269"/>
                  <a:pt x="143" y="237"/>
                  <a:pt x="143" y="198"/>
                </a:cubicBezTo>
                <a:cubicBezTo>
                  <a:pt x="143" y="159"/>
                  <a:pt x="175" y="128"/>
                  <a:pt x="214" y="128"/>
                </a:cubicBezTo>
                <a:close/>
                <a:moveTo>
                  <a:pt x="1159" y="397"/>
                </a:moveTo>
                <a:cubicBezTo>
                  <a:pt x="1246" y="397"/>
                  <a:pt x="1320" y="341"/>
                  <a:pt x="1347" y="262"/>
                </a:cubicBezTo>
                <a:cubicBezTo>
                  <a:pt x="1443" y="262"/>
                  <a:pt x="1443" y="262"/>
                  <a:pt x="1443" y="262"/>
                </a:cubicBezTo>
                <a:cubicBezTo>
                  <a:pt x="1461" y="317"/>
                  <a:pt x="1503" y="360"/>
                  <a:pt x="1555" y="382"/>
                </a:cubicBezTo>
                <a:cubicBezTo>
                  <a:pt x="1555" y="817"/>
                  <a:pt x="1555" y="817"/>
                  <a:pt x="1555" y="817"/>
                </a:cubicBezTo>
                <a:cubicBezTo>
                  <a:pt x="1309" y="1063"/>
                  <a:pt x="1309" y="1063"/>
                  <a:pt x="1309" y="1063"/>
                </a:cubicBezTo>
                <a:cubicBezTo>
                  <a:pt x="767" y="1063"/>
                  <a:pt x="767" y="1063"/>
                  <a:pt x="767" y="1063"/>
                </a:cubicBezTo>
                <a:cubicBezTo>
                  <a:pt x="767" y="953"/>
                  <a:pt x="767" y="953"/>
                  <a:pt x="767" y="953"/>
                </a:cubicBezTo>
                <a:cubicBezTo>
                  <a:pt x="846" y="927"/>
                  <a:pt x="903" y="852"/>
                  <a:pt x="903" y="764"/>
                </a:cubicBezTo>
                <a:cubicBezTo>
                  <a:pt x="903" y="655"/>
                  <a:pt x="814" y="566"/>
                  <a:pt x="704" y="566"/>
                </a:cubicBezTo>
                <a:cubicBezTo>
                  <a:pt x="595" y="566"/>
                  <a:pt x="506" y="655"/>
                  <a:pt x="506" y="764"/>
                </a:cubicBezTo>
                <a:cubicBezTo>
                  <a:pt x="506" y="851"/>
                  <a:pt x="561" y="925"/>
                  <a:pt x="639" y="952"/>
                </a:cubicBezTo>
                <a:cubicBezTo>
                  <a:pt x="639" y="1297"/>
                  <a:pt x="639" y="1297"/>
                  <a:pt x="639" y="1297"/>
                </a:cubicBezTo>
                <a:cubicBezTo>
                  <a:pt x="561" y="1324"/>
                  <a:pt x="506" y="1398"/>
                  <a:pt x="506" y="1484"/>
                </a:cubicBezTo>
                <a:cubicBezTo>
                  <a:pt x="506" y="1594"/>
                  <a:pt x="595" y="1683"/>
                  <a:pt x="704" y="1683"/>
                </a:cubicBezTo>
                <a:cubicBezTo>
                  <a:pt x="814" y="1683"/>
                  <a:pt x="903" y="1594"/>
                  <a:pt x="903" y="1484"/>
                </a:cubicBezTo>
                <a:cubicBezTo>
                  <a:pt x="903" y="1397"/>
                  <a:pt x="846" y="1322"/>
                  <a:pt x="767" y="1296"/>
                </a:cubicBezTo>
                <a:cubicBezTo>
                  <a:pt x="767" y="1191"/>
                  <a:pt x="767" y="1191"/>
                  <a:pt x="767" y="1191"/>
                </a:cubicBezTo>
                <a:cubicBezTo>
                  <a:pt x="1362" y="1191"/>
                  <a:pt x="1362" y="1191"/>
                  <a:pt x="1362" y="1191"/>
                </a:cubicBezTo>
                <a:cubicBezTo>
                  <a:pt x="1683" y="870"/>
                  <a:pt x="1683" y="870"/>
                  <a:pt x="1683" y="870"/>
                </a:cubicBezTo>
                <a:cubicBezTo>
                  <a:pt x="1683" y="390"/>
                  <a:pt x="1683" y="390"/>
                  <a:pt x="1683" y="390"/>
                </a:cubicBezTo>
                <a:cubicBezTo>
                  <a:pt x="1768" y="367"/>
                  <a:pt x="1830" y="290"/>
                  <a:pt x="1830" y="198"/>
                </a:cubicBezTo>
                <a:cubicBezTo>
                  <a:pt x="1830" y="89"/>
                  <a:pt x="1740" y="0"/>
                  <a:pt x="1631" y="0"/>
                </a:cubicBezTo>
                <a:cubicBezTo>
                  <a:pt x="1544" y="0"/>
                  <a:pt x="1469" y="56"/>
                  <a:pt x="1443" y="134"/>
                </a:cubicBezTo>
                <a:cubicBezTo>
                  <a:pt x="1347" y="134"/>
                  <a:pt x="1347" y="134"/>
                  <a:pt x="1347" y="134"/>
                </a:cubicBezTo>
                <a:cubicBezTo>
                  <a:pt x="1320" y="56"/>
                  <a:pt x="1246" y="0"/>
                  <a:pt x="1159" y="0"/>
                </a:cubicBezTo>
                <a:cubicBezTo>
                  <a:pt x="1049" y="0"/>
                  <a:pt x="960" y="89"/>
                  <a:pt x="960" y="198"/>
                </a:cubicBezTo>
                <a:cubicBezTo>
                  <a:pt x="960" y="308"/>
                  <a:pt x="1049" y="397"/>
                  <a:pt x="1159" y="397"/>
                </a:cubicBezTo>
                <a:close/>
                <a:moveTo>
                  <a:pt x="775" y="1484"/>
                </a:moveTo>
                <a:cubicBezTo>
                  <a:pt x="775" y="1523"/>
                  <a:pt x="743" y="1555"/>
                  <a:pt x="704" y="1555"/>
                </a:cubicBezTo>
                <a:cubicBezTo>
                  <a:pt x="665" y="1555"/>
                  <a:pt x="634" y="1523"/>
                  <a:pt x="634" y="1484"/>
                </a:cubicBezTo>
                <a:cubicBezTo>
                  <a:pt x="634" y="1445"/>
                  <a:pt x="665" y="1414"/>
                  <a:pt x="704" y="1414"/>
                </a:cubicBezTo>
                <a:cubicBezTo>
                  <a:pt x="743" y="1414"/>
                  <a:pt x="775" y="1445"/>
                  <a:pt x="775" y="1484"/>
                </a:cubicBezTo>
                <a:close/>
                <a:moveTo>
                  <a:pt x="704" y="835"/>
                </a:moveTo>
                <a:cubicBezTo>
                  <a:pt x="665" y="835"/>
                  <a:pt x="634" y="803"/>
                  <a:pt x="634" y="764"/>
                </a:cubicBezTo>
                <a:cubicBezTo>
                  <a:pt x="634" y="725"/>
                  <a:pt x="665" y="694"/>
                  <a:pt x="704" y="694"/>
                </a:cubicBezTo>
                <a:cubicBezTo>
                  <a:pt x="743" y="694"/>
                  <a:pt x="775" y="725"/>
                  <a:pt x="775" y="764"/>
                </a:cubicBezTo>
                <a:cubicBezTo>
                  <a:pt x="775" y="803"/>
                  <a:pt x="743" y="835"/>
                  <a:pt x="704" y="835"/>
                </a:cubicBezTo>
                <a:close/>
                <a:moveTo>
                  <a:pt x="1631" y="128"/>
                </a:moveTo>
                <a:cubicBezTo>
                  <a:pt x="1670" y="128"/>
                  <a:pt x="1702" y="159"/>
                  <a:pt x="1702" y="198"/>
                </a:cubicBezTo>
                <a:cubicBezTo>
                  <a:pt x="1702" y="237"/>
                  <a:pt x="1670" y="269"/>
                  <a:pt x="1631" y="269"/>
                </a:cubicBezTo>
                <a:cubicBezTo>
                  <a:pt x="1592" y="269"/>
                  <a:pt x="1560" y="237"/>
                  <a:pt x="1560" y="198"/>
                </a:cubicBezTo>
                <a:cubicBezTo>
                  <a:pt x="1560" y="159"/>
                  <a:pt x="1592" y="128"/>
                  <a:pt x="1631" y="128"/>
                </a:cubicBezTo>
                <a:close/>
                <a:moveTo>
                  <a:pt x="1159" y="128"/>
                </a:moveTo>
                <a:cubicBezTo>
                  <a:pt x="1198" y="128"/>
                  <a:pt x="1230" y="159"/>
                  <a:pt x="1230" y="198"/>
                </a:cubicBezTo>
                <a:cubicBezTo>
                  <a:pt x="1230" y="237"/>
                  <a:pt x="1198" y="269"/>
                  <a:pt x="1159" y="269"/>
                </a:cubicBezTo>
                <a:cubicBezTo>
                  <a:pt x="1120" y="269"/>
                  <a:pt x="1088" y="237"/>
                  <a:pt x="1088" y="198"/>
                </a:cubicBezTo>
                <a:cubicBezTo>
                  <a:pt x="1088" y="159"/>
                  <a:pt x="1120" y="128"/>
                  <a:pt x="1159" y="128"/>
                </a:cubicBezTo>
                <a:close/>
                <a:moveTo>
                  <a:pt x="1681" y="1799"/>
                </a:moveTo>
                <a:cubicBezTo>
                  <a:pt x="1681" y="1675"/>
                  <a:pt x="1681" y="1675"/>
                  <a:pt x="1681" y="1675"/>
                </a:cubicBezTo>
                <a:cubicBezTo>
                  <a:pt x="1763" y="1650"/>
                  <a:pt x="1823" y="1574"/>
                  <a:pt x="1823" y="1484"/>
                </a:cubicBezTo>
                <a:cubicBezTo>
                  <a:pt x="1823" y="1375"/>
                  <a:pt x="1734" y="1286"/>
                  <a:pt x="1624" y="1286"/>
                </a:cubicBezTo>
                <a:cubicBezTo>
                  <a:pt x="1514" y="1286"/>
                  <a:pt x="1425" y="1375"/>
                  <a:pt x="1425" y="1484"/>
                </a:cubicBezTo>
                <a:cubicBezTo>
                  <a:pt x="1425" y="1569"/>
                  <a:pt x="1478" y="1641"/>
                  <a:pt x="1553" y="1670"/>
                </a:cubicBezTo>
                <a:cubicBezTo>
                  <a:pt x="1553" y="1814"/>
                  <a:pt x="1553" y="1814"/>
                  <a:pt x="1553" y="1814"/>
                </a:cubicBezTo>
                <a:cubicBezTo>
                  <a:pt x="1507" y="1836"/>
                  <a:pt x="1472" y="1874"/>
                  <a:pt x="1453" y="1922"/>
                </a:cubicBezTo>
                <a:cubicBezTo>
                  <a:pt x="1362" y="1922"/>
                  <a:pt x="1362" y="1922"/>
                  <a:pt x="1362" y="1922"/>
                </a:cubicBezTo>
                <a:cubicBezTo>
                  <a:pt x="1333" y="1847"/>
                  <a:pt x="1261" y="1794"/>
                  <a:pt x="1177" y="1794"/>
                </a:cubicBezTo>
                <a:cubicBezTo>
                  <a:pt x="1067" y="1794"/>
                  <a:pt x="978" y="1883"/>
                  <a:pt x="978" y="1993"/>
                </a:cubicBezTo>
                <a:cubicBezTo>
                  <a:pt x="978" y="2103"/>
                  <a:pt x="1067" y="2192"/>
                  <a:pt x="1177" y="2192"/>
                </a:cubicBezTo>
                <a:cubicBezTo>
                  <a:pt x="1266" y="2192"/>
                  <a:pt x="1343" y="2132"/>
                  <a:pt x="1367" y="2050"/>
                </a:cubicBezTo>
                <a:cubicBezTo>
                  <a:pt x="1448" y="2050"/>
                  <a:pt x="1448" y="2050"/>
                  <a:pt x="1448" y="2050"/>
                </a:cubicBezTo>
                <a:cubicBezTo>
                  <a:pt x="1473" y="2132"/>
                  <a:pt x="1549" y="2192"/>
                  <a:pt x="1639" y="2192"/>
                </a:cubicBezTo>
                <a:cubicBezTo>
                  <a:pt x="1748" y="2192"/>
                  <a:pt x="1838" y="2103"/>
                  <a:pt x="1838" y="1993"/>
                </a:cubicBezTo>
                <a:cubicBezTo>
                  <a:pt x="1838" y="1898"/>
                  <a:pt x="1770" y="1818"/>
                  <a:pt x="1681" y="1799"/>
                </a:cubicBezTo>
                <a:close/>
                <a:moveTo>
                  <a:pt x="1177" y="2064"/>
                </a:moveTo>
                <a:cubicBezTo>
                  <a:pt x="1138" y="2064"/>
                  <a:pt x="1106" y="2032"/>
                  <a:pt x="1106" y="1993"/>
                </a:cubicBezTo>
                <a:cubicBezTo>
                  <a:pt x="1106" y="1954"/>
                  <a:pt x="1138" y="1922"/>
                  <a:pt x="1177" y="1922"/>
                </a:cubicBezTo>
                <a:cubicBezTo>
                  <a:pt x="1216" y="1922"/>
                  <a:pt x="1247" y="1954"/>
                  <a:pt x="1247" y="1993"/>
                </a:cubicBezTo>
                <a:cubicBezTo>
                  <a:pt x="1247" y="2032"/>
                  <a:pt x="1216" y="2064"/>
                  <a:pt x="1177" y="2064"/>
                </a:cubicBezTo>
                <a:close/>
                <a:moveTo>
                  <a:pt x="1624" y="1414"/>
                </a:moveTo>
                <a:cubicBezTo>
                  <a:pt x="1663" y="1414"/>
                  <a:pt x="1695" y="1445"/>
                  <a:pt x="1695" y="1484"/>
                </a:cubicBezTo>
                <a:cubicBezTo>
                  <a:pt x="1695" y="1523"/>
                  <a:pt x="1663" y="1555"/>
                  <a:pt x="1624" y="1555"/>
                </a:cubicBezTo>
                <a:cubicBezTo>
                  <a:pt x="1585" y="1555"/>
                  <a:pt x="1553" y="1523"/>
                  <a:pt x="1553" y="1484"/>
                </a:cubicBezTo>
                <a:cubicBezTo>
                  <a:pt x="1553" y="1445"/>
                  <a:pt x="1585" y="1414"/>
                  <a:pt x="1624" y="1414"/>
                </a:cubicBezTo>
                <a:close/>
                <a:moveTo>
                  <a:pt x="1639" y="2064"/>
                </a:moveTo>
                <a:cubicBezTo>
                  <a:pt x="1600" y="2064"/>
                  <a:pt x="1568" y="2032"/>
                  <a:pt x="1568" y="1993"/>
                </a:cubicBezTo>
                <a:cubicBezTo>
                  <a:pt x="1568" y="1954"/>
                  <a:pt x="1600" y="1922"/>
                  <a:pt x="1639" y="1922"/>
                </a:cubicBezTo>
                <a:cubicBezTo>
                  <a:pt x="1678" y="1922"/>
                  <a:pt x="1710" y="1954"/>
                  <a:pt x="1710" y="1993"/>
                </a:cubicBezTo>
                <a:cubicBezTo>
                  <a:pt x="1710" y="2032"/>
                  <a:pt x="1678" y="2064"/>
                  <a:pt x="1639" y="2064"/>
                </a:cubicBezTo>
                <a:close/>
                <a:moveTo>
                  <a:pt x="1133" y="1678"/>
                </a:moveTo>
                <a:cubicBezTo>
                  <a:pt x="1147" y="1681"/>
                  <a:pt x="1162" y="1683"/>
                  <a:pt x="1177" y="1683"/>
                </a:cubicBezTo>
                <a:cubicBezTo>
                  <a:pt x="1286" y="1683"/>
                  <a:pt x="1375" y="1594"/>
                  <a:pt x="1375" y="1484"/>
                </a:cubicBezTo>
                <a:cubicBezTo>
                  <a:pt x="1375" y="1375"/>
                  <a:pt x="1286" y="1286"/>
                  <a:pt x="1177" y="1286"/>
                </a:cubicBezTo>
                <a:cubicBezTo>
                  <a:pt x="1067" y="1286"/>
                  <a:pt x="978" y="1375"/>
                  <a:pt x="978" y="1484"/>
                </a:cubicBezTo>
                <a:cubicBezTo>
                  <a:pt x="978" y="1531"/>
                  <a:pt x="994" y="1575"/>
                  <a:pt x="1022" y="1609"/>
                </a:cubicBezTo>
                <a:cubicBezTo>
                  <a:pt x="807" y="1823"/>
                  <a:pt x="807" y="1823"/>
                  <a:pt x="807" y="1823"/>
                </a:cubicBezTo>
                <a:cubicBezTo>
                  <a:pt x="777" y="1805"/>
                  <a:pt x="742" y="1794"/>
                  <a:pt x="704" y="1794"/>
                </a:cubicBezTo>
                <a:cubicBezTo>
                  <a:pt x="620" y="1794"/>
                  <a:pt x="548" y="1847"/>
                  <a:pt x="519" y="1922"/>
                </a:cubicBezTo>
                <a:cubicBezTo>
                  <a:pt x="384" y="1922"/>
                  <a:pt x="384" y="1922"/>
                  <a:pt x="384" y="1922"/>
                </a:cubicBezTo>
                <a:cubicBezTo>
                  <a:pt x="366" y="1874"/>
                  <a:pt x="330" y="1836"/>
                  <a:pt x="285" y="1814"/>
                </a:cubicBezTo>
                <a:cubicBezTo>
                  <a:pt x="285" y="950"/>
                  <a:pt x="285" y="950"/>
                  <a:pt x="285" y="950"/>
                </a:cubicBezTo>
                <a:cubicBezTo>
                  <a:pt x="359" y="921"/>
                  <a:pt x="412" y="849"/>
                  <a:pt x="412" y="764"/>
                </a:cubicBezTo>
                <a:cubicBezTo>
                  <a:pt x="412" y="655"/>
                  <a:pt x="323" y="566"/>
                  <a:pt x="214" y="566"/>
                </a:cubicBezTo>
                <a:cubicBezTo>
                  <a:pt x="104" y="566"/>
                  <a:pt x="15" y="655"/>
                  <a:pt x="15" y="764"/>
                </a:cubicBezTo>
                <a:cubicBezTo>
                  <a:pt x="15" y="854"/>
                  <a:pt x="75" y="930"/>
                  <a:pt x="157" y="955"/>
                </a:cubicBezTo>
                <a:cubicBezTo>
                  <a:pt x="157" y="1799"/>
                  <a:pt x="157" y="1799"/>
                  <a:pt x="157" y="1799"/>
                </a:cubicBezTo>
                <a:cubicBezTo>
                  <a:pt x="67" y="1818"/>
                  <a:pt x="0" y="1898"/>
                  <a:pt x="0" y="1993"/>
                </a:cubicBezTo>
                <a:cubicBezTo>
                  <a:pt x="0" y="2103"/>
                  <a:pt x="89" y="2192"/>
                  <a:pt x="199" y="2192"/>
                </a:cubicBezTo>
                <a:cubicBezTo>
                  <a:pt x="289" y="2192"/>
                  <a:pt x="365" y="2132"/>
                  <a:pt x="389" y="2050"/>
                </a:cubicBezTo>
                <a:cubicBezTo>
                  <a:pt x="514" y="2050"/>
                  <a:pt x="514" y="2050"/>
                  <a:pt x="514" y="2050"/>
                </a:cubicBezTo>
                <a:cubicBezTo>
                  <a:pt x="538" y="2132"/>
                  <a:pt x="615" y="2192"/>
                  <a:pt x="704" y="2192"/>
                </a:cubicBezTo>
                <a:cubicBezTo>
                  <a:pt x="814" y="2192"/>
                  <a:pt x="903" y="2103"/>
                  <a:pt x="903" y="1993"/>
                </a:cubicBezTo>
                <a:cubicBezTo>
                  <a:pt x="903" y="1968"/>
                  <a:pt x="898" y="1944"/>
                  <a:pt x="890" y="1922"/>
                </a:cubicBezTo>
                <a:lnTo>
                  <a:pt x="1133" y="1678"/>
                </a:lnTo>
                <a:close/>
                <a:moveTo>
                  <a:pt x="1177" y="1414"/>
                </a:moveTo>
                <a:cubicBezTo>
                  <a:pt x="1216" y="1414"/>
                  <a:pt x="1247" y="1445"/>
                  <a:pt x="1247" y="1484"/>
                </a:cubicBezTo>
                <a:cubicBezTo>
                  <a:pt x="1247" y="1523"/>
                  <a:pt x="1216" y="1555"/>
                  <a:pt x="1177" y="1555"/>
                </a:cubicBezTo>
                <a:cubicBezTo>
                  <a:pt x="1138" y="1555"/>
                  <a:pt x="1106" y="1523"/>
                  <a:pt x="1106" y="1484"/>
                </a:cubicBezTo>
                <a:cubicBezTo>
                  <a:pt x="1106" y="1445"/>
                  <a:pt x="1138" y="1414"/>
                  <a:pt x="1177" y="1414"/>
                </a:cubicBezTo>
                <a:close/>
                <a:moveTo>
                  <a:pt x="199" y="2064"/>
                </a:moveTo>
                <a:cubicBezTo>
                  <a:pt x="160" y="2064"/>
                  <a:pt x="128" y="2032"/>
                  <a:pt x="128" y="1993"/>
                </a:cubicBezTo>
                <a:cubicBezTo>
                  <a:pt x="128" y="1954"/>
                  <a:pt x="160" y="1922"/>
                  <a:pt x="199" y="1922"/>
                </a:cubicBezTo>
                <a:cubicBezTo>
                  <a:pt x="238" y="1922"/>
                  <a:pt x="270" y="1954"/>
                  <a:pt x="270" y="1993"/>
                </a:cubicBezTo>
                <a:cubicBezTo>
                  <a:pt x="270" y="2032"/>
                  <a:pt x="238" y="2064"/>
                  <a:pt x="199" y="2064"/>
                </a:cubicBezTo>
                <a:close/>
                <a:moveTo>
                  <a:pt x="214" y="835"/>
                </a:moveTo>
                <a:cubicBezTo>
                  <a:pt x="175" y="835"/>
                  <a:pt x="143" y="803"/>
                  <a:pt x="143" y="764"/>
                </a:cubicBezTo>
                <a:cubicBezTo>
                  <a:pt x="143" y="725"/>
                  <a:pt x="175" y="694"/>
                  <a:pt x="214" y="694"/>
                </a:cubicBezTo>
                <a:cubicBezTo>
                  <a:pt x="253" y="694"/>
                  <a:pt x="284" y="725"/>
                  <a:pt x="284" y="764"/>
                </a:cubicBezTo>
                <a:cubicBezTo>
                  <a:pt x="284" y="803"/>
                  <a:pt x="253" y="835"/>
                  <a:pt x="214" y="835"/>
                </a:cubicBezTo>
                <a:close/>
                <a:moveTo>
                  <a:pt x="704" y="2064"/>
                </a:moveTo>
                <a:cubicBezTo>
                  <a:pt x="665" y="2064"/>
                  <a:pt x="634" y="2032"/>
                  <a:pt x="634" y="1993"/>
                </a:cubicBezTo>
                <a:cubicBezTo>
                  <a:pt x="634" y="1954"/>
                  <a:pt x="665" y="1922"/>
                  <a:pt x="704" y="1922"/>
                </a:cubicBezTo>
                <a:cubicBezTo>
                  <a:pt x="743" y="1922"/>
                  <a:pt x="775" y="1954"/>
                  <a:pt x="775" y="1993"/>
                </a:cubicBezTo>
                <a:cubicBezTo>
                  <a:pt x="775" y="2032"/>
                  <a:pt x="743" y="2064"/>
                  <a:pt x="704" y="2064"/>
                </a:cubicBezTo>
                <a:close/>
              </a:path>
            </a:pathLst>
          </a:custGeom>
          <a:solidFill>
            <a:srgbClr val="FFFFFF"/>
          </a:solidFill>
          <a:ln>
            <a:noFill/>
          </a:ln>
        </p:spPr>
        <p:txBody>
          <a:bodyPr vert="horz" wrap="square" lIns="83932" tIns="41966" rIns="83932" bIns="41966" numCol="1" anchor="t" anchorCtr="0" compatLnSpc="1">
            <a:prstTxWarp prst="textNoShape">
              <a:avLst/>
            </a:prstTxWarp>
          </a:bodyPr>
          <a:lstStyle/>
          <a:p>
            <a:pPr defTabSz="932536"/>
            <a:endParaRPr lang="en-US" sz="1632">
              <a:solidFill>
                <a:prstClr val="black"/>
              </a:solidFill>
            </a:endParaRPr>
          </a:p>
        </p:txBody>
      </p:sp>
      <p:sp>
        <p:nvSpPr>
          <p:cNvPr id="26" name="TextBox 25"/>
          <p:cNvSpPr txBox="1"/>
          <p:nvPr/>
        </p:nvSpPr>
        <p:spPr>
          <a:xfrm>
            <a:off x="1416514" y="3166885"/>
            <a:ext cx="3844704" cy="531812"/>
          </a:xfrm>
          <a:prstGeom prst="rect">
            <a:avLst/>
          </a:prstGeom>
          <a:noFill/>
        </p:spPr>
        <p:txBody>
          <a:bodyPr wrap="square" rtlCol="0">
            <a:spAutoFit/>
          </a:bodyPr>
          <a:lstStyle/>
          <a:p>
            <a:pPr defTabSz="932536"/>
            <a:r>
              <a:rPr lang="en-US" sz="2856" b="1" dirty="0">
                <a:solidFill>
                  <a:srgbClr val="FFFFFF"/>
                </a:solidFill>
                <a:latin typeface="Segoe UI Semibold" panose="020B0702040204020203" pitchFamily="34" charset="0"/>
                <a:cs typeface="Segoe UI Semibold" panose="020B0702040204020203" pitchFamily="34" charset="0"/>
              </a:rPr>
              <a:t>.NET Framework 4.6 </a:t>
            </a:r>
          </a:p>
        </p:txBody>
      </p:sp>
      <p:sp>
        <p:nvSpPr>
          <p:cNvPr id="27" name="TextBox 26"/>
          <p:cNvSpPr txBox="1"/>
          <p:nvPr/>
        </p:nvSpPr>
        <p:spPr>
          <a:xfrm>
            <a:off x="6795554" y="3166885"/>
            <a:ext cx="2291885" cy="531812"/>
          </a:xfrm>
          <a:prstGeom prst="rect">
            <a:avLst/>
          </a:prstGeom>
          <a:noFill/>
        </p:spPr>
        <p:txBody>
          <a:bodyPr wrap="square" rtlCol="0">
            <a:spAutoFit/>
          </a:bodyPr>
          <a:lstStyle/>
          <a:p>
            <a:pPr defTabSz="932536"/>
            <a:r>
              <a:rPr lang="en-US" sz="2856" b="1" dirty="0">
                <a:solidFill>
                  <a:srgbClr val="FFFFFF"/>
                </a:solidFill>
                <a:latin typeface="Segoe UI Semibold" panose="020B0702040204020203" pitchFamily="34" charset="0"/>
                <a:cs typeface="Segoe UI Semibold" panose="020B0702040204020203" pitchFamily="34" charset="0"/>
              </a:rPr>
              <a:t>.NET </a:t>
            </a:r>
            <a:r>
              <a:rPr lang="en-US" sz="2856" dirty="0">
                <a:solidFill>
                  <a:srgbClr val="FFFFFF"/>
                </a:solidFill>
                <a:latin typeface="Segoe UI Semibold" panose="020B0702040204020203" pitchFamily="34" charset="0"/>
                <a:cs typeface="Segoe UI Semibold" panose="020B0702040204020203" pitchFamily="34" charset="0"/>
              </a:rPr>
              <a:t>Core 5</a:t>
            </a:r>
            <a:r>
              <a:rPr lang="en-US" sz="2856" b="1" dirty="0">
                <a:solidFill>
                  <a:srgbClr val="FFFFFF"/>
                </a:solidFill>
                <a:latin typeface="Segoe UI Semibold" panose="020B0702040204020203" pitchFamily="34" charset="0"/>
                <a:cs typeface="Segoe UI Semibold" panose="020B0702040204020203" pitchFamily="34" charset="0"/>
              </a:rPr>
              <a:t> </a:t>
            </a:r>
          </a:p>
        </p:txBody>
      </p:sp>
      <p:pic>
        <p:nvPicPr>
          <p:cNvPr id="28" name="Picture 27"/>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86099" y="3994959"/>
            <a:ext cx="389875" cy="459018"/>
          </a:xfrm>
          <a:prstGeom prst="rect">
            <a:avLst/>
          </a:prstGeom>
        </p:spPr>
      </p:pic>
      <p:pic>
        <p:nvPicPr>
          <p:cNvPr id="29" name="Picture 2" descr="http://files.softicons.com/download/system-icons/windows-8-metro-icons-by-dakirby309/png/512x512/Folders%20&amp;%20OS/Linux.png"/>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728849" y="3991298"/>
            <a:ext cx="520461" cy="51096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C:\temp\WinAzure_rgb_Wht_S.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371" t="15460" r="80628" b="15496"/>
          <a:stretch/>
        </p:blipFill>
        <p:spPr bwMode="auto">
          <a:xfrm>
            <a:off x="6360898" y="3950343"/>
            <a:ext cx="557072" cy="565767"/>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C:\temp\WinAzure_rgb_Wht_S.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371" t="15460" r="80628" b="15496"/>
          <a:stretch/>
        </p:blipFill>
        <p:spPr bwMode="auto">
          <a:xfrm>
            <a:off x="2765135" y="3950343"/>
            <a:ext cx="557072" cy="565767"/>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p:cNvSpPr/>
          <p:nvPr/>
        </p:nvSpPr>
        <p:spPr bwMode="auto">
          <a:xfrm>
            <a:off x="10706774" y="1368146"/>
            <a:ext cx="1470396" cy="4875855"/>
          </a:xfrm>
          <a:prstGeom prst="rect">
            <a:avLst/>
          </a:prstGeom>
          <a:solidFill>
            <a:schemeClr val="tx1">
              <a:lumMod val="20000"/>
              <a:lumOff val="80000"/>
            </a:schemeClr>
          </a:solidFill>
          <a:ln w="12700" cap="flat" cmpd="sng" algn="ctr">
            <a:solidFill>
              <a:schemeClr val="tx1">
                <a:lumMod val="40000"/>
                <a:lumOff val="60000"/>
              </a:schemeClr>
            </a:solidFill>
            <a:prstDash val="solid"/>
            <a:headEnd type="none" w="med" len="med"/>
            <a:tailEnd type="none" w="med" len="med"/>
          </a:ln>
          <a:effectLst/>
        </p:spPr>
        <p:txBody>
          <a:bodyPr vert="horz" wrap="square" lIns="91427" tIns="91427" rIns="91423" bIns="91427" numCol="1" rtlCol="0" anchor="t" anchorCtr="0" compatLnSpc="1">
            <a:prstTxWarp prst="textNoShape">
              <a:avLst/>
            </a:prstTxWarp>
          </a:bodyPr>
          <a:lstStyle/>
          <a:p>
            <a:pPr defTabSz="932407">
              <a:defRPr/>
            </a:pPr>
            <a:endParaRPr lang="en-US" sz="1801" kern="0" dirty="0" err="1">
              <a:solidFill>
                <a:srgbClr val="000000"/>
              </a:solidFill>
              <a:latin typeface="Segoe UI Light"/>
            </a:endParaRPr>
          </a:p>
        </p:txBody>
      </p:sp>
      <p:pic>
        <p:nvPicPr>
          <p:cNvPr id="33" name="Picture 3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02845" y="2741042"/>
            <a:ext cx="1278255" cy="1194283"/>
          </a:xfrm>
          <a:prstGeom prst="rect">
            <a:avLst/>
          </a:prstGeom>
        </p:spPr>
      </p:pic>
    </p:spTree>
    <p:extLst>
      <p:ext uri="{BB962C8B-B14F-4D97-AF65-F5344CB8AC3E}">
        <p14:creationId xmlns:p14="http://schemas.microsoft.com/office/powerpoint/2010/main" val="1134549563"/>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sz="4799" dirty="0" smtClean="0"/>
              <a:t>.NET Framework 4.6</a:t>
            </a:r>
            <a:endParaRPr lang="en-US" sz="4799" dirty="0"/>
          </a:p>
        </p:txBody>
      </p:sp>
      <p:sp>
        <p:nvSpPr>
          <p:cNvPr id="3" name="Flowchart: Connector 2"/>
          <p:cNvSpPr/>
          <p:nvPr/>
        </p:nvSpPr>
        <p:spPr bwMode="auto">
          <a:xfrm>
            <a:off x="411475" y="5537778"/>
            <a:ext cx="1032095" cy="1013988"/>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16" name="Flowchart: Connector 15"/>
          <p:cNvSpPr/>
          <p:nvPr/>
        </p:nvSpPr>
        <p:spPr bwMode="auto">
          <a:xfrm>
            <a:off x="1746313" y="4985895"/>
            <a:ext cx="1241832" cy="1278047"/>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17" name="Flowchart: Connector 16"/>
          <p:cNvSpPr/>
          <p:nvPr/>
        </p:nvSpPr>
        <p:spPr bwMode="auto">
          <a:xfrm>
            <a:off x="3239460" y="4444570"/>
            <a:ext cx="1478730" cy="1437238"/>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18" name="Flowchart: Connector 17"/>
          <p:cNvSpPr/>
          <p:nvPr/>
        </p:nvSpPr>
        <p:spPr bwMode="auto">
          <a:xfrm>
            <a:off x="5108236" y="3813726"/>
            <a:ext cx="1663010" cy="1672628"/>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p:cNvSpPr/>
          <p:nvPr/>
        </p:nvSpPr>
        <p:spPr>
          <a:xfrm>
            <a:off x="435569" y="5721606"/>
            <a:ext cx="1039901" cy="646331"/>
          </a:xfrm>
          <a:prstGeom prst="rect">
            <a:avLst/>
          </a:prstGeom>
        </p:spPr>
        <p:txBody>
          <a:bodyPr wrap="none">
            <a:spAutoFit/>
          </a:bodyPr>
          <a:lstStyle/>
          <a:p>
            <a:pPr algn="ctr" defTabSz="932277"/>
            <a:r>
              <a:rPr lang="en-US" sz="1200" b="1" dirty="0">
                <a:solidFill>
                  <a:srgbClr val="FFFFFF"/>
                </a:solidFill>
              </a:rPr>
              <a:t>.NET </a:t>
            </a:r>
            <a:endParaRPr lang="en-US" sz="1200" b="1" dirty="0" smtClean="0">
              <a:solidFill>
                <a:srgbClr val="FFFFFF"/>
              </a:solidFill>
            </a:endParaRPr>
          </a:p>
          <a:p>
            <a:pPr algn="ctr" defTabSz="932277"/>
            <a:r>
              <a:rPr lang="en-US" sz="1200" b="1" dirty="0" smtClean="0">
                <a:solidFill>
                  <a:srgbClr val="FFFFFF"/>
                </a:solidFill>
              </a:rPr>
              <a:t>Framework </a:t>
            </a:r>
          </a:p>
          <a:p>
            <a:pPr algn="ctr" defTabSz="932277"/>
            <a:r>
              <a:rPr lang="en-US" sz="1200" b="1" dirty="0" smtClean="0">
                <a:solidFill>
                  <a:srgbClr val="FFFFFF"/>
                </a:solidFill>
              </a:rPr>
              <a:t>4</a:t>
            </a:r>
            <a:endParaRPr lang="en-US" sz="1200" b="1" dirty="0">
              <a:solidFill>
                <a:srgbClr val="FFFFFF"/>
              </a:solidFill>
            </a:endParaRPr>
          </a:p>
        </p:txBody>
      </p:sp>
      <p:sp>
        <p:nvSpPr>
          <p:cNvPr id="19" name="Rectangle 18"/>
          <p:cNvSpPr/>
          <p:nvPr/>
        </p:nvSpPr>
        <p:spPr>
          <a:xfrm>
            <a:off x="1847278" y="5301752"/>
            <a:ext cx="1039901" cy="646331"/>
          </a:xfrm>
          <a:prstGeom prst="rect">
            <a:avLst/>
          </a:prstGeom>
        </p:spPr>
        <p:txBody>
          <a:bodyPr wrap="none">
            <a:spAutoFit/>
          </a:bodyPr>
          <a:lstStyle/>
          <a:p>
            <a:pPr algn="ctr" defTabSz="932277"/>
            <a:r>
              <a:rPr lang="en-US" sz="1200" b="1" dirty="0">
                <a:solidFill>
                  <a:srgbClr val="FFFFFF"/>
                </a:solidFill>
              </a:rPr>
              <a:t>.NET </a:t>
            </a:r>
            <a:endParaRPr lang="en-US" sz="1200" b="1" dirty="0" smtClean="0">
              <a:solidFill>
                <a:srgbClr val="FFFFFF"/>
              </a:solidFill>
            </a:endParaRPr>
          </a:p>
          <a:p>
            <a:pPr algn="ctr" defTabSz="932277"/>
            <a:r>
              <a:rPr lang="en-US" sz="1200" b="1" dirty="0" smtClean="0">
                <a:solidFill>
                  <a:srgbClr val="FFFFFF"/>
                </a:solidFill>
              </a:rPr>
              <a:t>Framework </a:t>
            </a:r>
          </a:p>
          <a:p>
            <a:pPr algn="ctr" defTabSz="932277"/>
            <a:r>
              <a:rPr lang="en-US" sz="1200" b="1" dirty="0" smtClean="0">
                <a:solidFill>
                  <a:srgbClr val="FFFFFF"/>
                </a:solidFill>
              </a:rPr>
              <a:t>4.5</a:t>
            </a:r>
            <a:endParaRPr lang="en-US" sz="1200" b="1" dirty="0">
              <a:solidFill>
                <a:srgbClr val="FFFFFF"/>
              </a:solidFill>
            </a:endParaRPr>
          </a:p>
        </p:txBody>
      </p:sp>
      <p:sp>
        <p:nvSpPr>
          <p:cNvPr id="20" name="Rectangle 19"/>
          <p:cNvSpPr/>
          <p:nvPr/>
        </p:nvSpPr>
        <p:spPr>
          <a:xfrm>
            <a:off x="3458874" y="4840023"/>
            <a:ext cx="1039901" cy="646331"/>
          </a:xfrm>
          <a:prstGeom prst="rect">
            <a:avLst/>
          </a:prstGeom>
        </p:spPr>
        <p:txBody>
          <a:bodyPr wrap="none">
            <a:spAutoFit/>
          </a:bodyPr>
          <a:lstStyle/>
          <a:p>
            <a:pPr algn="ctr" defTabSz="932277"/>
            <a:r>
              <a:rPr lang="en-US" sz="1200" b="1" dirty="0">
                <a:solidFill>
                  <a:srgbClr val="FFFFFF"/>
                </a:solidFill>
              </a:rPr>
              <a:t>.NET </a:t>
            </a:r>
            <a:endParaRPr lang="en-US" sz="1200" b="1" dirty="0" smtClean="0">
              <a:solidFill>
                <a:srgbClr val="FFFFFF"/>
              </a:solidFill>
            </a:endParaRPr>
          </a:p>
          <a:p>
            <a:pPr algn="ctr" defTabSz="932277"/>
            <a:r>
              <a:rPr lang="en-US" sz="1200" b="1" dirty="0" smtClean="0">
                <a:solidFill>
                  <a:srgbClr val="FFFFFF"/>
                </a:solidFill>
              </a:rPr>
              <a:t>Framework </a:t>
            </a:r>
          </a:p>
          <a:p>
            <a:pPr algn="ctr" defTabSz="932277"/>
            <a:r>
              <a:rPr lang="en-US" sz="1200" b="1" dirty="0" smtClean="0">
                <a:solidFill>
                  <a:srgbClr val="FFFFFF"/>
                </a:solidFill>
              </a:rPr>
              <a:t>4.5.1</a:t>
            </a:r>
            <a:endParaRPr lang="en-US" sz="1200" b="1" dirty="0">
              <a:solidFill>
                <a:srgbClr val="FFFFFF"/>
              </a:solidFill>
            </a:endParaRPr>
          </a:p>
        </p:txBody>
      </p:sp>
      <p:sp>
        <p:nvSpPr>
          <p:cNvPr id="21" name="Rectangle 20"/>
          <p:cNvSpPr/>
          <p:nvPr/>
        </p:nvSpPr>
        <p:spPr>
          <a:xfrm>
            <a:off x="5419790" y="4345854"/>
            <a:ext cx="1039901" cy="646331"/>
          </a:xfrm>
          <a:prstGeom prst="rect">
            <a:avLst/>
          </a:prstGeom>
        </p:spPr>
        <p:txBody>
          <a:bodyPr wrap="none">
            <a:spAutoFit/>
          </a:bodyPr>
          <a:lstStyle/>
          <a:p>
            <a:pPr algn="ctr" defTabSz="932277"/>
            <a:r>
              <a:rPr lang="en-US" sz="1200" b="1" dirty="0">
                <a:solidFill>
                  <a:srgbClr val="FFFFFF"/>
                </a:solidFill>
              </a:rPr>
              <a:t>.NET </a:t>
            </a:r>
            <a:endParaRPr lang="en-US" sz="1200" b="1" dirty="0" smtClean="0">
              <a:solidFill>
                <a:srgbClr val="FFFFFF"/>
              </a:solidFill>
            </a:endParaRPr>
          </a:p>
          <a:p>
            <a:pPr algn="ctr" defTabSz="932277"/>
            <a:r>
              <a:rPr lang="en-US" sz="1200" b="1" dirty="0" smtClean="0">
                <a:solidFill>
                  <a:srgbClr val="FFFFFF"/>
                </a:solidFill>
              </a:rPr>
              <a:t>Framework </a:t>
            </a:r>
          </a:p>
          <a:p>
            <a:pPr algn="ctr" defTabSz="932277"/>
            <a:r>
              <a:rPr lang="en-US" sz="1200" b="1" dirty="0" smtClean="0">
                <a:solidFill>
                  <a:srgbClr val="FFFFFF"/>
                </a:solidFill>
              </a:rPr>
              <a:t>4.5.2</a:t>
            </a:r>
            <a:endParaRPr lang="en-US" sz="1200" b="1" dirty="0">
              <a:solidFill>
                <a:srgbClr val="FFFFFF"/>
              </a:solidFill>
            </a:endParaRPr>
          </a:p>
        </p:txBody>
      </p:sp>
      <p:sp>
        <p:nvSpPr>
          <p:cNvPr id="22" name="Flowchart: Connector 21"/>
          <p:cNvSpPr/>
          <p:nvPr/>
        </p:nvSpPr>
        <p:spPr bwMode="auto">
          <a:xfrm>
            <a:off x="7161292" y="1711105"/>
            <a:ext cx="4909580" cy="5042733"/>
          </a:xfrm>
          <a:prstGeom prst="flowChartConnector">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22"/>
          <p:cNvSpPr/>
          <p:nvPr/>
        </p:nvSpPr>
        <p:spPr>
          <a:xfrm>
            <a:off x="7985156" y="2135780"/>
            <a:ext cx="3358835" cy="461665"/>
          </a:xfrm>
          <a:prstGeom prst="rect">
            <a:avLst/>
          </a:prstGeom>
        </p:spPr>
        <p:txBody>
          <a:bodyPr wrap="square">
            <a:spAutoFit/>
          </a:bodyPr>
          <a:lstStyle/>
          <a:p>
            <a:pPr algn="ctr" defTabSz="932277"/>
            <a:r>
              <a:rPr lang="en-US" sz="2300" b="1" dirty="0">
                <a:solidFill>
                  <a:srgbClr val="FFFFFF"/>
                </a:solidFill>
              </a:rPr>
              <a:t>.</a:t>
            </a:r>
            <a:r>
              <a:rPr lang="en-US" sz="2300" b="1" dirty="0" smtClean="0">
                <a:solidFill>
                  <a:srgbClr val="FFFFFF"/>
                </a:solidFill>
              </a:rPr>
              <a:t>NET Framework 4.6</a:t>
            </a:r>
            <a:endParaRPr lang="en-US" sz="2300" b="1" dirty="0">
              <a:solidFill>
                <a:srgbClr val="FFFFFF"/>
              </a:solidFill>
            </a:endParaRPr>
          </a:p>
        </p:txBody>
      </p:sp>
      <p:sp>
        <p:nvSpPr>
          <p:cNvPr id="25" name="Freeform 24"/>
          <p:cNvSpPr/>
          <p:nvPr/>
        </p:nvSpPr>
        <p:spPr bwMode="auto">
          <a:xfrm>
            <a:off x="592185" y="5552322"/>
            <a:ext cx="8252009" cy="1226713"/>
          </a:xfrm>
          <a:custGeom>
            <a:avLst/>
            <a:gdLst>
              <a:gd name="connsiteX0" fmla="*/ 0 w 7880817"/>
              <a:gd name="connsiteY0" fmla="*/ 1143112 h 1143112"/>
              <a:gd name="connsiteX1" fmla="*/ 4155541 w 7880817"/>
              <a:gd name="connsiteY1" fmla="*/ 156284 h 1143112"/>
              <a:gd name="connsiteX2" fmla="*/ 5975287 w 7880817"/>
              <a:gd name="connsiteY2" fmla="*/ 74803 h 1143112"/>
              <a:gd name="connsiteX3" fmla="*/ 7713553 w 7880817"/>
              <a:gd name="connsiteY3" fmla="*/ 880561 h 1143112"/>
              <a:gd name="connsiteX4" fmla="*/ 7713553 w 7880817"/>
              <a:gd name="connsiteY4" fmla="*/ 871508 h 1143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0817" h="1143112">
                <a:moveTo>
                  <a:pt x="0" y="1143112"/>
                </a:moveTo>
                <a:cubicBezTo>
                  <a:pt x="1579830" y="738723"/>
                  <a:pt x="3159660" y="334335"/>
                  <a:pt x="4155541" y="156284"/>
                </a:cubicBezTo>
                <a:cubicBezTo>
                  <a:pt x="5151422" y="-21768"/>
                  <a:pt x="5382285" y="-45910"/>
                  <a:pt x="5975287" y="74803"/>
                </a:cubicBezTo>
                <a:cubicBezTo>
                  <a:pt x="6568289" y="195516"/>
                  <a:pt x="7423842" y="747777"/>
                  <a:pt x="7713553" y="880561"/>
                </a:cubicBezTo>
                <a:cubicBezTo>
                  <a:pt x="8003264" y="1013345"/>
                  <a:pt x="7858408" y="942426"/>
                  <a:pt x="7713553" y="871508"/>
                </a:cubicBezTo>
              </a:path>
            </a:pathLst>
          </a:custGeom>
          <a:ln>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defTabSz="932277"/>
            <a:endParaRPr lang="en-US" sz="1768">
              <a:solidFill>
                <a:srgbClr val="000000"/>
              </a:solidFill>
            </a:endParaRPr>
          </a:p>
        </p:txBody>
      </p:sp>
      <p:sp>
        <p:nvSpPr>
          <p:cNvPr id="26" name="Freeform 25"/>
          <p:cNvSpPr/>
          <p:nvPr/>
        </p:nvSpPr>
        <p:spPr bwMode="auto">
          <a:xfrm>
            <a:off x="271604" y="1897062"/>
            <a:ext cx="8338241" cy="3598077"/>
          </a:xfrm>
          <a:custGeom>
            <a:avLst/>
            <a:gdLst>
              <a:gd name="connsiteX0" fmla="*/ 0 w 8274867"/>
              <a:gd name="connsiteY0" fmla="*/ 3702867 h 3702867"/>
              <a:gd name="connsiteX1" fmla="*/ 4246075 w 8274867"/>
              <a:gd name="connsiteY1" fmla="*/ 2245259 h 3702867"/>
              <a:gd name="connsiteX2" fmla="*/ 6147303 w 8274867"/>
              <a:gd name="connsiteY2" fmla="*/ 1294645 h 3702867"/>
              <a:gd name="connsiteX3" fmla="*/ 8274867 w 8274867"/>
              <a:gd name="connsiteY3" fmla="*/ 0 h 3702867"/>
              <a:gd name="connsiteX4" fmla="*/ 8274867 w 8274867"/>
              <a:gd name="connsiteY4" fmla="*/ 0 h 3702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74867" h="3702867">
                <a:moveTo>
                  <a:pt x="0" y="3702867"/>
                </a:moveTo>
                <a:cubicBezTo>
                  <a:pt x="1610762" y="3174748"/>
                  <a:pt x="3221525" y="2646629"/>
                  <a:pt x="4246075" y="2245259"/>
                </a:cubicBezTo>
                <a:cubicBezTo>
                  <a:pt x="5270625" y="1843889"/>
                  <a:pt x="5475838" y="1668855"/>
                  <a:pt x="6147303" y="1294645"/>
                </a:cubicBezTo>
                <a:cubicBezTo>
                  <a:pt x="6818768" y="920435"/>
                  <a:pt x="8274867" y="0"/>
                  <a:pt x="8274867" y="0"/>
                </a:cubicBezTo>
                <a:lnTo>
                  <a:pt x="8274867" y="0"/>
                </a:lnTo>
              </a:path>
            </a:pathLst>
          </a:custGeom>
          <a:ln>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defTabSz="932277"/>
            <a:endParaRPr lang="en-US" sz="1768">
              <a:solidFill>
                <a:srgbClr val="000000"/>
              </a:solidFill>
            </a:endParaRPr>
          </a:p>
        </p:txBody>
      </p:sp>
      <p:sp>
        <p:nvSpPr>
          <p:cNvPr id="27" name="Rectangle 26"/>
          <p:cNvSpPr/>
          <p:nvPr/>
        </p:nvSpPr>
        <p:spPr>
          <a:xfrm rot="20532416">
            <a:off x="2892190" y="3986283"/>
            <a:ext cx="1616148" cy="338554"/>
          </a:xfrm>
          <a:prstGeom prst="rect">
            <a:avLst/>
          </a:prstGeom>
        </p:spPr>
        <p:txBody>
          <a:bodyPr wrap="none">
            <a:spAutoFit/>
          </a:bodyPr>
          <a:lstStyle/>
          <a:p>
            <a:pPr defTabSz="932277"/>
            <a:r>
              <a:rPr lang="en-US" sz="1600" dirty="0">
                <a:latin typeface="Segoe UI Light"/>
              </a:rPr>
              <a:t>Evolution in time</a:t>
            </a:r>
          </a:p>
        </p:txBody>
      </p:sp>
      <p:sp>
        <p:nvSpPr>
          <p:cNvPr id="28" name="Rectangle 27"/>
          <p:cNvSpPr/>
          <p:nvPr/>
        </p:nvSpPr>
        <p:spPr>
          <a:xfrm>
            <a:off x="7779820" y="2748678"/>
            <a:ext cx="3906523" cy="3231654"/>
          </a:xfrm>
          <a:prstGeom prst="rect">
            <a:avLst/>
          </a:prstGeom>
        </p:spPr>
        <p:txBody>
          <a:bodyPr wrap="square">
            <a:spAutoFit/>
          </a:bodyPr>
          <a:lstStyle/>
          <a:p>
            <a:pPr marL="285750" indent="-285750" defTabSz="932277">
              <a:buFont typeface="Arial" panose="020B0604020202020204" pitchFamily="34" charset="0"/>
              <a:buChar char="•"/>
            </a:pPr>
            <a:r>
              <a:rPr lang="en-US" sz="1700" dirty="0" smtClean="0">
                <a:gradFill>
                  <a:gsLst>
                    <a:gs pos="0">
                      <a:srgbClr val="FFFFFF"/>
                    </a:gs>
                    <a:gs pos="100000">
                      <a:srgbClr val="FFFFFF"/>
                    </a:gs>
                  </a:gsLst>
                  <a:lin ang="5400000" scaled="0"/>
                </a:gradFill>
                <a:ea typeface="Segoe UI" pitchFamily="34" charset="0"/>
                <a:cs typeface="Segoe UI" pitchFamily="34" charset="0"/>
              </a:rPr>
              <a:t>Highly </a:t>
            </a:r>
            <a:r>
              <a:rPr lang="en-US" sz="1700" dirty="0">
                <a:gradFill>
                  <a:gsLst>
                    <a:gs pos="0">
                      <a:srgbClr val="FFFFFF"/>
                    </a:gs>
                    <a:gs pos="100000">
                      <a:srgbClr val="FFFFFF"/>
                    </a:gs>
                  </a:gsLst>
                  <a:lin ang="5400000" scaled="0"/>
                </a:gradFill>
                <a:ea typeface="Segoe UI" pitchFamily="34" charset="0"/>
                <a:cs typeface="Segoe UI" pitchFamily="34" charset="0"/>
              </a:rPr>
              <a:t>compatible, in-place replacement for .NET 4, 4.5, 4.5.1, and </a:t>
            </a:r>
            <a:r>
              <a:rPr lang="en-US" sz="1700" dirty="0" smtClean="0">
                <a:gradFill>
                  <a:gsLst>
                    <a:gs pos="0">
                      <a:srgbClr val="FFFFFF"/>
                    </a:gs>
                    <a:gs pos="100000">
                      <a:srgbClr val="FFFFFF"/>
                    </a:gs>
                  </a:gsLst>
                  <a:lin ang="5400000" scaled="0"/>
                </a:gradFill>
                <a:ea typeface="Segoe UI" pitchFamily="34" charset="0"/>
                <a:cs typeface="Segoe UI" pitchFamily="34" charset="0"/>
              </a:rPr>
              <a:t>4.5.2</a:t>
            </a:r>
          </a:p>
          <a:p>
            <a:pPr marL="285750" indent="-285750" defTabSz="932277">
              <a:buFont typeface="Arial" panose="020B0604020202020204" pitchFamily="34" charset="0"/>
              <a:buChar char="•"/>
            </a:pPr>
            <a:r>
              <a:rPr lang="en-US" sz="1700" dirty="0">
                <a:gradFill>
                  <a:gsLst>
                    <a:gs pos="0">
                      <a:srgbClr val="FFFFFF"/>
                    </a:gs>
                    <a:gs pos="100000">
                      <a:srgbClr val="FFFFFF"/>
                    </a:gs>
                  </a:gsLst>
                  <a:lin ang="5400000" scaled="0"/>
                </a:gradFill>
                <a:ea typeface="Segoe UI" pitchFamily="34" charset="0"/>
                <a:cs typeface="Segoe UI" pitchFamily="34" charset="0"/>
              </a:rPr>
              <a:t>Full support of any .NET API and Libraries in the </a:t>
            </a:r>
            <a:r>
              <a:rPr lang="en-US" sz="1700" dirty="0" smtClean="0">
                <a:gradFill>
                  <a:gsLst>
                    <a:gs pos="0">
                      <a:srgbClr val="FFFFFF"/>
                    </a:gs>
                    <a:gs pos="100000">
                      <a:srgbClr val="FFFFFF"/>
                    </a:gs>
                  </a:gsLst>
                  <a:lin ang="5400000" scaled="0"/>
                </a:gradFill>
                <a:ea typeface="Segoe UI" pitchFamily="34" charset="0"/>
                <a:cs typeface="Segoe UI" pitchFamily="34" charset="0"/>
              </a:rPr>
              <a:t>market</a:t>
            </a:r>
          </a:p>
          <a:p>
            <a:pPr marL="285750" indent="-285750" defTabSz="932277">
              <a:buFont typeface="Arial" panose="020B0604020202020204" pitchFamily="34" charset="0"/>
              <a:buChar char="•"/>
            </a:pPr>
            <a:r>
              <a:rPr lang="en-US" sz="1700" dirty="0">
                <a:gradFill>
                  <a:gsLst>
                    <a:gs pos="0">
                      <a:srgbClr val="FFFFFF"/>
                    </a:gs>
                    <a:gs pos="100000">
                      <a:srgbClr val="FFFFFF"/>
                    </a:gs>
                  </a:gsLst>
                  <a:lin ang="5400000" scaled="0"/>
                </a:gradFill>
                <a:ea typeface="Segoe UI" pitchFamily="34" charset="0"/>
                <a:cs typeface="Segoe UI" pitchFamily="34" charset="0"/>
              </a:rPr>
              <a:t>WPF is the platform of choice for desktop application </a:t>
            </a:r>
            <a:r>
              <a:rPr lang="en-US" sz="1700" dirty="0" smtClean="0">
                <a:gradFill>
                  <a:gsLst>
                    <a:gs pos="0">
                      <a:srgbClr val="FFFFFF"/>
                    </a:gs>
                    <a:gs pos="100000">
                      <a:srgbClr val="FFFFFF"/>
                    </a:gs>
                  </a:gsLst>
                  <a:lin ang="5400000" scaled="0"/>
                </a:gradFill>
                <a:ea typeface="Segoe UI" pitchFamily="34" charset="0"/>
                <a:cs typeface="Segoe UI" pitchFamily="34" charset="0"/>
              </a:rPr>
              <a:t>development</a:t>
            </a:r>
          </a:p>
          <a:p>
            <a:pPr marL="285750" indent="-285750" defTabSz="932277">
              <a:buFont typeface="Arial" panose="020B0604020202020204" pitchFamily="34" charset="0"/>
              <a:buChar char="•"/>
            </a:pPr>
            <a:r>
              <a:rPr lang="en-US" sz="1700" dirty="0">
                <a:gradFill>
                  <a:gsLst>
                    <a:gs pos="0">
                      <a:srgbClr val="FFFFFF"/>
                    </a:gs>
                    <a:gs pos="100000">
                      <a:srgbClr val="FFFFFF"/>
                    </a:gs>
                  </a:gsLst>
                  <a:lin ang="5400000" scaled="0"/>
                </a:gradFill>
                <a:ea typeface="Segoe UI" pitchFamily="34" charset="0"/>
                <a:cs typeface="Segoe UI" pitchFamily="34" charset="0"/>
              </a:rPr>
              <a:t>ASP.NET 5 is also supported running on top of .NET </a:t>
            </a:r>
            <a:r>
              <a:rPr lang="en-US" sz="1700" dirty="0" smtClean="0">
                <a:gradFill>
                  <a:gsLst>
                    <a:gs pos="0">
                      <a:srgbClr val="FFFFFF"/>
                    </a:gs>
                    <a:gs pos="100000">
                      <a:srgbClr val="FFFFFF"/>
                    </a:gs>
                  </a:gsLst>
                  <a:lin ang="5400000" scaled="0"/>
                </a:gradFill>
                <a:ea typeface="Segoe UI" pitchFamily="34" charset="0"/>
                <a:cs typeface="Segoe UI" pitchFamily="34" charset="0"/>
              </a:rPr>
              <a:t>4.6</a:t>
            </a:r>
          </a:p>
          <a:p>
            <a:pPr marL="285750" indent="-285750" defTabSz="932277">
              <a:buFont typeface="Arial" panose="020B0604020202020204" pitchFamily="34" charset="0"/>
              <a:buChar char="•"/>
            </a:pPr>
            <a:r>
              <a:rPr lang="en-US" sz="1700" dirty="0">
                <a:gradFill>
                  <a:gsLst>
                    <a:gs pos="0">
                      <a:srgbClr val="FFFFFF"/>
                    </a:gs>
                    <a:gs pos="100000">
                      <a:srgbClr val="FFFFFF"/>
                    </a:gs>
                  </a:gsLst>
                  <a:lin ang="5400000" scaled="0"/>
                </a:gradFill>
                <a:ea typeface="Segoe UI" pitchFamily="34" charset="0"/>
                <a:cs typeface="Segoe UI" pitchFamily="34" charset="0"/>
              </a:rPr>
              <a:t>.NET 4.6 also gets the investment on new compilers, new Jit, and languages </a:t>
            </a:r>
            <a:r>
              <a:rPr lang="en-US" sz="1700" dirty="0" smtClean="0">
                <a:gradFill>
                  <a:gsLst>
                    <a:gs pos="0">
                      <a:srgbClr val="FFFFFF"/>
                    </a:gs>
                    <a:gs pos="100000">
                      <a:srgbClr val="FFFFFF"/>
                    </a:gs>
                  </a:gsLst>
                  <a:lin ang="5400000" scaled="0"/>
                </a:gradFill>
                <a:ea typeface="Segoe UI" pitchFamily="34" charset="0"/>
                <a:cs typeface="Segoe UI" pitchFamily="34" charset="0"/>
              </a:rPr>
              <a:t>innovation</a:t>
            </a:r>
            <a:endParaRPr lang="en-US" sz="17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48013744"/>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.NET Core</a:t>
            </a:r>
            <a:endParaRPr lang="en-US" dirty="0"/>
          </a:p>
        </p:txBody>
      </p:sp>
      <p:sp>
        <p:nvSpPr>
          <p:cNvPr id="4" name="Rectangle 3"/>
          <p:cNvSpPr/>
          <p:nvPr/>
        </p:nvSpPr>
        <p:spPr bwMode="auto">
          <a:xfrm>
            <a:off x="1751799" y="2884603"/>
            <a:ext cx="8233592" cy="3410319"/>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a:lnSpc>
                <a:spcPct val="90000"/>
              </a:lnSpc>
            </a:pPr>
            <a:endParaRPr lang="en-US" sz="1600" i="1" dirty="0">
              <a:gradFill>
                <a:gsLst>
                  <a:gs pos="0">
                    <a:srgbClr val="3F3F3F"/>
                  </a:gs>
                  <a:gs pos="100000">
                    <a:srgbClr val="3F3F3F"/>
                  </a:gs>
                </a:gsLst>
                <a:lin ang="5400000" scaled="0"/>
              </a:gradFill>
              <a:ea typeface="Segoe UI" pitchFamily="34" charset="0"/>
              <a:cs typeface="Segoe UI" pitchFamily="34" charset="0"/>
            </a:endParaRPr>
          </a:p>
        </p:txBody>
      </p:sp>
      <p:sp>
        <p:nvSpPr>
          <p:cNvPr id="5" name="Rectangle 4"/>
          <p:cNvSpPr/>
          <p:nvPr/>
        </p:nvSpPr>
        <p:spPr bwMode="auto">
          <a:xfrm>
            <a:off x="3648175" y="1818141"/>
            <a:ext cx="2079504" cy="1025410"/>
          </a:xfrm>
          <a:prstGeom prst="rect">
            <a:avLst/>
          </a:prstGeom>
          <a:solidFill>
            <a:srgbClr val="7FBA00"/>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6" name="Rectangle 5"/>
          <p:cNvSpPr/>
          <p:nvPr/>
        </p:nvSpPr>
        <p:spPr bwMode="auto">
          <a:xfrm>
            <a:off x="5779807" y="1818141"/>
            <a:ext cx="2065130" cy="1025410"/>
          </a:xfrm>
          <a:prstGeom prst="rect">
            <a:avLst/>
          </a:prstGeom>
          <a:solidFill>
            <a:srgbClr val="7FBA00"/>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7" name="Rectangle 6"/>
          <p:cNvSpPr/>
          <p:nvPr/>
        </p:nvSpPr>
        <p:spPr bwMode="auto">
          <a:xfrm>
            <a:off x="7911439" y="1818141"/>
            <a:ext cx="2073951" cy="1025410"/>
          </a:xfrm>
          <a:prstGeom prst="rect">
            <a:avLst/>
          </a:prstGeom>
          <a:solidFill>
            <a:srgbClr val="7FBA00">
              <a:alpha val="70000"/>
            </a:srgbClr>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8" name="Rectangle 7"/>
          <p:cNvSpPr/>
          <p:nvPr/>
        </p:nvSpPr>
        <p:spPr>
          <a:xfrm>
            <a:off x="3711213" y="1873964"/>
            <a:ext cx="1925642" cy="518604"/>
          </a:xfrm>
          <a:prstGeom prst="rect">
            <a:avLst/>
          </a:prstGeom>
        </p:spPr>
        <p:txBody>
          <a:bodyPr wrap="square">
            <a:spAutoFit/>
          </a:bodyPr>
          <a:lstStyle/>
          <a:p>
            <a:pPr marL="0" lvl="1" defTabSz="932048">
              <a:lnSpc>
                <a:spcPct val="90000"/>
              </a:lnSpc>
              <a:spcAft>
                <a:spcPts val="340"/>
              </a:spcAft>
              <a:defRPr/>
            </a:pPr>
            <a:r>
              <a:rPr lang="en-US" sz="1400" dirty="0" smtClean="0">
                <a:solidFill>
                  <a:srgbClr val="FFFFFF"/>
                </a:solidFill>
              </a:rPr>
              <a:t>ASP.NET 5</a:t>
            </a:r>
          </a:p>
          <a:p>
            <a:pPr marL="0" lvl="1" defTabSz="932048">
              <a:lnSpc>
                <a:spcPct val="90000"/>
              </a:lnSpc>
              <a:spcAft>
                <a:spcPts val="340"/>
              </a:spcAft>
              <a:defRPr/>
            </a:pPr>
            <a:r>
              <a:rPr lang="en-US" sz="1400" dirty="0" smtClean="0">
                <a:solidFill>
                  <a:srgbClr val="FFFFFF"/>
                </a:solidFill>
              </a:rPr>
              <a:t>App Model</a:t>
            </a:r>
            <a:endParaRPr lang="en-US" sz="1400" dirty="0">
              <a:solidFill>
                <a:srgbClr val="FFFFFF"/>
              </a:solidFill>
            </a:endParaRPr>
          </a:p>
        </p:txBody>
      </p:sp>
      <p:sp>
        <p:nvSpPr>
          <p:cNvPr id="9" name="Rectangle 8"/>
          <p:cNvSpPr/>
          <p:nvPr/>
        </p:nvSpPr>
        <p:spPr>
          <a:xfrm>
            <a:off x="5751163" y="1873964"/>
            <a:ext cx="2130829" cy="480131"/>
          </a:xfrm>
          <a:prstGeom prst="rect">
            <a:avLst/>
          </a:prstGeom>
        </p:spPr>
        <p:txBody>
          <a:bodyPr wrap="square">
            <a:spAutoFit/>
          </a:bodyPr>
          <a:lstStyle/>
          <a:p>
            <a:pPr marL="0" lvl="1" defTabSz="932048">
              <a:lnSpc>
                <a:spcPct val="90000"/>
              </a:lnSpc>
              <a:spcAft>
                <a:spcPts val="340"/>
              </a:spcAft>
              <a:defRPr/>
            </a:pPr>
            <a:r>
              <a:rPr lang="en-US" sz="1400" dirty="0" smtClean="0">
                <a:solidFill>
                  <a:srgbClr val="FFFFFF"/>
                </a:solidFill>
              </a:rPr>
              <a:t>Universal Windows Apps Model</a:t>
            </a:r>
            <a:endParaRPr lang="en-US" sz="1400" dirty="0">
              <a:solidFill>
                <a:srgbClr val="FFFFFF"/>
              </a:solidFill>
            </a:endParaRPr>
          </a:p>
        </p:txBody>
      </p:sp>
      <p:sp>
        <p:nvSpPr>
          <p:cNvPr id="10" name="Rectangle 9"/>
          <p:cNvSpPr/>
          <p:nvPr/>
        </p:nvSpPr>
        <p:spPr>
          <a:xfrm>
            <a:off x="7997423" y="1873964"/>
            <a:ext cx="1925642" cy="518604"/>
          </a:xfrm>
          <a:prstGeom prst="rect">
            <a:avLst/>
          </a:prstGeom>
        </p:spPr>
        <p:txBody>
          <a:bodyPr wrap="square">
            <a:spAutoFit/>
          </a:bodyPr>
          <a:lstStyle/>
          <a:p>
            <a:pPr marL="0" lvl="1" defTabSz="932048">
              <a:lnSpc>
                <a:spcPct val="90000"/>
              </a:lnSpc>
              <a:spcAft>
                <a:spcPts val="340"/>
              </a:spcAft>
              <a:defRPr/>
            </a:pPr>
            <a:r>
              <a:rPr lang="en-US" sz="1400" dirty="0" smtClean="0">
                <a:solidFill>
                  <a:srgbClr val="FFFFFF"/>
                </a:solidFill>
              </a:rPr>
              <a:t>Any other</a:t>
            </a:r>
          </a:p>
          <a:p>
            <a:pPr marL="0" lvl="1" defTabSz="932048">
              <a:lnSpc>
                <a:spcPct val="90000"/>
              </a:lnSpc>
              <a:spcAft>
                <a:spcPts val="340"/>
              </a:spcAft>
              <a:defRPr/>
            </a:pPr>
            <a:r>
              <a:rPr lang="en-US" sz="1400" dirty="0" smtClean="0">
                <a:solidFill>
                  <a:srgbClr val="FFFFFF"/>
                </a:solidFill>
              </a:rPr>
              <a:t>app model</a:t>
            </a:r>
            <a:endParaRPr lang="en-US" sz="1400" dirty="0">
              <a:solidFill>
                <a:srgbClr val="FFFFFF"/>
              </a:solidFill>
            </a:endParaRPr>
          </a:p>
        </p:txBody>
      </p:sp>
      <p:sp>
        <p:nvSpPr>
          <p:cNvPr id="11" name="Freeform 626"/>
          <p:cNvSpPr>
            <a:spLocks noChangeAspect="1" noEditPoints="1"/>
          </p:cNvSpPr>
          <p:nvPr/>
        </p:nvSpPr>
        <p:spPr bwMode="auto">
          <a:xfrm>
            <a:off x="7477744" y="2381246"/>
            <a:ext cx="246723" cy="166474"/>
          </a:xfrm>
          <a:custGeom>
            <a:avLst/>
            <a:gdLst>
              <a:gd name="T0" fmla="*/ 340 w 400"/>
              <a:gd name="T1" fmla="*/ 0 h 214"/>
              <a:gd name="T2" fmla="*/ 61 w 400"/>
              <a:gd name="T3" fmla="*/ 0 h 214"/>
              <a:gd name="T4" fmla="*/ 51 w 400"/>
              <a:gd name="T5" fmla="*/ 10 h 214"/>
              <a:gd name="T6" fmla="*/ 51 w 400"/>
              <a:gd name="T7" fmla="*/ 181 h 214"/>
              <a:gd name="T8" fmla="*/ 61 w 400"/>
              <a:gd name="T9" fmla="*/ 191 h 214"/>
              <a:gd name="T10" fmla="*/ 340 w 400"/>
              <a:gd name="T11" fmla="*/ 191 h 214"/>
              <a:gd name="T12" fmla="*/ 350 w 400"/>
              <a:gd name="T13" fmla="*/ 181 h 214"/>
              <a:gd name="T14" fmla="*/ 350 w 400"/>
              <a:gd name="T15" fmla="*/ 10 h 214"/>
              <a:gd name="T16" fmla="*/ 340 w 400"/>
              <a:gd name="T17" fmla="*/ 0 h 214"/>
              <a:gd name="T18" fmla="*/ 337 w 400"/>
              <a:gd name="T19" fmla="*/ 179 h 214"/>
              <a:gd name="T20" fmla="*/ 64 w 400"/>
              <a:gd name="T21" fmla="*/ 179 h 214"/>
              <a:gd name="T22" fmla="*/ 64 w 400"/>
              <a:gd name="T23" fmla="*/ 11 h 214"/>
              <a:gd name="T24" fmla="*/ 337 w 400"/>
              <a:gd name="T25" fmla="*/ 11 h 214"/>
              <a:gd name="T26" fmla="*/ 337 w 400"/>
              <a:gd name="T27" fmla="*/ 179 h 214"/>
              <a:gd name="T28" fmla="*/ 228 w 400"/>
              <a:gd name="T29" fmla="*/ 198 h 214"/>
              <a:gd name="T30" fmla="*/ 228 w 400"/>
              <a:gd name="T31" fmla="*/ 200 h 214"/>
              <a:gd name="T32" fmla="*/ 224 w 400"/>
              <a:gd name="T33" fmla="*/ 203 h 214"/>
              <a:gd name="T34" fmla="*/ 177 w 400"/>
              <a:gd name="T35" fmla="*/ 203 h 214"/>
              <a:gd name="T36" fmla="*/ 173 w 400"/>
              <a:gd name="T37" fmla="*/ 200 h 214"/>
              <a:gd name="T38" fmla="*/ 173 w 400"/>
              <a:gd name="T39" fmla="*/ 198 h 214"/>
              <a:gd name="T40" fmla="*/ 0 w 400"/>
              <a:gd name="T41" fmla="*/ 198 h 214"/>
              <a:gd name="T42" fmla="*/ 0 w 400"/>
              <a:gd name="T43" fmla="*/ 208 h 214"/>
              <a:gd name="T44" fmla="*/ 13 w 400"/>
              <a:gd name="T45" fmla="*/ 214 h 214"/>
              <a:gd name="T46" fmla="*/ 13 w 400"/>
              <a:gd name="T47" fmla="*/ 214 h 214"/>
              <a:gd name="T48" fmla="*/ 387 w 400"/>
              <a:gd name="T49" fmla="*/ 214 h 214"/>
              <a:gd name="T50" fmla="*/ 387 w 400"/>
              <a:gd name="T51" fmla="*/ 214 h 214"/>
              <a:gd name="T52" fmla="*/ 400 w 400"/>
              <a:gd name="T53" fmla="*/ 208 h 214"/>
              <a:gd name="T54" fmla="*/ 400 w 400"/>
              <a:gd name="T55" fmla="*/ 198 h 214"/>
              <a:gd name="T56" fmla="*/ 228 w 400"/>
              <a:gd name="T57" fmla="*/ 19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0" h="214">
                <a:moveTo>
                  <a:pt x="340" y="0"/>
                </a:moveTo>
                <a:cubicBezTo>
                  <a:pt x="61" y="0"/>
                  <a:pt x="61" y="0"/>
                  <a:pt x="61" y="0"/>
                </a:cubicBezTo>
                <a:cubicBezTo>
                  <a:pt x="56" y="0"/>
                  <a:pt x="51" y="4"/>
                  <a:pt x="51" y="10"/>
                </a:cubicBezTo>
                <a:cubicBezTo>
                  <a:pt x="51" y="181"/>
                  <a:pt x="51" y="181"/>
                  <a:pt x="51" y="181"/>
                </a:cubicBezTo>
                <a:cubicBezTo>
                  <a:pt x="51" y="187"/>
                  <a:pt x="56" y="191"/>
                  <a:pt x="61" y="191"/>
                </a:cubicBezTo>
                <a:cubicBezTo>
                  <a:pt x="340" y="191"/>
                  <a:pt x="340" y="191"/>
                  <a:pt x="340" y="191"/>
                </a:cubicBezTo>
                <a:cubicBezTo>
                  <a:pt x="346" y="191"/>
                  <a:pt x="350" y="187"/>
                  <a:pt x="350" y="181"/>
                </a:cubicBezTo>
                <a:cubicBezTo>
                  <a:pt x="350" y="10"/>
                  <a:pt x="350" y="10"/>
                  <a:pt x="350" y="10"/>
                </a:cubicBezTo>
                <a:cubicBezTo>
                  <a:pt x="350" y="4"/>
                  <a:pt x="346" y="0"/>
                  <a:pt x="340" y="0"/>
                </a:cubicBezTo>
                <a:close/>
                <a:moveTo>
                  <a:pt x="337" y="179"/>
                </a:moveTo>
                <a:cubicBezTo>
                  <a:pt x="64" y="179"/>
                  <a:pt x="64" y="179"/>
                  <a:pt x="64" y="179"/>
                </a:cubicBezTo>
                <a:cubicBezTo>
                  <a:pt x="64" y="11"/>
                  <a:pt x="64" y="11"/>
                  <a:pt x="64" y="11"/>
                </a:cubicBezTo>
                <a:cubicBezTo>
                  <a:pt x="337" y="11"/>
                  <a:pt x="337" y="11"/>
                  <a:pt x="337" y="11"/>
                </a:cubicBezTo>
                <a:cubicBezTo>
                  <a:pt x="337" y="179"/>
                  <a:pt x="337" y="179"/>
                  <a:pt x="337" y="179"/>
                </a:cubicBezTo>
                <a:close/>
                <a:moveTo>
                  <a:pt x="228" y="198"/>
                </a:moveTo>
                <a:cubicBezTo>
                  <a:pt x="228" y="200"/>
                  <a:pt x="228" y="200"/>
                  <a:pt x="228" y="200"/>
                </a:cubicBezTo>
                <a:cubicBezTo>
                  <a:pt x="228" y="202"/>
                  <a:pt x="226" y="203"/>
                  <a:pt x="224" y="203"/>
                </a:cubicBezTo>
                <a:cubicBezTo>
                  <a:pt x="177" y="203"/>
                  <a:pt x="177" y="203"/>
                  <a:pt x="177" y="203"/>
                </a:cubicBezTo>
                <a:cubicBezTo>
                  <a:pt x="175" y="203"/>
                  <a:pt x="173" y="202"/>
                  <a:pt x="173" y="200"/>
                </a:cubicBezTo>
                <a:cubicBezTo>
                  <a:pt x="173" y="198"/>
                  <a:pt x="173" y="198"/>
                  <a:pt x="173" y="198"/>
                </a:cubicBezTo>
                <a:cubicBezTo>
                  <a:pt x="0" y="198"/>
                  <a:pt x="0" y="198"/>
                  <a:pt x="0" y="198"/>
                </a:cubicBezTo>
                <a:cubicBezTo>
                  <a:pt x="0" y="208"/>
                  <a:pt x="0" y="208"/>
                  <a:pt x="0" y="208"/>
                </a:cubicBezTo>
                <a:cubicBezTo>
                  <a:pt x="0" y="208"/>
                  <a:pt x="9" y="214"/>
                  <a:pt x="13" y="214"/>
                </a:cubicBezTo>
                <a:cubicBezTo>
                  <a:pt x="13" y="214"/>
                  <a:pt x="13" y="214"/>
                  <a:pt x="13" y="214"/>
                </a:cubicBezTo>
                <a:cubicBezTo>
                  <a:pt x="387" y="214"/>
                  <a:pt x="387" y="214"/>
                  <a:pt x="387" y="214"/>
                </a:cubicBezTo>
                <a:cubicBezTo>
                  <a:pt x="387" y="214"/>
                  <a:pt x="387" y="214"/>
                  <a:pt x="387" y="214"/>
                </a:cubicBezTo>
                <a:cubicBezTo>
                  <a:pt x="391" y="214"/>
                  <a:pt x="400" y="208"/>
                  <a:pt x="400" y="208"/>
                </a:cubicBezTo>
                <a:cubicBezTo>
                  <a:pt x="400" y="198"/>
                  <a:pt x="400" y="198"/>
                  <a:pt x="400" y="198"/>
                </a:cubicBezTo>
                <a:lnTo>
                  <a:pt x="228" y="198"/>
                </a:lnTo>
                <a:close/>
              </a:path>
            </a:pathLst>
          </a:custGeom>
          <a:solidFill>
            <a:srgbClr val="FFFFFF"/>
          </a:solidFill>
          <a:ln>
            <a:noFill/>
          </a:ln>
          <a:extLst/>
        </p:spPr>
        <p:txBody>
          <a:bodyPr vert="horz" wrap="square" lIns="68570" tIns="34285" rIns="68570" bIns="34285" numCol="1" anchor="t" anchorCtr="0" compatLnSpc="1">
            <a:prstTxWarp prst="textNoShape">
              <a:avLst/>
            </a:prstTxWarp>
          </a:bodyPr>
          <a:lstStyle/>
          <a:p>
            <a:pPr defTabSz="685711">
              <a:defRPr/>
            </a:pPr>
            <a:endParaRPr lang="en-US" sz="809" b="1" kern="0">
              <a:gradFill>
                <a:gsLst>
                  <a:gs pos="14679">
                    <a:srgbClr val="FFFFFF"/>
                  </a:gs>
                  <a:gs pos="38000">
                    <a:srgbClr val="FFFFFF"/>
                  </a:gs>
                </a:gsLst>
                <a:lin ang="5400000" scaled="1"/>
              </a:gradFill>
              <a:cs typeface="Segoe UI" panose="020B0502040204020203" pitchFamily="34" charset="0"/>
            </a:endParaRPr>
          </a:p>
        </p:txBody>
      </p:sp>
      <p:sp>
        <p:nvSpPr>
          <p:cNvPr id="12" name="Rounded Rectangle 6"/>
          <p:cNvSpPr>
            <a:spLocks noChangeAspect="1"/>
          </p:cNvSpPr>
          <p:nvPr/>
        </p:nvSpPr>
        <p:spPr bwMode="black">
          <a:xfrm rot="16200000">
            <a:off x="7304034" y="2391166"/>
            <a:ext cx="121390" cy="187531"/>
          </a:xfrm>
          <a:custGeom>
            <a:avLst/>
            <a:gdLst/>
            <a:ahLst/>
            <a:cxnLst/>
            <a:rect l="l" t="t" r="r" b="b"/>
            <a:pathLst>
              <a:path w="3286897" h="4658497">
                <a:moveTo>
                  <a:pt x="1600200" y="4382531"/>
                </a:moveTo>
                <a:cubicBezTo>
                  <a:pt x="1600200" y="4367744"/>
                  <a:pt x="1588213" y="4355757"/>
                  <a:pt x="1573426" y="4355757"/>
                </a:cubicBezTo>
                <a:lnTo>
                  <a:pt x="811428" y="4355757"/>
                </a:lnTo>
                <a:cubicBezTo>
                  <a:pt x="796641" y="4355757"/>
                  <a:pt x="784654" y="4367744"/>
                  <a:pt x="784654" y="4382531"/>
                </a:cubicBezTo>
                <a:lnTo>
                  <a:pt x="784654" y="4489621"/>
                </a:lnTo>
                <a:cubicBezTo>
                  <a:pt x="784654" y="4504408"/>
                  <a:pt x="796641" y="4516395"/>
                  <a:pt x="811428" y="4516395"/>
                </a:cubicBezTo>
                <a:lnTo>
                  <a:pt x="1573426" y="4516395"/>
                </a:lnTo>
                <a:cubicBezTo>
                  <a:pt x="1588213" y="4516395"/>
                  <a:pt x="1600200" y="4504408"/>
                  <a:pt x="1600200" y="4489621"/>
                </a:cubicBezTo>
                <a:close/>
                <a:moveTo>
                  <a:pt x="2502243" y="4382531"/>
                </a:moveTo>
                <a:cubicBezTo>
                  <a:pt x="2502243" y="4367744"/>
                  <a:pt x="2490256" y="4355757"/>
                  <a:pt x="2475469" y="4355757"/>
                </a:cubicBezTo>
                <a:lnTo>
                  <a:pt x="1713471" y="4355757"/>
                </a:lnTo>
                <a:cubicBezTo>
                  <a:pt x="1698684" y="4355757"/>
                  <a:pt x="1686697" y="4367744"/>
                  <a:pt x="1686697" y="4382531"/>
                </a:cubicBezTo>
                <a:lnTo>
                  <a:pt x="1686697" y="4489621"/>
                </a:lnTo>
                <a:cubicBezTo>
                  <a:pt x="1686697" y="4504408"/>
                  <a:pt x="1698684" y="4516395"/>
                  <a:pt x="1713471" y="4516395"/>
                </a:cubicBezTo>
                <a:lnTo>
                  <a:pt x="2475469" y="4516395"/>
                </a:lnTo>
                <a:cubicBezTo>
                  <a:pt x="2490256" y="4516395"/>
                  <a:pt x="2502243" y="4504408"/>
                  <a:pt x="2502243" y="4489621"/>
                </a:cubicBezTo>
                <a:close/>
                <a:moveTo>
                  <a:pt x="3021231" y="480896"/>
                </a:moveTo>
                <a:cubicBezTo>
                  <a:pt x="3021231" y="375524"/>
                  <a:pt x="2935811" y="290104"/>
                  <a:pt x="2830439" y="290104"/>
                </a:cubicBezTo>
                <a:lnTo>
                  <a:pt x="444108" y="290104"/>
                </a:lnTo>
                <a:cubicBezTo>
                  <a:pt x="338736" y="290104"/>
                  <a:pt x="253316" y="375524"/>
                  <a:pt x="253316" y="480896"/>
                </a:cubicBezTo>
                <a:lnTo>
                  <a:pt x="253316" y="4029043"/>
                </a:lnTo>
                <a:cubicBezTo>
                  <a:pt x="253316" y="4134415"/>
                  <a:pt x="338736" y="4219835"/>
                  <a:pt x="444108" y="4219835"/>
                </a:cubicBezTo>
                <a:lnTo>
                  <a:pt x="2830439" y="4219835"/>
                </a:lnTo>
                <a:cubicBezTo>
                  <a:pt x="2935811" y="4219835"/>
                  <a:pt x="3021231" y="4134415"/>
                  <a:pt x="3021231" y="4029043"/>
                </a:cubicBezTo>
                <a:close/>
                <a:moveTo>
                  <a:pt x="3286897" y="226566"/>
                </a:moveTo>
                <a:lnTo>
                  <a:pt x="3286897" y="4431931"/>
                </a:lnTo>
                <a:cubicBezTo>
                  <a:pt x="3286897" y="4557060"/>
                  <a:pt x="3185460" y="4658497"/>
                  <a:pt x="3060331" y="4658497"/>
                </a:cubicBezTo>
                <a:lnTo>
                  <a:pt x="226566" y="4658497"/>
                </a:lnTo>
                <a:cubicBezTo>
                  <a:pt x="101437" y="4658497"/>
                  <a:pt x="0" y="4557060"/>
                  <a:pt x="0" y="4431931"/>
                </a:cubicBezTo>
                <a:lnTo>
                  <a:pt x="0" y="226566"/>
                </a:lnTo>
                <a:cubicBezTo>
                  <a:pt x="0" y="101437"/>
                  <a:pt x="101437" y="0"/>
                  <a:pt x="226566" y="0"/>
                </a:cubicBezTo>
                <a:lnTo>
                  <a:pt x="3060331" y="0"/>
                </a:lnTo>
                <a:cubicBezTo>
                  <a:pt x="3185460" y="0"/>
                  <a:pt x="3286897" y="101437"/>
                  <a:pt x="3286897" y="226566"/>
                </a:cubicBezTo>
                <a:close/>
              </a:path>
            </a:pathLst>
          </a:custGeom>
          <a:solidFill>
            <a:srgbClr val="FFFFFF"/>
          </a:solidFill>
          <a:ln w="10795" cap="flat" cmpd="sng" algn="ctr">
            <a:noFill/>
            <a:prstDash val="solid"/>
            <a:headEnd type="none" w="med" len="med"/>
            <a:tailEnd type="none" w="med" len="med"/>
          </a:ln>
          <a:effectLst/>
        </p:spPr>
        <p:txBody>
          <a:bodyPr vert="horz" wrap="square" lIns="0" tIns="30859" rIns="61717" bIns="30859" numCol="1" rtlCol="0" anchor="ctr" anchorCtr="0" compatLnSpc="1">
            <a:prstTxWarp prst="textNoShape">
              <a:avLst/>
            </a:prstTxWarp>
          </a:bodyPr>
          <a:lstStyle/>
          <a:p>
            <a:pPr algn="ctr" defTabSz="555505">
              <a:defRPr/>
            </a:pPr>
            <a:endParaRPr lang="en-US" sz="1324" b="1" kern="0" spc="-91" dirty="0" smtClean="0">
              <a:gradFill>
                <a:gsLst>
                  <a:gs pos="14679">
                    <a:srgbClr val="FFFFFF"/>
                  </a:gs>
                  <a:gs pos="38000">
                    <a:srgbClr val="FFFFFF"/>
                  </a:gs>
                </a:gsLst>
                <a:lin ang="5400000" scaled="1"/>
              </a:gradFill>
              <a:cs typeface="Segoe UI" panose="020B0502040204020203" pitchFamily="34" charset="0"/>
            </a:endParaRPr>
          </a:p>
        </p:txBody>
      </p:sp>
      <p:sp>
        <p:nvSpPr>
          <p:cNvPr id="13" name="Freeform 138"/>
          <p:cNvSpPr>
            <a:spLocks noChangeAspect="1" noEditPoints="1"/>
          </p:cNvSpPr>
          <p:nvPr/>
        </p:nvSpPr>
        <p:spPr bwMode="auto">
          <a:xfrm>
            <a:off x="7427611" y="2287424"/>
            <a:ext cx="61767" cy="123192"/>
          </a:xfrm>
          <a:custGeom>
            <a:avLst/>
            <a:gdLst>
              <a:gd name="T0" fmla="*/ 427 w 463"/>
              <a:gd name="T1" fmla="*/ 0 h 773"/>
              <a:gd name="T2" fmla="*/ 42 w 463"/>
              <a:gd name="T3" fmla="*/ 0 h 773"/>
              <a:gd name="T4" fmla="*/ 0 w 463"/>
              <a:gd name="T5" fmla="*/ 35 h 773"/>
              <a:gd name="T6" fmla="*/ 0 w 463"/>
              <a:gd name="T7" fmla="*/ 733 h 773"/>
              <a:gd name="T8" fmla="*/ 42 w 463"/>
              <a:gd name="T9" fmla="*/ 773 h 773"/>
              <a:gd name="T10" fmla="*/ 427 w 463"/>
              <a:gd name="T11" fmla="*/ 773 h 773"/>
              <a:gd name="T12" fmla="*/ 463 w 463"/>
              <a:gd name="T13" fmla="*/ 733 h 773"/>
              <a:gd name="T14" fmla="*/ 463 w 463"/>
              <a:gd name="T15" fmla="*/ 35 h 773"/>
              <a:gd name="T16" fmla="*/ 427 w 463"/>
              <a:gd name="T17" fmla="*/ 0 h 773"/>
              <a:gd name="T18" fmla="*/ 152 w 463"/>
              <a:gd name="T19" fmla="*/ 730 h 773"/>
              <a:gd name="T20" fmla="*/ 139 w 463"/>
              <a:gd name="T21" fmla="*/ 743 h 773"/>
              <a:gd name="T22" fmla="*/ 112 w 463"/>
              <a:gd name="T23" fmla="*/ 743 h 773"/>
              <a:gd name="T24" fmla="*/ 99 w 463"/>
              <a:gd name="T25" fmla="*/ 730 h 773"/>
              <a:gd name="T26" fmla="*/ 99 w 463"/>
              <a:gd name="T27" fmla="*/ 722 h 773"/>
              <a:gd name="T28" fmla="*/ 112 w 463"/>
              <a:gd name="T29" fmla="*/ 709 h 773"/>
              <a:gd name="T30" fmla="*/ 139 w 463"/>
              <a:gd name="T31" fmla="*/ 709 h 773"/>
              <a:gd name="T32" fmla="*/ 152 w 463"/>
              <a:gd name="T33" fmla="*/ 722 h 773"/>
              <a:gd name="T34" fmla="*/ 152 w 463"/>
              <a:gd name="T35" fmla="*/ 730 h 773"/>
              <a:gd name="T36" fmla="*/ 263 w 463"/>
              <a:gd name="T37" fmla="*/ 724 h 773"/>
              <a:gd name="T38" fmla="*/ 247 w 463"/>
              <a:gd name="T39" fmla="*/ 743 h 773"/>
              <a:gd name="T40" fmla="*/ 219 w 463"/>
              <a:gd name="T41" fmla="*/ 743 h 773"/>
              <a:gd name="T42" fmla="*/ 202 w 463"/>
              <a:gd name="T43" fmla="*/ 724 h 773"/>
              <a:gd name="T44" fmla="*/ 202 w 463"/>
              <a:gd name="T45" fmla="*/ 716 h 773"/>
              <a:gd name="T46" fmla="*/ 219 w 463"/>
              <a:gd name="T47" fmla="*/ 699 h 773"/>
              <a:gd name="T48" fmla="*/ 247 w 463"/>
              <a:gd name="T49" fmla="*/ 699 h 773"/>
              <a:gd name="T50" fmla="*/ 263 w 463"/>
              <a:gd name="T51" fmla="*/ 716 h 773"/>
              <a:gd name="T52" fmla="*/ 263 w 463"/>
              <a:gd name="T53" fmla="*/ 724 h 773"/>
              <a:gd name="T54" fmla="*/ 366 w 463"/>
              <a:gd name="T55" fmla="*/ 730 h 773"/>
              <a:gd name="T56" fmla="*/ 354 w 463"/>
              <a:gd name="T57" fmla="*/ 743 h 773"/>
              <a:gd name="T58" fmla="*/ 326 w 463"/>
              <a:gd name="T59" fmla="*/ 743 h 773"/>
              <a:gd name="T60" fmla="*/ 314 w 463"/>
              <a:gd name="T61" fmla="*/ 730 h 773"/>
              <a:gd name="T62" fmla="*/ 314 w 463"/>
              <a:gd name="T63" fmla="*/ 722 h 773"/>
              <a:gd name="T64" fmla="*/ 326 w 463"/>
              <a:gd name="T65" fmla="*/ 709 h 773"/>
              <a:gd name="T66" fmla="*/ 354 w 463"/>
              <a:gd name="T67" fmla="*/ 709 h 773"/>
              <a:gd name="T68" fmla="*/ 366 w 463"/>
              <a:gd name="T69" fmla="*/ 722 h 773"/>
              <a:gd name="T70" fmla="*/ 366 w 463"/>
              <a:gd name="T71" fmla="*/ 730 h 773"/>
              <a:gd name="T72" fmla="*/ 417 w 463"/>
              <a:gd name="T73" fmla="*/ 644 h 773"/>
              <a:gd name="T74" fmla="*/ 394 w 463"/>
              <a:gd name="T75" fmla="*/ 671 h 773"/>
              <a:gd name="T76" fmla="*/ 74 w 463"/>
              <a:gd name="T77" fmla="*/ 671 h 773"/>
              <a:gd name="T78" fmla="*/ 49 w 463"/>
              <a:gd name="T79" fmla="*/ 644 h 773"/>
              <a:gd name="T80" fmla="*/ 49 w 463"/>
              <a:gd name="T81" fmla="*/ 67 h 773"/>
              <a:gd name="T82" fmla="*/ 74 w 463"/>
              <a:gd name="T83" fmla="*/ 46 h 773"/>
              <a:gd name="T84" fmla="*/ 394 w 463"/>
              <a:gd name="T85" fmla="*/ 46 h 773"/>
              <a:gd name="T86" fmla="*/ 417 w 463"/>
              <a:gd name="T87" fmla="*/ 67 h 773"/>
              <a:gd name="T88" fmla="*/ 417 w 463"/>
              <a:gd name="T89" fmla="*/ 64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63" h="773">
                <a:moveTo>
                  <a:pt x="427" y="0"/>
                </a:moveTo>
                <a:cubicBezTo>
                  <a:pt x="42" y="0"/>
                  <a:pt x="42" y="0"/>
                  <a:pt x="42" y="0"/>
                </a:cubicBezTo>
                <a:cubicBezTo>
                  <a:pt x="19" y="0"/>
                  <a:pt x="0" y="17"/>
                  <a:pt x="0" y="35"/>
                </a:cubicBezTo>
                <a:cubicBezTo>
                  <a:pt x="0" y="733"/>
                  <a:pt x="0" y="733"/>
                  <a:pt x="0" y="733"/>
                </a:cubicBezTo>
                <a:cubicBezTo>
                  <a:pt x="0" y="756"/>
                  <a:pt x="17" y="773"/>
                  <a:pt x="42" y="773"/>
                </a:cubicBezTo>
                <a:cubicBezTo>
                  <a:pt x="427" y="773"/>
                  <a:pt x="427" y="773"/>
                  <a:pt x="427" y="773"/>
                </a:cubicBezTo>
                <a:cubicBezTo>
                  <a:pt x="448" y="773"/>
                  <a:pt x="463" y="756"/>
                  <a:pt x="463" y="733"/>
                </a:cubicBezTo>
                <a:cubicBezTo>
                  <a:pt x="463" y="35"/>
                  <a:pt x="463" y="35"/>
                  <a:pt x="463" y="35"/>
                </a:cubicBezTo>
                <a:cubicBezTo>
                  <a:pt x="463" y="19"/>
                  <a:pt x="451" y="0"/>
                  <a:pt x="427" y="0"/>
                </a:cubicBezTo>
                <a:close/>
                <a:moveTo>
                  <a:pt x="152" y="730"/>
                </a:moveTo>
                <a:cubicBezTo>
                  <a:pt x="152" y="737"/>
                  <a:pt x="146" y="743"/>
                  <a:pt x="139" y="743"/>
                </a:cubicBezTo>
                <a:cubicBezTo>
                  <a:pt x="112" y="743"/>
                  <a:pt x="112" y="743"/>
                  <a:pt x="112" y="743"/>
                </a:cubicBezTo>
                <a:cubicBezTo>
                  <a:pt x="106" y="743"/>
                  <a:pt x="99" y="737"/>
                  <a:pt x="99" y="730"/>
                </a:cubicBezTo>
                <a:cubicBezTo>
                  <a:pt x="99" y="722"/>
                  <a:pt x="99" y="722"/>
                  <a:pt x="99" y="722"/>
                </a:cubicBezTo>
                <a:cubicBezTo>
                  <a:pt x="99" y="714"/>
                  <a:pt x="106" y="709"/>
                  <a:pt x="112" y="709"/>
                </a:cubicBezTo>
                <a:cubicBezTo>
                  <a:pt x="139" y="709"/>
                  <a:pt x="139" y="709"/>
                  <a:pt x="139" y="709"/>
                </a:cubicBezTo>
                <a:cubicBezTo>
                  <a:pt x="146" y="709"/>
                  <a:pt x="152" y="714"/>
                  <a:pt x="152" y="722"/>
                </a:cubicBezTo>
                <a:cubicBezTo>
                  <a:pt x="152" y="730"/>
                  <a:pt x="152" y="730"/>
                  <a:pt x="152" y="730"/>
                </a:cubicBezTo>
                <a:close/>
                <a:moveTo>
                  <a:pt x="263" y="724"/>
                </a:moveTo>
                <a:cubicBezTo>
                  <a:pt x="263" y="735"/>
                  <a:pt x="255" y="743"/>
                  <a:pt x="247" y="743"/>
                </a:cubicBezTo>
                <a:cubicBezTo>
                  <a:pt x="219" y="743"/>
                  <a:pt x="219" y="743"/>
                  <a:pt x="219" y="743"/>
                </a:cubicBezTo>
                <a:cubicBezTo>
                  <a:pt x="211" y="743"/>
                  <a:pt x="202" y="735"/>
                  <a:pt x="202" y="724"/>
                </a:cubicBezTo>
                <a:cubicBezTo>
                  <a:pt x="202" y="716"/>
                  <a:pt x="202" y="716"/>
                  <a:pt x="202" y="716"/>
                </a:cubicBezTo>
                <a:cubicBezTo>
                  <a:pt x="202" y="705"/>
                  <a:pt x="209" y="699"/>
                  <a:pt x="219" y="699"/>
                </a:cubicBezTo>
                <a:cubicBezTo>
                  <a:pt x="247" y="699"/>
                  <a:pt x="247" y="699"/>
                  <a:pt x="247" y="699"/>
                </a:cubicBezTo>
                <a:cubicBezTo>
                  <a:pt x="255" y="699"/>
                  <a:pt x="263" y="705"/>
                  <a:pt x="263" y="716"/>
                </a:cubicBezTo>
                <a:cubicBezTo>
                  <a:pt x="263" y="724"/>
                  <a:pt x="263" y="724"/>
                  <a:pt x="263" y="724"/>
                </a:cubicBezTo>
                <a:close/>
                <a:moveTo>
                  <a:pt x="366" y="730"/>
                </a:moveTo>
                <a:cubicBezTo>
                  <a:pt x="366" y="737"/>
                  <a:pt x="360" y="743"/>
                  <a:pt x="354" y="743"/>
                </a:cubicBezTo>
                <a:cubicBezTo>
                  <a:pt x="326" y="743"/>
                  <a:pt x="326" y="743"/>
                  <a:pt x="326" y="743"/>
                </a:cubicBezTo>
                <a:cubicBezTo>
                  <a:pt x="320" y="743"/>
                  <a:pt x="314" y="737"/>
                  <a:pt x="314" y="730"/>
                </a:cubicBezTo>
                <a:cubicBezTo>
                  <a:pt x="314" y="722"/>
                  <a:pt x="314" y="722"/>
                  <a:pt x="314" y="722"/>
                </a:cubicBezTo>
                <a:cubicBezTo>
                  <a:pt x="314" y="714"/>
                  <a:pt x="320" y="709"/>
                  <a:pt x="326" y="709"/>
                </a:cubicBezTo>
                <a:cubicBezTo>
                  <a:pt x="354" y="709"/>
                  <a:pt x="354" y="709"/>
                  <a:pt x="354" y="709"/>
                </a:cubicBezTo>
                <a:cubicBezTo>
                  <a:pt x="360" y="709"/>
                  <a:pt x="366" y="714"/>
                  <a:pt x="366" y="722"/>
                </a:cubicBezTo>
                <a:cubicBezTo>
                  <a:pt x="366" y="730"/>
                  <a:pt x="366" y="730"/>
                  <a:pt x="366" y="730"/>
                </a:cubicBezTo>
                <a:close/>
                <a:moveTo>
                  <a:pt x="417" y="644"/>
                </a:moveTo>
                <a:cubicBezTo>
                  <a:pt x="417" y="657"/>
                  <a:pt x="409" y="671"/>
                  <a:pt x="394" y="671"/>
                </a:cubicBezTo>
                <a:cubicBezTo>
                  <a:pt x="74" y="671"/>
                  <a:pt x="74" y="671"/>
                  <a:pt x="74" y="671"/>
                </a:cubicBezTo>
                <a:cubicBezTo>
                  <a:pt x="59" y="671"/>
                  <a:pt x="49" y="659"/>
                  <a:pt x="49" y="644"/>
                </a:cubicBezTo>
                <a:cubicBezTo>
                  <a:pt x="49" y="67"/>
                  <a:pt x="49" y="67"/>
                  <a:pt x="49" y="67"/>
                </a:cubicBezTo>
                <a:cubicBezTo>
                  <a:pt x="49" y="50"/>
                  <a:pt x="61" y="46"/>
                  <a:pt x="74" y="46"/>
                </a:cubicBezTo>
                <a:cubicBezTo>
                  <a:pt x="394" y="46"/>
                  <a:pt x="394" y="46"/>
                  <a:pt x="394" y="46"/>
                </a:cubicBezTo>
                <a:cubicBezTo>
                  <a:pt x="404" y="46"/>
                  <a:pt x="417" y="48"/>
                  <a:pt x="417" y="67"/>
                </a:cubicBezTo>
                <a:cubicBezTo>
                  <a:pt x="417" y="644"/>
                  <a:pt x="417" y="644"/>
                  <a:pt x="417" y="644"/>
                </a:cubicBezTo>
                <a:close/>
              </a:path>
            </a:pathLst>
          </a:custGeom>
          <a:solidFill>
            <a:srgbClr val="FFFFFF"/>
          </a:solidFill>
          <a:ln>
            <a:noFill/>
          </a:ln>
        </p:spPr>
        <p:txBody>
          <a:bodyPr vert="horz" wrap="square" lIns="68570" tIns="34285" rIns="68570" bIns="34285" numCol="1" anchor="t" anchorCtr="0" compatLnSpc="1">
            <a:prstTxWarp prst="textNoShape">
              <a:avLst/>
            </a:prstTxWarp>
          </a:bodyPr>
          <a:lstStyle/>
          <a:p>
            <a:pPr defTabSz="685711">
              <a:defRPr/>
            </a:pPr>
            <a:endParaRPr lang="en-US" sz="1324" b="1" kern="0" smtClean="0">
              <a:gradFill>
                <a:gsLst>
                  <a:gs pos="14679">
                    <a:srgbClr val="FFFFFF"/>
                  </a:gs>
                  <a:gs pos="38000">
                    <a:srgbClr val="FFFFFF"/>
                  </a:gs>
                </a:gsLst>
                <a:lin ang="5400000" scaled="1"/>
              </a:gradFill>
              <a:cs typeface="Segoe UI" panose="020B0502040204020203" pitchFamily="34" charset="0"/>
            </a:endParaRPr>
          </a:p>
        </p:txBody>
      </p:sp>
      <p:sp>
        <p:nvSpPr>
          <p:cNvPr id="14" name="Oval 13"/>
          <p:cNvSpPr/>
          <p:nvPr/>
        </p:nvSpPr>
        <p:spPr bwMode="auto">
          <a:xfrm>
            <a:off x="7222206" y="2218794"/>
            <a:ext cx="551286" cy="565459"/>
          </a:xfrm>
          <a:prstGeom prst="ellipse">
            <a:avLst/>
          </a:prstGeom>
          <a:noFill/>
          <a:ln w="19050" cap="flat" cmpd="sng" algn="ctr">
            <a:solidFill>
              <a:srgbClr val="FFFFFF"/>
            </a:solidFill>
            <a:prstDash val="solid"/>
            <a:headEnd type="none" w="med" len="med"/>
            <a:tailEnd type="none" w="med" len="med"/>
          </a:ln>
          <a:effectLst/>
        </p:spPr>
        <p:txBody>
          <a:bodyPr vert="horz" wrap="square" lIns="68567" tIns="34284" rIns="68567" bIns="34284" numCol="1" rtlCol="0" anchor="ctr" anchorCtr="0" compatLnSpc="1">
            <a:prstTxWarp prst="textNoShape">
              <a:avLst/>
            </a:prstTxWarp>
          </a:bodyPr>
          <a:lstStyle/>
          <a:p>
            <a:pPr algn="ctr" defTabSz="685513" fontAlgn="base">
              <a:lnSpc>
                <a:spcPct val="90000"/>
              </a:lnSpc>
              <a:spcBef>
                <a:spcPct val="0"/>
              </a:spcBef>
              <a:spcAft>
                <a:spcPct val="0"/>
              </a:spcAft>
              <a:defRPr/>
            </a:pPr>
            <a:endParaRPr lang="en-US" sz="1471" b="1" kern="0" spc="-38" dirty="0" smtClean="0">
              <a:gradFill>
                <a:gsLst>
                  <a:gs pos="14679">
                    <a:srgbClr val="FFFFFF"/>
                  </a:gs>
                  <a:gs pos="38000">
                    <a:srgbClr val="FFFFFF"/>
                  </a:gs>
                </a:gsLst>
                <a:lin ang="5400000" scaled="1"/>
              </a:gradFill>
              <a:cs typeface="Segoe UI" panose="020B0502040204020203" pitchFamily="34" charset="0"/>
            </a:endParaRPr>
          </a:p>
        </p:txBody>
      </p:sp>
      <p:sp>
        <p:nvSpPr>
          <p:cNvPr id="15" name="Oval 14"/>
          <p:cNvSpPr/>
          <p:nvPr/>
        </p:nvSpPr>
        <p:spPr bwMode="auto">
          <a:xfrm>
            <a:off x="5090614" y="2201392"/>
            <a:ext cx="560603" cy="558513"/>
          </a:xfrm>
          <a:prstGeom prst="ellipse">
            <a:avLst/>
          </a:prstGeom>
          <a:noFill/>
          <a:ln w="19050" cap="flat" cmpd="sng" algn="ctr">
            <a:solidFill>
              <a:srgbClr val="FFFFFF"/>
            </a:solidFill>
            <a:prstDash val="solid"/>
            <a:headEnd type="none" w="med" len="med"/>
            <a:tailEnd type="none" w="med" len="med"/>
          </a:ln>
          <a:effectLst/>
        </p:spPr>
        <p:txBody>
          <a:bodyPr vert="horz" wrap="square" lIns="68567" tIns="34284" rIns="68567" bIns="34284" numCol="1" rtlCol="0" anchor="ctr" anchorCtr="0" compatLnSpc="1">
            <a:prstTxWarp prst="textNoShape">
              <a:avLst/>
            </a:prstTxWarp>
          </a:bodyPr>
          <a:lstStyle/>
          <a:p>
            <a:pPr algn="ctr" defTabSz="685513" fontAlgn="base">
              <a:lnSpc>
                <a:spcPct val="90000"/>
              </a:lnSpc>
              <a:spcBef>
                <a:spcPct val="0"/>
              </a:spcBef>
              <a:spcAft>
                <a:spcPct val="0"/>
              </a:spcAft>
              <a:defRPr/>
            </a:pPr>
            <a:endParaRPr lang="en-US" sz="1471" b="1" kern="0" spc="-38" dirty="0" smtClean="0">
              <a:gradFill>
                <a:gsLst>
                  <a:gs pos="14679">
                    <a:srgbClr val="FFFFFF"/>
                  </a:gs>
                  <a:gs pos="38000">
                    <a:srgbClr val="FFFFFF"/>
                  </a:gs>
                </a:gsLst>
                <a:lin ang="5400000" scaled="1"/>
              </a:gradFill>
              <a:cs typeface="Segoe UI" panose="020B0502040204020203" pitchFamily="34" charset="0"/>
            </a:endParaRPr>
          </a:p>
        </p:txBody>
      </p:sp>
      <p:sp>
        <p:nvSpPr>
          <p:cNvPr id="16" name="Freeform 10"/>
          <p:cNvSpPr>
            <a:spLocks noEditPoints="1"/>
          </p:cNvSpPr>
          <p:nvPr/>
        </p:nvSpPr>
        <p:spPr bwMode="black">
          <a:xfrm>
            <a:off x="5168712" y="2280412"/>
            <a:ext cx="248163" cy="157177"/>
          </a:xfrm>
          <a:custGeom>
            <a:avLst/>
            <a:gdLst>
              <a:gd name="T0" fmla="*/ 401 w 672"/>
              <a:gd name="T1" fmla="*/ 114 h 402"/>
              <a:gd name="T2" fmla="*/ 545 w 672"/>
              <a:gd name="T3" fmla="*/ 258 h 402"/>
              <a:gd name="T4" fmla="*/ 401 w 672"/>
              <a:gd name="T5" fmla="*/ 402 h 402"/>
              <a:gd name="T6" fmla="*/ 401 w 672"/>
              <a:gd name="T7" fmla="*/ 402 h 402"/>
              <a:gd name="T8" fmla="*/ 401 w 672"/>
              <a:gd name="T9" fmla="*/ 402 h 402"/>
              <a:gd name="T10" fmla="*/ 96 w 672"/>
              <a:gd name="T11" fmla="*/ 402 h 402"/>
              <a:gd name="T12" fmla="*/ 96 w 672"/>
              <a:gd name="T13" fmla="*/ 402 h 402"/>
              <a:gd name="T14" fmla="*/ 90 w 672"/>
              <a:gd name="T15" fmla="*/ 402 h 402"/>
              <a:gd name="T16" fmla="*/ 90 w 672"/>
              <a:gd name="T17" fmla="*/ 402 h 402"/>
              <a:gd name="T18" fmla="*/ 89 w 672"/>
              <a:gd name="T19" fmla="*/ 402 h 402"/>
              <a:gd name="T20" fmla="*/ 0 w 672"/>
              <a:gd name="T21" fmla="*/ 314 h 402"/>
              <a:gd name="T22" fmla="*/ 89 w 672"/>
              <a:gd name="T23" fmla="*/ 225 h 402"/>
              <a:gd name="T24" fmla="*/ 124 w 672"/>
              <a:gd name="T25" fmla="*/ 233 h 402"/>
              <a:gd name="T26" fmla="*/ 226 w 672"/>
              <a:gd name="T27" fmla="*/ 171 h 402"/>
              <a:gd name="T28" fmla="*/ 278 w 672"/>
              <a:gd name="T29" fmla="*/ 184 h 402"/>
              <a:gd name="T30" fmla="*/ 401 w 672"/>
              <a:gd name="T31" fmla="*/ 114 h 402"/>
              <a:gd name="T32" fmla="*/ 544 w 672"/>
              <a:gd name="T33" fmla="*/ 0 h 402"/>
              <a:gd name="T34" fmla="*/ 672 w 672"/>
              <a:gd name="T35" fmla="*/ 128 h 402"/>
              <a:gd name="T36" fmla="*/ 557 w 672"/>
              <a:gd name="T37" fmla="*/ 255 h 402"/>
              <a:gd name="T38" fmla="*/ 557 w 672"/>
              <a:gd name="T39" fmla="*/ 253 h 402"/>
              <a:gd name="T40" fmla="*/ 403 w 672"/>
              <a:gd name="T41" fmla="*/ 100 h 402"/>
              <a:gd name="T42" fmla="*/ 273 w 672"/>
              <a:gd name="T43" fmla="*/ 171 h 402"/>
              <a:gd name="T44" fmla="*/ 229 w 672"/>
              <a:gd name="T45" fmla="*/ 159 h 402"/>
              <a:gd name="T46" fmla="*/ 192 w 672"/>
              <a:gd name="T47" fmla="*/ 168 h 402"/>
              <a:gd name="T48" fmla="*/ 265 w 672"/>
              <a:gd name="T49" fmla="*/ 104 h 402"/>
              <a:gd name="T50" fmla="*/ 295 w 672"/>
              <a:gd name="T51" fmla="*/ 111 h 402"/>
              <a:gd name="T52" fmla="*/ 387 w 672"/>
              <a:gd name="T53" fmla="*/ 53 h 402"/>
              <a:gd name="T54" fmla="*/ 433 w 672"/>
              <a:gd name="T55" fmla="*/ 65 h 402"/>
              <a:gd name="T56" fmla="*/ 544 w 672"/>
              <a:gd name="T57" fmla="*/ 0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2" h="402">
                <a:moveTo>
                  <a:pt x="401" y="114"/>
                </a:moveTo>
                <a:cubicBezTo>
                  <a:pt x="481" y="114"/>
                  <a:pt x="545" y="178"/>
                  <a:pt x="545" y="258"/>
                </a:cubicBezTo>
                <a:cubicBezTo>
                  <a:pt x="545" y="338"/>
                  <a:pt x="481" y="402"/>
                  <a:pt x="401" y="402"/>
                </a:cubicBezTo>
                <a:cubicBezTo>
                  <a:pt x="401" y="402"/>
                  <a:pt x="401" y="402"/>
                  <a:pt x="401" y="402"/>
                </a:cubicBezTo>
                <a:cubicBezTo>
                  <a:pt x="401" y="402"/>
                  <a:pt x="401" y="402"/>
                  <a:pt x="401" y="402"/>
                </a:cubicBezTo>
                <a:cubicBezTo>
                  <a:pt x="96" y="402"/>
                  <a:pt x="96" y="402"/>
                  <a:pt x="96" y="402"/>
                </a:cubicBezTo>
                <a:cubicBezTo>
                  <a:pt x="96" y="402"/>
                  <a:pt x="96" y="402"/>
                  <a:pt x="96" y="402"/>
                </a:cubicBezTo>
                <a:cubicBezTo>
                  <a:pt x="90" y="402"/>
                  <a:pt x="90" y="402"/>
                  <a:pt x="90" y="402"/>
                </a:cubicBezTo>
                <a:cubicBezTo>
                  <a:pt x="90" y="402"/>
                  <a:pt x="90" y="402"/>
                  <a:pt x="90" y="402"/>
                </a:cubicBezTo>
                <a:cubicBezTo>
                  <a:pt x="90" y="402"/>
                  <a:pt x="89" y="402"/>
                  <a:pt x="89" y="402"/>
                </a:cubicBezTo>
                <a:cubicBezTo>
                  <a:pt x="40" y="402"/>
                  <a:pt x="0" y="363"/>
                  <a:pt x="0" y="314"/>
                </a:cubicBezTo>
                <a:cubicBezTo>
                  <a:pt x="0" y="265"/>
                  <a:pt x="40" y="225"/>
                  <a:pt x="89" y="225"/>
                </a:cubicBezTo>
                <a:cubicBezTo>
                  <a:pt x="102" y="225"/>
                  <a:pt x="114" y="228"/>
                  <a:pt x="124" y="233"/>
                </a:cubicBezTo>
                <a:cubicBezTo>
                  <a:pt x="143" y="196"/>
                  <a:pt x="181" y="171"/>
                  <a:pt x="226" y="171"/>
                </a:cubicBezTo>
                <a:cubicBezTo>
                  <a:pt x="244" y="171"/>
                  <a:pt x="262" y="176"/>
                  <a:pt x="278" y="184"/>
                </a:cubicBezTo>
                <a:cubicBezTo>
                  <a:pt x="303" y="142"/>
                  <a:pt x="349" y="114"/>
                  <a:pt x="401" y="114"/>
                </a:cubicBezTo>
                <a:close/>
                <a:moveTo>
                  <a:pt x="544" y="0"/>
                </a:moveTo>
                <a:cubicBezTo>
                  <a:pt x="615" y="0"/>
                  <a:pt x="672" y="57"/>
                  <a:pt x="672" y="128"/>
                </a:cubicBezTo>
                <a:cubicBezTo>
                  <a:pt x="672" y="194"/>
                  <a:pt x="622" y="249"/>
                  <a:pt x="557" y="255"/>
                </a:cubicBezTo>
                <a:cubicBezTo>
                  <a:pt x="557" y="253"/>
                  <a:pt x="557" y="253"/>
                  <a:pt x="557" y="253"/>
                </a:cubicBezTo>
                <a:cubicBezTo>
                  <a:pt x="557" y="168"/>
                  <a:pt x="488" y="100"/>
                  <a:pt x="403" y="100"/>
                </a:cubicBezTo>
                <a:cubicBezTo>
                  <a:pt x="348" y="100"/>
                  <a:pt x="300" y="128"/>
                  <a:pt x="273" y="171"/>
                </a:cubicBezTo>
                <a:cubicBezTo>
                  <a:pt x="260" y="163"/>
                  <a:pt x="245" y="159"/>
                  <a:pt x="229" y="159"/>
                </a:cubicBezTo>
                <a:cubicBezTo>
                  <a:pt x="216" y="159"/>
                  <a:pt x="203" y="162"/>
                  <a:pt x="192" y="168"/>
                </a:cubicBezTo>
                <a:cubicBezTo>
                  <a:pt x="196" y="132"/>
                  <a:pt x="227" y="104"/>
                  <a:pt x="265" y="104"/>
                </a:cubicBezTo>
                <a:cubicBezTo>
                  <a:pt x="275" y="104"/>
                  <a:pt x="286" y="106"/>
                  <a:pt x="295" y="111"/>
                </a:cubicBezTo>
                <a:cubicBezTo>
                  <a:pt x="311" y="77"/>
                  <a:pt x="346" y="53"/>
                  <a:pt x="387" y="53"/>
                </a:cubicBezTo>
                <a:cubicBezTo>
                  <a:pt x="403" y="53"/>
                  <a:pt x="419" y="57"/>
                  <a:pt x="433" y="65"/>
                </a:cubicBezTo>
                <a:cubicBezTo>
                  <a:pt x="455" y="26"/>
                  <a:pt x="496" y="0"/>
                  <a:pt x="54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3495" tIns="26748" rIns="53495" bIns="26748" numCol="1" anchor="t" anchorCtr="0" compatLnSpc="1">
            <a:prstTxWarp prst="textNoShape">
              <a:avLst/>
            </a:prstTxWarp>
          </a:bodyPr>
          <a:lstStyle/>
          <a:p>
            <a:pPr defTabSz="534976">
              <a:defRPr/>
            </a:pPr>
            <a:endParaRPr lang="en-US" sz="1029" b="1" kern="0" smtClean="0">
              <a:gradFill>
                <a:gsLst>
                  <a:gs pos="14679">
                    <a:srgbClr val="FFFFFF"/>
                  </a:gs>
                  <a:gs pos="38000">
                    <a:srgbClr val="FFFFFF"/>
                  </a:gs>
                </a:gsLst>
                <a:lin ang="5400000" scaled="1"/>
              </a:gradFill>
              <a:cs typeface="Segoe UI" panose="020B0502040204020203" pitchFamily="34" charset="0"/>
            </a:endParaRPr>
          </a:p>
        </p:txBody>
      </p:sp>
      <p:grpSp>
        <p:nvGrpSpPr>
          <p:cNvPr id="17" name="Group 16"/>
          <p:cNvGrpSpPr>
            <a:grpSpLocks noChangeAspect="1"/>
          </p:cNvGrpSpPr>
          <p:nvPr/>
        </p:nvGrpSpPr>
        <p:grpSpPr>
          <a:xfrm>
            <a:off x="5323778" y="2453504"/>
            <a:ext cx="217114" cy="227844"/>
            <a:chOff x="2870057" y="3971122"/>
            <a:chExt cx="478391" cy="502036"/>
          </a:xfrm>
        </p:grpSpPr>
        <p:pic>
          <p:nvPicPr>
            <p:cNvPr id="18" name="Picture 2" descr="\\MAGNUM\Projects\Microsoft\Cloud Power FY12\Design\Icons\PNGs\Server_2.png"/>
            <p:cNvPicPr>
              <a:picLocks noChangeAspect="1" noChangeArrowheads="1"/>
            </p:cNvPicPr>
            <p:nvPr/>
          </p:nvPicPr>
          <p:blipFill rotWithShape="1">
            <a:blip r:embed="rId2" cstate="print">
              <a:lum bright="100000"/>
            </a:blip>
            <a:srcRect l="23785" t="10057" r="26214" b="10776"/>
            <a:stretch/>
          </p:blipFill>
          <p:spPr bwMode="auto">
            <a:xfrm>
              <a:off x="3077831" y="3979427"/>
              <a:ext cx="270617" cy="428478"/>
            </a:xfrm>
            <a:prstGeom prst="rect">
              <a:avLst/>
            </a:prstGeom>
            <a:noFill/>
          </p:spPr>
        </p:pic>
        <p:pic>
          <p:nvPicPr>
            <p:cNvPr id="19" name="Picture 2" descr="\\MAGNUM\Projects\Microsoft\Cloud Power FY12\Design\Icons\PNGs\Server_2.png"/>
            <p:cNvPicPr>
              <a:picLocks noChangeAspect="1" noChangeArrowheads="1"/>
            </p:cNvPicPr>
            <p:nvPr/>
          </p:nvPicPr>
          <p:blipFill rotWithShape="1">
            <a:blip r:embed="rId2" cstate="print">
              <a:lum bright="100000"/>
            </a:blip>
            <a:srcRect l="23785" t="10057" r="26214" b="10776"/>
            <a:stretch/>
          </p:blipFill>
          <p:spPr bwMode="auto">
            <a:xfrm>
              <a:off x="2870057" y="3971122"/>
              <a:ext cx="317075" cy="502036"/>
            </a:xfrm>
            <a:prstGeom prst="rect">
              <a:avLst/>
            </a:prstGeom>
            <a:noFill/>
          </p:spPr>
        </p:pic>
      </p:grpSp>
      <p:pic>
        <p:nvPicPr>
          <p:cNvPr id="20" name="Picture 19"/>
          <p:cNvPicPr>
            <a:picLocks noChangeAspect="1"/>
          </p:cNvPicPr>
          <p:nvPr/>
        </p:nvPicPr>
        <p:blipFill>
          <a:blip r:embed="rId3">
            <a:biLevel thresh="25000"/>
            <a:extLst>
              <a:ext uri="{BEBA8EAE-BF5A-486C-A8C5-ECC9F3942E4B}">
                <a14:imgProps xmlns:a14="http://schemas.microsoft.com/office/drawing/2010/main">
                  <a14:imgLayer r:embed="rId4">
                    <a14:imgEffect>
                      <a14:artisticPhotocopy/>
                    </a14:imgEffect>
                    <a14:imgEffect>
                      <a14:colorTemperature colorTemp="11200"/>
                    </a14:imgEffect>
                  </a14:imgLayer>
                </a14:imgProps>
              </a:ext>
              <a:ext uri="{28A0092B-C50C-407E-A947-70E740481C1C}">
                <a14:useLocalDpi xmlns:a14="http://schemas.microsoft.com/office/drawing/2010/main" val="0"/>
              </a:ext>
            </a:extLst>
          </a:blip>
          <a:stretch>
            <a:fillRect/>
          </a:stretch>
        </p:blipFill>
        <p:spPr>
          <a:xfrm rot="5400000">
            <a:off x="9401666" y="2270217"/>
            <a:ext cx="464088" cy="464088"/>
          </a:xfrm>
          <a:prstGeom prst="rect">
            <a:avLst/>
          </a:prstGeom>
        </p:spPr>
      </p:pic>
      <p:sp>
        <p:nvSpPr>
          <p:cNvPr id="21" name="Oval 20"/>
          <p:cNvSpPr/>
          <p:nvPr/>
        </p:nvSpPr>
        <p:spPr bwMode="auto">
          <a:xfrm>
            <a:off x="9353409" y="2221810"/>
            <a:ext cx="560603" cy="558513"/>
          </a:xfrm>
          <a:prstGeom prst="ellipse">
            <a:avLst/>
          </a:prstGeom>
          <a:noFill/>
          <a:ln w="19050" cap="flat" cmpd="sng" algn="ctr">
            <a:solidFill>
              <a:srgbClr val="FFFFFF"/>
            </a:solidFill>
            <a:prstDash val="solid"/>
            <a:headEnd type="none" w="med" len="med"/>
            <a:tailEnd type="none" w="med" len="med"/>
          </a:ln>
          <a:effectLst/>
        </p:spPr>
        <p:txBody>
          <a:bodyPr vert="horz" wrap="square" lIns="68567" tIns="34284" rIns="68567" bIns="34284" numCol="1" rtlCol="0" anchor="ctr" anchorCtr="0" compatLnSpc="1">
            <a:prstTxWarp prst="textNoShape">
              <a:avLst/>
            </a:prstTxWarp>
          </a:bodyPr>
          <a:lstStyle/>
          <a:p>
            <a:pPr algn="ctr" defTabSz="685513" fontAlgn="base">
              <a:lnSpc>
                <a:spcPct val="90000"/>
              </a:lnSpc>
              <a:spcBef>
                <a:spcPct val="0"/>
              </a:spcBef>
              <a:spcAft>
                <a:spcPct val="0"/>
              </a:spcAft>
              <a:defRPr/>
            </a:pPr>
            <a:endParaRPr lang="en-US" sz="1471" b="1" kern="0" spc="-38" dirty="0" smtClean="0">
              <a:gradFill>
                <a:gsLst>
                  <a:gs pos="14679">
                    <a:srgbClr val="FFFFFF"/>
                  </a:gs>
                  <a:gs pos="38000">
                    <a:srgbClr val="FFFFFF"/>
                  </a:gs>
                </a:gsLst>
                <a:lin ang="5400000" scaled="1"/>
              </a:gradFill>
              <a:cs typeface="Segoe UI" panose="020B0502040204020203" pitchFamily="34" charset="0"/>
            </a:endParaRPr>
          </a:p>
        </p:txBody>
      </p:sp>
      <p:sp>
        <p:nvSpPr>
          <p:cNvPr id="22" name="Rectangle 21"/>
          <p:cNvSpPr/>
          <p:nvPr/>
        </p:nvSpPr>
        <p:spPr>
          <a:xfrm>
            <a:off x="1751798" y="2872426"/>
            <a:ext cx="1900777" cy="584775"/>
          </a:xfrm>
          <a:prstGeom prst="rect">
            <a:avLst/>
          </a:prstGeom>
        </p:spPr>
        <p:txBody>
          <a:bodyPr wrap="none">
            <a:spAutoFit/>
          </a:bodyPr>
          <a:lstStyle/>
          <a:p>
            <a:pPr defTabSz="932228"/>
            <a:r>
              <a:rPr lang="en-US" sz="3200" spc="-102" dirty="0">
                <a:ln w="3175">
                  <a:noFill/>
                </a:ln>
                <a:gradFill>
                  <a:gsLst>
                    <a:gs pos="58716">
                      <a:srgbClr val="002050"/>
                    </a:gs>
                    <a:gs pos="37000">
                      <a:srgbClr val="002050"/>
                    </a:gs>
                  </a:gsLst>
                  <a:lin ang="5400000" scaled="1"/>
                </a:gradFill>
                <a:latin typeface="Segoe UI Semibold" panose="020B0702040204020203" pitchFamily="34" charset="0"/>
                <a:cs typeface="Segoe UI Semibold" panose="020B0702040204020203" pitchFamily="34" charset="0"/>
              </a:rPr>
              <a:t>.NET </a:t>
            </a:r>
            <a:r>
              <a:rPr lang="en-US" sz="3200" spc="-102" dirty="0" smtClean="0">
                <a:ln w="3175">
                  <a:noFill/>
                </a:ln>
                <a:gradFill>
                  <a:gsLst>
                    <a:gs pos="58716">
                      <a:srgbClr val="002050"/>
                    </a:gs>
                    <a:gs pos="37000">
                      <a:srgbClr val="002050"/>
                    </a:gs>
                  </a:gsLst>
                  <a:lin ang="5400000" scaled="1"/>
                </a:gradFill>
                <a:latin typeface="Segoe UI Semibold" panose="020B0702040204020203" pitchFamily="34" charset="0"/>
                <a:cs typeface="Segoe UI Semibold" panose="020B0702040204020203" pitchFamily="34" charset="0"/>
              </a:rPr>
              <a:t>Core</a:t>
            </a:r>
            <a:endParaRPr lang="en-US" sz="1000" dirty="0">
              <a:gradFill>
                <a:gsLst>
                  <a:gs pos="58716">
                    <a:srgbClr val="002050"/>
                  </a:gs>
                  <a:gs pos="37000">
                    <a:srgbClr val="002050"/>
                  </a:gs>
                </a:gsLst>
                <a:lin ang="5400000" scaled="1"/>
              </a:gradFill>
              <a:latin typeface="Segoe UI Semibold" panose="020B0702040204020203" pitchFamily="34" charset="0"/>
              <a:cs typeface="Segoe UI Semibold" panose="020B0702040204020203" pitchFamily="34" charset="0"/>
            </a:endParaRPr>
          </a:p>
        </p:txBody>
      </p:sp>
      <p:sp>
        <p:nvSpPr>
          <p:cNvPr id="23" name="Rectangle 22"/>
          <p:cNvSpPr/>
          <p:nvPr/>
        </p:nvSpPr>
        <p:spPr bwMode="auto">
          <a:xfrm>
            <a:off x="3648175" y="2942148"/>
            <a:ext cx="6337215" cy="1784921"/>
          </a:xfrm>
          <a:prstGeom prst="rect">
            <a:avLst/>
          </a:prstGeom>
          <a:solidFill>
            <a:srgbClr val="0072C6"/>
          </a:solidFill>
          <a:ln w="25400" cap="flat" cmpd="sng" algn="ctr">
            <a:noFill/>
            <a:prstDash val="solid"/>
            <a:headEnd type="none" w="med" len="med"/>
            <a:tailEnd type="none" w="med" len="med"/>
          </a:ln>
          <a:effectLst/>
        </p:spPr>
        <p:txBody>
          <a:bodyPr vert="horz" wrap="square" lIns="745977" tIns="279742" rIns="91410" bIns="0"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24" name="Rectangle 23"/>
          <p:cNvSpPr/>
          <p:nvPr/>
        </p:nvSpPr>
        <p:spPr>
          <a:xfrm>
            <a:off x="5890620" y="3518470"/>
            <a:ext cx="1925642" cy="546303"/>
          </a:xfrm>
          <a:prstGeom prst="rect">
            <a:avLst/>
          </a:prstGeom>
        </p:spPr>
        <p:txBody>
          <a:bodyPr wrap="square">
            <a:spAutoFit/>
          </a:bodyPr>
          <a:lstStyle/>
          <a:p>
            <a:pPr marL="0" lvl="1" algn="ctr" defTabSz="932048">
              <a:lnSpc>
                <a:spcPct val="90000"/>
              </a:lnSpc>
              <a:spcAft>
                <a:spcPts val="340"/>
              </a:spcAft>
              <a:defRPr/>
            </a:pPr>
            <a:r>
              <a:rPr lang="en-US" sz="1500" dirty="0" smtClean="0">
                <a:solidFill>
                  <a:srgbClr val="FFFFFF"/>
                </a:solidFill>
              </a:rPr>
              <a:t>Unified BCL</a:t>
            </a:r>
          </a:p>
          <a:p>
            <a:pPr marL="0" lvl="1" algn="ctr" defTabSz="932048">
              <a:lnSpc>
                <a:spcPct val="90000"/>
              </a:lnSpc>
              <a:spcAft>
                <a:spcPts val="340"/>
              </a:spcAft>
              <a:defRPr/>
            </a:pPr>
            <a:r>
              <a:rPr lang="en-US" sz="1500" dirty="0" smtClean="0">
                <a:solidFill>
                  <a:srgbClr val="FFFFFF"/>
                </a:solidFill>
              </a:rPr>
              <a:t>(Base Class Library)</a:t>
            </a:r>
          </a:p>
        </p:txBody>
      </p:sp>
      <p:sp>
        <p:nvSpPr>
          <p:cNvPr id="25" name="Rectangle 24"/>
          <p:cNvSpPr/>
          <p:nvPr/>
        </p:nvSpPr>
        <p:spPr bwMode="auto">
          <a:xfrm>
            <a:off x="3648177" y="4776295"/>
            <a:ext cx="6337214" cy="370923"/>
          </a:xfrm>
          <a:prstGeom prst="rect">
            <a:avLst/>
          </a:prstGeom>
          <a:solidFill>
            <a:srgbClr val="68217A"/>
          </a:solidFill>
          <a:ln w="25400" cap="flat" cmpd="sng" algn="ctr">
            <a:noFill/>
            <a:prstDash val="solid"/>
            <a:headEnd type="none" w="med" len="med"/>
            <a:tailEnd type="none" w="med" len="med"/>
          </a:ln>
          <a:effectLst/>
        </p:spPr>
        <p:txBody>
          <a:bodyPr vert="horz" wrap="square" lIns="745872" tIns="45677" rIns="91348" bIns="73078" numCol="1" rtlCol="0" anchor="t" anchorCtr="0" compatLnSpc="1">
            <a:prstTxWarp prst="textNoShape">
              <a:avLst/>
            </a:prstTxWarp>
          </a:bodyPr>
          <a:lstStyle/>
          <a:p>
            <a:pPr defTabSz="932048"/>
            <a:endParaRPr lang="en-US" sz="2448" dirty="0">
              <a:gradFill>
                <a:gsLst>
                  <a:gs pos="14679">
                    <a:srgbClr val="FFFFFF"/>
                  </a:gs>
                  <a:gs pos="38000">
                    <a:srgbClr val="FFFFFF"/>
                  </a:gs>
                </a:gsLst>
                <a:lin ang="5400000" scaled="1"/>
              </a:gradFill>
            </a:endParaRPr>
          </a:p>
        </p:txBody>
      </p:sp>
      <p:sp>
        <p:nvSpPr>
          <p:cNvPr id="26" name="Rectangle 25"/>
          <p:cNvSpPr/>
          <p:nvPr/>
        </p:nvSpPr>
        <p:spPr>
          <a:xfrm>
            <a:off x="5890619" y="4823115"/>
            <a:ext cx="2233103" cy="300082"/>
          </a:xfrm>
          <a:prstGeom prst="rect">
            <a:avLst/>
          </a:prstGeom>
        </p:spPr>
        <p:txBody>
          <a:bodyPr wrap="square">
            <a:spAutoFit/>
          </a:bodyPr>
          <a:lstStyle/>
          <a:p>
            <a:pPr marL="0" lvl="1" defTabSz="932048">
              <a:lnSpc>
                <a:spcPct val="90000"/>
              </a:lnSpc>
              <a:spcAft>
                <a:spcPts val="340"/>
              </a:spcAft>
              <a:defRPr/>
            </a:pPr>
            <a:r>
              <a:rPr lang="en-US" sz="1500" dirty="0" smtClean="0">
                <a:solidFill>
                  <a:srgbClr val="FFFFFF"/>
                </a:solidFill>
              </a:rPr>
              <a:t>Runtime Adaption Layer</a:t>
            </a:r>
            <a:endParaRPr lang="en-US" sz="1500" dirty="0">
              <a:solidFill>
                <a:srgbClr val="FFFFFF"/>
              </a:solidFill>
            </a:endParaRPr>
          </a:p>
        </p:txBody>
      </p:sp>
      <p:sp>
        <p:nvSpPr>
          <p:cNvPr id="27" name="Rectangle 26"/>
          <p:cNvSpPr/>
          <p:nvPr/>
        </p:nvSpPr>
        <p:spPr bwMode="auto">
          <a:xfrm>
            <a:off x="3648176" y="5196444"/>
            <a:ext cx="2083576" cy="1024676"/>
          </a:xfrm>
          <a:prstGeom prst="rect">
            <a:avLst/>
          </a:prstGeom>
          <a:solidFill>
            <a:srgbClr val="68217A"/>
          </a:solidFill>
          <a:ln w="25400" cap="flat" cmpd="sng" algn="ctr">
            <a:noFill/>
            <a:prstDash val="solid"/>
            <a:headEnd type="none" w="med" len="med"/>
            <a:tailEnd type="none" w="med" len="med"/>
          </a:ln>
          <a:effectLst/>
        </p:spPr>
        <p:txBody>
          <a:bodyPr vert="horz" wrap="square" lIns="745872" tIns="45677" rIns="91348" bIns="73078" numCol="1" rtlCol="0" anchor="t" anchorCtr="0" compatLnSpc="1">
            <a:prstTxWarp prst="textNoShape">
              <a:avLst/>
            </a:prstTxWarp>
          </a:bodyPr>
          <a:lstStyle/>
          <a:p>
            <a:pPr defTabSz="932048"/>
            <a:endParaRPr lang="en-US" sz="2448" dirty="0">
              <a:gradFill>
                <a:gsLst>
                  <a:gs pos="14679">
                    <a:srgbClr val="FFFFFF"/>
                  </a:gs>
                  <a:gs pos="38000">
                    <a:srgbClr val="FFFFFF"/>
                  </a:gs>
                </a:gsLst>
                <a:lin ang="5400000" scaled="1"/>
              </a:gradFill>
            </a:endParaRPr>
          </a:p>
        </p:txBody>
      </p:sp>
      <p:sp>
        <p:nvSpPr>
          <p:cNvPr id="28" name="Rectangle 27"/>
          <p:cNvSpPr/>
          <p:nvPr/>
        </p:nvSpPr>
        <p:spPr bwMode="auto">
          <a:xfrm>
            <a:off x="5790236" y="5196444"/>
            <a:ext cx="2073951" cy="1024676"/>
          </a:xfrm>
          <a:prstGeom prst="rect">
            <a:avLst/>
          </a:prstGeom>
          <a:solidFill>
            <a:srgbClr val="68217A"/>
          </a:solidFill>
          <a:ln w="25400" cap="flat" cmpd="sng" algn="ctr">
            <a:noFill/>
            <a:prstDash val="solid"/>
            <a:headEnd type="none" w="med" len="med"/>
            <a:tailEnd type="none" w="med" len="med"/>
          </a:ln>
          <a:effectLst/>
        </p:spPr>
        <p:txBody>
          <a:bodyPr vert="horz" wrap="square" lIns="745872" tIns="45677" rIns="91348" bIns="73078" numCol="1" rtlCol="0" anchor="t" anchorCtr="0" compatLnSpc="1">
            <a:prstTxWarp prst="textNoShape">
              <a:avLst/>
            </a:prstTxWarp>
          </a:bodyPr>
          <a:lstStyle/>
          <a:p>
            <a:pPr defTabSz="932048"/>
            <a:endParaRPr lang="en-US" sz="2448" dirty="0">
              <a:gradFill>
                <a:gsLst>
                  <a:gs pos="14679">
                    <a:srgbClr val="FFFFFF"/>
                  </a:gs>
                  <a:gs pos="38000">
                    <a:srgbClr val="FFFFFF"/>
                  </a:gs>
                </a:gsLst>
                <a:lin ang="5400000" scaled="1"/>
              </a:gradFill>
            </a:endParaRPr>
          </a:p>
        </p:txBody>
      </p:sp>
      <p:sp>
        <p:nvSpPr>
          <p:cNvPr id="29" name="Rectangle 28"/>
          <p:cNvSpPr/>
          <p:nvPr/>
        </p:nvSpPr>
        <p:spPr bwMode="auto">
          <a:xfrm>
            <a:off x="7921065" y="5194038"/>
            <a:ext cx="2064326" cy="1024676"/>
          </a:xfrm>
          <a:prstGeom prst="rect">
            <a:avLst/>
          </a:prstGeom>
          <a:solidFill>
            <a:srgbClr val="68217A">
              <a:alpha val="70000"/>
            </a:srgbClr>
          </a:solidFill>
          <a:ln w="25400" cap="flat" cmpd="sng" algn="ctr">
            <a:noFill/>
            <a:prstDash val="solid"/>
            <a:headEnd type="none" w="med" len="med"/>
            <a:tailEnd type="none" w="med" len="med"/>
          </a:ln>
          <a:effectLst/>
        </p:spPr>
        <p:txBody>
          <a:bodyPr vert="horz" wrap="square" lIns="745872" tIns="45677" rIns="91348" bIns="73078" numCol="1" rtlCol="0" anchor="t" anchorCtr="0" compatLnSpc="1">
            <a:prstTxWarp prst="textNoShape">
              <a:avLst/>
            </a:prstTxWarp>
          </a:bodyPr>
          <a:lstStyle/>
          <a:p>
            <a:pPr defTabSz="932048"/>
            <a:endParaRPr lang="en-US" sz="2448" dirty="0">
              <a:gradFill>
                <a:gsLst>
                  <a:gs pos="14679">
                    <a:srgbClr val="FFFFFF"/>
                  </a:gs>
                  <a:gs pos="38000">
                    <a:srgbClr val="FFFFFF"/>
                  </a:gs>
                </a:gsLst>
                <a:lin ang="5400000" scaled="1"/>
              </a:gradFill>
            </a:endParaRPr>
          </a:p>
        </p:txBody>
      </p:sp>
      <p:sp>
        <p:nvSpPr>
          <p:cNvPr id="30" name="Rectangle 29"/>
          <p:cNvSpPr/>
          <p:nvPr/>
        </p:nvSpPr>
        <p:spPr>
          <a:xfrm>
            <a:off x="5856738" y="5293766"/>
            <a:ext cx="1842827" cy="546303"/>
          </a:xfrm>
          <a:prstGeom prst="rect">
            <a:avLst/>
          </a:prstGeom>
        </p:spPr>
        <p:txBody>
          <a:bodyPr wrap="square">
            <a:spAutoFit/>
          </a:bodyPr>
          <a:lstStyle/>
          <a:p>
            <a:pPr marL="0" lvl="1" defTabSz="932048">
              <a:lnSpc>
                <a:spcPct val="90000"/>
              </a:lnSpc>
              <a:spcAft>
                <a:spcPts val="340"/>
              </a:spcAft>
              <a:defRPr/>
            </a:pPr>
            <a:r>
              <a:rPr lang="en-US" sz="1500" dirty="0" smtClean="0">
                <a:solidFill>
                  <a:srgbClr val="FFFFFF"/>
                </a:solidFill>
              </a:rPr>
              <a:t>.NET Native</a:t>
            </a:r>
          </a:p>
          <a:p>
            <a:pPr marL="0" lvl="1" defTabSz="932048">
              <a:lnSpc>
                <a:spcPct val="90000"/>
              </a:lnSpc>
              <a:spcAft>
                <a:spcPts val="340"/>
              </a:spcAft>
              <a:defRPr/>
            </a:pPr>
            <a:r>
              <a:rPr lang="en-US" sz="1500" dirty="0">
                <a:solidFill>
                  <a:srgbClr val="FFFFFF"/>
                </a:solidFill>
              </a:rPr>
              <a:t>a</a:t>
            </a:r>
            <a:r>
              <a:rPr lang="en-US" sz="1500" dirty="0" smtClean="0">
                <a:solidFill>
                  <a:srgbClr val="FFFFFF"/>
                </a:solidFill>
              </a:rPr>
              <a:t>nd Runtime</a:t>
            </a:r>
            <a:endParaRPr lang="en-US" sz="1500" dirty="0">
              <a:solidFill>
                <a:srgbClr val="FFFFFF"/>
              </a:solidFill>
            </a:endParaRPr>
          </a:p>
        </p:txBody>
      </p:sp>
      <p:grpSp>
        <p:nvGrpSpPr>
          <p:cNvPr id="31" name="Group 30"/>
          <p:cNvGrpSpPr>
            <a:grpSpLocks noChangeAspect="1"/>
          </p:cNvGrpSpPr>
          <p:nvPr/>
        </p:nvGrpSpPr>
        <p:grpSpPr>
          <a:xfrm>
            <a:off x="5150516" y="5746264"/>
            <a:ext cx="477285" cy="390078"/>
            <a:chOff x="9061629" y="5706715"/>
            <a:chExt cx="380421" cy="310912"/>
          </a:xfrm>
        </p:grpSpPr>
        <p:sp>
          <p:nvSpPr>
            <p:cNvPr id="32" name="Freeform 86"/>
            <p:cNvSpPr>
              <a:spLocks noEditPoints="1"/>
            </p:cNvSpPr>
            <p:nvPr/>
          </p:nvSpPr>
          <p:spPr bwMode="black">
            <a:xfrm>
              <a:off x="9061629" y="5737038"/>
              <a:ext cx="277768" cy="280589"/>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sp>
          <p:nvSpPr>
            <p:cNvPr id="33" name="Oval 87"/>
            <p:cNvSpPr>
              <a:spLocks noChangeArrowheads="1"/>
            </p:cNvSpPr>
            <p:nvPr/>
          </p:nvSpPr>
          <p:spPr bwMode="black">
            <a:xfrm>
              <a:off x="9172736" y="5854128"/>
              <a:ext cx="51528" cy="5175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sp>
          <p:nvSpPr>
            <p:cNvPr id="34" name="Freeform 88"/>
            <p:cNvSpPr>
              <a:spLocks noEditPoints="1"/>
            </p:cNvSpPr>
            <p:nvPr/>
          </p:nvSpPr>
          <p:spPr bwMode="black">
            <a:xfrm>
              <a:off x="9301153" y="5706715"/>
              <a:ext cx="140897" cy="152424"/>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grpSp>
      <p:grpSp>
        <p:nvGrpSpPr>
          <p:cNvPr id="35" name="Group 34"/>
          <p:cNvGrpSpPr>
            <a:grpSpLocks noChangeAspect="1"/>
          </p:cNvGrpSpPr>
          <p:nvPr/>
        </p:nvGrpSpPr>
        <p:grpSpPr>
          <a:xfrm>
            <a:off x="7307205" y="5751802"/>
            <a:ext cx="477285" cy="390078"/>
            <a:chOff x="9061629" y="5706715"/>
            <a:chExt cx="380421" cy="310912"/>
          </a:xfrm>
        </p:grpSpPr>
        <p:sp>
          <p:nvSpPr>
            <p:cNvPr id="36" name="Freeform 86"/>
            <p:cNvSpPr>
              <a:spLocks noEditPoints="1"/>
            </p:cNvSpPr>
            <p:nvPr/>
          </p:nvSpPr>
          <p:spPr bwMode="black">
            <a:xfrm>
              <a:off x="9061629" y="5737038"/>
              <a:ext cx="277768" cy="280589"/>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sp>
          <p:nvSpPr>
            <p:cNvPr id="37" name="Oval 87"/>
            <p:cNvSpPr>
              <a:spLocks noChangeArrowheads="1"/>
            </p:cNvSpPr>
            <p:nvPr/>
          </p:nvSpPr>
          <p:spPr bwMode="black">
            <a:xfrm>
              <a:off x="9172736" y="5854128"/>
              <a:ext cx="51528" cy="5175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sp>
          <p:nvSpPr>
            <p:cNvPr id="38" name="Freeform 88"/>
            <p:cNvSpPr>
              <a:spLocks noEditPoints="1"/>
            </p:cNvSpPr>
            <p:nvPr/>
          </p:nvSpPr>
          <p:spPr bwMode="black">
            <a:xfrm>
              <a:off x="9301153" y="5706715"/>
              <a:ext cx="140897" cy="152424"/>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grpSp>
      <p:grpSp>
        <p:nvGrpSpPr>
          <p:cNvPr id="39" name="Group 38"/>
          <p:cNvGrpSpPr>
            <a:grpSpLocks noChangeAspect="1"/>
          </p:cNvGrpSpPr>
          <p:nvPr/>
        </p:nvGrpSpPr>
        <p:grpSpPr>
          <a:xfrm>
            <a:off x="9443025" y="5751802"/>
            <a:ext cx="477285" cy="390078"/>
            <a:chOff x="9061629" y="5706715"/>
            <a:chExt cx="380421" cy="310912"/>
          </a:xfrm>
        </p:grpSpPr>
        <p:sp>
          <p:nvSpPr>
            <p:cNvPr id="40" name="Freeform 86"/>
            <p:cNvSpPr>
              <a:spLocks noEditPoints="1"/>
            </p:cNvSpPr>
            <p:nvPr/>
          </p:nvSpPr>
          <p:spPr bwMode="black">
            <a:xfrm>
              <a:off x="9061629" y="5737038"/>
              <a:ext cx="277768" cy="280589"/>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sp>
          <p:nvSpPr>
            <p:cNvPr id="41" name="Oval 87"/>
            <p:cNvSpPr>
              <a:spLocks noChangeArrowheads="1"/>
            </p:cNvSpPr>
            <p:nvPr/>
          </p:nvSpPr>
          <p:spPr bwMode="black">
            <a:xfrm>
              <a:off x="9172736" y="5854128"/>
              <a:ext cx="51528" cy="5175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sp>
          <p:nvSpPr>
            <p:cNvPr id="42" name="Freeform 88"/>
            <p:cNvSpPr>
              <a:spLocks noEditPoints="1"/>
            </p:cNvSpPr>
            <p:nvPr/>
          </p:nvSpPr>
          <p:spPr bwMode="black">
            <a:xfrm>
              <a:off x="9301153" y="5706715"/>
              <a:ext cx="140897" cy="152424"/>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grpSp>
      <p:sp>
        <p:nvSpPr>
          <p:cNvPr id="43" name="Rectangle 42"/>
          <p:cNvSpPr/>
          <p:nvPr/>
        </p:nvSpPr>
        <p:spPr>
          <a:xfrm>
            <a:off x="3756467" y="5321184"/>
            <a:ext cx="1842827" cy="300082"/>
          </a:xfrm>
          <a:prstGeom prst="rect">
            <a:avLst/>
          </a:prstGeom>
        </p:spPr>
        <p:txBody>
          <a:bodyPr wrap="square">
            <a:spAutoFit/>
          </a:bodyPr>
          <a:lstStyle/>
          <a:p>
            <a:pPr marL="0" lvl="1" defTabSz="932048">
              <a:lnSpc>
                <a:spcPct val="90000"/>
              </a:lnSpc>
              <a:spcAft>
                <a:spcPts val="340"/>
              </a:spcAft>
              <a:defRPr/>
            </a:pPr>
            <a:r>
              <a:rPr lang="en-US" sz="1500" dirty="0" smtClean="0">
                <a:solidFill>
                  <a:srgbClr val="FFFFFF"/>
                </a:solidFill>
              </a:rPr>
              <a:t>Core CLR</a:t>
            </a:r>
            <a:endParaRPr lang="en-US" sz="1500" dirty="0">
              <a:solidFill>
                <a:srgbClr val="FFFFFF"/>
              </a:solidFill>
            </a:endParaRPr>
          </a:p>
        </p:txBody>
      </p:sp>
      <p:sp>
        <p:nvSpPr>
          <p:cNvPr id="44" name="Rectangle 43"/>
          <p:cNvSpPr/>
          <p:nvPr/>
        </p:nvSpPr>
        <p:spPr>
          <a:xfrm>
            <a:off x="8017971" y="5281859"/>
            <a:ext cx="1842827" cy="300082"/>
          </a:xfrm>
          <a:prstGeom prst="rect">
            <a:avLst/>
          </a:prstGeom>
        </p:spPr>
        <p:txBody>
          <a:bodyPr wrap="square">
            <a:spAutoFit/>
          </a:bodyPr>
          <a:lstStyle/>
          <a:p>
            <a:pPr marL="0" lvl="1" defTabSz="932048">
              <a:lnSpc>
                <a:spcPct val="90000"/>
              </a:lnSpc>
              <a:spcAft>
                <a:spcPts val="340"/>
              </a:spcAft>
              <a:defRPr/>
            </a:pPr>
            <a:r>
              <a:rPr lang="en-US" sz="1500" dirty="0" smtClean="0">
                <a:solidFill>
                  <a:srgbClr val="FFFFFF"/>
                </a:solidFill>
              </a:rPr>
              <a:t>Other Runtime</a:t>
            </a:r>
            <a:endParaRPr lang="en-US" sz="1500" dirty="0">
              <a:solidFill>
                <a:srgbClr val="FFFFFF"/>
              </a:solidFill>
            </a:endParaRPr>
          </a:p>
        </p:txBody>
      </p:sp>
      <p:pic>
        <p:nvPicPr>
          <p:cNvPr id="45" name="Picture 2" descr="http://cdn.flaticon.com/png/256/37966.png"/>
          <p:cNvPicPr>
            <a:picLocks noChangeAspect="1" noChangeArrowheads="1"/>
          </p:cNvPicPr>
          <p:nvPr/>
        </p:nvPicPr>
        <p:blipFill rotWithShape="1">
          <a:blip r:embed="rId5">
            <a:lum bright="70000" contrast="-70000"/>
            <a:extLst>
              <a:ext uri="{28A0092B-C50C-407E-A947-70E740481C1C}">
                <a14:useLocalDpi xmlns:a14="http://schemas.microsoft.com/office/drawing/2010/main" val="0"/>
              </a:ext>
            </a:extLst>
          </a:blip>
          <a:srcRect t="30843" b="35137"/>
          <a:stretch/>
        </p:blipFill>
        <p:spPr bwMode="auto">
          <a:xfrm>
            <a:off x="7282921" y="2563769"/>
            <a:ext cx="431870" cy="123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1912394"/>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NuGet is mainstream in .NET Core</a:t>
            </a:r>
          </a:p>
        </p:txBody>
      </p:sp>
      <p:sp>
        <p:nvSpPr>
          <p:cNvPr id="4" name="Rectangle 3"/>
          <p:cNvSpPr/>
          <p:nvPr/>
        </p:nvSpPr>
        <p:spPr bwMode="auto">
          <a:xfrm>
            <a:off x="1751799" y="2884603"/>
            <a:ext cx="8233592" cy="3410319"/>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a:lnSpc>
                <a:spcPct val="90000"/>
              </a:lnSpc>
            </a:pPr>
            <a:endParaRPr lang="en-US" sz="1600" i="1" dirty="0">
              <a:gradFill>
                <a:gsLst>
                  <a:gs pos="0">
                    <a:srgbClr val="3F3F3F"/>
                  </a:gs>
                  <a:gs pos="100000">
                    <a:srgbClr val="3F3F3F"/>
                  </a:gs>
                </a:gsLst>
                <a:lin ang="5400000" scaled="0"/>
              </a:gradFill>
              <a:ea typeface="Segoe UI" pitchFamily="34" charset="0"/>
              <a:cs typeface="Segoe UI" pitchFamily="34" charset="0"/>
            </a:endParaRPr>
          </a:p>
        </p:txBody>
      </p:sp>
      <p:sp>
        <p:nvSpPr>
          <p:cNvPr id="5" name="Rectangle 4"/>
          <p:cNvSpPr/>
          <p:nvPr/>
        </p:nvSpPr>
        <p:spPr bwMode="auto">
          <a:xfrm>
            <a:off x="3648175" y="1818141"/>
            <a:ext cx="2079504" cy="1025410"/>
          </a:xfrm>
          <a:prstGeom prst="rect">
            <a:avLst/>
          </a:prstGeom>
          <a:solidFill>
            <a:srgbClr val="7FBA00"/>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6" name="Rectangle 5"/>
          <p:cNvSpPr/>
          <p:nvPr/>
        </p:nvSpPr>
        <p:spPr bwMode="auto">
          <a:xfrm>
            <a:off x="5779807" y="1818141"/>
            <a:ext cx="2065130" cy="1025410"/>
          </a:xfrm>
          <a:prstGeom prst="rect">
            <a:avLst/>
          </a:prstGeom>
          <a:solidFill>
            <a:srgbClr val="7FBA00"/>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7" name="Rectangle 6"/>
          <p:cNvSpPr/>
          <p:nvPr/>
        </p:nvSpPr>
        <p:spPr bwMode="auto">
          <a:xfrm>
            <a:off x="7911439" y="1818141"/>
            <a:ext cx="2073951" cy="1025410"/>
          </a:xfrm>
          <a:prstGeom prst="rect">
            <a:avLst/>
          </a:prstGeom>
          <a:solidFill>
            <a:srgbClr val="7FBA00">
              <a:alpha val="70000"/>
            </a:srgbClr>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8" name="Freeform 626"/>
          <p:cNvSpPr>
            <a:spLocks noChangeAspect="1" noEditPoints="1"/>
          </p:cNvSpPr>
          <p:nvPr/>
        </p:nvSpPr>
        <p:spPr bwMode="auto">
          <a:xfrm>
            <a:off x="7477744" y="2381246"/>
            <a:ext cx="246723" cy="166474"/>
          </a:xfrm>
          <a:custGeom>
            <a:avLst/>
            <a:gdLst>
              <a:gd name="T0" fmla="*/ 340 w 400"/>
              <a:gd name="T1" fmla="*/ 0 h 214"/>
              <a:gd name="T2" fmla="*/ 61 w 400"/>
              <a:gd name="T3" fmla="*/ 0 h 214"/>
              <a:gd name="T4" fmla="*/ 51 w 400"/>
              <a:gd name="T5" fmla="*/ 10 h 214"/>
              <a:gd name="T6" fmla="*/ 51 w 400"/>
              <a:gd name="T7" fmla="*/ 181 h 214"/>
              <a:gd name="T8" fmla="*/ 61 w 400"/>
              <a:gd name="T9" fmla="*/ 191 h 214"/>
              <a:gd name="T10" fmla="*/ 340 w 400"/>
              <a:gd name="T11" fmla="*/ 191 h 214"/>
              <a:gd name="T12" fmla="*/ 350 w 400"/>
              <a:gd name="T13" fmla="*/ 181 h 214"/>
              <a:gd name="T14" fmla="*/ 350 w 400"/>
              <a:gd name="T15" fmla="*/ 10 h 214"/>
              <a:gd name="T16" fmla="*/ 340 w 400"/>
              <a:gd name="T17" fmla="*/ 0 h 214"/>
              <a:gd name="T18" fmla="*/ 337 w 400"/>
              <a:gd name="T19" fmla="*/ 179 h 214"/>
              <a:gd name="T20" fmla="*/ 64 w 400"/>
              <a:gd name="T21" fmla="*/ 179 h 214"/>
              <a:gd name="T22" fmla="*/ 64 w 400"/>
              <a:gd name="T23" fmla="*/ 11 h 214"/>
              <a:gd name="T24" fmla="*/ 337 w 400"/>
              <a:gd name="T25" fmla="*/ 11 h 214"/>
              <a:gd name="T26" fmla="*/ 337 w 400"/>
              <a:gd name="T27" fmla="*/ 179 h 214"/>
              <a:gd name="T28" fmla="*/ 228 w 400"/>
              <a:gd name="T29" fmla="*/ 198 h 214"/>
              <a:gd name="T30" fmla="*/ 228 w 400"/>
              <a:gd name="T31" fmla="*/ 200 h 214"/>
              <a:gd name="T32" fmla="*/ 224 w 400"/>
              <a:gd name="T33" fmla="*/ 203 h 214"/>
              <a:gd name="T34" fmla="*/ 177 w 400"/>
              <a:gd name="T35" fmla="*/ 203 h 214"/>
              <a:gd name="T36" fmla="*/ 173 w 400"/>
              <a:gd name="T37" fmla="*/ 200 h 214"/>
              <a:gd name="T38" fmla="*/ 173 w 400"/>
              <a:gd name="T39" fmla="*/ 198 h 214"/>
              <a:gd name="T40" fmla="*/ 0 w 400"/>
              <a:gd name="T41" fmla="*/ 198 h 214"/>
              <a:gd name="T42" fmla="*/ 0 w 400"/>
              <a:gd name="T43" fmla="*/ 208 h 214"/>
              <a:gd name="T44" fmla="*/ 13 w 400"/>
              <a:gd name="T45" fmla="*/ 214 h 214"/>
              <a:gd name="T46" fmla="*/ 13 w 400"/>
              <a:gd name="T47" fmla="*/ 214 h 214"/>
              <a:gd name="T48" fmla="*/ 387 w 400"/>
              <a:gd name="T49" fmla="*/ 214 h 214"/>
              <a:gd name="T50" fmla="*/ 387 w 400"/>
              <a:gd name="T51" fmla="*/ 214 h 214"/>
              <a:gd name="T52" fmla="*/ 400 w 400"/>
              <a:gd name="T53" fmla="*/ 208 h 214"/>
              <a:gd name="T54" fmla="*/ 400 w 400"/>
              <a:gd name="T55" fmla="*/ 198 h 214"/>
              <a:gd name="T56" fmla="*/ 228 w 400"/>
              <a:gd name="T57" fmla="*/ 19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0" h="214">
                <a:moveTo>
                  <a:pt x="340" y="0"/>
                </a:moveTo>
                <a:cubicBezTo>
                  <a:pt x="61" y="0"/>
                  <a:pt x="61" y="0"/>
                  <a:pt x="61" y="0"/>
                </a:cubicBezTo>
                <a:cubicBezTo>
                  <a:pt x="56" y="0"/>
                  <a:pt x="51" y="4"/>
                  <a:pt x="51" y="10"/>
                </a:cubicBezTo>
                <a:cubicBezTo>
                  <a:pt x="51" y="181"/>
                  <a:pt x="51" y="181"/>
                  <a:pt x="51" y="181"/>
                </a:cubicBezTo>
                <a:cubicBezTo>
                  <a:pt x="51" y="187"/>
                  <a:pt x="56" y="191"/>
                  <a:pt x="61" y="191"/>
                </a:cubicBezTo>
                <a:cubicBezTo>
                  <a:pt x="340" y="191"/>
                  <a:pt x="340" y="191"/>
                  <a:pt x="340" y="191"/>
                </a:cubicBezTo>
                <a:cubicBezTo>
                  <a:pt x="346" y="191"/>
                  <a:pt x="350" y="187"/>
                  <a:pt x="350" y="181"/>
                </a:cubicBezTo>
                <a:cubicBezTo>
                  <a:pt x="350" y="10"/>
                  <a:pt x="350" y="10"/>
                  <a:pt x="350" y="10"/>
                </a:cubicBezTo>
                <a:cubicBezTo>
                  <a:pt x="350" y="4"/>
                  <a:pt x="346" y="0"/>
                  <a:pt x="340" y="0"/>
                </a:cubicBezTo>
                <a:close/>
                <a:moveTo>
                  <a:pt x="337" y="179"/>
                </a:moveTo>
                <a:cubicBezTo>
                  <a:pt x="64" y="179"/>
                  <a:pt x="64" y="179"/>
                  <a:pt x="64" y="179"/>
                </a:cubicBezTo>
                <a:cubicBezTo>
                  <a:pt x="64" y="11"/>
                  <a:pt x="64" y="11"/>
                  <a:pt x="64" y="11"/>
                </a:cubicBezTo>
                <a:cubicBezTo>
                  <a:pt x="337" y="11"/>
                  <a:pt x="337" y="11"/>
                  <a:pt x="337" y="11"/>
                </a:cubicBezTo>
                <a:cubicBezTo>
                  <a:pt x="337" y="179"/>
                  <a:pt x="337" y="179"/>
                  <a:pt x="337" y="179"/>
                </a:cubicBezTo>
                <a:close/>
                <a:moveTo>
                  <a:pt x="228" y="198"/>
                </a:moveTo>
                <a:cubicBezTo>
                  <a:pt x="228" y="200"/>
                  <a:pt x="228" y="200"/>
                  <a:pt x="228" y="200"/>
                </a:cubicBezTo>
                <a:cubicBezTo>
                  <a:pt x="228" y="202"/>
                  <a:pt x="226" y="203"/>
                  <a:pt x="224" y="203"/>
                </a:cubicBezTo>
                <a:cubicBezTo>
                  <a:pt x="177" y="203"/>
                  <a:pt x="177" y="203"/>
                  <a:pt x="177" y="203"/>
                </a:cubicBezTo>
                <a:cubicBezTo>
                  <a:pt x="175" y="203"/>
                  <a:pt x="173" y="202"/>
                  <a:pt x="173" y="200"/>
                </a:cubicBezTo>
                <a:cubicBezTo>
                  <a:pt x="173" y="198"/>
                  <a:pt x="173" y="198"/>
                  <a:pt x="173" y="198"/>
                </a:cubicBezTo>
                <a:cubicBezTo>
                  <a:pt x="0" y="198"/>
                  <a:pt x="0" y="198"/>
                  <a:pt x="0" y="198"/>
                </a:cubicBezTo>
                <a:cubicBezTo>
                  <a:pt x="0" y="208"/>
                  <a:pt x="0" y="208"/>
                  <a:pt x="0" y="208"/>
                </a:cubicBezTo>
                <a:cubicBezTo>
                  <a:pt x="0" y="208"/>
                  <a:pt x="9" y="214"/>
                  <a:pt x="13" y="214"/>
                </a:cubicBezTo>
                <a:cubicBezTo>
                  <a:pt x="13" y="214"/>
                  <a:pt x="13" y="214"/>
                  <a:pt x="13" y="214"/>
                </a:cubicBezTo>
                <a:cubicBezTo>
                  <a:pt x="387" y="214"/>
                  <a:pt x="387" y="214"/>
                  <a:pt x="387" y="214"/>
                </a:cubicBezTo>
                <a:cubicBezTo>
                  <a:pt x="387" y="214"/>
                  <a:pt x="387" y="214"/>
                  <a:pt x="387" y="214"/>
                </a:cubicBezTo>
                <a:cubicBezTo>
                  <a:pt x="391" y="214"/>
                  <a:pt x="400" y="208"/>
                  <a:pt x="400" y="208"/>
                </a:cubicBezTo>
                <a:cubicBezTo>
                  <a:pt x="400" y="198"/>
                  <a:pt x="400" y="198"/>
                  <a:pt x="400" y="198"/>
                </a:cubicBezTo>
                <a:lnTo>
                  <a:pt x="228" y="198"/>
                </a:lnTo>
                <a:close/>
              </a:path>
            </a:pathLst>
          </a:custGeom>
          <a:solidFill>
            <a:srgbClr val="FFFFFF"/>
          </a:solidFill>
          <a:ln>
            <a:noFill/>
          </a:ln>
          <a:extLst/>
        </p:spPr>
        <p:txBody>
          <a:bodyPr vert="horz" wrap="square" lIns="68570" tIns="34285" rIns="68570" bIns="34285" numCol="1" anchor="t" anchorCtr="0" compatLnSpc="1">
            <a:prstTxWarp prst="textNoShape">
              <a:avLst/>
            </a:prstTxWarp>
          </a:bodyPr>
          <a:lstStyle/>
          <a:p>
            <a:pPr defTabSz="685711">
              <a:defRPr/>
            </a:pPr>
            <a:endParaRPr lang="en-US" sz="809" b="1" kern="0">
              <a:gradFill>
                <a:gsLst>
                  <a:gs pos="14679">
                    <a:srgbClr val="FFFFFF"/>
                  </a:gs>
                  <a:gs pos="38000">
                    <a:srgbClr val="FFFFFF"/>
                  </a:gs>
                </a:gsLst>
                <a:lin ang="5400000" scaled="1"/>
              </a:gradFill>
              <a:cs typeface="Segoe UI" panose="020B0502040204020203" pitchFamily="34" charset="0"/>
            </a:endParaRPr>
          </a:p>
        </p:txBody>
      </p:sp>
      <p:sp>
        <p:nvSpPr>
          <p:cNvPr id="9" name="Rounded Rectangle 6"/>
          <p:cNvSpPr>
            <a:spLocks noChangeAspect="1"/>
          </p:cNvSpPr>
          <p:nvPr/>
        </p:nvSpPr>
        <p:spPr bwMode="black">
          <a:xfrm rot="16200000">
            <a:off x="7304034" y="2391166"/>
            <a:ext cx="121390" cy="187531"/>
          </a:xfrm>
          <a:custGeom>
            <a:avLst/>
            <a:gdLst/>
            <a:ahLst/>
            <a:cxnLst/>
            <a:rect l="l" t="t" r="r" b="b"/>
            <a:pathLst>
              <a:path w="3286897" h="4658497">
                <a:moveTo>
                  <a:pt x="1600200" y="4382531"/>
                </a:moveTo>
                <a:cubicBezTo>
                  <a:pt x="1600200" y="4367744"/>
                  <a:pt x="1588213" y="4355757"/>
                  <a:pt x="1573426" y="4355757"/>
                </a:cubicBezTo>
                <a:lnTo>
                  <a:pt x="811428" y="4355757"/>
                </a:lnTo>
                <a:cubicBezTo>
                  <a:pt x="796641" y="4355757"/>
                  <a:pt x="784654" y="4367744"/>
                  <a:pt x="784654" y="4382531"/>
                </a:cubicBezTo>
                <a:lnTo>
                  <a:pt x="784654" y="4489621"/>
                </a:lnTo>
                <a:cubicBezTo>
                  <a:pt x="784654" y="4504408"/>
                  <a:pt x="796641" y="4516395"/>
                  <a:pt x="811428" y="4516395"/>
                </a:cubicBezTo>
                <a:lnTo>
                  <a:pt x="1573426" y="4516395"/>
                </a:lnTo>
                <a:cubicBezTo>
                  <a:pt x="1588213" y="4516395"/>
                  <a:pt x="1600200" y="4504408"/>
                  <a:pt x="1600200" y="4489621"/>
                </a:cubicBezTo>
                <a:close/>
                <a:moveTo>
                  <a:pt x="2502243" y="4382531"/>
                </a:moveTo>
                <a:cubicBezTo>
                  <a:pt x="2502243" y="4367744"/>
                  <a:pt x="2490256" y="4355757"/>
                  <a:pt x="2475469" y="4355757"/>
                </a:cubicBezTo>
                <a:lnTo>
                  <a:pt x="1713471" y="4355757"/>
                </a:lnTo>
                <a:cubicBezTo>
                  <a:pt x="1698684" y="4355757"/>
                  <a:pt x="1686697" y="4367744"/>
                  <a:pt x="1686697" y="4382531"/>
                </a:cubicBezTo>
                <a:lnTo>
                  <a:pt x="1686697" y="4489621"/>
                </a:lnTo>
                <a:cubicBezTo>
                  <a:pt x="1686697" y="4504408"/>
                  <a:pt x="1698684" y="4516395"/>
                  <a:pt x="1713471" y="4516395"/>
                </a:cubicBezTo>
                <a:lnTo>
                  <a:pt x="2475469" y="4516395"/>
                </a:lnTo>
                <a:cubicBezTo>
                  <a:pt x="2490256" y="4516395"/>
                  <a:pt x="2502243" y="4504408"/>
                  <a:pt x="2502243" y="4489621"/>
                </a:cubicBezTo>
                <a:close/>
                <a:moveTo>
                  <a:pt x="3021231" y="480896"/>
                </a:moveTo>
                <a:cubicBezTo>
                  <a:pt x="3021231" y="375524"/>
                  <a:pt x="2935811" y="290104"/>
                  <a:pt x="2830439" y="290104"/>
                </a:cubicBezTo>
                <a:lnTo>
                  <a:pt x="444108" y="290104"/>
                </a:lnTo>
                <a:cubicBezTo>
                  <a:pt x="338736" y="290104"/>
                  <a:pt x="253316" y="375524"/>
                  <a:pt x="253316" y="480896"/>
                </a:cubicBezTo>
                <a:lnTo>
                  <a:pt x="253316" y="4029043"/>
                </a:lnTo>
                <a:cubicBezTo>
                  <a:pt x="253316" y="4134415"/>
                  <a:pt x="338736" y="4219835"/>
                  <a:pt x="444108" y="4219835"/>
                </a:cubicBezTo>
                <a:lnTo>
                  <a:pt x="2830439" y="4219835"/>
                </a:lnTo>
                <a:cubicBezTo>
                  <a:pt x="2935811" y="4219835"/>
                  <a:pt x="3021231" y="4134415"/>
                  <a:pt x="3021231" y="4029043"/>
                </a:cubicBezTo>
                <a:close/>
                <a:moveTo>
                  <a:pt x="3286897" y="226566"/>
                </a:moveTo>
                <a:lnTo>
                  <a:pt x="3286897" y="4431931"/>
                </a:lnTo>
                <a:cubicBezTo>
                  <a:pt x="3286897" y="4557060"/>
                  <a:pt x="3185460" y="4658497"/>
                  <a:pt x="3060331" y="4658497"/>
                </a:cubicBezTo>
                <a:lnTo>
                  <a:pt x="226566" y="4658497"/>
                </a:lnTo>
                <a:cubicBezTo>
                  <a:pt x="101437" y="4658497"/>
                  <a:pt x="0" y="4557060"/>
                  <a:pt x="0" y="4431931"/>
                </a:cubicBezTo>
                <a:lnTo>
                  <a:pt x="0" y="226566"/>
                </a:lnTo>
                <a:cubicBezTo>
                  <a:pt x="0" y="101437"/>
                  <a:pt x="101437" y="0"/>
                  <a:pt x="226566" y="0"/>
                </a:cubicBezTo>
                <a:lnTo>
                  <a:pt x="3060331" y="0"/>
                </a:lnTo>
                <a:cubicBezTo>
                  <a:pt x="3185460" y="0"/>
                  <a:pt x="3286897" y="101437"/>
                  <a:pt x="3286897" y="226566"/>
                </a:cubicBezTo>
                <a:close/>
              </a:path>
            </a:pathLst>
          </a:custGeom>
          <a:solidFill>
            <a:srgbClr val="FFFFFF"/>
          </a:solidFill>
          <a:ln w="10795" cap="flat" cmpd="sng" algn="ctr">
            <a:noFill/>
            <a:prstDash val="solid"/>
            <a:headEnd type="none" w="med" len="med"/>
            <a:tailEnd type="none" w="med" len="med"/>
          </a:ln>
          <a:effectLst/>
        </p:spPr>
        <p:txBody>
          <a:bodyPr vert="horz" wrap="square" lIns="0" tIns="30859" rIns="61717" bIns="30859" numCol="1" rtlCol="0" anchor="ctr" anchorCtr="0" compatLnSpc="1">
            <a:prstTxWarp prst="textNoShape">
              <a:avLst/>
            </a:prstTxWarp>
          </a:bodyPr>
          <a:lstStyle/>
          <a:p>
            <a:pPr algn="ctr" defTabSz="555505"/>
            <a:endParaRPr lang="en-US" sz="1324" b="1" kern="0" spc="-91" dirty="0" smtClean="0">
              <a:gradFill>
                <a:gsLst>
                  <a:gs pos="14679">
                    <a:srgbClr val="FFFFFF"/>
                  </a:gs>
                  <a:gs pos="38000">
                    <a:srgbClr val="FFFFFF"/>
                  </a:gs>
                </a:gsLst>
                <a:lin ang="5400000" scaled="1"/>
              </a:gradFill>
              <a:cs typeface="Segoe UI" panose="020B0502040204020203" pitchFamily="34" charset="0"/>
            </a:endParaRPr>
          </a:p>
        </p:txBody>
      </p:sp>
      <p:sp>
        <p:nvSpPr>
          <p:cNvPr id="10" name="Oval 9"/>
          <p:cNvSpPr/>
          <p:nvPr/>
        </p:nvSpPr>
        <p:spPr bwMode="auto">
          <a:xfrm>
            <a:off x="7222206" y="2218794"/>
            <a:ext cx="551286" cy="565459"/>
          </a:xfrm>
          <a:prstGeom prst="ellipse">
            <a:avLst/>
          </a:prstGeom>
          <a:noFill/>
          <a:ln w="19050" cap="flat" cmpd="sng" algn="ctr">
            <a:solidFill>
              <a:srgbClr val="FFFFFF"/>
            </a:solidFill>
            <a:prstDash val="solid"/>
            <a:headEnd type="none" w="med" len="med"/>
            <a:tailEnd type="none" w="med" len="med"/>
          </a:ln>
          <a:effectLst/>
        </p:spPr>
        <p:txBody>
          <a:bodyPr vert="horz" wrap="square" lIns="68567" tIns="34284" rIns="68567" bIns="34284" numCol="1" rtlCol="0" anchor="ctr" anchorCtr="0" compatLnSpc="1">
            <a:prstTxWarp prst="textNoShape">
              <a:avLst/>
            </a:prstTxWarp>
          </a:bodyPr>
          <a:lstStyle/>
          <a:p>
            <a:pPr algn="ctr" defTabSz="685513" fontAlgn="base">
              <a:lnSpc>
                <a:spcPct val="90000"/>
              </a:lnSpc>
              <a:spcBef>
                <a:spcPct val="0"/>
              </a:spcBef>
              <a:spcAft>
                <a:spcPct val="0"/>
              </a:spcAft>
            </a:pPr>
            <a:endParaRPr lang="en-US" sz="1471" b="1" kern="0" spc="-38" dirty="0" smtClean="0">
              <a:gradFill>
                <a:gsLst>
                  <a:gs pos="14679">
                    <a:srgbClr val="FFFFFF"/>
                  </a:gs>
                  <a:gs pos="38000">
                    <a:srgbClr val="FFFFFF"/>
                  </a:gs>
                </a:gsLst>
                <a:lin ang="5400000" scaled="1"/>
              </a:gradFill>
              <a:cs typeface="Segoe UI" panose="020B0502040204020203" pitchFamily="34" charset="0"/>
            </a:endParaRPr>
          </a:p>
        </p:txBody>
      </p:sp>
      <p:sp>
        <p:nvSpPr>
          <p:cNvPr id="11" name="Oval 10"/>
          <p:cNvSpPr/>
          <p:nvPr/>
        </p:nvSpPr>
        <p:spPr bwMode="auto">
          <a:xfrm>
            <a:off x="5090614" y="2201392"/>
            <a:ext cx="560603" cy="558513"/>
          </a:xfrm>
          <a:prstGeom prst="ellipse">
            <a:avLst/>
          </a:prstGeom>
          <a:noFill/>
          <a:ln w="19050" cap="flat" cmpd="sng" algn="ctr">
            <a:solidFill>
              <a:srgbClr val="FFFFFF"/>
            </a:solidFill>
            <a:prstDash val="solid"/>
            <a:headEnd type="none" w="med" len="med"/>
            <a:tailEnd type="none" w="med" len="med"/>
          </a:ln>
          <a:effectLst/>
        </p:spPr>
        <p:txBody>
          <a:bodyPr vert="horz" wrap="square" lIns="68567" tIns="34284" rIns="68567" bIns="34284" numCol="1" rtlCol="0" anchor="ctr" anchorCtr="0" compatLnSpc="1">
            <a:prstTxWarp prst="textNoShape">
              <a:avLst/>
            </a:prstTxWarp>
          </a:bodyPr>
          <a:lstStyle/>
          <a:p>
            <a:pPr algn="ctr" defTabSz="685513" fontAlgn="base">
              <a:lnSpc>
                <a:spcPct val="90000"/>
              </a:lnSpc>
              <a:spcBef>
                <a:spcPct val="0"/>
              </a:spcBef>
              <a:spcAft>
                <a:spcPct val="0"/>
              </a:spcAft>
            </a:pPr>
            <a:endParaRPr lang="en-US" sz="1471" b="1" kern="0" spc="-38" dirty="0" smtClean="0">
              <a:gradFill>
                <a:gsLst>
                  <a:gs pos="14679">
                    <a:srgbClr val="FFFFFF"/>
                  </a:gs>
                  <a:gs pos="38000">
                    <a:srgbClr val="FFFFFF"/>
                  </a:gs>
                </a:gsLst>
                <a:lin ang="5400000" scaled="1"/>
              </a:gradFill>
              <a:cs typeface="Segoe UI" panose="020B0502040204020203" pitchFamily="34" charset="0"/>
            </a:endParaRPr>
          </a:p>
        </p:txBody>
      </p:sp>
      <p:sp>
        <p:nvSpPr>
          <p:cNvPr id="12" name="Freeform 10"/>
          <p:cNvSpPr>
            <a:spLocks noEditPoints="1"/>
          </p:cNvSpPr>
          <p:nvPr/>
        </p:nvSpPr>
        <p:spPr bwMode="black">
          <a:xfrm>
            <a:off x="5168712" y="2280412"/>
            <a:ext cx="248163" cy="157177"/>
          </a:xfrm>
          <a:custGeom>
            <a:avLst/>
            <a:gdLst>
              <a:gd name="T0" fmla="*/ 401 w 672"/>
              <a:gd name="T1" fmla="*/ 114 h 402"/>
              <a:gd name="T2" fmla="*/ 545 w 672"/>
              <a:gd name="T3" fmla="*/ 258 h 402"/>
              <a:gd name="T4" fmla="*/ 401 w 672"/>
              <a:gd name="T5" fmla="*/ 402 h 402"/>
              <a:gd name="T6" fmla="*/ 401 w 672"/>
              <a:gd name="T7" fmla="*/ 402 h 402"/>
              <a:gd name="T8" fmla="*/ 401 w 672"/>
              <a:gd name="T9" fmla="*/ 402 h 402"/>
              <a:gd name="T10" fmla="*/ 96 w 672"/>
              <a:gd name="T11" fmla="*/ 402 h 402"/>
              <a:gd name="T12" fmla="*/ 96 w 672"/>
              <a:gd name="T13" fmla="*/ 402 h 402"/>
              <a:gd name="T14" fmla="*/ 90 w 672"/>
              <a:gd name="T15" fmla="*/ 402 h 402"/>
              <a:gd name="T16" fmla="*/ 90 w 672"/>
              <a:gd name="T17" fmla="*/ 402 h 402"/>
              <a:gd name="T18" fmla="*/ 89 w 672"/>
              <a:gd name="T19" fmla="*/ 402 h 402"/>
              <a:gd name="T20" fmla="*/ 0 w 672"/>
              <a:gd name="T21" fmla="*/ 314 h 402"/>
              <a:gd name="T22" fmla="*/ 89 w 672"/>
              <a:gd name="T23" fmla="*/ 225 h 402"/>
              <a:gd name="T24" fmla="*/ 124 w 672"/>
              <a:gd name="T25" fmla="*/ 233 h 402"/>
              <a:gd name="T26" fmla="*/ 226 w 672"/>
              <a:gd name="T27" fmla="*/ 171 h 402"/>
              <a:gd name="T28" fmla="*/ 278 w 672"/>
              <a:gd name="T29" fmla="*/ 184 h 402"/>
              <a:gd name="T30" fmla="*/ 401 w 672"/>
              <a:gd name="T31" fmla="*/ 114 h 402"/>
              <a:gd name="T32" fmla="*/ 544 w 672"/>
              <a:gd name="T33" fmla="*/ 0 h 402"/>
              <a:gd name="T34" fmla="*/ 672 w 672"/>
              <a:gd name="T35" fmla="*/ 128 h 402"/>
              <a:gd name="T36" fmla="*/ 557 w 672"/>
              <a:gd name="T37" fmla="*/ 255 h 402"/>
              <a:gd name="T38" fmla="*/ 557 w 672"/>
              <a:gd name="T39" fmla="*/ 253 h 402"/>
              <a:gd name="T40" fmla="*/ 403 w 672"/>
              <a:gd name="T41" fmla="*/ 100 h 402"/>
              <a:gd name="T42" fmla="*/ 273 w 672"/>
              <a:gd name="T43" fmla="*/ 171 h 402"/>
              <a:gd name="T44" fmla="*/ 229 w 672"/>
              <a:gd name="T45" fmla="*/ 159 h 402"/>
              <a:gd name="T46" fmla="*/ 192 w 672"/>
              <a:gd name="T47" fmla="*/ 168 h 402"/>
              <a:gd name="T48" fmla="*/ 265 w 672"/>
              <a:gd name="T49" fmla="*/ 104 h 402"/>
              <a:gd name="T50" fmla="*/ 295 w 672"/>
              <a:gd name="T51" fmla="*/ 111 h 402"/>
              <a:gd name="T52" fmla="*/ 387 w 672"/>
              <a:gd name="T53" fmla="*/ 53 h 402"/>
              <a:gd name="T54" fmla="*/ 433 w 672"/>
              <a:gd name="T55" fmla="*/ 65 h 402"/>
              <a:gd name="T56" fmla="*/ 544 w 672"/>
              <a:gd name="T57" fmla="*/ 0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2" h="402">
                <a:moveTo>
                  <a:pt x="401" y="114"/>
                </a:moveTo>
                <a:cubicBezTo>
                  <a:pt x="481" y="114"/>
                  <a:pt x="545" y="178"/>
                  <a:pt x="545" y="258"/>
                </a:cubicBezTo>
                <a:cubicBezTo>
                  <a:pt x="545" y="338"/>
                  <a:pt x="481" y="402"/>
                  <a:pt x="401" y="402"/>
                </a:cubicBezTo>
                <a:cubicBezTo>
                  <a:pt x="401" y="402"/>
                  <a:pt x="401" y="402"/>
                  <a:pt x="401" y="402"/>
                </a:cubicBezTo>
                <a:cubicBezTo>
                  <a:pt x="401" y="402"/>
                  <a:pt x="401" y="402"/>
                  <a:pt x="401" y="402"/>
                </a:cubicBezTo>
                <a:cubicBezTo>
                  <a:pt x="96" y="402"/>
                  <a:pt x="96" y="402"/>
                  <a:pt x="96" y="402"/>
                </a:cubicBezTo>
                <a:cubicBezTo>
                  <a:pt x="96" y="402"/>
                  <a:pt x="96" y="402"/>
                  <a:pt x="96" y="402"/>
                </a:cubicBezTo>
                <a:cubicBezTo>
                  <a:pt x="90" y="402"/>
                  <a:pt x="90" y="402"/>
                  <a:pt x="90" y="402"/>
                </a:cubicBezTo>
                <a:cubicBezTo>
                  <a:pt x="90" y="402"/>
                  <a:pt x="90" y="402"/>
                  <a:pt x="90" y="402"/>
                </a:cubicBezTo>
                <a:cubicBezTo>
                  <a:pt x="90" y="402"/>
                  <a:pt x="89" y="402"/>
                  <a:pt x="89" y="402"/>
                </a:cubicBezTo>
                <a:cubicBezTo>
                  <a:pt x="40" y="402"/>
                  <a:pt x="0" y="363"/>
                  <a:pt x="0" y="314"/>
                </a:cubicBezTo>
                <a:cubicBezTo>
                  <a:pt x="0" y="265"/>
                  <a:pt x="40" y="225"/>
                  <a:pt x="89" y="225"/>
                </a:cubicBezTo>
                <a:cubicBezTo>
                  <a:pt x="102" y="225"/>
                  <a:pt x="114" y="228"/>
                  <a:pt x="124" y="233"/>
                </a:cubicBezTo>
                <a:cubicBezTo>
                  <a:pt x="143" y="196"/>
                  <a:pt x="181" y="171"/>
                  <a:pt x="226" y="171"/>
                </a:cubicBezTo>
                <a:cubicBezTo>
                  <a:pt x="244" y="171"/>
                  <a:pt x="262" y="176"/>
                  <a:pt x="278" y="184"/>
                </a:cubicBezTo>
                <a:cubicBezTo>
                  <a:pt x="303" y="142"/>
                  <a:pt x="349" y="114"/>
                  <a:pt x="401" y="114"/>
                </a:cubicBezTo>
                <a:close/>
                <a:moveTo>
                  <a:pt x="544" y="0"/>
                </a:moveTo>
                <a:cubicBezTo>
                  <a:pt x="615" y="0"/>
                  <a:pt x="672" y="57"/>
                  <a:pt x="672" y="128"/>
                </a:cubicBezTo>
                <a:cubicBezTo>
                  <a:pt x="672" y="194"/>
                  <a:pt x="622" y="249"/>
                  <a:pt x="557" y="255"/>
                </a:cubicBezTo>
                <a:cubicBezTo>
                  <a:pt x="557" y="253"/>
                  <a:pt x="557" y="253"/>
                  <a:pt x="557" y="253"/>
                </a:cubicBezTo>
                <a:cubicBezTo>
                  <a:pt x="557" y="168"/>
                  <a:pt x="488" y="100"/>
                  <a:pt x="403" y="100"/>
                </a:cubicBezTo>
                <a:cubicBezTo>
                  <a:pt x="348" y="100"/>
                  <a:pt x="300" y="128"/>
                  <a:pt x="273" y="171"/>
                </a:cubicBezTo>
                <a:cubicBezTo>
                  <a:pt x="260" y="163"/>
                  <a:pt x="245" y="159"/>
                  <a:pt x="229" y="159"/>
                </a:cubicBezTo>
                <a:cubicBezTo>
                  <a:pt x="216" y="159"/>
                  <a:pt x="203" y="162"/>
                  <a:pt x="192" y="168"/>
                </a:cubicBezTo>
                <a:cubicBezTo>
                  <a:pt x="196" y="132"/>
                  <a:pt x="227" y="104"/>
                  <a:pt x="265" y="104"/>
                </a:cubicBezTo>
                <a:cubicBezTo>
                  <a:pt x="275" y="104"/>
                  <a:pt x="286" y="106"/>
                  <a:pt x="295" y="111"/>
                </a:cubicBezTo>
                <a:cubicBezTo>
                  <a:pt x="311" y="77"/>
                  <a:pt x="346" y="53"/>
                  <a:pt x="387" y="53"/>
                </a:cubicBezTo>
                <a:cubicBezTo>
                  <a:pt x="403" y="53"/>
                  <a:pt x="419" y="57"/>
                  <a:pt x="433" y="65"/>
                </a:cubicBezTo>
                <a:cubicBezTo>
                  <a:pt x="455" y="26"/>
                  <a:pt x="496" y="0"/>
                  <a:pt x="54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3495" tIns="26748" rIns="53495" bIns="26748" numCol="1" anchor="t" anchorCtr="0" compatLnSpc="1">
            <a:prstTxWarp prst="textNoShape">
              <a:avLst/>
            </a:prstTxWarp>
          </a:bodyPr>
          <a:lstStyle/>
          <a:p>
            <a:pPr defTabSz="534976"/>
            <a:endParaRPr lang="en-US" sz="1029" b="1" kern="0" smtClean="0">
              <a:gradFill>
                <a:gsLst>
                  <a:gs pos="14679">
                    <a:srgbClr val="FFFFFF"/>
                  </a:gs>
                  <a:gs pos="38000">
                    <a:srgbClr val="FFFFFF"/>
                  </a:gs>
                </a:gsLst>
                <a:lin ang="5400000" scaled="1"/>
              </a:gradFill>
              <a:cs typeface="Segoe UI" panose="020B0502040204020203" pitchFamily="34" charset="0"/>
            </a:endParaRPr>
          </a:p>
        </p:txBody>
      </p:sp>
      <p:grpSp>
        <p:nvGrpSpPr>
          <p:cNvPr id="13" name="Group 12"/>
          <p:cNvGrpSpPr>
            <a:grpSpLocks noChangeAspect="1"/>
          </p:cNvGrpSpPr>
          <p:nvPr/>
        </p:nvGrpSpPr>
        <p:grpSpPr>
          <a:xfrm>
            <a:off x="5323778" y="2453504"/>
            <a:ext cx="217114" cy="227844"/>
            <a:chOff x="2870057" y="3971122"/>
            <a:chExt cx="478391" cy="502036"/>
          </a:xfrm>
        </p:grpSpPr>
        <p:pic>
          <p:nvPicPr>
            <p:cNvPr id="14" name="Picture 2" descr="\\MAGNUM\Projects\Microsoft\Cloud Power FY12\Design\Icons\PNGs\Server_2.png"/>
            <p:cNvPicPr>
              <a:picLocks noChangeAspect="1" noChangeArrowheads="1"/>
            </p:cNvPicPr>
            <p:nvPr/>
          </p:nvPicPr>
          <p:blipFill rotWithShape="1">
            <a:blip r:embed="rId2" cstate="print">
              <a:lum bright="100000"/>
            </a:blip>
            <a:srcRect l="23785" t="10057" r="26214" b="10776"/>
            <a:stretch/>
          </p:blipFill>
          <p:spPr bwMode="auto">
            <a:xfrm>
              <a:off x="3077831" y="3979427"/>
              <a:ext cx="270617" cy="428478"/>
            </a:xfrm>
            <a:prstGeom prst="rect">
              <a:avLst/>
            </a:prstGeom>
            <a:noFill/>
          </p:spPr>
        </p:pic>
        <p:pic>
          <p:nvPicPr>
            <p:cNvPr id="15" name="Picture 2" descr="\\MAGNUM\Projects\Microsoft\Cloud Power FY12\Design\Icons\PNGs\Server_2.png"/>
            <p:cNvPicPr>
              <a:picLocks noChangeAspect="1" noChangeArrowheads="1"/>
            </p:cNvPicPr>
            <p:nvPr/>
          </p:nvPicPr>
          <p:blipFill rotWithShape="1">
            <a:blip r:embed="rId2" cstate="print">
              <a:lum bright="100000"/>
            </a:blip>
            <a:srcRect l="23785" t="10057" r="26214" b="10776"/>
            <a:stretch/>
          </p:blipFill>
          <p:spPr bwMode="auto">
            <a:xfrm>
              <a:off x="2870057" y="3971122"/>
              <a:ext cx="317075" cy="502036"/>
            </a:xfrm>
            <a:prstGeom prst="rect">
              <a:avLst/>
            </a:prstGeom>
            <a:noFill/>
          </p:spPr>
        </p:pic>
      </p:grpSp>
      <p:pic>
        <p:nvPicPr>
          <p:cNvPr id="16" name="Picture 15"/>
          <p:cNvPicPr>
            <a:picLocks noChangeAspect="1"/>
          </p:cNvPicPr>
          <p:nvPr/>
        </p:nvPicPr>
        <p:blipFill>
          <a:blip r:embed="rId3">
            <a:biLevel thresh="25000"/>
            <a:extLst>
              <a:ext uri="{BEBA8EAE-BF5A-486C-A8C5-ECC9F3942E4B}">
                <a14:imgProps xmlns:a14="http://schemas.microsoft.com/office/drawing/2010/main">
                  <a14:imgLayer r:embed="rId4">
                    <a14:imgEffect>
                      <a14:artisticPhotocopy/>
                    </a14:imgEffect>
                    <a14:imgEffect>
                      <a14:colorTemperature colorTemp="11200"/>
                    </a14:imgEffect>
                  </a14:imgLayer>
                </a14:imgProps>
              </a:ext>
              <a:ext uri="{28A0092B-C50C-407E-A947-70E740481C1C}">
                <a14:useLocalDpi xmlns:a14="http://schemas.microsoft.com/office/drawing/2010/main" val="0"/>
              </a:ext>
            </a:extLst>
          </a:blip>
          <a:stretch>
            <a:fillRect/>
          </a:stretch>
        </p:blipFill>
        <p:spPr>
          <a:xfrm rot="5400000">
            <a:off x="9401666" y="2270217"/>
            <a:ext cx="464088" cy="464088"/>
          </a:xfrm>
          <a:prstGeom prst="rect">
            <a:avLst/>
          </a:prstGeom>
        </p:spPr>
      </p:pic>
      <p:sp>
        <p:nvSpPr>
          <p:cNvPr id="17" name="Oval 16"/>
          <p:cNvSpPr/>
          <p:nvPr/>
        </p:nvSpPr>
        <p:spPr bwMode="auto">
          <a:xfrm>
            <a:off x="9353409" y="2221810"/>
            <a:ext cx="560603" cy="558513"/>
          </a:xfrm>
          <a:prstGeom prst="ellipse">
            <a:avLst/>
          </a:prstGeom>
          <a:noFill/>
          <a:ln w="19050" cap="flat" cmpd="sng" algn="ctr">
            <a:solidFill>
              <a:srgbClr val="FFFFFF"/>
            </a:solidFill>
            <a:prstDash val="solid"/>
            <a:headEnd type="none" w="med" len="med"/>
            <a:tailEnd type="none" w="med" len="med"/>
          </a:ln>
          <a:effectLst/>
        </p:spPr>
        <p:txBody>
          <a:bodyPr vert="horz" wrap="square" lIns="68567" tIns="34284" rIns="68567" bIns="34284" numCol="1" rtlCol="0" anchor="ctr" anchorCtr="0" compatLnSpc="1">
            <a:prstTxWarp prst="textNoShape">
              <a:avLst/>
            </a:prstTxWarp>
          </a:bodyPr>
          <a:lstStyle/>
          <a:p>
            <a:pPr algn="ctr" defTabSz="685513" fontAlgn="base">
              <a:lnSpc>
                <a:spcPct val="90000"/>
              </a:lnSpc>
              <a:spcBef>
                <a:spcPct val="0"/>
              </a:spcBef>
              <a:spcAft>
                <a:spcPct val="0"/>
              </a:spcAft>
            </a:pPr>
            <a:endParaRPr lang="en-US" sz="1471" b="1" kern="0" spc="-38" dirty="0" smtClean="0">
              <a:gradFill>
                <a:gsLst>
                  <a:gs pos="14679">
                    <a:srgbClr val="FFFFFF"/>
                  </a:gs>
                  <a:gs pos="38000">
                    <a:srgbClr val="FFFFFF"/>
                  </a:gs>
                </a:gsLst>
                <a:lin ang="5400000" scaled="1"/>
              </a:gradFill>
              <a:cs typeface="Segoe UI" panose="020B0502040204020203" pitchFamily="34" charset="0"/>
            </a:endParaRPr>
          </a:p>
        </p:txBody>
      </p:sp>
      <p:sp>
        <p:nvSpPr>
          <p:cNvPr id="18" name="Rectangle 17"/>
          <p:cNvSpPr/>
          <p:nvPr/>
        </p:nvSpPr>
        <p:spPr>
          <a:xfrm>
            <a:off x="1751798" y="2872426"/>
            <a:ext cx="1900777" cy="584775"/>
          </a:xfrm>
          <a:prstGeom prst="rect">
            <a:avLst/>
          </a:prstGeom>
        </p:spPr>
        <p:txBody>
          <a:bodyPr wrap="none">
            <a:spAutoFit/>
          </a:bodyPr>
          <a:lstStyle/>
          <a:p>
            <a:pPr defTabSz="932228"/>
            <a:r>
              <a:rPr lang="en-US" sz="3200" spc="-102" dirty="0">
                <a:ln w="3175">
                  <a:noFill/>
                </a:ln>
                <a:gradFill>
                  <a:gsLst>
                    <a:gs pos="58716">
                      <a:srgbClr val="002050"/>
                    </a:gs>
                    <a:gs pos="37000">
                      <a:srgbClr val="002050"/>
                    </a:gs>
                  </a:gsLst>
                  <a:lin ang="5400000" scaled="1"/>
                </a:gradFill>
                <a:latin typeface="Segoe UI Semibold" panose="020B0702040204020203" pitchFamily="34" charset="0"/>
                <a:cs typeface="Segoe UI Semibold" panose="020B0702040204020203" pitchFamily="34" charset="0"/>
              </a:rPr>
              <a:t>.NET </a:t>
            </a:r>
            <a:r>
              <a:rPr lang="en-US" sz="3200" spc="-102" dirty="0" smtClean="0">
                <a:ln w="3175">
                  <a:noFill/>
                </a:ln>
                <a:gradFill>
                  <a:gsLst>
                    <a:gs pos="58716">
                      <a:srgbClr val="002050"/>
                    </a:gs>
                    <a:gs pos="37000">
                      <a:srgbClr val="002050"/>
                    </a:gs>
                  </a:gsLst>
                  <a:lin ang="5400000" scaled="1"/>
                </a:gradFill>
                <a:latin typeface="Segoe UI Semibold" panose="020B0702040204020203" pitchFamily="34" charset="0"/>
                <a:cs typeface="Segoe UI Semibold" panose="020B0702040204020203" pitchFamily="34" charset="0"/>
              </a:rPr>
              <a:t>Core</a:t>
            </a:r>
            <a:endParaRPr lang="en-US" sz="1000" dirty="0">
              <a:gradFill>
                <a:gsLst>
                  <a:gs pos="58716">
                    <a:srgbClr val="002050"/>
                  </a:gs>
                  <a:gs pos="37000">
                    <a:srgbClr val="002050"/>
                  </a:gs>
                </a:gsLst>
                <a:lin ang="5400000" scaled="1"/>
              </a:gradFill>
              <a:latin typeface="Segoe UI Semibold" panose="020B0702040204020203" pitchFamily="34" charset="0"/>
              <a:cs typeface="Segoe UI Semibold" panose="020B0702040204020203" pitchFamily="34" charset="0"/>
            </a:endParaRPr>
          </a:p>
        </p:txBody>
      </p:sp>
      <p:sp>
        <p:nvSpPr>
          <p:cNvPr id="19" name="Rectangle 18"/>
          <p:cNvSpPr/>
          <p:nvPr/>
        </p:nvSpPr>
        <p:spPr bwMode="auto">
          <a:xfrm>
            <a:off x="3648175" y="2942148"/>
            <a:ext cx="6337215" cy="1784921"/>
          </a:xfrm>
          <a:prstGeom prst="rect">
            <a:avLst/>
          </a:prstGeom>
          <a:solidFill>
            <a:srgbClr val="0072C6"/>
          </a:solidFill>
          <a:ln w="25400" cap="flat" cmpd="sng" algn="ctr">
            <a:noFill/>
            <a:prstDash val="solid"/>
            <a:headEnd type="none" w="med" len="med"/>
            <a:tailEnd type="none" w="med" len="med"/>
          </a:ln>
          <a:effectLst/>
        </p:spPr>
        <p:txBody>
          <a:bodyPr vert="horz" wrap="square" lIns="745977" tIns="279742" rIns="91410" bIns="0"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20" name="Rectangle 19"/>
          <p:cNvSpPr/>
          <p:nvPr/>
        </p:nvSpPr>
        <p:spPr bwMode="auto">
          <a:xfrm>
            <a:off x="3648177" y="4776295"/>
            <a:ext cx="6337214" cy="370923"/>
          </a:xfrm>
          <a:prstGeom prst="rect">
            <a:avLst/>
          </a:prstGeom>
          <a:solidFill>
            <a:srgbClr val="68217A"/>
          </a:solidFill>
          <a:ln w="25400" cap="flat" cmpd="sng" algn="ctr">
            <a:noFill/>
            <a:prstDash val="solid"/>
            <a:headEnd type="none" w="med" len="med"/>
            <a:tailEnd type="none" w="med" len="med"/>
          </a:ln>
          <a:effectLst/>
        </p:spPr>
        <p:txBody>
          <a:bodyPr vert="horz" wrap="square" lIns="745872" tIns="45677" rIns="91348" bIns="73078" numCol="1" rtlCol="0" anchor="t" anchorCtr="0" compatLnSpc="1">
            <a:prstTxWarp prst="textNoShape">
              <a:avLst/>
            </a:prstTxWarp>
          </a:bodyPr>
          <a:lstStyle/>
          <a:p>
            <a:pPr defTabSz="932048"/>
            <a:endParaRPr lang="en-US" sz="2448" dirty="0">
              <a:gradFill>
                <a:gsLst>
                  <a:gs pos="14679">
                    <a:srgbClr val="FFFFFF"/>
                  </a:gs>
                  <a:gs pos="38000">
                    <a:srgbClr val="FFFFFF"/>
                  </a:gs>
                </a:gsLst>
                <a:lin ang="5400000" scaled="1"/>
              </a:gradFill>
            </a:endParaRPr>
          </a:p>
        </p:txBody>
      </p:sp>
      <p:sp>
        <p:nvSpPr>
          <p:cNvPr id="21" name="Rectangle 20"/>
          <p:cNvSpPr/>
          <p:nvPr/>
        </p:nvSpPr>
        <p:spPr bwMode="auto">
          <a:xfrm>
            <a:off x="3648176" y="5196444"/>
            <a:ext cx="2083576" cy="1024676"/>
          </a:xfrm>
          <a:prstGeom prst="rect">
            <a:avLst/>
          </a:prstGeom>
          <a:solidFill>
            <a:srgbClr val="68217A"/>
          </a:solidFill>
          <a:ln w="25400" cap="flat" cmpd="sng" algn="ctr">
            <a:noFill/>
            <a:prstDash val="solid"/>
            <a:headEnd type="none" w="med" len="med"/>
            <a:tailEnd type="none" w="med" len="med"/>
          </a:ln>
          <a:effectLst/>
        </p:spPr>
        <p:txBody>
          <a:bodyPr vert="horz" wrap="square" lIns="745872" tIns="45677" rIns="91348" bIns="73078" numCol="1" rtlCol="0" anchor="t" anchorCtr="0" compatLnSpc="1">
            <a:prstTxWarp prst="textNoShape">
              <a:avLst/>
            </a:prstTxWarp>
          </a:bodyPr>
          <a:lstStyle/>
          <a:p>
            <a:pPr defTabSz="932048"/>
            <a:endParaRPr lang="en-US" sz="2448" dirty="0">
              <a:gradFill>
                <a:gsLst>
                  <a:gs pos="14679">
                    <a:srgbClr val="FFFFFF"/>
                  </a:gs>
                  <a:gs pos="38000">
                    <a:srgbClr val="FFFFFF"/>
                  </a:gs>
                </a:gsLst>
                <a:lin ang="5400000" scaled="1"/>
              </a:gradFill>
            </a:endParaRPr>
          </a:p>
        </p:txBody>
      </p:sp>
      <p:sp>
        <p:nvSpPr>
          <p:cNvPr id="22" name="Rectangle 21"/>
          <p:cNvSpPr/>
          <p:nvPr/>
        </p:nvSpPr>
        <p:spPr bwMode="auto">
          <a:xfrm>
            <a:off x="5790236" y="5196444"/>
            <a:ext cx="2073951" cy="1024676"/>
          </a:xfrm>
          <a:prstGeom prst="rect">
            <a:avLst/>
          </a:prstGeom>
          <a:solidFill>
            <a:srgbClr val="68217A"/>
          </a:solidFill>
          <a:ln w="25400" cap="flat" cmpd="sng" algn="ctr">
            <a:noFill/>
            <a:prstDash val="solid"/>
            <a:headEnd type="none" w="med" len="med"/>
            <a:tailEnd type="none" w="med" len="med"/>
          </a:ln>
          <a:effectLst/>
        </p:spPr>
        <p:txBody>
          <a:bodyPr vert="horz" wrap="square" lIns="745872" tIns="45677" rIns="91348" bIns="73078" numCol="1" rtlCol="0" anchor="t" anchorCtr="0" compatLnSpc="1">
            <a:prstTxWarp prst="textNoShape">
              <a:avLst/>
            </a:prstTxWarp>
          </a:bodyPr>
          <a:lstStyle/>
          <a:p>
            <a:pPr defTabSz="932048"/>
            <a:endParaRPr lang="en-US" sz="2448" dirty="0">
              <a:gradFill>
                <a:gsLst>
                  <a:gs pos="14679">
                    <a:srgbClr val="FFFFFF"/>
                  </a:gs>
                  <a:gs pos="38000">
                    <a:srgbClr val="FFFFFF"/>
                  </a:gs>
                </a:gsLst>
                <a:lin ang="5400000" scaled="1"/>
              </a:gradFill>
            </a:endParaRPr>
          </a:p>
        </p:txBody>
      </p:sp>
      <p:sp>
        <p:nvSpPr>
          <p:cNvPr id="23" name="Rectangle 22"/>
          <p:cNvSpPr/>
          <p:nvPr/>
        </p:nvSpPr>
        <p:spPr bwMode="auto">
          <a:xfrm>
            <a:off x="7921065" y="5194038"/>
            <a:ext cx="2064326" cy="1024676"/>
          </a:xfrm>
          <a:prstGeom prst="rect">
            <a:avLst/>
          </a:prstGeom>
          <a:solidFill>
            <a:srgbClr val="68217A">
              <a:alpha val="70000"/>
            </a:srgbClr>
          </a:solidFill>
          <a:ln w="25400" cap="flat" cmpd="sng" algn="ctr">
            <a:noFill/>
            <a:prstDash val="solid"/>
            <a:headEnd type="none" w="med" len="med"/>
            <a:tailEnd type="none" w="med" len="med"/>
          </a:ln>
          <a:effectLst/>
        </p:spPr>
        <p:txBody>
          <a:bodyPr vert="horz" wrap="square" lIns="745872" tIns="45677" rIns="91348" bIns="73078" numCol="1" rtlCol="0" anchor="t" anchorCtr="0" compatLnSpc="1">
            <a:prstTxWarp prst="textNoShape">
              <a:avLst/>
            </a:prstTxWarp>
          </a:bodyPr>
          <a:lstStyle/>
          <a:p>
            <a:pPr defTabSz="932048"/>
            <a:endParaRPr lang="en-US" sz="2448" dirty="0">
              <a:gradFill>
                <a:gsLst>
                  <a:gs pos="14679">
                    <a:srgbClr val="FFFFFF"/>
                  </a:gs>
                  <a:gs pos="38000">
                    <a:srgbClr val="FFFFFF"/>
                  </a:gs>
                </a:gsLst>
                <a:lin ang="5400000" scaled="1"/>
              </a:gradFill>
            </a:endParaRPr>
          </a:p>
        </p:txBody>
      </p:sp>
      <p:grpSp>
        <p:nvGrpSpPr>
          <p:cNvPr id="24" name="Group 23"/>
          <p:cNvGrpSpPr>
            <a:grpSpLocks noChangeAspect="1"/>
          </p:cNvGrpSpPr>
          <p:nvPr/>
        </p:nvGrpSpPr>
        <p:grpSpPr>
          <a:xfrm>
            <a:off x="5150516" y="5746264"/>
            <a:ext cx="477285" cy="390078"/>
            <a:chOff x="9061629" y="5706715"/>
            <a:chExt cx="380421" cy="310912"/>
          </a:xfrm>
        </p:grpSpPr>
        <p:sp>
          <p:nvSpPr>
            <p:cNvPr id="25" name="Freeform 86"/>
            <p:cNvSpPr>
              <a:spLocks noEditPoints="1"/>
            </p:cNvSpPr>
            <p:nvPr/>
          </p:nvSpPr>
          <p:spPr bwMode="black">
            <a:xfrm>
              <a:off x="9061629" y="5737038"/>
              <a:ext cx="277768" cy="280589"/>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sp>
          <p:nvSpPr>
            <p:cNvPr id="26" name="Oval 87"/>
            <p:cNvSpPr>
              <a:spLocks noChangeArrowheads="1"/>
            </p:cNvSpPr>
            <p:nvPr/>
          </p:nvSpPr>
          <p:spPr bwMode="black">
            <a:xfrm>
              <a:off x="9172736" y="5854128"/>
              <a:ext cx="51528" cy="5175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sp>
          <p:nvSpPr>
            <p:cNvPr id="27" name="Freeform 88"/>
            <p:cNvSpPr>
              <a:spLocks noEditPoints="1"/>
            </p:cNvSpPr>
            <p:nvPr/>
          </p:nvSpPr>
          <p:spPr bwMode="black">
            <a:xfrm>
              <a:off x="9301153" y="5706715"/>
              <a:ext cx="140897" cy="152424"/>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grpSp>
      <p:grpSp>
        <p:nvGrpSpPr>
          <p:cNvPr id="28" name="Group 27"/>
          <p:cNvGrpSpPr>
            <a:grpSpLocks noChangeAspect="1"/>
          </p:cNvGrpSpPr>
          <p:nvPr/>
        </p:nvGrpSpPr>
        <p:grpSpPr>
          <a:xfrm>
            <a:off x="7307205" y="5751802"/>
            <a:ext cx="477285" cy="390078"/>
            <a:chOff x="9061629" y="5706715"/>
            <a:chExt cx="380421" cy="310912"/>
          </a:xfrm>
        </p:grpSpPr>
        <p:sp>
          <p:nvSpPr>
            <p:cNvPr id="29" name="Freeform 86"/>
            <p:cNvSpPr>
              <a:spLocks noEditPoints="1"/>
            </p:cNvSpPr>
            <p:nvPr/>
          </p:nvSpPr>
          <p:spPr bwMode="black">
            <a:xfrm>
              <a:off x="9061629" y="5737038"/>
              <a:ext cx="277768" cy="280589"/>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sp>
          <p:nvSpPr>
            <p:cNvPr id="30" name="Oval 87"/>
            <p:cNvSpPr>
              <a:spLocks noChangeArrowheads="1"/>
            </p:cNvSpPr>
            <p:nvPr/>
          </p:nvSpPr>
          <p:spPr bwMode="black">
            <a:xfrm>
              <a:off x="9172736" y="5854128"/>
              <a:ext cx="51528" cy="5175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sp>
          <p:nvSpPr>
            <p:cNvPr id="31" name="Freeform 88"/>
            <p:cNvSpPr>
              <a:spLocks noEditPoints="1"/>
            </p:cNvSpPr>
            <p:nvPr/>
          </p:nvSpPr>
          <p:spPr bwMode="black">
            <a:xfrm>
              <a:off x="9301153" y="5706715"/>
              <a:ext cx="140897" cy="152424"/>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grpSp>
      <p:grpSp>
        <p:nvGrpSpPr>
          <p:cNvPr id="32" name="Group 31"/>
          <p:cNvGrpSpPr>
            <a:grpSpLocks noChangeAspect="1"/>
          </p:cNvGrpSpPr>
          <p:nvPr/>
        </p:nvGrpSpPr>
        <p:grpSpPr>
          <a:xfrm>
            <a:off x="9443025" y="5751802"/>
            <a:ext cx="477285" cy="390078"/>
            <a:chOff x="9061629" y="5706715"/>
            <a:chExt cx="380421" cy="310912"/>
          </a:xfrm>
        </p:grpSpPr>
        <p:sp>
          <p:nvSpPr>
            <p:cNvPr id="33" name="Freeform 86"/>
            <p:cNvSpPr>
              <a:spLocks noEditPoints="1"/>
            </p:cNvSpPr>
            <p:nvPr/>
          </p:nvSpPr>
          <p:spPr bwMode="black">
            <a:xfrm>
              <a:off x="9061629" y="5737038"/>
              <a:ext cx="277768" cy="280589"/>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sp>
          <p:nvSpPr>
            <p:cNvPr id="34" name="Oval 87"/>
            <p:cNvSpPr>
              <a:spLocks noChangeArrowheads="1"/>
            </p:cNvSpPr>
            <p:nvPr/>
          </p:nvSpPr>
          <p:spPr bwMode="black">
            <a:xfrm>
              <a:off x="9172736" y="5854128"/>
              <a:ext cx="51528" cy="5175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sp>
          <p:nvSpPr>
            <p:cNvPr id="35" name="Freeform 88"/>
            <p:cNvSpPr>
              <a:spLocks noEditPoints="1"/>
            </p:cNvSpPr>
            <p:nvPr/>
          </p:nvSpPr>
          <p:spPr bwMode="black">
            <a:xfrm>
              <a:off x="9301153" y="5706715"/>
              <a:ext cx="140897" cy="152424"/>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33" tIns="46617" rIns="93233" bIns="46617" numCol="1" anchor="t" anchorCtr="0" compatLnSpc="1">
              <a:prstTxWarp prst="textNoShape">
                <a:avLst/>
              </a:prstTxWarp>
            </a:bodyPr>
            <a:lstStyle/>
            <a:p>
              <a:pPr defTabSz="950780"/>
              <a:endParaRPr lang="en-US" sz="1632">
                <a:gradFill>
                  <a:gsLst>
                    <a:gs pos="14679">
                      <a:srgbClr val="FFFFFF"/>
                    </a:gs>
                    <a:gs pos="38000">
                      <a:srgbClr val="FFFFFF"/>
                    </a:gs>
                  </a:gsLst>
                  <a:lin ang="5400000" scaled="1"/>
                </a:gradFill>
              </a:endParaRPr>
            </a:p>
          </p:txBody>
        </p:sp>
      </p:grpSp>
      <p:pic>
        <p:nvPicPr>
          <p:cNvPr id="36" name="Picture 2" descr="http://cdn.flaticon.com/png/256/37966.png"/>
          <p:cNvPicPr>
            <a:picLocks noChangeAspect="1" noChangeArrowheads="1"/>
          </p:cNvPicPr>
          <p:nvPr/>
        </p:nvPicPr>
        <p:blipFill rotWithShape="1">
          <a:blip r:embed="rId5">
            <a:lum bright="70000" contrast="-70000"/>
            <a:extLst>
              <a:ext uri="{28A0092B-C50C-407E-A947-70E740481C1C}">
                <a14:useLocalDpi xmlns:a14="http://schemas.microsoft.com/office/drawing/2010/main" val="0"/>
              </a:ext>
            </a:extLst>
          </a:blip>
          <a:srcRect t="30843" b="35137"/>
          <a:stretch/>
        </p:blipFill>
        <p:spPr bwMode="auto">
          <a:xfrm>
            <a:off x="7282921" y="2563769"/>
            <a:ext cx="431870" cy="123573"/>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36749" y="5453025"/>
            <a:ext cx="581025" cy="62865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17692" y="5443115"/>
            <a:ext cx="581025" cy="62865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34276" y="5431938"/>
            <a:ext cx="581025" cy="62865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61363" y="4798582"/>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6324" y="4799448"/>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00339" y="4795665"/>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7431" y="3075650"/>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02392" y="3076516"/>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6407" y="3072733"/>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71095" y="3071404"/>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6056" y="3072270"/>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0071" y="3068487"/>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1309" y="3065512"/>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6270" y="3066378"/>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50285" y="3062595"/>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94973" y="3061266"/>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09934" y="3062132"/>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33949" y="3058349"/>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7431" y="3507943"/>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02392" y="3508809"/>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6407" y="3505026"/>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71095" y="3503697"/>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6056" y="3504563"/>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0071" y="3500780"/>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1309" y="3497805"/>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6270" y="3498671"/>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50285" y="3494888"/>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94973" y="3493559"/>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09934" y="3494425"/>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33949" y="3490642"/>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7431" y="3915321"/>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02392" y="3916187"/>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6407" y="3912404"/>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71095" y="3911075"/>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6056" y="3911941"/>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0071" y="3908158"/>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1309" y="3905183"/>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6270" y="3906049"/>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50285" y="3902266"/>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94973" y="3900937"/>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09934" y="3901803"/>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33949" y="3898020"/>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8073" y="4305006"/>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03034" y="4305872"/>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7049" y="4302089"/>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71737" y="4300760"/>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6698" y="4301626"/>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0713" y="4297843"/>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1951" y="4294868"/>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6912" y="4295734"/>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50927" y="4291951"/>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95615" y="4290622"/>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10576" y="4291488"/>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34591" y="4287705"/>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25491" y="3060403"/>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40452" y="3061269"/>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25491" y="3492696"/>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40452" y="3493562"/>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25491" y="3900074"/>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40452" y="3900940"/>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26133" y="4289759"/>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41094" y="4290625"/>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8399" y="1981366"/>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3360" y="1982232"/>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7375" y="1978449"/>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6293" y="2370185"/>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31254" y="2371051"/>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5269" y="2367268"/>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34622" y="1979796"/>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49583" y="1980662"/>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73598" y="1976879"/>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2516" y="2368615"/>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7477" y="2369481"/>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1492" y="2365698"/>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86515" y="1979796"/>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01476" y="1980662"/>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25491" y="1976879"/>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94409" y="2368615"/>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09370" y="2369481"/>
            <a:ext cx="356329" cy="385537"/>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2" descr="http://www.getbreezenow.com/sites/default/files/images/nuget-logo-mark.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33385" y="2365698"/>
            <a:ext cx="356329" cy="385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121022"/>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 2015 – 10K foot view</a:t>
            </a:r>
            <a:endParaRPr lang="en-US" dirty="0"/>
          </a:p>
        </p:txBody>
      </p:sp>
      <p:sp>
        <p:nvSpPr>
          <p:cNvPr id="4" name="Rectangle 3"/>
          <p:cNvSpPr/>
          <p:nvPr/>
        </p:nvSpPr>
        <p:spPr bwMode="auto">
          <a:xfrm>
            <a:off x="6639778" y="2891186"/>
            <a:ext cx="4704699" cy="1909839"/>
          </a:xfrm>
          <a:prstGeom prst="rect">
            <a:avLst/>
          </a:prstGeom>
          <a:solidFill>
            <a:srgbClr val="0072C6"/>
          </a:solidFill>
          <a:ln w="25400" cap="flat" cmpd="sng" algn="ctr">
            <a:noFill/>
            <a:prstDash val="solid"/>
            <a:headEnd type="none" w="med" len="med"/>
            <a:tailEnd type="none" w="med" len="med"/>
          </a:ln>
          <a:effectLst/>
        </p:spPr>
        <p:txBody>
          <a:bodyPr vert="horz" wrap="square" lIns="745872" tIns="279702" rIns="91397" bIns="91401" numCol="1" rtlCol="0" anchor="t" anchorCtr="0" compatLnSpc="1">
            <a:prstTxWarp prst="textNoShape">
              <a:avLst/>
            </a:prstTxWarp>
          </a:bodyPr>
          <a:lstStyle/>
          <a:p>
            <a:pPr defTabSz="932049"/>
            <a:endParaRPr lang="en-US" sz="2856" dirty="0">
              <a:gradFill>
                <a:gsLst>
                  <a:gs pos="14679">
                    <a:srgbClr val="FFFFFF"/>
                  </a:gs>
                  <a:gs pos="38000">
                    <a:srgbClr val="FFFFFF"/>
                  </a:gs>
                </a:gsLst>
                <a:lin ang="5400000" scaled="1"/>
              </a:gradFill>
              <a:latin typeface="Segoe UI Light"/>
            </a:endParaRPr>
          </a:p>
        </p:txBody>
      </p:sp>
      <p:sp>
        <p:nvSpPr>
          <p:cNvPr id="5" name="Rectangle 4"/>
          <p:cNvSpPr/>
          <p:nvPr/>
        </p:nvSpPr>
        <p:spPr bwMode="auto">
          <a:xfrm>
            <a:off x="1239227" y="2341823"/>
            <a:ext cx="5344322" cy="2459201"/>
          </a:xfrm>
          <a:prstGeom prst="rect">
            <a:avLst/>
          </a:prstGeom>
          <a:solidFill>
            <a:srgbClr val="0072C6"/>
          </a:solidFill>
          <a:ln w="25400" cap="flat" cmpd="sng" algn="ctr">
            <a:noFill/>
            <a:prstDash val="solid"/>
            <a:headEnd type="none" w="med" len="med"/>
            <a:tailEnd type="none" w="med" len="med"/>
          </a:ln>
          <a:effectLst/>
        </p:spPr>
        <p:txBody>
          <a:bodyPr vert="horz" wrap="square" lIns="745872" tIns="279702" rIns="91397" bIns="91401" numCol="1" rtlCol="0" anchor="t" anchorCtr="0" compatLnSpc="1">
            <a:prstTxWarp prst="textNoShape">
              <a:avLst/>
            </a:prstTxWarp>
          </a:bodyPr>
          <a:lstStyle/>
          <a:p>
            <a:pPr defTabSz="932049"/>
            <a:r>
              <a:rPr lang="en-US" sz="2856" dirty="0">
                <a:gradFill>
                  <a:gsLst>
                    <a:gs pos="14679">
                      <a:srgbClr val="FFFFFF"/>
                    </a:gs>
                    <a:gs pos="38000">
                      <a:srgbClr val="FFFFFF"/>
                    </a:gs>
                  </a:gsLst>
                  <a:lin ang="5400000" scaled="1"/>
                </a:gradFill>
                <a:latin typeface="Segoe UI Light"/>
              </a:rPr>
              <a:t>  </a:t>
            </a:r>
          </a:p>
        </p:txBody>
      </p:sp>
      <p:sp>
        <p:nvSpPr>
          <p:cNvPr id="6" name="Rectangle 5"/>
          <p:cNvSpPr/>
          <p:nvPr/>
        </p:nvSpPr>
        <p:spPr bwMode="auto">
          <a:xfrm>
            <a:off x="1239227" y="4881501"/>
            <a:ext cx="10117516" cy="1391141"/>
          </a:xfrm>
          <a:prstGeom prst="rect">
            <a:avLst/>
          </a:prstGeom>
          <a:solidFill>
            <a:srgbClr val="68217A"/>
          </a:solidFill>
          <a:ln w="25400" cap="flat" cmpd="sng" algn="ctr">
            <a:noFill/>
            <a:prstDash val="solid"/>
            <a:headEnd type="none" w="med" len="med"/>
            <a:tailEnd type="none" w="med" len="med"/>
          </a:ln>
          <a:effectLst/>
        </p:spPr>
        <p:txBody>
          <a:bodyPr vert="horz" wrap="square" lIns="745766" tIns="45670" rIns="91335" bIns="73067" numCol="1" rtlCol="0" anchor="t" anchorCtr="0" compatLnSpc="1">
            <a:prstTxWarp prst="textNoShape">
              <a:avLst/>
            </a:prstTxWarp>
          </a:bodyPr>
          <a:lstStyle/>
          <a:p>
            <a:pPr defTabSz="931869"/>
            <a:endParaRPr lang="en-US" sz="2448" dirty="0">
              <a:gradFill>
                <a:gsLst>
                  <a:gs pos="14679">
                    <a:srgbClr val="FFFFFF"/>
                  </a:gs>
                  <a:gs pos="38000">
                    <a:srgbClr val="FFFFFF"/>
                  </a:gs>
                </a:gsLst>
                <a:lin ang="5400000" scaled="1"/>
              </a:gradFill>
            </a:endParaRPr>
          </a:p>
        </p:txBody>
      </p:sp>
      <p:grpSp>
        <p:nvGrpSpPr>
          <p:cNvPr id="7" name="Group 6"/>
          <p:cNvGrpSpPr/>
          <p:nvPr/>
        </p:nvGrpSpPr>
        <p:grpSpPr>
          <a:xfrm>
            <a:off x="3501622" y="4991932"/>
            <a:ext cx="1523670" cy="998936"/>
            <a:chOff x="3622511" y="5393703"/>
            <a:chExt cx="1524318" cy="999362"/>
          </a:xfrm>
        </p:grpSpPr>
        <p:sp>
          <p:nvSpPr>
            <p:cNvPr id="8" name="Rectangle 7"/>
            <p:cNvSpPr/>
            <p:nvPr/>
          </p:nvSpPr>
          <p:spPr>
            <a:xfrm>
              <a:off x="3631208" y="5913635"/>
              <a:ext cx="1515621" cy="479430"/>
            </a:xfrm>
            <a:prstGeom prst="rect">
              <a:avLst/>
            </a:prstGeom>
          </p:spPr>
          <p:txBody>
            <a:bodyPr wrap="none">
              <a:spAutoFit/>
            </a:bodyPr>
            <a:lstStyle/>
            <a:p>
              <a:pPr marL="0" lvl="1" defTabSz="931869">
                <a:lnSpc>
                  <a:spcPct val="90000"/>
                </a:lnSpc>
                <a:spcAft>
                  <a:spcPts val="340"/>
                </a:spcAft>
                <a:defRPr/>
              </a:pPr>
              <a:r>
                <a:rPr lang="en-US" sz="1224" dirty="0">
                  <a:solidFill>
                    <a:srgbClr val="FFFFFF"/>
                  </a:solidFill>
                </a:rPr>
                <a:t>Next gen JIT (</a:t>
              </a:r>
              <a:r>
                <a:rPr lang="en-US" sz="1224" dirty="0" err="1">
                  <a:solidFill>
                    <a:srgbClr val="FFFFFF"/>
                  </a:solidFill>
                </a:rPr>
                <a:t>RyuJIT</a:t>
              </a:r>
              <a:r>
                <a:rPr lang="en-US" sz="1224" dirty="0">
                  <a:solidFill>
                    <a:srgbClr val="FFFFFF"/>
                  </a:solidFill>
                </a:rPr>
                <a:t>)</a:t>
              </a:r>
            </a:p>
            <a:p>
              <a:pPr marL="0" lvl="1" defTabSz="931869">
                <a:lnSpc>
                  <a:spcPct val="90000"/>
                </a:lnSpc>
                <a:spcAft>
                  <a:spcPts val="340"/>
                </a:spcAft>
                <a:defRPr/>
              </a:pPr>
              <a:r>
                <a:rPr lang="en-US" sz="1224" dirty="0">
                  <a:solidFill>
                    <a:srgbClr val="FFFFFF"/>
                  </a:solidFill>
                </a:rPr>
                <a:t>SIMD</a:t>
              </a:r>
              <a:endParaRPr lang="en-US" sz="1072" dirty="0">
                <a:solidFill>
                  <a:srgbClr val="FFFFFF"/>
                </a:solidFill>
              </a:endParaRPr>
            </a:p>
          </p:txBody>
        </p:sp>
        <p:sp>
          <p:nvSpPr>
            <p:cNvPr id="9" name="Rectangle 8"/>
            <p:cNvSpPr/>
            <p:nvPr/>
          </p:nvSpPr>
          <p:spPr>
            <a:xfrm>
              <a:off x="3622511" y="5393703"/>
              <a:ext cx="1468033" cy="555454"/>
            </a:xfrm>
            <a:prstGeom prst="rect">
              <a:avLst/>
            </a:prstGeom>
          </p:spPr>
          <p:txBody>
            <a:bodyPr wrap="square">
              <a:spAutoFit/>
            </a:bodyPr>
            <a:lstStyle/>
            <a:p>
              <a:pPr marL="0" lvl="1" defTabSz="931869">
                <a:lnSpc>
                  <a:spcPct val="90000"/>
                </a:lnSpc>
                <a:spcAft>
                  <a:spcPts val="340"/>
                </a:spcAft>
                <a:defRPr/>
              </a:pPr>
              <a:r>
                <a:rPr lang="en-US" sz="1632" b="1" dirty="0">
                  <a:solidFill>
                    <a:srgbClr val="FFFFFF"/>
                  </a:solidFill>
                </a:rPr>
                <a:t>Runtime Components</a:t>
              </a:r>
            </a:p>
          </p:txBody>
        </p:sp>
      </p:grpSp>
      <p:grpSp>
        <p:nvGrpSpPr>
          <p:cNvPr id="10" name="Group 9"/>
          <p:cNvGrpSpPr/>
          <p:nvPr/>
        </p:nvGrpSpPr>
        <p:grpSpPr>
          <a:xfrm>
            <a:off x="6011215" y="5149821"/>
            <a:ext cx="2268019" cy="820525"/>
            <a:chOff x="5954092" y="5572192"/>
            <a:chExt cx="2268985" cy="820869"/>
          </a:xfrm>
        </p:grpSpPr>
        <p:sp>
          <p:nvSpPr>
            <p:cNvPr id="11" name="Rectangle 10"/>
            <p:cNvSpPr/>
            <p:nvPr/>
          </p:nvSpPr>
          <p:spPr>
            <a:xfrm>
              <a:off x="5954092" y="5572192"/>
              <a:ext cx="1759619" cy="324831"/>
            </a:xfrm>
            <a:prstGeom prst="rect">
              <a:avLst/>
            </a:prstGeom>
          </p:spPr>
          <p:txBody>
            <a:bodyPr wrap="square">
              <a:spAutoFit/>
            </a:bodyPr>
            <a:lstStyle/>
            <a:p>
              <a:pPr marL="0" lvl="1" defTabSz="931869">
                <a:lnSpc>
                  <a:spcPct val="90000"/>
                </a:lnSpc>
                <a:spcAft>
                  <a:spcPts val="340"/>
                </a:spcAft>
                <a:defRPr/>
              </a:pPr>
              <a:r>
                <a:rPr lang="en-US" sz="1632" b="1" dirty="0">
                  <a:solidFill>
                    <a:srgbClr val="FFFFFF"/>
                  </a:solidFill>
                </a:rPr>
                <a:t>Compilers</a:t>
              </a:r>
            </a:p>
          </p:txBody>
        </p:sp>
        <p:sp>
          <p:nvSpPr>
            <p:cNvPr id="12" name="Rectangle 11"/>
            <p:cNvSpPr/>
            <p:nvPr/>
          </p:nvSpPr>
          <p:spPr>
            <a:xfrm>
              <a:off x="5954092" y="5913634"/>
              <a:ext cx="2268985" cy="479427"/>
            </a:xfrm>
            <a:prstGeom prst="rect">
              <a:avLst/>
            </a:prstGeom>
          </p:spPr>
          <p:txBody>
            <a:bodyPr wrap="none">
              <a:spAutoFit/>
            </a:bodyPr>
            <a:lstStyle/>
            <a:p>
              <a:pPr marL="0" lvl="1" defTabSz="931869">
                <a:lnSpc>
                  <a:spcPct val="90000"/>
                </a:lnSpc>
                <a:spcAft>
                  <a:spcPts val="340"/>
                </a:spcAft>
              </a:pPr>
              <a:r>
                <a:rPr lang="en-US" sz="1224" dirty="0">
                  <a:solidFill>
                    <a:srgbClr val="FFFFFF"/>
                  </a:solidFill>
                </a:rPr>
                <a:t>.NET Compiler Platform (Roslyn)</a:t>
              </a:r>
              <a:endParaRPr lang="en-US" sz="1072" dirty="0">
                <a:solidFill>
                  <a:srgbClr val="FFFFFF"/>
                </a:solidFill>
              </a:endParaRPr>
            </a:p>
            <a:p>
              <a:pPr marL="0" lvl="1" defTabSz="931869">
                <a:lnSpc>
                  <a:spcPct val="90000"/>
                </a:lnSpc>
                <a:spcAft>
                  <a:spcPts val="340"/>
                </a:spcAft>
              </a:pPr>
              <a:r>
                <a:rPr lang="en-US" sz="1224" dirty="0">
                  <a:solidFill>
                    <a:srgbClr val="FFFFFF"/>
                  </a:solidFill>
                </a:rPr>
                <a:t>Languages innovation</a:t>
              </a:r>
            </a:p>
          </p:txBody>
        </p:sp>
      </p:grpSp>
      <p:grpSp>
        <p:nvGrpSpPr>
          <p:cNvPr id="13" name="Group 12"/>
          <p:cNvGrpSpPr/>
          <p:nvPr/>
        </p:nvGrpSpPr>
        <p:grpSpPr>
          <a:xfrm>
            <a:off x="9059714" y="5131732"/>
            <a:ext cx="2368786" cy="852409"/>
            <a:chOff x="8627481" y="5540297"/>
            <a:chExt cx="2369794" cy="852769"/>
          </a:xfrm>
        </p:grpSpPr>
        <p:sp>
          <p:nvSpPr>
            <p:cNvPr id="14" name="Rectangle 13"/>
            <p:cNvSpPr/>
            <p:nvPr/>
          </p:nvSpPr>
          <p:spPr>
            <a:xfrm>
              <a:off x="8627481" y="5913638"/>
              <a:ext cx="2088347" cy="479428"/>
            </a:xfrm>
            <a:prstGeom prst="rect">
              <a:avLst/>
            </a:prstGeom>
          </p:spPr>
          <p:txBody>
            <a:bodyPr wrap="none">
              <a:spAutoFit/>
            </a:bodyPr>
            <a:lstStyle/>
            <a:p>
              <a:pPr marL="0" lvl="1" defTabSz="931869">
                <a:lnSpc>
                  <a:spcPct val="90000"/>
                </a:lnSpc>
                <a:spcAft>
                  <a:spcPts val="340"/>
                </a:spcAft>
                <a:defRPr/>
              </a:pPr>
              <a:r>
                <a:rPr lang="en-US" sz="1224" dirty="0">
                  <a:solidFill>
                    <a:srgbClr val="FFFFFF"/>
                  </a:solidFill>
                </a:rPr>
                <a:t>.NET Core 5 Libraries</a:t>
              </a:r>
            </a:p>
            <a:p>
              <a:pPr marL="0" lvl="1" defTabSz="931869">
                <a:lnSpc>
                  <a:spcPct val="90000"/>
                </a:lnSpc>
                <a:spcAft>
                  <a:spcPts val="340"/>
                </a:spcAft>
                <a:defRPr/>
              </a:pPr>
              <a:r>
                <a:rPr lang="en-US" sz="1224" dirty="0">
                  <a:solidFill>
                    <a:srgbClr val="FFFFFF"/>
                  </a:solidFill>
                </a:rPr>
                <a:t>.NET Framework 4.6 Libraries</a:t>
              </a:r>
            </a:p>
          </p:txBody>
        </p:sp>
        <p:sp>
          <p:nvSpPr>
            <p:cNvPr id="15" name="Rectangle 14"/>
            <p:cNvSpPr/>
            <p:nvPr/>
          </p:nvSpPr>
          <p:spPr>
            <a:xfrm>
              <a:off x="8627482" y="5540297"/>
              <a:ext cx="2369793" cy="324832"/>
            </a:xfrm>
            <a:prstGeom prst="rect">
              <a:avLst/>
            </a:prstGeom>
          </p:spPr>
          <p:txBody>
            <a:bodyPr wrap="square">
              <a:spAutoFit/>
            </a:bodyPr>
            <a:lstStyle/>
            <a:p>
              <a:pPr marL="0" lvl="1" defTabSz="931869">
                <a:lnSpc>
                  <a:spcPct val="90000"/>
                </a:lnSpc>
                <a:spcAft>
                  <a:spcPts val="340"/>
                </a:spcAft>
                <a:defRPr/>
              </a:pPr>
              <a:r>
                <a:rPr lang="en-US" sz="1632" b="1" dirty="0">
                  <a:solidFill>
                    <a:srgbClr val="FFFFFF"/>
                  </a:solidFill>
                </a:rPr>
                <a:t>NuGet packages</a:t>
              </a:r>
            </a:p>
          </p:txBody>
        </p:sp>
      </p:grpSp>
      <p:grpSp>
        <p:nvGrpSpPr>
          <p:cNvPr id="16" name="Group 15"/>
          <p:cNvGrpSpPr/>
          <p:nvPr/>
        </p:nvGrpSpPr>
        <p:grpSpPr>
          <a:xfrm>
            <a:off x="2808578" y="5384721"/>
            <a:ext cx="629980" cy="514874"/>
            <a:chOff x="9061629" y="5706715"/>
            <a:chExt cx="380421" cy="310912"/>
          </a:xfrm>
        </p:grpSpPr>
        <p:sp>
          <p:nvSpPr>
            <p:cNvPr id="17" name="Freeform 86"/>
            <p:cNvSpPr>
              <a:spLocks noEditPoints="1"/>
            </p:cNvSpPr>
            <p:nvPr/>
          </p:nvSpPr>
          <p:spPr bwMode="black">
            <a:xfrm>
              <a:off x="9061629" y="5737038"/>
              <a:ext cx="277768" cy="280589"/>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0" tIns="46611" rIns="93220" bIns="46611" numCol="1" anchor="t" anchorCtr="0" compatLnSpc="1">
              <a:prstTxWarp prst="textNoShape">
                <a:avLst/>
              </a:prstTxWarp>
            </a:bodyPr>
            <a:lstStyle/>
            <a:p>
              <a:pPr defTabSz="950598"/>
              <a:endParaRPr lang="en-US" sz="1632">
                <a:gradFill>
                  <a:gsLst>
                    <a:gs pos="14679">
                      <a:srgbClr val="FFFFFF"/>
                    </a:gs>
                    <a:gs pos="38000">
                      <a:srgbClr val="FFFFFF"/>
                    </a:gs>
                  </a:gsLst>
                  <a:lin ang="5400000" scaled="1"/>
                </a:gradFill>
              </a:endParaRPr>
            </a:p>
          </p:txBody>
        </p:sp>
        <p:sp>
          <p:nvSpPr>
            <p:cNvPr id="18" name="Oval 87"/>
            <p:cNvSpPr>
              <a:spLocks noChangeArrowheads="1"/>
            </p:cNvSpPr>
            <p:nvPr/>
          </p:nvSpPr>
          <p:spPr bwMode="black">
            <a:xfrm>
              <a:off x="9172736" y="5854128"/>
              <a:ext cx="51528" cy="5175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0" tIns="46611" rIns="93220" bIns="46611" numCol="1" anchor="t" anchorCtr="0" compatLnSpc="1">
              <a:prstTxWarp prst="textNoShape">
                <a:avLst/>
              </a:prstTxWarp>
            </a:bodyPr>
            <a:lstStyle/>
            <a:p>
              <a:pPr defTabSz="950598"/>
              <a:endParaRPr lang="en-US" sz="1632">
                <a:gradFill>
                  <a:gsLst>
                    <a:gs pos="14679">
                      <a:srgbClr val="FFFFFF"/>
                    </a:gs>
                    <a:gs pos="38000">
                      <a:srgbClr val="FFFFFF"/>
                    </a:gs>
                  </a:gsLst>
                  <a:lin ang="5400000" scaled="1"/>
                </a:gradFill>
              </a:endParaRPr>
            </a:p>
          </p:txBody>
        </p:sp>
        <p:sp>
          <p:nvSpPr>
            <p:cNvPr id="19" name="Freeform 88"/>
            <p:cNvSpPr>
              <a:spLocks noEditPoints="1"/>
            </p:cNvSpPr>
            <p:nvPr/>
          </p:nvSpPr>
          <p:spPr bwMode="black">
            <a:xfrm>
              <a:off x="9301153" y="5706715"/>
              <a:ext cx="140897" cy="152424"/>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0" tIns="46611" rIns="93220" bIns="46611" numCol="1" anchor="t" anchorCtr="0" compatLnSpc="1">
              <a:prstTxWarp prst="textNoShape">
                <a:avLst/>
              </a:prstTxWarp>
            </a:bodyPr>
            <a:lstStyle/>
            <a:p>
              <a:pPr defTabSz="950598"/>
              <a:endParaRPr lang="en-US" sz="1632">
                <a:gradFill>
                  <a:gsLst>
                    <a:gs pos="14679">
                      <a:srgbClr val="FFFFFF"/>
                    </a:gs>
                    <a:gs pos="38000">
                      <a:srgbClr val="FFFFFF"/>
                    </a:gs>
                  </a:gsLst>
                  <a:lin ang="5400000" scaled="1"/>
                </a:gradFill>
              </a:endParaRPr>
            </a:p>
          </p:txBody>
        </p:sp>
      </p:grpSp>
      <p:sp>
        <p:nvSpPr>
          <p:cNvPr id="20" name="Rectangle 19"/>
          <p:cNvSpPr/>
          <p:nvPr/>
        </p:nvSpPr>
        <p:spPr>
          <a:xfrm>
            <a:off x="1306282" y="4889494"/>
            <a:ext cx="1522432" cy="478376"/>
          </a:xfrm>
          <a:prstGeom prst="rect">
            <a:avLst/>
          </a:prstGeom>
        </p:spPr>
        <p:txBody>
          <a:bodyPr wrap="none">
            <a:spAutoFit/>
          </a:bodyPr>
          <a:lstStyle/>
          <a:p>
            <a:pPr defTabSz="931869"/>
            <a:r>
              <a:rPr lang="en-US" sz="2448" dirty="0">
                <a:gradFill>
                  <a:gsLst>
                    <a:gs pos="14679">
                      <a:srgbClr val="FFFFFF"/>
                    </a:gs>
                    <a:gs pos="38000">
                      <a:srgbClr val="FFFFFF"/>
                    </a:gs>
                  </a:gsLst>
                  <a:lin ang="5400000" scaled="1"/>
                </a:gradFill>
                <a:latin typeface="Segoe UI Semibold" panose="020B0702040204020203" pitchFamily="34" charset="0"/>
                <a:cs typeface="Segoe UI Semibold" panose="020B0702040204020203" pitchFamily="34" charset="0"/>
              </a:rPr>
              <a:t>Common</a:t>
            </a:r>
          </a:p>
        </p:txBody>
      </p:sp>
      <p:sp>
        <p:nvSpPr>
          <p:cNvPr id="21" name="Freeform 25"/>
          <p:cNvSpPr>
            <a:spLocks noEditPoints="1"/>
          </p:cNvSpPr>
          <p:nvPr/>
        </p:nvSpPr>
        <p:spPr bwMode="black">
          <a:xfrm>
            <a:off x="8483797" y="5467989"/>
            <a:ext cx="499390" cy="463557"/>
          </a:xfrm>
          <a:custGeom>
            <a:avLst/>
            <a:gdLst>
              <a:gd name="T0" fmla="*/ 0 w 708"/>
              <a:gd name="T1" fmla="*/ 709 h 709"/>
              <a:gd name="T2" fmla="*/ 212 w 708"/>
              <a:gd name="T3" fmla="*/ 567 h 709"/>
              <a:gd name="T4" fmla="*/ 708 w 708"/>
              <a:gd name="T5" fmla="*/ 567 h 709"/>
              <a:gd name="T6" fmla="*/ 496 w 708"/>
              <a:gd name="T7" fmla="*/ 709 h 709"/>
              <a:gd name="T8" fmla="*/ 708 w 708"/>
              <a:gd name="T9" fmla="*/ 567 h 709"/>
              <a:gd name="T10" fmla="*/ 248 w 708"/>
              <a:gd name="T11" fmla="*/ 567 h 709"/>
              <a:gd name="T12" fmla="*/ 460 w 708"/>
              <a:gd name="T13" fmla="*/ 709 h 709"/>
              <a:gd name="T14" fmla="*/ 212 w 708"/>
              <a:gd name="T15" fmla="*/ 227 h 709"/>
              <a:gd name="T16" fmla="*/ 0 w 708"/>
              <a:gd name="T17" fmla="*/ 369 h 709"/>
              <a:gd name="T18" fmla="*/ 212 w 708"/>
              <a:gd name="T19" fmla="*/ 227 h 709"/>
              <a:gd name="T20" fmla="*/ 496 w 708"/>
              <a:gd name="T21" fmla="*/ 14 h 709"/>
              <a:gd name="T22" fmla="*/ 708 w 708"/>
              <a:gd name="T23" fmla="*/ 156 h 709"/>
              <a:gd name="T24" fmla="*/ 460 w 708"/>
              <a:gd name="T25" fmla="*/ 156 h 709"/>
              <a:gd name="T26" fmla="*/ 248 w 708"/>
              <a:gd name="T27" fmla="*/ 298 h 709"/>
              <a:gd name="T28" fmla="*/ 460 w 708"/>
              <a:gd name="T29" fmla="*/ 156 h 709"/>
              <a:gd name="T30" fmla="*/ 127 w 708"/>
              <a:gd name="T31" fmla="*/ 397 h 709"/>
              <a:gd name="T32" fmla="*/ 340 w 708"/>
              <a:gd name="T33" fmla="*/ 539 h 709"/>
              <a:gd name="T34" fmla="*/ 97 w 708"/>
              <a:gd name="T35" fmla="*/ 397 h 709"/>
              <a:gd name="T36" fmla="*/ 0 w 708"/>
              <a:gd name="T37" fmla="*/ 539 h 709"/>
              <a:gd name="T38" fmla="*/ 97 w 708"/>
              <a:gd name="T39" fmla="*/ 397 h 709"/>
              <a:gd name="T40" fmla="*/ 0 w 708"/>
              <a:gd name="T41" fmla="*/ 57 h 709"/>
              <a:gd name="T42" fmla="*/ 97 w 708"/>
              <a:gd name="T43" fmla="*/ 199 h 709"/>
              <a:gd name="T44" fmla="*/ 583 w 708"/>
              <a:gd name="T45" fmla="*/ 397 h 709"/>
              <a:gd name="T46" fmla="*/ 371 w 708"/>
              <a:gd name="T47" fmla="*/ 539 h 709"/>
              <a:gd name="T48" fmla="*/ 583 w 708"/>
              <a:gd name="T49" fmla="*/ 397 h 709"/>
              <a:gd name="T50" fmla="*/ 614 w 708"/>
              <a:gd name="T51" fmla="*/ 397 h 709"/>
              <a:gd name="T52" fmla="*/ 708 w 708"/>
              <a:gd name="T53" fmla="*/ 539 h 709"/>
              <a:gd name="T54" fmla="*/ 354 w 708"/>
              <a:gd name="T55" fmla="*/ 132 h 709"/>
              <a:gd name="T56" fmla="*/ 392 w 708"/>
              <a:gd name="T57" fmla="*/ 47 h 709"/>
              <a:gd name="T58" fmla="*/ 316 w 708"/>
              <a:gd name="T59" fmla="*/ 0 h 709"/>
              <a:gd name="T60" fmla="*/ 269 w 708"/>
              <a:gd name="T61" fmla="*/ 47 h 709"/>
              <a:gd name="T62" fmla="*/ 602 w 708"/>
              <a:gd name="T63" fmla="*/ 343 h 709"/>
              <a:gd name="T64" fmla="*/ 640 w 708"/>
              <a:gd name="T65" fmla="*/ 258 h 709"/>
              <a:gd name="T66" fmla="*/ 564 w 708"/>
              <a:gd name="T67" fmla="*/ 210 h 709"/>
              <a:gd name="T68" fmla="*/ 517 w 708"/>
              <a:gd name="T69" fmla="*/ 25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08" h="709">
                <a:moveTo>
                  <a:pt x="212" y="709"/>
                </a:moveTo>
                <a:lnTo>
                  <a:pt x="0" y="709"/>
                </a:lnTo>
                <a:lnTo>
                  <a:pt x="0" y="567"/>
                </a:lnTo>
                <a:lnTo>
                  <a:pt x="212" y="567"/>
                </a:lnTo>
                <a:lnTo>
                  <a:pt x="212" y="709"/>
                </a:lnTo>
                <a:close/>
                <a:moveTo>
                  <a:pt x="708" y="567"/>
                </a:moveTo>
                <a:lnTo>
                  <a:pt x="496" y="567"/>
                </a:lnTo>
                <a:lnTo>
                  <a:pt x="496" y="709"/>
                </a:lnTo>
                <a:lnTo>
                  <a:pt x="708" y="709"/>
                </a:lnTo>
                <a:lnTo>
                  <a:pt x="708" y="567"/>
                </a:lnTo>
                <a:close/>
                <a:moveTo>
                  <a:pt x="460" y="567"/>
                </a:moveTo>
                <a:lnTo>
                  <a:pt x="248" y="567"/>
                </a:lnTo>
                <a:lnTo>
                  <a:pt x="248" y="709"/>
                </a:lnTo>
                <a:lnTo>
                  <a:pt x="460" y="709"/>
                </a:lnTo>
                <a:lnTo>
                  <a:pt x="460" y="567"/>
                </a:lnTo>
                <a:close/>
                <a:moveTo>
                  <a:pt x="212" y="227"/>
                </a:moveTo>
                <a:lnTo>
                  <a:pt x="0" y="227"/>
                </a:lnTo>
                <a:lnTo>
                  <a:pt x="0" y="369"/>
                </a:lnTo>
                <a:lnTo>
                  <a:pt x="212" y="369"/>
                </a:lnTo>
                <a:lnTo>
                  <a:pt x="212" y="227"/>
                </a:lnTo>
                <a:close/>
                <a:moveTo>
                  <a:pt x="708" y="14"/>
                </a:moveTo>
                <a:lnTo>
                  <a:pt x="496" y="14"/>
                </a:lnTo>
                <a:lnTo>
                  <a:pt x="496" y="156"/>
                </a:lnTo>
                <a:lnTo>
                  <a:pt x="708" y="156"/>
                </a:lnTo>
                <a:lnTo>
                  <a:pt x="708" y="14"/>
                </a:lnTo>
                <a:close/>
                <a:moveTo>
                  <a:pt x="460" y="156"/>
                </a:moveTo>
                <a:lnTo>
                  <a:pt x="248" y="156"/>
                </a:lnTo>
                <a:lnTo>
                  <a:pt x="248" y="298"/>
                </a:lnTo>
                <a:lnTo>
                  <a:pt x="460" y="298"/>
                </a:lnTo>
                <a:lnTo>
                  <a:pt x="460" y="156"/>
                </a:lnTo>
                <a:close/>
                <a:moveTo>
                  <a:pt x="340" y="397"/>
                </a:moveTo>
                <a:lnTo>
                  <a:pt x="127" y="397"/>
                </a:lnTo>
                <a:lnTo>
                  <a:pt x="127" y="539"/>
                </a:lnTo>
                <a:lnTo>
                  <a:pt x="340" y="539"/>
                </a:lnTo>
                <a:lnTo>
                  <a:pt x="340" y="397"/>
                </a:lnTo>
                <a:close/>
                <a:moveTo>
                  <a:pt x="97" y="397"/>
                </a:moveTo>
                <a:lnTo>
                  <a:pt x="0" y="397"/>
                </a:lnTo>
                <a:lnTo>
                  <a:pt x="0" y="539"/>
                </a:lnTo>
                <a:lnTo>
                  <a:pt x="97" y="539"/>
                </a:lnTo>
                <a:lnTo>
                  <a:pt x="97" y="397"/>
                </a:lnTo>
                <a:close/>
                <a:moveTo>
                  <a:pt x="97" y="57"/>
                </a:moveTo>
                <a:lnTo>
                  <a:pt x="0" y="57"/>
                </a:lnTo>
                <a:lnTo>
                  <a:pt x="0" y="199"/>
                </a:lnTo>
                <a:lnTo>
                  <a:pt x="97" y="199"/>
                </a:lnTo>
                <a:lnTo>
                  <a:pt x="97" y="57"/>
                </a:lnTo>
                <a:close/>
                <a:moveTo>
                  <a:pt x="583" y="397"/>
                </a:moveTo>
                <a:lnTo>
                  <a:pt x="371" y="397"/>
                </a:lnTo>
                <a:lnTo>
                  <a:pt x="371" y="539"/>
                </a:lnTo>
                <a:lnTo>
                  <a:pt x="583" y="539"/>
                </a:lnTo>
                <a:lnTo>
                  <a:pt x="583" y="397"/>
                </a:lnTo>
                <a:close/>
                <a:moveTo>
                  <a:pt x="708" y="397"/>
                </a:moveTo>
                <a:lnTo>
                  <a:pt x="614" y="397"/>
                </a:lnTo>
                <a:lnTo>
                  <a:pt x="614" y="539"/>
                </a:lnTo>
                <a:lnTo>
                  <a:pt x="708" y="539"/>
                </a:lnTo>
                <a:lnTo>
                  <a:pt x="708" y="397"/>
                </a:lnTo>
                <a:close/>
                <a:moveTo>
                  <a:pt x="354" y="132"/>
                </a:moveTo>
                <a:lnTo>
                  <a:pt x="439" y="47"/>
                </a:lnTo>
                <a:lnTo>
                  <a:pt x="392" y="47"/>
                </a:lnTo>
                <a:lnTo>
                  <a:pt x="392" y="0"/>
                </a:lnTo>
                <a:lnTo>
                  <a:pt x="316" y="0"/>
                </a:lnTo>
                <a:lnTo>
                  <a:pt x="316" y="47"/>
                </a:lnTo>
                <a:lnTo>
                  <a:pt x="269" y="47"/>
                </a:lnTo>
                <a:lnTo>
                  <a:pt x="354" y="132"/>
                </a:lnTo>
                <a:close/>
                <a:moveTo>
                  <a:pt x="602" y="343"/>
                </a:moveTo>
                <a:lnTo>
                  <a:pt x="687" y="258"/>
                </a:lnTo>
                <a:lnTo>
                  <a:pt x="640" y="258"/>
                </a:lnTo>
                <a:lnTo>
                  <a:pt x="640" y="210"/>
                </a:lnTo>
                <a:lnTo>
                  <a:pt x="564" y="210"/>
                </a:lnTo>
                <a:lnTo>
                  <a:pt x="564" y="258"/>
                </a:lnTo>
                <a:lnTo>
                  <a:pt x="517" y="258"/>
                </a:lnTo>
                <a:lnTo>
                  <a:pt x="602" y="34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920" tIns="41960" rIns="83920" bIns="41960" numCol="1" anchor="t" anchorCtr="0" compatLnSpc="1">
            <a:prstTxWarp prst="textNoShape">
              <a:avLst/>
            </a:prstTxWarp>
          </a:bodyPr>
          <a:lstStyle/>
          <a:p>
            <a:pPr defTabSz="932357"/>
            <a:endParaRPr lang="en-US" sz="1632">
              <a:solidFill>
                <a:prstClr val="black"/>
              </a:solidFill>
            </a:endParaRPr>
          </a:p>
        </p:txBody>
      </p:sp>
      <p:sp>
        <p:nvSpPr>
          <p:cNvPr id="22" name="Freeform 84"/>
          <p:cNvSpPr>
            <a:spLocks noEditPoints="1"/>
          </p:cNvSpPr>
          <p:nvPr/>
        </p:nvSpPr>
        <p:spPr bwMode="black">
          <a:xfrm>
            <a:off x="5525809" y="5401124"/>
            <a:ext cx="409462" cy="489478"/>
          </a:xfrm>
          <a:custGeom>
            <a:avLst/>
            <a:gdLst>
              <a:gd name="T0" fmla="*/ 604 w 1838"/>
              <a:gd name="T1" fmla="*/ 253 h 2192"/>
              <a:gd name="T2" fmla="*/ 1159 w 1838"/>
              <a:gd name="T3" fmla="*/ 963 h 2192"/>
              <a:gd name="T4" fmla="*/ 1105 w 1838"/>
              <a:gd name="T5" fmla="*/ 573 h 2192"/>
              <a:gd name="T6" fmla="*/ 214 w 1838"/>
              <a:gd name="T7" fmla="*/ 0 h 2192"/>
              <a:gd name="T8" fmla="*/ 1159 w 1838"/>
              <a:gd name="T9" fmla="*/ 694 h 2192"/>
              <a:gd name="T10" fmla="*/ 1088 w 1838"/>
              <a:gd name="T11" fmla="*/ 764 h 2192"/>
              <a:gd name="T12" fmla="*/ 284 w 1838"/>
              <a:gd name="T13" fmla="*/ 198 h 2192"/>
              <a:gd name="T14" fmla="*/ 214 w 1838"/>
              <a:gd name="T15" fmla="*/ 128 h 2192"/>
              <a:gd name="T16" fmla="*/ 1443 w 1838"/>
              <a:gd name="T17" fmla="*/ 262 h 2192"/>
              <a:gd name="T18" fmla="*/ 1309 w 1838"/>
              <a:gd name="T19" fmla="*/ 1063 h 2192"/>
              <a:gd name="T20" fmla="*/ 903 w 1838"/>
              <a:gd name="T21" fmla="*/ 764 h 2192"/>
              <a:gd name="T22" fmla="*/ 639 w 1838"/>
              <a:gd name="T23" fmla="*/ 952 h 2192"/>
              <a:gd name="T24" fmla="*/ 704 w 1838"/>
              <a:gd name="T25" fmla="*/ 1683 h 2192"/>
              <a:gd name="T26" fmla="*/ 767 w 1838"/>
              <a:gd name="T27" fmla="*/ 1191 h 2192"/>
              <a:gd name="T28" fmla="*/ 1683 w 1838"/>
              <a:gd name="T29" fmla="*/ 390 h 2192"/>
              <a:gd name="T30" fmla="*/ 1443 w 1838"/>
              <a:gd name="T31" fmla="*/ 134 h 2192"/>
              <a:gd name="T32" fmla="*/ 960 w 1838"/>
              <a:gd name="T33" fmla="*/ 198 h 2192"/>
              <a:gd name="T34" fmla="*/ 704 w 1838"/>
              <a:gd name="T35" fmla="*/ 1555 h 2192"/>
              <a:gd name="T36" fmla="*/ 775 w 1838"/>
              <a:gd name="T37" fmla="*/ 1484 h 2192"/>
              <a:gd name="T38" fmla="*/ 704 w 1838"/>
              <a:gd name="T39" fmla="*/ 694 h 2192"/>
              <a:gd name="T40" fmla="*/ 1631 w 1838"/>
              <a:gd name="T41" fmla="*/ 128 h 2192"/>
              <a:gd name="T42" fmla="*/ 1560 w 1838"/>
              <a:gd name="T43" fmla="*/ 198 h 2192"/>
              <a:gd name="T44" fmla="*/ 1230 w 1838"/>
              <a:gd name="T45" fmla="*/ 198 h 2192"/>
              <a:gd name="T46" fmla="*/ 1159 w 1838"/>
              <a:gd name="T47" fmla="*/ 128 h 2192"/>
              <a:gd name="T48" fmla="*/ 1823 w 1838"/>
              <a:gd name="T49" fmla="*/ 1484 h 2192"/>
              <a:gd name="T50" fmla="*/ 1553 w 1838"/>
              <a:gd name="T51" fmla="*/ 1670 h 2192"/>
              <a:gd name="T52" fmla="*/ 1362 w 1838"/>
              <a:gd name="T53" fmla="*/ 1922 h 2192"/>
              <a:gd name="T54" fmla="*/ 1177 w 1838"/>
              <a:gd name="T55" fmla="*/ 2192 h 2192"/>
              <a:gd name="T56" fmla="*/ 1639 w 1838"/>
              <a:gd name="T57" fmla="*/ 2192 h 2192"/>
              <a:gd name="T58" fmla="*/ 1177 w 1838"/>
              <a:gd name="T59" fmla="*/ 2064 h 2192"/>
              <a:gd name="T60" fmla="*/ 1247 w 1838"/>
              <a:gd name="T61" fmla="*/ 1993 h 2192"/>
              <a:gd name="T62" fmla="*/ 1695 w 1838"/>
              <a:gd name="T63" fmla="*/ 1484 h 2192"/>
              <a:gd name="T64" fmla="*/ 1624 w 1838"/>
              <a:gd name="T65" fmla="*/ 1414 h 2192"/>
              <a:gd name="T66" fmla="*/ 1639 w 1838"/>
              <a:gd name="T67" fmla="*/ 1922 h 2192"/>
              <a:gd name="T68" fmla="*/ 1133 w 1838"/>
              <a:gd name="T69" fmla="*/ 1678 h 2192"/>
              <a:gd name="T70" fmla="*/ 1177 w 1838"/>
              <a:gd name="T71" fmla="*/ 1286 h 2192"/>
              <a:gd name="T72" fmla="*/ 807 w 1838"/>
              <a:gd name="T73" fmla="*/ 1823 h 2192"/>
              <a:gd name="T74" fmla="*/ 384 w 1838"/>
              <a:gd name="T75" fmla="*/ 1922 h 2192"/>
              <a:gd name="T76" fmla="*/ 412 w 1838"/>
              <a:gd name="T77" fmla="*/ 764 h 2192"/>
              <a:gd name="T78" fmla="*/ 157 w 1838"/>
              <a:gd name="T79" fmla="*/ 955 h 2192"/>
              <a:gd name="T80" fmla="*/ 199 w 1838"/>
              <a:gd name="T81" fmla="*/ 2192 h 2192"/>
              <a:gd name="T82" fmla="*/ 704 w 1838"/>
              <a:gd name="T83" fmla="*/ 2192 h 2192"/>
              <a:gd name="T84" fmla="*/ 1133 w 1838"/>
              <a:gd name="T85" fmla="*/ 1678 h 2192"/>
              <a:gd name="T86" fmla="*/ 1177 w 1838"/>
              <a:gd name="T87" fmla="*/ 1555 h 2192"/>
              <a:gd name="T88" fmla="*/ 199 w 1838"/>
              <a:gd name="T89" fmla="*/ 2064 h 2192"/>
              <a:gd name="T90" fmla="*/ 270 w 1838"/>
              <a:gd name="T91" fmla="*/ 1993 h 2192"/>
              <a:gd name="T92" fmla="*/ 143 w 1838"/>
              <a:gd name="T93" fmla="*/ 764 h 2192"/>
              <a:gd name="T94" fmla="*/ 214 w 1838"/>
              <a:gd name="T95" fmla="*/ 835 h 2192"/>
              <a:gd name="T96" fmla="*/ 704 w 1838"/>
              <a:gd name="T97" fmla="*/ 1922 h 2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838" h="2192">
                <a:moveTo>
                  <a:pt x="214" y="397"/>
                </a:moveTo>
                <a:cubicBezTo>
                  <a:pt x="304" y="397"/>
                  <a:pt x="381" y="336"/>
                  <a:pt x="405" y="253"/>
                </a:cubicBezTo>
                <a:cubicBezTo>
                  <a:pt x="604" y="253"/>
                  <a:pt x="604" y="253"/>
                  <a:pt x="604" y="253"/>
                </a:cubicBezTo>
                <a:cubicBezTo>
                  <a:pt x="998" y="647"/>
                  <a:pt x="998" y="647"/>
                  <a:pt x="998" y="647"/>
                </a:cubicBezTo>
                <a:cubicBezTo>
                  <a:pt x="974" y="680"/>
                  <a:pt x="960" y="720"/>
                  <a:pt x="960" y="764"/>
                </a:cubicBezTo>
                <a:cubicBezTo>
                  <a:pt x="960" y="874"/>
                  <a:pt x="1049" y="963"/>
                  <a:pt x="1159" y="963"/>
                </a:cubicBezTo>
                <a:cubicBezTo>
                  <a:pt x="1268" y="963"/>
                  <a:pt x="1358" y="874"/>
                  <a:pt x="1358" y="764"/>
                </a:cubicBezTo>
                <a:cubicBezTo>
                  <a:pt x="1358" y="655"/>
                  <a:pt x="1268" y="566"/>
                  <a:pt x="1159" y="566"/>
                </a:cubicBezTo>
                <a:cubicBezTo>
                  <a:pt x="1140" y="566"/>
                  <a:pt x="1122" y="568"/>
                  <a:pt x="1105" y="573"/>
                </a:cubicBezTo>
                <a:cubicBezTo>
                  <a:pt x="657" y="125"/>
                  <a:pt x="657" y="125"/>
                  <a:pt x="657" y="125"/>
                </a:cubicBezTo>
                <a:cubicBezTo>
                  <a:pt x="398" y="125"/>
                  <a:pt x="398" y="125"/>
                  <a:pt x="398" y="125"/>
                </a:cubicBezTo>
                <a:cubicBezTo>
                  <a:pt x="369" y="51"/>
                  <a:pt x="297" y="0"/>
                  <a:pt x="214" y="0"/>
                </a:cubicBezTo>
                <a:cubicBezTo>
                  <a:pt x="104" y="0"/>
                  <a:pt x="15" y="89"/>
                  <a:pt x="15" y="198"/>
                </a:cubicBezTo>
                <a:cubicBezTo>
                  <a:pt x="15" y="308"/>
                  <a:pt x="104" y="397"/>
                  <a:pt x="214" y="397"/>
                </a:cubicBezTo>
                <a:close/>
                <a:moveTo>
                  <a:pt x="1159" y="694"/>
                </a:moveTo>
                <a:cubicBezTo>
                  <a:pt x="1198" y="694"/>
                  <a:pt x="1230" y="725"/>
                  <a:pt x="1230" y="764"/>
                </a:cubicBezTo>
                <a:cubicBezTo>
                  <a:pt x="1230" y="803"/>
                  <a:pt x="1198" y="835"/>
                  <a:pt x="1159" y="835"/>
                </a:cubicBezTo>
                <a:cubicBezTo>
                  <a:pt x="1120" y="835"/>
                  <a:pt x="1088" y="803"/>
                  <a:pt x="1088" y="764"/>
                </a:cubicBezTo>
                <a:cubicBezTo>
                  <a:pt x="1088" y="725"/>
                  <a:pt x="1120" y="694"/>
                  <a:pt x="1159" y="694"/>
                </a:cubicBezTo>
                <a:close/>
                <a:moveTo>
                  <a:pt x="214" y="128"/>
                </a:moveTo>
                <a:cubicBezTo>
                  <a:pt x="253" y="128"/>
                  <a:pt x="284" y="159"/>
                  <a:pt x="284" y="198"/>
                </a:cubicBezTo>
                <a:cubicBezTo>
                  <a:pt x="284" y="237"/>
                  <a:pt x="253" y="269"/>
                  <a:pt x="214" y="269"/>
                </a:cubicBezTo>
                <a:cubicBezTo>
                  <a:pt x="175" y="269"/>
                  <a:pt x="143" y="237"/>
                  <a:pt x="143" y="198"/>
                </a:cubicBezTo>
                <a:cubicBezTo>
                  <a:pt x="143" y="159"/>
                  <a:pt x="175" y="128"/>
                  <a:pt x="214" y="128"/>
                </a:cubicBezTo>
                <a:close/>
                <a:moveTo>
                  <a:pt x="1159" y="397"/>
                </a:moveTo>
                <a:cubicBezTo>
                  <a:pt x="1246" y="397"/>
                  <a:pt x="1320" y="341"/>
                  <a:pt x="1347" y="262"/>
                </a:cubicBezTo>
                <a:cubicBezTo>
                  <a:pt x="1443" y="262"/>
                  <a:pt x="1443" y="262"/>
                  <a:pt x="1443" y="262"/>
                </a:cubicBezTo>
                <a:cubicBezTo>
                  <a:pt x="1461" y="317"/>
                  <a:pt x="1503" y="360"/>
                  <a:pt x="1555" y="382"/>
                </a:cubicBezTo>
                <a:cubicBezTo>
                  <a:pt x="1555" y="817"/>
                  <a:pt x="1555" y="817"/>
                  <a:pt x="1555" y="817"/>
                </a:cubicBezTo>
                <a:cubicBezTo>
                  <a:pt x="1309" y="1063"/>
                  <a:pt x="1309" y="1063"/>
                  <a:pt x="1309" y="1063"/>
                </a:cubicBezTo>
                <a:cubicBezTo>
                  <a:pt x="767" y="1063"/>
                  <a:pt x="767" y="1063"/>
                  <a:pt x="767" y="1063"/>
                </a:cubicBezTo>
                <a:cubicBezTo>
                  <a:pt x="767" y="953"/>
                  <a:pt x="767" y="953"/>
                  <a:pt x="767" y="953"/>
                </a:cubicBezTo>
                <a:cubicBezTo>
                  <a:pt x="846" y="927"/>
                  <a:pt x="903" y="852"/>
                  <a:pt x="903" y="764"/>
                </a:cubicBezTo>
                <a:cubicBezTo>
                  <a:pt x="903" y="655"/>
                  <a:pt x="814" y="566"/>
                  <a:pt x="704" y="566"/>
                </a:cubicBezTo>
                <a:cubicBezTo>
                  <a:pt x="595" y="566"/>
                  <a:pt x="506" y="655"/>
                  <a:pt x="506" y="764"/>
                </a:cubicBezTo>
                <a:cubicBezTo>
                  <a:pt x="506" y="851"/>
                  <a:pt x="561" y="925"/>
                  <a:pt x="639" y="952"/>
                </a:cubicBezTo>
                <a:cubicBezTo>
                  <a:pt x="639" y="1297"/>
                  <a:pt x="639" y="1297"/>
                  <a:pt x="639" y="1297"/>
                </a:cubicBezTo>
                <a:cubicBezTo>
                  <a:pt x="561" y="1324"/>
                  <a:pt x="506" y="1398"/>
                  <a:pt x="506" y="1484"/>
                </a:cubicBezTo>
                <a:cubicBezTo>
                  <a:pt x="506" y="1594"/>
                  <a:pt x="595" y="1683"/>
                  <a:pt x="704" y="1683"/>
                </a:cubicBezTo>
                <a:cubicBezTo>
                  <a:pt x="814" y="1683"/>
                  <a:pt x="903" y="1594"/>
                  <a:pt x="903" y="1484"/>
                </a:cubicBezTo>
                <a:cubicBezTo>
                  <a:pt x="903" y="1397"/>
                  <a:pt x="846" y="1322"/>
                  <a:pt x="767" y="1296"/>
                </a:cubicBezTo>
                <a:cubicBezTo>
                  <a:pt x="767" y="1191"/>
                  <a:pt x="767" y="1191"/>
                  <a:pt x="767" y="1191"/>
                </a:cubicBezTo>
                <a:cubicBezTo>
                  <a:pt x="1362" y="1191"/>
                  <a:pt x="1362" y="1191"/>
                  <a:pt x="1362" y="1191"/>
                </a:cubicBezTo>
                <a:cubicBezTo>
                  <a:pt x="1683" y="870"/>
                  <a:pt x="1683" y="870"/>
                  <a:pt x="1683" y="870"/>
                </a:cubicBezTo>
                <a:cubicBezTo>
                  <a:pt x="1683" y="390"/>
                  <a:pt x="1683" y="390"/>
                  <a:pt x="1683" y="390"/>
                </a:cubicBezTo>
                <a:cubicBezTo>
                  <a:pt x="1768" y="367"/>
                  <a:pt x="1830" y="290"/>
                  <a:pt x="1830" y="198"/>
                </a:cubicBezTo>
                <a:cubicBezTo>
                  <a:pt x="1830" y="89"/>
                  <a:pt x="1740" y="0"/>
                  <a:pt x="1631" y="0"/>
                </a:cubicBezTo>
                <a:cubicBezTo>
                  <a:pt x="1544" y="0"/>
                  <a:pt x="1469" y="56"/>
                  <a:pt x="1443" y="134"/>
                </a:cubicBezTo>
                <a:cubicBezTo>
                  <a:pt x="1347" y="134"/>
                  <a:pt x="1347" y="134"/>
                  <a:pt x="1347" y="134"/>
                </a:cubicBezTo>
                <a:cubicBezTo>
                  <a:pt x="1320" y="56"/>
                  <a:pt x="1246" y="0"/>
                  <a:pt x="1159" y="0"/>
                </a:cubicBezTo>
                <a:cubicBezTo>
                  <a:pt x="1049" y="0"/>
                  <a:pt x="960" y="89"/>
                  <a:pt x="960" y="198"/>
                </a:cubicBezTo>
                <a:cubicBezTo>
                  <a:pt x="960" y="308"/>
                  <a:pt x="1049" y="397"/>
                  <a:pt x="1159" y="397"/>
                </a:cubicBezTo>
                <a:close/>
                <a:moveTo>
                  <a:pt x="775" y="1484"/>
                </a:moveTo>
                <a:cubicBezTo>
                  <a:pt x="775" y="1523"/>
                  <a:pt x="743" y="1555"/>
                  <a:pt x="704" y="1555"/>
                </a:cubicBezTo>
                <a:cubicBezTo>
                  <a:pt x="665" y="1555"/>
                  <a:pt x="634" y="1523"/>
                  <a:pt x="634" y="1484"/>
                </a:cubicBezTo>
                <a:cubicBezTo>
                  <a:pt x="634" y="1445"/>
                  <a:pt x="665" y="1414"/>
                  <a:pt x="704" y="1414"/>
                </a:cubicBezTo>
                <a:cubicBezTo>
                  <a:pt x="743" y="1414"/>
                  <a:pt x="775" y="1445"/>
                  <a:pt x="775" y="1484"/>
                </a:cubicBezTo>
                <a:close/>
                <a:moveTo>
                  <a:pt x="704" y="835"/>
                </a:moveTo>
                <a:cubicBezTo>
                  <a:pt x="665" y="835"/>
                  <a:pt x="634" y="803"/>
                  <a:pt x="634" y="764"/>
                </a:cubicBezTo>
                <a:cubicBezTo>
                  <a:pt x="634" y="725"/>
                  <a:pt x="665" y="694"/>
                  <a:pt x="704" y="694"/>
                </a:cubicBezTo>
                <a:cubicBezTo>
                  <a:pt x="743" y="694"/>
                  <a:pt x="775" y="725"/>
                  <a:pt x="775" y="764"/>
                </a:cubicBezTo>
                <a:cubicBezTo>
                  <a:pt x="775" y="803"/>
                  <a:pt x="743" y="835"/>
                  <a:pt x="704" y="835"/>
                </a:cubicBezTo>
                <a:close/>
                <a:moveTo>
                  <a:pt x="1631" y="128"/>
                </a:moveTo>
                <a:cubicBezTo>
                  <a:pt x="1670" y="128"/>
                  <a:pt x="1702" y="159"/>
                  <a:pt x="1702" y="198"/>
                </a:cubicBezTo>
                <a:cubicBezTo>
                  <a:pt x="1702" y="237"/>
                  <a:pt x="1670" y="269"/>
                  <a:pt x="1631" y="269"/>
                </a:cubicBezTo>
                <a:cubicBezTo>
                  <a:pt x="1592" y="269"/>
                  <a:pt x="1560" y="237"/>
                  <a:pt x="1560" y="198"/>
                </a:cubicBezTo>
                <a:cubicBezTo>
                  <a:pt x="1560" y="159"/>
                  <a:pt x="1592" y="128"/>
                  <a:pt x="1631" y="128"/>
                </a:cubicBezTo>
                <a:close/>
                <a:moveTo>
                  <a:pt x="1159" y="128"/>
                </a:moveTo>
                <a:cubicBezTo>
                  <a:pt x="1198" y="128"/>
                  <a:pt x="1230" y="159"/>
                  <a:pt x="1230" y="198"/>
                </a:cubicBezTo>
                <a:cubicBezTo>
                  <a:pt x="1230" y="237"/>
                  <a:pt x="1198" y="269"/>
                  <a:pt x="1159" y="269"/>
                </a:cubicBezTo>
                <a:cubicBezTo>
                  <a:pt x="1120" y="269"/>
                  <a:pt x="1088" y="237"/>
                  <a:pt x="1088" y="198"/>
                </a:cubicBezTo>
                <a:cubicBezTo>
                  <a:pt x="1088" y="159"/>
                  <a:pt x="1120" y="128"/>
                  <a:pt x="1159" y="128"/>
                </a:cubicBezTo>
                <a:close/>
                <a:moveTo>
                  <a:pt x="1681" y="1799"/>
                </a:moveTo>
                <a:cubicBezTo>
                  <a:pt x="1681" y="1675"/>
                  <a:pt x="1681" y="1675"/>
                  <a:pt x="1681" y="1675"/>
                </a:cubicBezTo>
                <a:cubicBezTo>
                  <a:pt x="1763" y="1650"/>
                  <a:pt x="1823" y="1574"/>
                  <a:pt x="1823" y="1484"/>
                </a:cubicBezTo>
                <a:cubicBezTo>
                  <a:pt x="1823" y="1375"/>
                  <a:pt x="1734" y="1286"/>
                  <a:pt x="1624" y="1286"/>
                </a:cubicBezTo>
                <a:cubicBezTo>
                  <a:pt x="1514" y="1286"/>
                  <a:pt x="1425" y="1375"/>
                  <a:pt x="1425" y="1484"/>
                </a:cubicBezTo>
                <a:cubicBezTo>
                  <a:pt x="1425" y="1569"/>
                  <a:pt x="1478" y="1641"/>
                  <a:pt x="1553" y="1670"/>
                </a:cubicBezTo>
                <a:cubicBezTo>
                  <a:pt x="1553" y="1814"/>
                  <a:pt x="1553" y="1814"/>
                  <a:pt x="1553" y="1814"/>
                </a:cubicBezTo>
                <a:cubicBezTo>
                  <a:pt x="1507" y="1836"/>
                  <a:pt x="1472" y="1874"/>
                  <a:pt x="1453" y="1922"/>
                </a:cubicBezTo>
                <a:cubicBezTo>
                  <a:pt x="1362" y="1922"/>
                  <a:pt x="1362" y="1922"/>
                  <a:pt x="1362" y="1922"/>
                </a:cubicBezTo>
                <a:cubicBezTo>
                  <a:pt x="1333" y="1847"/>
                  <a:pt x="1261" y="1794"/>
                  <a:pt x="1177" y="1794"/>
                </a:cubicBezTo>
                <a:cubicBezTo>
                  <a:pt x="1067" y="1794"/>
                  <a:pt x="978" y="1883"/>
                  <a:pt x="978" y="1993"/>
                </a:cubicBezTo>
                <a:cubicBezTo>
                  <a:pt x="978" y="2103"/>
                  <a:pt x="1067" y="2192"/>
                  <a:pt x="1177" y="2192"/>
                </a:cubicBezTo>
                <a:cubicBezTo>
                  <a:pt x="1266" y="2192"/>
                  <a:pt x="1343" y="2132"/>
                  <a:pt x="1367" y="2050"/>
                </a:cubicBezTo>
                <a:cubicBezTo>
                  <a:pt x="1448" y="2050"/>
                  <a:pt x="1448" y="2050"/>
                  <a:pt x="1448" y="2050"/>
                </a:cubicBezTo>
                <a:cubicBezTo>
                  <a:pt x="1473" y="2132"/>
                  <a:pt x="1549" y="2192"/>
                  <a:pt x="1639" y="2192"/>
                </a:cubicBezTo>
                <a:cubicBezTo>
                  <a:pt x="1748" y="2192"/>
                  <a:pt x="1838" y="2103"/>
                  <a:pt x="1838" y="1993"/>
                </a:cubicBezTo>
                <a:cubicBezTo>
                  <a:pt x="1838" y="1898"/>
                  <a:pt x="1770" y="1818"/>
                  <a:pt x="1681" y="1799"/>
                </a:cubicBezTo>
                <a:close/>
                <a:moveTo>
                  <a:pt x="1177" y="2064"/>
                </a:moveTo>
                <a:cubicBezTo>
                  <a:pt x="1138" y="2064"/>
                  <a:pt x="1106" y="2032"/>
                  <a:pt x="1106" y="1993"/>
                </a:cubicBezTo>
                <a:cubicBezTo>
                  <a:pt x="1106" y="1954"/>
                  <a:pt x="1138" y="1922"/>
                  <a:pt x="1177" y="1922"/>
                </a:cubicBezTo>
                <a:cubicBezTo>
                  <a:pt x="1216" y="1922"/>
                  <a:pt x="1247" y="1954"/>
                  <a:pt x="1247" y="1993"/>
                </a:cubicBezTo>
                <a:cubicBezTo>
                  <a:pt x="1247" y="2032"/>
                  <a:pt x="1216" y="2064"/>
                  <a:pt x="1177" y="2064"/>
                </a:cubicBezTo>
                <a:close/>
                <a:moveTo>
                  <a:pt x="1624" y="1414"/>
                </a:moveTo>
                <a:cubicBezTo>
                  <a:pt x="1663" y="1414"/>
                  <a:pt x="1695" y="1445"/>
                  <a:pt x="1695" y="1484"/>
                </a:cubicBezTo>
                <a:cubicBezTo>
                  <a:pt x="1695" y="1523"/>
                  <a:pt x="1663" y="1555"/>
                  <a:pt x="1624" y="1555"/>
                </a:cubicBezTo>
                <a:cubicBezTo>
                  <a:pt x="1585" y="1555"/>
                  <a:pt x="1553" y="1523"/>
                  <a:pt x="1553" y="1484"/>
                </a:cubicBezTo>
                <a:cubicBezTo>
                  <a:pt x="1553" y="1445"/>
                  <a:pt x="1585" y="1414"/>
                  <a:pt x="1624" y="1414"/>
                </a:cubicBezTo>
                <a:close/>
                <a:moveTo>
                  <a:pt x="1639" y="2064"/>
                </a:moveTo>
                <a:cubicBezTo>
                  <a:pt x="1600" y="2064"/>
                  <a:pt x="1568" y="2032"/>
                  <a:pt x="1568" y="1993"/>
                </a:cubicBezTo>
                <a:cubicBezTo>
                  <a:pt x="1568" y="1954"/>
                  <a:pt x="1600" y="1922"/>
                  <a:pt x="1639" y="1922"/>
                </a:cubicBezTo>
                <a:cubicBezTo>
                  <a:pt x="1678" y="1922"/>
                  <a:pt x="1710" y="1954"/>
                  <a:pt x="1710" y="1993"/>
                </a:cubicBezTo>
                <a:cubicBezTo>
                  <a:pt x="1710" y="2032"/>
                  <a:pt x="1678" y="2064"/>
                  <a:pt x="1639" y="2064"/>
                </a:cubicBezTo>
                <a:close/>
                <a:moveTo>
                  <a:pt x="1133" y="1678"/>
                </a:moveTo>
                <a:cubicBezTo>
                  <a:pt x="1147" y="1681"/>
                  <a:pt x="1162" y="1683"/>
                  <a:pt x="1177" y="1683"/>
                </a:cubicBezTo>
                <a:cubicBezTo>
                  <a:pt x="1286" y="1683"/>
                  <a:pt x="1375" y="1594"/>
                  <a:pt x="1375" y="1484"/>
                </a:cubicBezTo>
                <a:cubicBezTo>
                  <a:pt x="1375" y="1375"/>
                  <a:pt x="1286" y="1286"/>
                  <a:pt x="1177" y="1286"/>
                </a:cubicBezTo>
                <a:cubicBezTo>
                  <a:pt x="1067" y="1286"/>
                  <a:pt x="978" y="1375"/>
                  <a:pt x="978" y="1484"/>
                </a:cubicBezTo>
                <a:cubicBezTo>
                  <a:pt x="978" y="1531"/>
                  <a:pt x="994" y="1575"/>
                  <a:pt x="1022" y="1609"/>
                </a:cubicBezTo>
                <a:cubicBezTo>
                  <a:pt x="807" y="1823"/>
                  <a:pt x="807" y="1823"/>
                  <a:pt x="807" y="1823"/>
                </a:cubicBezTo>
                <a:cubicBezTo>
                  <a:pt x="777" y="1805"/>
                  <a:pt x="742" y="1794"/>
                  <a:pt x="704" y="1794"/>
                </a:cubicBezTo>
                <a:cubicBezTo>
                  <a:pt x="620" y="1794"/>
                  <a:pt x="548" y="1847"/>
                  <a:pt x="519" y="1922"/>
                </a:cubicBezTo>
                <a:cubicBezTo>
                  <a:pt x="384" y="1922"/>
                  <a:pt x="384" y="1922"/>
                  <a:pt x="384" y="1922"/>
                </a:cubicBezTo>
                <a:cubicBezTo>
                  <a:pt x="366" y="1874"/>
                  <a:pt x="330" y="1836"/>
                  <a:pt x="285" y="1814"/>
                </a:cubicBezTo>
                <a:cubicBezTo>
                  <a:pt x="285" y="950"/>
                  <a:pt x="285" y="950"/>
                  <a:pt x="285" y="950"/>
                </a:cubicBezTo>
                <a:cubicBezTo>
                  <a:pt x="359" y="921"/>
                  <a:pt x="412" y="849"/>
                  <a:pt x="412" y="764"/>
                </a:cubicBezTo>
                <a:cubicBezTo>
                  <a:pt x="412" y="655"/>
                  <a:pt x="323" y="566"/>
                  <a:pt x="214" y="566"/>
                </a:cubicBezTo>
                <a:cubicBezTo>
                  <a:pt x="104" y="566"/>
                  <a:pt x="15" y="655"/>
                  <a:pt x="15" y="764"/>
                </a:cubicBezTo>
                <a:cubicBezTo>
                  <a:pt x="15" y="854"/>
                  <a:pt x="75" y="930"/>
                  <a:pt x="157" y="955"/>
                </a:cubicBezTo>
                <a:cubicBezTo>
                  <a:pt x="157" y="1799"/>
                  <a:pt x="157" y="1799"/>
                  <a:pt x="157" y="1799"/>
                </a:cubicBezTo>
                <a:cubicBezTo>
                  <a:pt x="67" y="1818"/>
                  <a:pt x="0" y="1898"/>
                  <a:pt x="0" y="1993"/>
                </a:cubicBezTo>
                <a:cubicBezTo>
                  <a:pt x="0" y="2103"/>
                  <a:pt x="89" y="2192"/>
                  <a:pt x="199" y="2192"/>
                </a:cubicBezTo>
                <a:cubicBezTo>
                  <a:pt x="289" y="2192"/>
                  <a:pt x="365" y="2132"/>
                  <a:pt x="389" y="2050"/>
                </a:cubicBezTo>
                <a:cubicBezTo>
                  <a:pt x="514" y="2050"/>
                  <a:pt x="514" y="2050"/>
                  <a:pt x="514" y="2050"/>
                </a:cubicBezTo>
                <a:cubicBezTo>
                  <a:pt x="538" y="2132"/>
                  <a:pt x="615" y="2192"/>
                  <a:pt x="704" y="2192"/>
                </a:cubicBezTo>
                <a:cubicBezTo>
                  <a:pt x="814" y="2192"/>
                  <a:pt x="903" y="2103"/>
                  <a:pt x="903" y="1993"/>
                </a:cubicBezTo>
                <a:cubicBezTo>
                  <a:pt x="903" y="1968"/>
                  <a:pt x="898" y="1944"/>
                  <a:pt x="890" y="1922"/>
                </a:cubicBezTo>
                <a:lnTo>
                  <a:pt x="1133" y="1678"/>
                </a:lnTo>
                <a:close/>
                <a:moveTo>
                  <a:pt x="1177" y="1414"/>
                </a:moveTo>
                <a:cubicBezTo>
                  <a:pt x="1216" y="1414"/>
                  <a:pt x="1247" y="1445"/>
                  <a:pt x="1247" y="1484"/>
                </a:cubicBezTo>
                <a:cubicBezTo>
                  <a:pt x="1247" y="1523"/>
                  <a:pt x="1216" y="1555"/>
                  <a:pt x="1177" y="1555"/>
                </a:cubicBezTo>
                <a:cubicBezTo>
                  <a:pt x="1138" y="1555"/>
                  <a:pt x="1106" y="1523"/>
                  <a:pt x="1106" y="1484"/>
                </a:cubicBezTo>
                <a:cubicBezTo>
                  <a:pt x="1106" y="1445"/>
                  <a:pt x="1138" y="1414"/>
                  <a:pt x="1177" y="1414"/>
                </a:cubicBezTo>
                <a:close/>
                <a:moveTo>
                  <a:pt x="199" y="2064"/>
                </a:moveTo>
                <a:cubicBezTo>
                  <a:pt x="160" y="2064"/>
                  <a:pt x="128" y="2032"/>
                  <a:pt x="128" y="1993"/>
                </a:cubicBezTo>
                <a:cubicBezTo>
                  <a:pt x="128" y="1954"/>
                  <a:pt x="160" y="1922"/>
                  <a:pt x="199" y="1922"/>
                </a:cubicBezTo>
                <a:cubicBezTo>
                  <a:pt x="238" y="1922"/>
                  <a:pt x="270" y="1954"/>
                  <a:pt x="270" y="1993"/>
                </a:cubicBezTo>
                <a:cubicBezTo>
                  <a:pt x="270" y="2032"/>
                  <a:pt x="238" y="2064"/>
                  <a:pt x="199" y="2064"/>
                </a:cubicBezTo>
                <a:close/>
                <a:moveTo>
                  <a:pt x="214" y="835"/>
                </a:moveTo>
                <a:cubicBezTo>
                  <a:pt x="175" y="835"/>
                  <a:pt x="143" y="803"/>
                  <a:pt x="143" y="764"/>
                </a:cubicBezTo>
                <a:cubicBezTo>
                  <a:pt x="143" y="725"/>
                  <a:pt x="175" y="694"/>
                  <a:pt x="214" y="694"/>
                </a:cubicBezTo>
                <a:cubicBezTo>
                  <a:pt x="253" y="694"/>
                  <a:pt x="284" y="725"/>
                  <a:pt x="284" y="764"/>
                </a:cubicBezTo>
                <a:cubicBezTo>
                  <a:pt x="284" y="803"/>
                  <a:pt x="253" y="835"/>
                  <a:pt x="214" y="835"/>
                </a:cubicBezTo>
                <a:close/>
                <a:moveTo>
                  <a:pt x="704" y="2064"/>
                </a:moveTo>
                <a:cubicBezTo>
                  <a:pt x="665" y="2064"/>
                  <a:pt x="634" y="2032"/>
                  <a:pt x="634" y="1993"/>
                </a:cubicBezTo>
                <a:cubicBezTo>
                  <a:pt x="634" y="1954"/>
                  <a:pt x="665" y="1922"/>
                  <a:pt x="704" y="1922"/>
                </a:cubicBezTo>
                <a:cubicBezTo>
                  <a:pt x="743" y="1922"/>
                  <a:pt x="775" y="1954"/>
                  <a:pt x="775" y="1993"/>
                </a:cubicBezTo>
                <a:cubicBezTo>
                  <a:pt x="775" y="2032"/>
                  <a:pt x="743" y="2064"/>
                  <a:pt x="704" y="2064"/>
                </a:cubicBezTo>
                <a:close/>
              </a:path>
            </a:pathLst>
          </a:custGeom>
          <a:solidFill>
            <a:srgbClr val="FFFFFF"/>
          </a:solidFill>
          <a:ln>
            <a:noFill/>
          </a:ln>
        </p:spPr>
        <p:txBody>
          <a:bodyPr vert="horz" wrap="square" lIns="83920" tIns="41960" rIns="83920" bIns="41960" numCol="1" anchor="t" anchorCtr="0" compatLnSpc="1">
            <a:prstTxWarp prst="textNoShape">
              <a:avLst/>
            </a:prstTxWarp>
          </a:bodyPr>
          <a:lstStyle/>
          <a:p>
            <a:pPr defTabSz="932357"/>
            <a:endParaRPr lang="en-US" sz="1632">
              <a:solidFill>
                <a:prstClr val="black"/>
              </a:solidFill>
            </a:endParaRPr>
          </a:p>
        </p:txBody>
      </p:sp>
      <p:sp>
        <p:nvSpPr>
          <p:cNvPr id="23" name="TextBox 22"/>
          <p:cNvSpPr txBox="1"/>
          <p:nvPr/>
        </p:nvSpPr>
        <p:spPr>
          <a:xfrm>
            <a:off x="1306281" y="2882538"/>
            <a:ext cx="5277266" cy="542399"/>
          </a:xfrm>
          <a:prstGeom prst="rect">
            <a:avLst/>
          </a:prstGeom>
          <a:noFill/>
        </p:spPr>
        <p:txBody>
          <a:bodyPr wrap="square" rtlCol="0">
            <a:spAutoFit/>
          </a:bodyPr>
          <a:lstStyle/>
          <a:p>
            <a:pPr algn="ctr" defTabSz="932357"/>
            <a:r>
              <a:rPr lang="en-US" sz="2856" b="1" dirty="0">
                <a:solidFill>
                  <a:srgbClr val="FFFFFF"/>
                </a:solidFill>
                <a:latin typeface="Segoe UI Semibold" panose="020B0702040204020203" pitchFamily="34" charset="0"/>
                <a:cs typeface="Segoe UI Semibold" panose="020B0702040204020203" pitchFamily="34" charset="0"/>
              </a:rPr>
              <a:t>.NET Framework 4.6 </a:t>
            </a:r>
          </a:p>
        </p:txBody>
      </p:sp>
      <p:sp>
        <p:nvSpPr>
          <p:cNvPr id="24" name="TextBox 23"/>
          <p:cNvSpPr txBox="1"/>
          <p:nvPr/>
        </p:nvSpPr>
        <p:spPr>
          <a:xfrm>
            <a:off x="6724848" y="2894447"/>
            <a:ext cx="4513229" cy="542399"/>
          </a:xfrm>
          <a:prstGeom prst="rect">
            <a:avLst/>
          </a:prstGeom>
          <a:noFill/>
        </p:spPr>
        <p:txBody>
          <a:bodyPr wrap="square" rtlCol="0">
            <a:spAutoFit/>
          </a:bodyPr>
          <a:lstStyle/>
          <a:p>
            <a:pPr algn="ctr" defTabSz="932357"/>
            <a:r>
              <a:rPr lang="en-US" sz="2856" b="1" dirty="0">
                <a:solidFill>
                  <a:srgbClr val="FFFFFF"/>
                </a:solidFill>
                <a:latin typeface="Segoe UI Semibold" panose="020B0702040204020203" pitchFamily="34" charset="0"/>
                <a:cs typeface="Segoe UI Semibold" panose="020B0702040204020203" pitchFamily="34" charset="0"/>
              </a:rPr>
              <a:t>.NET </a:t>
            </a:r>
            <a:r>
              <a:rPr lang="en-US" sz="2856" dirty="0">
                <a:solidFill>
                  <a:srgbClr val="FFFFFF"/>
                </a:solidFill>
                <a:latin typeface="Segoe UI Semibold" panose="020B0702040204020203" pitchFamily="34" charset="0"/>
                <a:cs typeface="Segoe UI Semibold" panose="020B0702040204020203" pitchFamily="34" charset="0"/>
              </a:rPr>
              <a:t>Core 5</a:t>
            </a:r>
            <a:r>
              <a:rPr lang="en-US" sz="2856" b="1" dirty="0">
                <a:solidFill>
                  <a:srgbClr val="FFFFFF"/>
                </a:solidFill>
                <a:latin typeface="Segoe UI Semibold" panose="020B0702040204020203" pitchFamily="34" charset="0"/>
                <a:cs typeface="Segoe UI Semibold" panose="020B0702040204020203" pitchFamily="34" charset="0"/>
              </a:rPr>
              <a:t> </a:t>
            </a:r>
          </a:p>
        </p:txBody>
      </p:sp>
      <p:pic>
        <p:nvPicPr>
          <p:cNvPr id="25" name="Picture 24"/>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9975384" y="4081028"/>
            <a:ext cx="389820" cy="458953"/>
          </a:xfrm>
          <a:prstGeom prst="rect">
            <a:avLst/>
          </a:prstGeom>
        </p:spPr>
      </p:pic>
      <p:pic>
        <p:nvPicPr>
          <p:cNvPr id="26" name="Picture 2" descr="http://files.softicons.com/download/system-icons/windows-8-metro-icons-by-dakirby309/png/512x512/Folders%20&amp;%20OS/Linux.png"/>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8818297" y="4077367"/>
            <a:ext cx="520387" cy="51089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C:\temp\WinAzure_rgb_Wht_S.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371" t="15460" r="80628" b="15496"/>
          <a:stretch/>
        </p:blipFill>
        <p:spPr bwMode="auto">
          <a:xfrm>
            <a:off x="7450541" y="4036418"/>
            <a:ext cx="556993" cy="565687"/>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6" descr="C:\temp\WinAzure_rgb_Wht_S.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371" t="15460" r="80628" b="15496"/>
          <a:stretch/>
        </p:blipFill>
        <p:spPr bwMode="auto">
          <a:xfrm>
            <a:off x="3855287" y="4036418"/>
            <a:ext cx="556993" cy="565687"/>
          </a:xfrm>
          <a:prstGeom prst="rect">
            <a:avLst/>
          </a:prstGeom>
          <a:noFill/>
          <a:extLst>
            <a:ext uri="{909E8E84-426E-40DD-AFC4-6F175D3DCCD1}">
              <a14:hiddenFill xmlns:a14="http://schemas.microsoft.com/office/drawing/2010/main">
                <a:solidFill>
                  <a:srgbClr val="FFFFFF"/>
                </a:solidFill>
              </a14:hiddenFill>
            </a:ext>
          </a:extLst>
        </p:spPr>
      </p:pic>
      <p:sp>
        <p:nvSpPr>
          <p:cNvPr id="29" name="Rectangle 28"/>
          <p:cNvSpPr/>
          <p:nvPr/>
        </p:nvSpPr>
        <p:spPr>
          <a:xfrm>
            <a:off x="1634797" y="3400914"/>
            <a:ext cx="4914213" cy="596155"/>
          </a:xfrm>
          <a:prstGeom prst="rect">
            <a:avLst/>
          </a:prstGeom>
        </p:spPr>
        <p:txBody>
          <a:bodyPr wrap="square">
            <a:spAutoFit/>
          </a:bodyPr>
          <a:lstStyle/>
          <a:p>
            <a:pPr algn="ctr" defTabSz="932098"/>
            <a:r>
              <a:rPr lang="en-US" sz="1599" i="1" dirty="0">
                <a:solidFill>
                  <a:srgbClr val="FFFFFF"/>
                </a:solidFill>
              </a:rPr>
              <a:t>Full .NET Framework for any scenario and </a:t>
            </a:r>
          </a:p>
          <a:p>
            <a:pPr algn="ctr" defTabSz="932098"/>
            <a:r>
              <a:rPr lang="en-US" sz="1599" i="1" dirty="0">
                <a:solidFill>
                  <a:srgbClr val="FFFFFF"/>
                </a:solidFill>
              </a:rPr>
              <a:t>library support on Windows</a:t>
            </a:r>
          </a:p>
        </p:txBody>
      </p:sp>
      <p:sp>
        <p:nvSpPr>
          <p:cNvPr id="30" name="Rectangle 29"/>
          <p:cNvSpPr/>
          <p:nvPr/>
        </p:nvSpPr>
        <p:spPr>
          <a:xfrm>
            <a:off x="6806780" y="3348674"/>
            <a:ext cx="4361857" cy="596155"/>
          </a:xfrm>
          <a:prstGeom prst="rect">
            <a:avLst/>
          </a:prstGeom>
        </p:spPr>
        <p:txBody>
          <a:bodyPr wrap="square">
            <a:spAutoFit/>
          </a:bodyPr>
          <a:lstStyle/>
          <a:p>
            <a:pPr algn="ctr" defTabSz="932098"/>
            <a:r>
              <a:rPr lang="en-US" sz="1599" i="1" dirty="0">
                <a:solidFill>
                  <a:srgbClr val="FFFFFF"/>
                </a:solidFill>
              </a:rPr>
              <a:t>Modular libraries &amp; runtime optimized for server and cloud workloads</a:t>
            </a:r>
          </a:p>
        </p:txBody>
      </p:sp>
      <p:sp>
        <p:nvSpPr>
          <p:cNvPr id="31" name="Rectangle 30"/>
          <p:cNvSpPr/>
          <p:nvPr/>
        </p:nvSpPr>
        <p:spPr bwMode="auto">
          <a:xfrm>
            <a:off x="1239227" y="1526404"/>
            <a:ext cx="1322923" cy="778293"/>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WPF</a:t>
            </a:r>
          </a:p>
        </p:txBody>
      </p:sp>
      <p:sp>
        <p:nvSpPr>
          <p:cNvPr id="32" name="Rectangle 31"/>
          <p:cNvSpPr/>
          <p:nvPr/>
        </p:nvSpPr>
        <p:spPr bwMode="auto">
          <a:xfrm>
            <a:off x="4156279" y="1516343"/>
            <a:ext cx="2427270" cy="788354"/>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ASP.NET (4 &amp; 5)</a:t>
            </a:r>
          </a:p>
        </p:txBody>
      </p:sp>
      <p:sp>
        <p:nvSpPr>
          <p:cNvPr id="33" name="Rectangle 32"/>
          <p:cNvSpPr/>
          <p:nvPr/>
        </p:nvSpPr>
        <p:spPr bwMode="auto">
          <a:xfrm>
            <a:off x="2589241" y="1526404"/>
            <a:ext cx="1539944" cy="778293"/>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Windows Forms</a:t>
            </a:r>
          </a:p>
        </p:txBody>
      </p:sp>
      <p:sp>
        <p:nvSpPr>
          <p:cNvPr id="34" name="Rectangle 33"/>
          <p:cNvSpPr/>
          <p:nvPr/>
        </p:nvSpPr>
        <p:spPr bwMode="auto">
          <a:xfrm>
            <a:off x="6639776" y="1516343"/>
            <a:ext cx="2368530" cy="788354"/>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ASP.NET 5</a:t>
            </a:r>
          </a:p>
        </p:txBody>
      </p:sp>
      <p:sp>
        <p:nvSpPr>
          <p:cNvPr id="35" name="Rectangle 34"/>
          <p:cNvSpPr/>
          <p:nvPr/>
        </p:nvSpPr>
        <p:spPr bwMode="auto">
          <a:xfrm>
            <a:off x="9059716" y="1516344"/>
            <a:ext cx="2284761" cy="788353"/>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Universal Windows Apps</a:t>
            </a:r>
          </a:p>
        </p:txBody>
      </p:sp>
      <p:sp>
        <p:nvSpPr>
          <p:cNvPr id="36" name="Rectangle 35"/>
          <p:cNvSpPr/>
          <p:nvPr/>
        </p:nvSpPr>
        <p:spPr bwMode="auto">
          <a:xfrm>
            <a:off x="6639776" y="2341824"/>
            <a:ext cx="2368530" cy="504294"/>
          </a:xfrm>
          <a:prstGeom prst="rect">
            <a:avLst/>
          </a:prstGeom>
          <a:solidFill>
            <a:srgbClr val="0072C6"/>
          </a:solidFill>
          <a:ln w="25400" cap="flat" cmpd="sng" algn="ctr">
            <a:noFill/>
            <a:prstDash val="solid"/>
            <a:headEnd type="none" w="med" len="med"/>
            <a:tailEnd type="none" w="med" len="med"/>
          </a:ln>
          <a:effectLst/>
        </p:spPr>
        <p:txBody>
          <a:bodyPr vert="horz" wrap="square" lIns="745766" tIns="45670" rIns="91335" bIns="73067" numCol="1" rtlCol="0" anchor="t" anchorCtr="0" compatLnSpc="1">
            <a:prstTxWarp prst="textNoShape">
              <a:avLst/>
            </a:prstTxWarp>
          </a:bodyPr>
          <a:lstStyle/>
          <a:p>
            <a:pPr defTabSz="931869"/>
            <a:r>
              <a:rPr lang="en-US" sz="2000" dirty="0">
                <a:gradFill>
                  <a:gsLst>
                    <a:gs pos="14679">
                      <a:srgbClr val="FFFFFF"/>
                    </a:gs>
                    <a:gs pos="38000">
                      <a:srgbClr val="FFFFFF"/>
                    </a:gs>
                  </a:gsLst>
                  <a:lin ang="5400000" scaled="1"/>
                </a:gradFill>
              </a:rPr>
              <a:t>Core CLR</a:t>
            </a:r>
          </a:p>
        </p:txBody>
      </p:sp>
      <p:sp>
        <p:nvSpPr>
          <p:cNvPr id="37" name="Rectangle 36"/>
          <p:cNvSpPr/>
          <p:nvPr/>
        </p:nvSpPr>
        <p:spPr bwMode="auto">
          <a:xfrm>
            <a:off x="9059714" y="2351627"/>
            <a:ext cx="2284762" cy="494490"/>
          </a:xfrm>
          <a:prstGeom prst="rect">
            <a:avLst/>
          </a:prstGeom>
          <a:solidFill>
            <a:srgbClr val="0072C6"/>
          </a:solidFill>
          <a:ln w="25400" cap="flat" cmpd="sng" algn="ctr">
            <a:noFill/>
            <a:prstDash val="solid"/>
            <a:headEnd type="none" w="med" len="med"/>
            <a:tailEnd type="none" w="med" len="med"/>
          </a:ln>
          <a:effectLst/>
        </p:spPr>
        <p:txBody>
          <a:bodyPr vert="horz" wrap="square" lIns="745766" tIns="45670" rIns="91335" bIns="73067" numCol="1" rtlCol="0" anchor="t" anchorCtr="0" compatLnSpc="1">
            <a:prstTxWarp prst="textNoShape">
              <a:avLst/>
            </a:prstTxWarp>
          </a:bodyPr>
          <a:lstStyle/>
          <a:p>
            <a:pPr defTabSz="931869"/>
            <a:r>
              <a:rPr lang="en-US" sz="2000" dirty="0">
                <a:gradFill>
                  <a:gsLst>
                    <a:gs pos="14679">
                      <a:srgbClr val="FFFFFF"/>
                    </a:gs>
                    <a:gs pos="38000">
                      <a:srgbClr val="FFFFFF"/>
                    </a:gs>
                  </a:gsLst>
                  <a:lin ang="5400000" scaled="1"/>
                </a:gradFill>
              </a:rPr>
              <a:t>.Net Native</a:t>
            </a:r>
          </a:p>
        </p:txBody>
      </p:sp>
      <p:pic>
        <p:nvPicPr>
          <p:cNvPr id="38" name="Picture 6" descr="C:\temp\WinAzure_rgb_Wht_S.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371" t="15460" r="80628" b="15496"/>
          <a:stretch/>
        </p:blipFill>
        <p:spPr bwMode="auto">
          <a:xfrm>
            <a:off x="9338685" y="2415031"/>
            <a:ext cx="352380" cy="357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0249009"/>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bwMode="auto">
          <a:xfrm>
            <a:off x="-1" y="1"/>
            <a:ext cx="5761039" cy="6994524"/>
          </a:xfrm>
          <a:prstGeom prst="rect">
            <a:avLst/>
          </a:prstGeom>
          <a:solidFill>
            <a:srgbClr val="661F79"/>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429768" tIns="2103120" rIns="182880" bIns="146304" numCol="1" rtlCol="0" anchor="t" anchorCtr="0" compatLnSpc="1">
            <a:prstTxWarp prst="textNoShape">
              <a:avLst/>
            </a:prstTxWarp>
          </a:bodyPr>
          <a:lstStyle/>
          <a:p>
            <a:pPr defTabSz="932468">
              <a:lnSpc>
                <a:spcPct val="90000"/>
              </a:lnSpc>
              <a:spcBef>
                <a:spcPts val="1800"/>
              </a:spcBef>
            </a:pPr>
            <a:endParaRPr lang="en-US" sz="2800" dirty="0">
              <a:gradFill>
                <a:gsLst>
                  <a:gs pos="100000">
                    <a:srgbClr val="FFFFFF"/>
                  </a:gs>
                  <a:gs pos="0">
                    <a:srgbClr val="FFFFFF"/>
                  </a:gs>
                </a:gsLst>
                <a:lin ang="5400000" scaled="0"/>
              </a:gradFill>
              <a:latin typeface="Segoe UI Light"/>
              <a:ea typeface="ＭＳ Ｐゴシック" charset="0"/>
            </a:endParaRPr>
          </a:p>
        </p:txBody>
      </p:sp>
      <p:sp>
        <p:nvSpPr>
          <p:cNvPr id="4" name="Title 1"/>
          <p:cNvSpPr>
            <a:spLocks noGrp="1"/>
          </p:cNvSpPr>
          <p:nvPr>
            <p:ph type="title"/>
          </p:nvPr>
        </p:nvSpPr>
        <p:spPr>
          <a:xfrm>
            <a:off x="274639" y="295274"/>
            <a:ext cx="11889564" cy="917575"/>
          </a:xfrm>
        </p:spPr>
        <p:txBody>
          <a:bodyPr/>
          <a:lstStyle/>
          <a:p>
            <a:r>
              <a:rPr lang="en-US" dirty="0" smtClean="0">
                <a:solidFill>
                  <a:schemeClr val="accent2">
                    <a:lumMod val="40000"/>
                    <a:lumOff val="60000"/>
                  </a:schemeClr>
                </a:solidFill>
              </a:rPr>
              <a:t>.NET Compiler </a:t>
            </a:r>
            <a:br>
              <a:rPr lang="en-US" dirty="0" smtClean="0">
                <a:solidFill>
                  <a:schemeClr val="accent2">
                    <a:lumMod val="40000"/>
                    <a:lumOff val="60000"/>
                  </a:schemeClr>
                </a:solidFill>
              </a:rPr>
            </a:br>
            <a:r>
              <a:rPr lang="en-US" dirty="0" smtClean="0">
                <a:solidFill>
                  <a:schemeClr val="accent2">
                    <a:lumMod val="40000"/>
                    <a:lumOff val="60000"/>
                  </a:schemeClr>
                </a:solidFill>
              </a:rPr>
              <a:t>Platform (“Roslyn”) </a:t>
            </a:r>
            <a:endParaRPr lang="en-US" dirty="0">
              <a:solidFill>
                <a:schemeClr val="accent2">
                  <a:lumMod val="40000"/>
                  <a:lumOff val="60000"/>
                </a:schemeClr>
              </a:solidFill>
            </a:endParaRPr>
          </a:p>
        </p:txBody>
      </p:sp>
      <p:sp>
        <p:nvSpPr>
          <p:cNvPr id="6" name="Rectangle 5"/>
          <p:cNvSpPr/>
          <p:nvPr/>
        </p:nvSpPr>
        <p:spPr>
          <a:xfrm>
            <a:off x="363539" y="2242633"/>
            <a:ext cx="3817519" cy="1264962"/>
          </a:xfrm>
          <a:prstGeom prst="rect">
            <a:avLst/>
          </a:prstGeom>
        </p:spPr>
        <p:txBody>
          <a:bodyPr wrap="square">
            <a:spAutoFit/>
          </a:bodyPr>
          <a:lstStyle/>
          <a:p>
            <a:pPr defTabSz="932468">
              <a:lnSpc>
                <a:spcPct val="90000"/>
              </a:lnSpc>
              <a:spcBef>
                <a:spcPts val="900"/>
              </a:spcBef>
            </a:pPr>
            <a:r>
              <a:rPr lang="en-US" sz="2800" b="1" dirty="0" smtClean="0">
                <a:gradFill>
                  <a:gsLst>
                    <a:gs pos="100000">
                      <a:srgbClr val="FFFFFF"/>
                    </a:gs>
                    <a:gs pos="0">
                      <a:srgbClr val="FFFFFF"/>
                    </a:gs>
                  </a:gsLst>
                  <a:lin ang="5400000" scaled="0"/>
                </a:gradFill>
                <a:latin typeface="Segoe UI Semibold" panose="020B0702040204020203" pitchFamily="34" charset="0"/>
                <a:ea typeface="ＭＳ Ｐゴシック" charset="0"/>
                <a:cs typeface="Segoe UI Semibold" panose="020B0702040204020203" pitchFamily="34" charset="0"/>
              </a:rPr>
              <a:t>FROM</a:t>
            </a:r>
          </a:p>
          <a:p>
            <a:pPr defTabSz="932468">
              <a:lnSpc>
                <a:spcPct val="90000"/>
              </a:lnSpc>
              <a:spcBef>
                <a:spcPts val="900"/>
              </a:spcBef>
              <a:buClr>
                <a:srgbClr val="FFFFFF"/>
              </a:buClr>
              <a:buSzPct val="80000"/>
            </a:pPr>
            <a:r>
              <a:rPr lang="en-US" sz="2000" dirty="0" smtClean="0">
                <a:gradFill>
                  <a:gsLst>
                    <a:gs pos="100000">
                      <a:srgbClr val="FFFFFF"/>
                    </a:gs>
                    <a:gs pos="0">
                      <a:srgbClr val="FFFFFF"/>
                    </a:gs>
                  </a:gsLst>
                  <a:lin ang="5400000" scaled="0"/>
                </a:gradFill>
                <a:ea typeface="ＭＳ Ｐゴシック" charset="0"/>
              </a:rPr>
              <a:t>Isolated/closed </a:t>
            </a:r>
            <a:r>
              <a:rPr lang="en-US" sz="2000" dirty="0">
                <a:gradFill>
                  <a:gsLst>
                    <a:gs pos="100000">
                      <a:srgbClr val="FFFFFF"/>
                    </a:gs>
                    <a:gs pos="0">
                      <a:srgbClr val="FFFFFF"/>
                    </a:gs>
                  </a:gsLst>
                  <a:lin ang="5400000" scaled="0"/>
                </a:gradFill>
                <a:ea typeface="ＭＳ Ｐゴシック" charset="0"/>
              </a:rPr>
              <a:t>compilers</a:t>
            </a:r>
          </a:p>
          <a:p>
            <a:pPr defTabSz="932468">
              <a:lnSpc>
                <a:spcPct val="90000"/>
              </a:lnSpc>
              <a:spcBef>
                <a:spcPts val="900"/>
              </a:spcBef>
              <a:buClr>
                <a:srgbClr val="FFFFFF"/>
              </a:buClr>
              <a:buSzPct val="80000"/>
            </a:pPr>
            <a:r>
              <a:rPr lang="en-US" sz="2000" dirty="0">
                <a:gradFill>
                  <a:gsLst>
                    <a:gs pos="100000">
                      <a:srgbClr val="FFFFFF"/>
                    </a:gs>
                    <a:gs pos="0">
                      <a:srgbClr val="FFFFFF"/>
                    </a:gs>
                  </a:gsLst>
                  <a:lin ang="5400000" scaled="0"/>
                </a:gradFill>
                <a:ea typeface="ＭＳ Ｐゴシック" charset="0"/>
              </a:rPr>
              <a:t>Hard to extend </a:t>
            </a:r>
            <a:r>
              <a:rPr lang="en-US" sz="2000" dirty="0" err="1">
                <a:gradFill>
                  <a:gsLst>
                    <a:gs pos="100000">
                      <a:srgbClr val="FFFFFF"/>
                    </a:gs>
                    <a:gs pos="0">
                      <a:srgbClr val="FFFFFF"/>
                    </a:gs>
                  </a:gsLst>
                  <a:lin ang="5400000" scaled="0"/>
                </a:gradFill>
                <a:ea typeface="ＭＳ Ｐゴシック" charset="0"/>
              </a:rPr>
              <a:t>dev</a:t>
            </a:r>
            <a:r>
              <a:rPr lang="en-US" sz="2000" dirty="0">
                <a:gradFill>
                  <a:gsLst>
                    <a:gs pos="100000">
                      <a:srgbClr val="FFFFFF"/>
                    </a:gs>
                    <a:gs pos="0">
                      <a:srgbClr val="FFFFFF"/>
                    </a:gs>
                  </a:gsLst>
                  <a:lin ang="5400000" scaled="0"/>
                </a:gradFill>
                <a:ea typeface="ＭＳ Ｐゴシック" charset="0"/>
              </a:rPr>
              <a:t> experience</a:t>
            </a:r>
            <a:endParaRPr lang="en-US" sz="2000" dirty="0">
              <a:solidFill>
                <a:srgbClr val="000000"/>
              </a:solidFill>
            </a:endParaRPr>
          </a:p>
        </p:txBody>
      </p:sp>
      <p:sp>
        <p:nvSpPr>
          <p:cNvPr id="19" name="Rectangle 18"/>
          <p:cNvSpPr/>
          <p:nvPr/>
        </p:nvSpPr>
        <p:spPr>
          <a:xfrm>
            <a:off x="363539" y="3725862"/>
            <a:ext cx="4971530" cy="2442207"/>
          </a:xfrm>
          <a:prstGeom prst="rect">
            <a:avLst/>
          </a:prstGeom>
        </p:spPr>
        <p:txBody>
          <a:bodyPr wrap="square">
            <a:spAutoFit/>
          </a:bodyPr>
          <a:lstStyle/>
          <a:p>
            <a:pPr defTabSz="932468">
              <a:lnSpc>
                <a:spcPct val="90000"/>
              </a:lnSpc>
              <a:spcBef>
                <a:spcPts val="900"/>
              </a:spcBef>
            </a:pPr>
            <a:r>
              <a:rPr lang="en-US" sz="2800" b="1" dirty="0" smtClean="0">
                <a:gradFill>
                  <a:gsLst>
                    <a:gs pos="100000">
                      <a:srgbClr val="FFFFFF"/>
                    </a:gs>
                    <a:gs pos="0">
                      <a:srgbClr val="FFFFFF"/>
                    </a:gs>
                  </a:gsLst>
                  <a:lin ang="5400000" scaled="0"/>
                </a:gradFill>
                <a:latin typeface="Segoe UI Semibold" panose="020B0702040204020203" pitchFamily="34" charset="0"/>
                <a:ea typeface="ＭＳ Ｐゴシック" charset="0"/>
                <a:cs typeface="Segoe UI Semibold" panose="020B0702040204020203" pitchFamily="34" charset="0"/>
              </a:rPr>
              <a:t>TO</a:t>
            </a:r>
          </a:p>
          <a:p>
            <a:pPr defTabSz="932468">
              <a:lnSpc>
                <a:spcPct val="90000"/>
              </a:lnSpc>
              <a:spcBef>
                <a:spcPts val="900"/>
              </a:spcBef>
              <a:buClr>
                <a:srgbClr val="FFFFFF"/>
              </a:buClr>
              <a:buSzPct val="80000"/>
            </a:pPr>
            <a:r>
              <a:rPr lang="en-US" sz="2000" dirty="0" smtClean="0">
                <a:gradFill>
                  <a:gsLst>
                    <a:gs pos="100000">
                      <a:srgbClr val="FFFFFF"/>
                    </a:gs>
                    <a:gs pos="0">
                      <a:srgbClr val="FFFFFF"/>
                    </a:gs>
                  </a:gsLst>
                  <a:lin ang="5400000" scaled="0"/>
                </a:gradFill>
                <a:ea typeface="ＭＳ Ｐゴシック" charset="0"/>
              </a:rPr>
              <a:t>API: open platform</a:t>
            </a:r>
            <a:endParaRPr lang="en-US" sz="2000" dirty="0">
              <a:gradFill>
                <a:gsLst>
                  <a:gs pos="100000">
                    <a:srgbClr val="FFFFFF"/>
                  </a:gs>
                  <a:gs pos="0">
                    <a:srgbClr val="FFFFFF"/>
                  </a:gs>
                </a:gsLst>
                <a:lin ang="5400000" scaled="0"/>
              </a:gradFill>
              <a:ea typeface="ＭＳ Ｐゴシック" charset="0"/>
            </a:endParaRPr>
          </a:p>
          <a:p>
            <a:pPr defTabSz="932468">
              <a:lnSpc>
                <a:spcPct val="90000"/>
              </a:lnSpc>
              <a:spcBef>
                <a:spcPts val="900"/>
              </a:spcBef>
              <a:buClr>
                <a:srgbClr val="FFFFFF"/>
              </a:buClr>
              <a:buSzPct val="80000"/>
            </a:pPr>
            <a:r>
              <a:rPr lang="en-US" sz="2000" dirty="0" smtClean="0">
                <a:gradFill>
                  <a:gsLst>
                    <a:gs pos="100000">
                      <a:srgbClr val="FFFFFF"/>
                    </a:gs>
                    <a:gs pos="0">
                      <a:srgbClr val="FFFFFF"/>
                    </a:gs>
                  </a:gsLst>
                  <a:lin ang="5400000" scaled="0"/>
                </a:gradFill>
                <a:ea typeface="ＭＳ Ｐゴシック" charset="0"/>
              </a:rPr>
              <a:t>Rich IDE experiences/refactoring</a:t>
            </a:r>
            <a:endParaRPr lang="en-US" sz="2000" dirty="0">
              <a:gradFill>
                <a:gsLst>
                  <a:gs pos="100000">
                    <a:srgbClr val="FFFFFF"/>
                  </a:gs>
                  <a:gs pos="0">
                    <a:srgbClr val="FFFFFF"/>
                  </a:gs>
                </a:gsLst>
                <a:lin ang="5400000" scaled="0"/>
              </a:gradFill>
              <a:ea typeface="ＭＳ Ｐゴシック" charset="0"/>
            </a:endParaRPr>
          </a:p>
          <a:p>
            <a:pPr defTabSz="932468">
              <a:lnSpc>
                <a:spcPct val="90000"/>
              </a:lnSpc>
              <a:spcBef>
                <a:spcPts val="900"/>
              </a:spcBef>
              <a:buClr>
                <a:srgbClr val="FFFFFF"/>
              </a:buClr>
              <a:buSzPct val="80000"/>
            </a:pPr>
            <a:r>
              <a:rPr lang="en-US" sz="2000" dirty="0">
                <a:gradFill>
                  <a:gsLst>
                    <a:gs pos="100000">
                      <a:srgbClr val="FFFFFF"/>
                    </a:gs>
                    <a:gs pos="0">
                      <a:srgbClr val="FFFFFF"/>
                    </a:gs>
                  </a:gsLst>
                  <a:lin ang="5400000" scaled="0"/>
                </a:gradFill>
                <a:ea typeface="ＭＳ Ｐゴシック" charset="0"/>
              </a:rPr>
              <a:t>Code analysis</a:t>
            </a:r>
          </a:p>
          <a:p>
            <a:pPr defTabSz="932468">
              <a:lnSpc>
                <a:spcPct val="90000"/>
              </a:lnSpc>
              <a:spcBef>
                <a:spcPts val="900"/>
              </a:spcBef>
              <a:buClr>
                <a:srgbClr val="FFFFFF"/>
              </a:buClr>
              <a:buSzPct val="80000"/>
            </a:pPr>
            <a:r>
              <a:rPr lang="en-US" sz="2000" dirty="0">
                <a:gradFill>
                  <a:gsLst>
                    <a:gs pos="100000">
                      <a:srgbClr val="FFFFFF"/>
                    </a:gs>
                    <a:gs pos="0">
                      <a:srgbClr val="FFFFFF"/>
                    </a:gs>
                  </a:gsLst>
                  <a:lin ang="5400000" scaled="0"/>
                </a:gradFill>
                <a:ea typeface="ＭＳ Ｐゴシック" charset="0"/>
              </a:rPr>
              <a:t>Custom </a:t>
            </a:r>
            <a:r>
              <a:rPr lang="en-US" sz="2000" dirty="0" smtClean="0">
                <a:gradFill>
                  <a:gsLst>
                    <a:gs pos="100000">
                      <a:srgbClr val="FFFFFF"/>
                    </a:gs>
                    <a:gs pos="0">
                      <a:srgbClr val="FFFFFF"/>
                    </a:gs>
                  </a:gsLst>
                  <a:lin ang="5400000" scaled="0"/>
                </a:gradFill>
                <a:ea typeface="ＭＳ Ｐゴシック" charset="0"/>
              </a:rPr>
              <a:t>diagnostics</a:t>
            </a:r>
          </a:p>
          <a:p>
            <a:pPr defTabSz="932468">
              <a:lnSpc>
                <a:spcPct val="90000"/>
              </a:lnSpc>
              <a:spcBef>
                <a:spcPts val="900"/>
              </a:spcBef>
              <a:buClr>
                <a:srgbClr val="FFFFFF"/>
              </a:buClr>
              <a:buSzPct val="80000"/>
            </a:pPr>
            <a:r>
              <a:rPr lang="en-US" sz="2000" dirty="0" smtClean="0">
                <a:gradFill>
                  <a:gsLst>
                    <a:gs pos="100000">
                      <a:srgbClr val="FFFFFF"/>
                    </a:gs>
                    <a:gs pos="0">
                      <a:srgbClr val="FFFFFF"/>
                    </a:gs>
                  </a:gsLst>
                  <a:lin ang="5400000" scaled="0"/>
                </a:gradFill>
                <a:ea typeface="ＭＳ Ｐゴシック" charset="0"/>
              </a:rPr>
              <a:t>Open Source compilers</a:t>
            </a:r>
            <a:endParaRPr lang="en-US" sz="2000" dirty="0">
              <a:solidFill>
                <a:srgbClr val="000000"/>
              </a:solidFill>
            </a:endParaRPr>
          </a:p>
        </p:txBody>
      </p:sp>
      <p:sp>
        <p:nvSpPr>
          <p:cNvPr id="45" name="3 arrow"/>
          <p:cNvSpPr/>
          <p:nvPr/>
        </p:nvSpPr>
        <p:spPr bwMode="auto">
          <a:xfrm>
            <a:off x="7489842" y="1834381"/>
            <a:ext cx="4671996" cy="1036666"/>
          </a:xfrm>
          <a:prstGeom prst="homePlate">
            <a:avLst/>
          </a:prstGeom>
          <a:solidFill>
            <a:srgbClr val="68217A"/>
          </a:solidFill>
          <a:ln w="25400" cap="flat" cmpd="sng" algn="ctr">
            <a:noFill/>
            <a:prstDash val="solid"/>
            <a:headEnd type="none" w="med" len="med"/>
            <a:tailEnd type="none" w="med" len="med"/>
          </a:ln>
          <a:effectLst/>
        </p:spPr>
        <p:txBody>
          <a:bodyPr vert="horz" wrap="square" lIns="548640" tIns="45696" rIns="91386" bIns="73109" numCol="1" rtlCol="0" anchor="ctr" anchorCtr="0" compatLnSpc="1">
            <a:prstTxWarp prst="textNoShape">
              <a:avLst/>
            </a:prstTxWarp>
          </a:bodyPr>
          <a:lstStyle/>
          <a:p>
            <a:pPr defTabSz="913862"/>
            <a:r>
              <a:rPr lang="en-US" sz="2800" kern="0" dirty="0" smtClean="0">
                <a:gradFill>
                  <a:gsLst>
                    <a:gs pos="9583">
                      <a:srgbClr val="FFFFFF"/>
                    </a:gs>
                    <a:gs pos="24000">
                      <a:srgbClr val="FFFFFF"/>
                    </a:gs>
                  </a:gsLst>
                  <a:lin ang="5400000" scaled="0"/>
                </a:gradFill>
                <a:latin typeface="Segoe UI Light"/>
              </a:rPr>
              <a:t>Language and IDE</a:t>
            </a:r>
            <a:endParaRPr lang="en-US" sz="2000" kern="0" dirty="0">
              <a:gradFill>
                <a:gsLst>
                  <a:gs pos="9583">
                    <a:srgbClr val="FFFFFF"/>
                  </a:gs>
                  <a:gs pos="24000">
                    <a:srgbClr val="FFFFFF"/>
                  </a:gs>
                </a:gsLst>
                <a:lin ang="5400000" scaled="0"/>
              </a:gradFill>
              <a:latin typeface="Segoe UI Light"/>
            </a:endParaRPr>
          </a:p>
        </p:txBody>
      </p:sp>
      <p:sp>
        <p:nvSpPr>
          <p:cNvPr id="51" name="3 arrow"/>
          <p:cNvSpPr/>
          <p:nvPr/>
        </p:nvSpPr>
        <p:spPr bwMode="auto">
          <a:xfrm>
            <a:off x="7489842" y="3470945"/>
            <a:ext cx="4671996" cy="1036666"/>
          </a:xfrm>
          <a:prstGeom prst="homePlate">
            <a:avLst/>
          </a:prstGeom>
          <a:solidFill>
            <a:srgbClr val="68217A"/>
          </a:solidFill>
          <a:ln w="25400" cap="flat" cmpd="sng" algn="ctr">
            <a:noFill/>
            <a:prstDash val="solid"/>
            <a:headEnd type="none" w="med" len="med"/>
            <a:tailEnd type="none" w="med" len="med"/>
          </a:ln>
          <a:effectLst/>
        </p:spPr>
        <p:txBody>
          <a:bodyPr vert="horz" wrap="square" lIns="548640" tIns="45696" rIns="91386" bIns="73109" numCol="1" rtlCol="0" anchor="ctr" anchorCtr="0" compatLnSpc="1">
            <a:prstTxWarp prst="textNoShape">
              <a:avLst/>
            </a:prstTxWarp>
          </a:bodyPr>
          <a:lstStyle/>
          <a:p>
            <a:pPr defTabSz="913862">
              <a:lnSpc>
                <a:spcPct val="85000"/>
              </a:lnSpc>
            </a:pPr>
            <a:r>
              <a:rPr lang="en-US" sz="2800" kern="0" dirty="0" smtClean="0">
                <a:gradFill>
                  <a:gsLst>
                    <a:gs pos="9583">
                      <a:srgbClr val="FFFFFF"/>
                    </a:gs>
                    <a:gs pos="24000">
                      <a:srgbClr val="FFFFFF"/>
                    </a:gs>
                  </a:gsLst>
                  <a:lin ang="5400000" scaled="0"/>
                </a:gradFill>
                <a:latin typeface="Segoe UI Light"/>
              </a:rPr>
              <a:t>VS </a:t>
            </a:r>
            <a:r>
              <a:rPr lang="en-US" sz="2800" kern="0" dirty="0" err="1" smtClean="0">
                <a:gradFill>
                  <a:gsLst>
                    <a:gs pos="9583">
                      <a:srgbClr val="FFFFFF"/>
                    </a:gs>
                    <a:gs pos="24000">
                      <a:srgbClr val="FFFFFF"/>
                    </a:gs>
                  </a:gsLst>
                  <a:lin ang="5400000" scaled="0"/>
                </a:gradFill>
                <a:latin typeface="Segoe UI Light"/>
              </a:rPr>
              <a:t>dev</a:t>
            </a:r>
            <a:r>
              <a:rPr lang="en-US" sz="2800" kern="0" dirty="0" smtClean="0">
                <a:gradFill>
                  <a:gsLst>
                    <a:gs pos="9583">
                      <a:srgbClr val="FFFFFF"/>
                    </a:gs>
                    <a:gs pos="24000">
                      <a:srgbClr val="FFFFFF"/>
                    </a:gs>
                  </a:gsLst>
                  <a:lin ang="5400000" scaled="0"/>
                </a:gradFill>
                <a:latin typeface="Segoe UI Light"/>
              </a:rPr>
              <a:t> experience extensibility</a:t>
            </a:r>
            <a:endParaRPr lang="en-US" sz="2000" kern="0" dirty="0">
              <a:gradFill>
                <a:gsLst>
                  <a:gs pos="9583">
                    <a:srgbClr val="FFFFFF"/>
                  </a:gs>
                  <a:gs pos="24000">
                    <a:srgbClr val="FFFFFF"/>
                  </a:gs>
                </a:gsLst>
                <a:lin ang="5400000" scaled="0"/>
              </a:gradFill>
              <a:latin typeface="Segoe UI Light"/>
            </a:endParaRPr>
          </a:p>
        </p:txBody>
      </p:sp>
      <p:sp>
        <p:nvSpPr>
          <p:cNvPr id="52" name="3 arrow"/>
          <p:cNvSpPr/>
          <p:nvPr/>
        </p:nvSpPr>
        <p:spPr bwMode="auto">
          <a:xfrm>
            <a:off x="7489842" y="5107510"/>
            <a:ext cx="4671996" cy="1036666"/>
          </a:xfrm>
          <a:prstGeom prst="homePlate">
            <a:avLst/>
          </a:prstGeom>
          <a:solidFill>
            <a:srgbClr val="68217A"/>
          </a:solidFill>
          <a:ln w="25400" cap="flat" cmpd="sng" algn="ctr">
            <a:noFill/>
            <a:prstDash val="solid"/>
            <a:headEnd type="none" w="med" len="med"/>
            <a:tailEnd type="none" w="med" len="med"/>
          </a:ln>
          <a:effectLst/>
        </p:spPr>
        <p:txBody>
          <a:bodyPr vert="horz" wrap="square" lIns="548640" tIns="45696" rIns="91386" bIns="73109" numCol="1" rtlCol="0" anchor="ctr" anchorCtr="0" compatLnSpc="1">
            <a:prstTxWarp prst="textNoShape">
              <a:avLst/>
            </a:prstTxWarp>
          </a:bodyPr>
          <a:lstStyle/>
          <a:p>
            <a:pPr defTabSz="913862"/>
            <a:r>
              <a:rPr lang="en-US" sz="2800" kern="0" dirty="0" smtClean="0">
                <a:gradFill>
                  <a:gsLst>
                    <a:gs pos="9583">
                      <a:srgbClr val="FFFFFF"/>
                    </a:gs>
                    <a:gs pos="24000">
                      <a:srgbClr val="FFFFFF"/>
                    </a:gs>
                  </a:gsLst>
                  <a:lin ang="5400000" scaled="0"/>
                </a:gradFill>
                <a:latin typeface="Segoe UI Light"/>
              </a:rPr>
              <a:t>Open Source</a:t>
            </a:r>
            <a:endParaRPr lang="en-US" sz="2000" kern="0" dirty="0">
              <a:gradFill>
                <a:gsLst>
                  <a:gs pos="9583">
                    <a:srgbClr val="FFFFFF"/>
                  </a:gs>
                  <a:gs pos="24000">
                    <a:srgbClr val="FFFFFF"/>
                  </a:gs>
                </a:gsLst>
                <a:lin ang="5400000" scaled="0"/>
              </a:gradFill>
              <a:latin typeface="Segoe UI Light"/>
            </a:endParaRPr>
          </a:p>
        </p:txBody>
      </p:sp>
      <p:sp>
        <p:nvSpPr>
          <p:cNvPr id="53" name="Title 1"/>
          <p:cNvSpPr txBox="1">
            <a:spLocks/>
          </p:cNvSpPr>
          <p:nvPr/>
        </p:nvSpPr>
        <p:spPr>
          <a:xfrm>
            <a:off x="6955837" y="570335"/>
            <a:ext cx="4566240" cy="698558"/>
          </a:xfrm>
          <a:prstGeom prst="rect">
            <a:avLst/>
          </a:prstGeom>
        </p:spPr>
        <p:txBody>
          <a:bodyPr vert="horz" wrap="square" lIns="146260" tIns="91413" rIns="146260" bIns="91413" rtlCol="0" anchor="t">
            <a:noAutofit/>
          </a:bodyPr>
          <a:lstStyle>
            <a:lvl1pPr algn="l" defTabSz="932468" rtl="0" eaLnBrk="1" latinLnBrk="0" hangingPunct="1">
              <a:lnSpc>
                <a:spcPct val="90000"/>
              </a:lnSpc>
              <a:spcBef>
                <a:spcPct val="0"/>
              </a:spcBef>
              <a:buNone/>
              <a:defRPr lang="en-US" sz="54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sz="3600" spc="0" dirty="0">
                <a:solidFill>
                  <a:schemeClr val="tx1">
                    <a:lumMod val="95000"/>
                  </a:schemeClr>
                </a:solidFill>
              </a:rPr>
              <a:t>Scenarios/usage cases</a:t>
            </a:r>
          </a:p>
        </p:txBody>
      </p:sp>
      <p:sp>
        <p:nvSpPr>
          <p:cNvPr id="54" name="Oval 53"/>
          <p:cNvSpPr/>
          <p:nvPr/>
        </p:nvSpPr>
        <p:spPr bwMode="auto">
          <a:xfrm>
            <a:off x="6224284" y="4866390"/>
            <a:ext cx="1503107" cy="1503107"/>
          </a:xfrm>
          <a:prstGeom prst="ellipse">
            <a:avLst/>
          </a:prstGeom>
          <a:solidFill>
            <a:schemeClr val="bg1"/>
          </a:solidFill>
          <a:ln w="76200">
            <a:solidFill>
              <a:srgbClr val="68217A"/>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800" b="1" dirty="0" smtClean="0">
                <a:solidFill>
                  <a:schemeClr val="accent2">
                    <a:lumMod val="40000"/>
                    <a:lumOff val="60000"/>
                  </a:schemeClr>
                </a:solidFill>
                <a:ea typeface="Segoe UI" pitchFamily="34" charset="0"/>
                <a:cs typeface="Segoe UI" pitchFamily="34" charset="0"/>
              </a:rPr>
              <a:t>OSS</a:t>
            </a:r>
            <a:endParaRPr lang="en-US" sz="2800" b="1" dirty="0">
              <a:solidFill>
                <a:schemeClr val="accent2">
                  <a:lumMod val="40000"/>
                  <a:lumOff val="60000"/>
                </a:schemeClr>
              </a:solidFill>
              <a:ea typeface="Segoe UI" pitchFamily="34" charset="0"/>
              <a:cs typeface="Segoe UI" pitchFamily="34" charset="0"/>
            </a:endParaRPr>
          </a:p>
        </p:txBody>
      </p:sp>
      <p:sp>
        <p:nvSpPr>
          <p:cNvPr id="55" name="Oval 54"/>
          <p:cNvSpPr/>
          <p:nvPr/>
        </p:nvSpPr>
        <p:spPr bwMode="auto">
          <a:xfrm>
            <a:off x="6224284" y="3229825"/>
            <a:ext cx="1503107" cy="1503107"/>
          </a:xfrm>
          <a:prstGeom prst="ellipse">
            <a:avLst/>
          </a:prstGeom>
          <a:solidFill>
            <a:schemeClr val="bg1"/>
          </a:solidFill>
          <a:ln w="76200">
            <a:solidFill>
              <a:srgbClr val="68217A"/>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800" b="1" dirty="0">
                <a:solidFill>
                  <a:schemeClr val="accent2">
                    <a:lumMod val="40000"/>
                    <a:lumOff val="60000"/>
                  </a:schemeClr>
                </a:solidFill>
                <a:ea typeface="Segoe UI" pitchFamily="34" charset="0"/>
                <a:cs typeface="Segoe UI" pitchFamily="34" charset="0"/>
              </a:rPr>
              <a:t>API</a:t>
            </a:r>
          </a:p>
        </p:txBody>
      </p:sp>
      <p:sp>
        <p:nvSpPr>
          <p:cNvPr id="56" name="Oval 55"/>
          <p:cNvSpPr/>
          <p:nvPr/>
        </p:nvSpPr>
        <p:spPr bwMode="auto">
          <a:xfrm>
            <a:off x="6224284" y="1593261"/>
            <a:ext cx="1503107" cy="1503107"/>
          </a:xfrm>
          <a:prstGeom prst="ellipse">
            <a:avLst/>
          </a:prstGeom>
          <a:solidFill>
            <a:schemeClr val="bg1"/>
          </a:solidFill>
          <a:ln w="76200">
            <a:solidFill>
              <a:srgbClr val="68217A"/>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800" b="1" dirty="0">
                <a:solidFill>
                  <a:schemeClr val="accent2">
                    <a:lumMod val="40000"/>
                    <a:lumOff val="60000"/>
                  </a:schemeClr>
                </a:solidFill>
                <a:ea typeface="Segoe UI" pitchFamily="34" charset="0"/>
                <a:cs typeface="Segoe UI" pitchFamily="34" charset="0"/>
              </a:rPr>
              <a:t>C#</a:t>
            </a:r>
          </a:p>
          <a:p>
            <a:pPr algn="ctr" defTabSz="932472" fontAlgn="base">
              <a:lnSpc>
                <a:spcPct val="90000"/>
              </a:lnSpc>
              <a:spcBef>
                <a:spcPct val="0"/>
              </a:spcBef>
              <a:spcAft>
                <a:spcPct val="0"/>
              </a:spcAft>
            </a:pPr>
            <a:r>
              <a:rPr lang="en-US" sz="2800" b="1" dirty="0">
                <a:solidFill>
                  <a:schemeClr val="accent2">
                    <a:lumMod val="40000"/>
                    <a:lumOff val="60000"/>
                  </a:schemeClr>
                </a:solidFill>
                <a:ea typeface="Segoe UI" pitchFamily="34" charset="0"/>
                <a:cs typeface="Segoe UI" pitchFamily="34" charset="0"/>
              </a:rPr>
              <a:t>VB</a:t>
            </a:r>
          </a:p>
        </p:txBody>
      </p:sp>
    </p:spTree>
    <p:extLst>
      <p:ext uri="{BB962C8B-B14F-4D97-AF65-F5344CB8AC3E}">
        <p14:creationId xmlns:p14="http://schemas.microsoft.com/office/powerpoint/2010/main" val="12969323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700" fill="hold"/>
                                        <p:tgtEl>
                                          <p:spTgt spid="15"/>
                                        </p:tgtEl>
                                        <p:attrNameLst>
                                          <p:attrName>ppt_x</p:attrName>
                                        </p:attrNameLst>
                                      </p:cBhvr>
                                      <p:tavLst>
                                        <p:tav tm="0">
                                          <p:val>
                                            <p:strVal val="0-#ppt_w/2"/>
                                          </p:val>
                                        </p:tav>
                                        <p:tav tm="100000">
                                          <p:val>
                                            <p:strVal val="#ppt_x"/>
                                          </p:val>
                                        </p:tav>
                                      </p:tavLst>
                                    </p:anim>
                                    <p:anim calcmode="lin" valueType="num">
                                      <p:cBhvr additive="base">
                                        <p:cTn id="8" dur="700" fill="hold"/>
                                        <p:tgtEl>
                                          <p:spTgt spid="15"/>
                                        </p:tgtEl>
                                        <p:attrNameLst>
                                          <p:attrName>ppt_y</p:attrName>
                                        </p:attrNameLst>
                                      </p:cBhvr>
                                      <p:tavLst>
                                        <p:tav tm="0">
                                          <p:val>
                                            <p:strVal val="#ppt_y"/>
                                          </p:val>
                                        </p:tav>
                                        <p:tav tm="100000">
                                          <p:val>
                                            <p:strVal val="#ppt_y"/>
                                          </p:val>
                                        </p:tav>
                                      </p:tavLst>
                                    </p:anim>
                                  </p:childTnLst>
                                </p:cTn>
                              </p:par>
                            </p:childTnLst>
                          </p:cTn>
                        </p:par>
                        <p:par>
                          <p:cTn id="9" fill="hold">
                            <p:stCondLst>
                              <p:cond delay="70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par>
                          <p:cTn id="13" fill="hold">
                            <p:stCondLst>
                              <p:cond delay="1200"/>
                            </p:stCondLst>
                            <p:childTnLst>
                              <p:par>
                                <p:cTn id="14" presetID="10" presetClass="entr" presetSubtype="0" fill="hold" grpId="0" nodeType="afterEffect">
                                  <p:stCondLst>
                                    <p:cond delay="0"/>
                                  </p:stCondLst>
                                  <p:childTnLst>
                                    <p:set>
                                      <p:cBhvr>
                                        <p:cTn id="15" dur="1" fill="hold">
                                          <p:stCondLst>
                                            <p:cond delay="0"/>
                                          </p:stCondLst>
                                        </p:cTn>
                                        <p:tgtEl>
                                          <p:spTgt spid="53"/>
                                        </p:tgtEl>
                                        <p:attrNameLst>
                                          <p:attrName>style.visibility</p:attrName>
                                        </p:attrNameLst>
                                      </p:cBhvr>
                                      <p:to>
                                        <p:strVal val="visible"/>
                                      </p:to>
                                    </p:set>
                                    <p:animEffect transition="in" filter="fade">
                                      <p:cBhvr>
                                        <p:cTn id="16" dur="500"/>
                                        <p:tgtEl>
                                          <p:spTgt spid="53"/>
                                        </p:tgtEl>
                                      </p:cBhvr>
                                    </p:animEffect>
                                  </p:childTnLst>
                                </p:cTn>
                              </p:par>
                            </p:childTnLst>
                          </p:cTn>
                        </p:par>
                        <p:par>
                          <p:cTn id="17" fill="hold">
                            <p:stCondLst>
                              <p:cond delay="1700"/>
                            </p:stCondLst>
                            <p:childTnLst>
                              <p:par>
                                <p:cTn id="18" presetID="53" presetClass="entr" presetSubtype="16" fill="hold" grpId="0" nodeType="afterEffect">
                                  <p:stCondLst>
                                    <p:cond delay="0"/>
                                  </p:stCondLst>
                                  <p:childTnLst>
                                    <p:set>
                                      <p:cBhvr>
                                        <p:cTn id="19" dur="1" fill="hold">
                                          <p:stCondLst>
                                            <p:cond delay="0"/>
                                          </p:stCondLst>
                                        </p:cTn>
                                        <p:tgtEl>
                                          <p:spTgt spid="56"/>
                                        </p:tgtEl>
                                        <p:attrNameLst>
                                          <p:attrName>style.visibility</p:attrName>
                                        </p:attrNameLst>
                                      </p:cBhvr>
                                      <p:to>
                                        <p:strVal val="visible"/>
                                      </p:to>
                                    </p:set>
                                    <p:anim calcmode="lin" valueType="num">
                                      <p:cBhvr>
                                        <p:cTn id="20" dur="250" fill="hold"/>
                                        <p:tgtEl>
                                          <p:spTgt spid="56"/>
                                        </p:tgtEl>
                                        <p:attrNameLst>
                                          <p:attrName>ppt_w</p:attrName>
                                        </p:attrNameLst>
                                      </p:cBhvr>
                                      <p:tavLst>
                                        <p:tav tm="0">
                                          <p:val>
                                            <p:fltVal val="0"/>
                                          </p:val>
                                        </p:tav>
                                        <p:tav tm="100000">
                                          <p:val>
                                            <p:strVal val="#ppt_w"/>
                                          </p:val>
                                        </p:tav>
                                      </p:tavLst>
                                    </p:anim>
                                    <p:anim calcmode="lin" valueType="num">
                                      <p:cBhvr>
                                        <p:cTn id="21" dur="250" fill="hold"/>
                                        <p:tgtEl>
                                          <p:spTgt spid="56"/>
                                        </p:tgtEl>
                                        <p:attrNameLst>
                                          <p:attrName>ppt_h</p:attrName>
                                        </p:attrNameLst>
                                      </p:cBhvr>
                                      <p:tavLst>
                                        <p:tav tm="0">
                                          <p:val>
                                            <p:fltVal val="0"/>
                                          </p:val>
                                        </p:tav>
                                        <p:tav tm="100000">
                                          <p:val>
                                            <p:strVal val="#ppt_h"/>
                                          </p:val>
                                        </p:tav>
                                      </p:tavLst>
                                    </p:anim>
                                    <p:animEffect transition="in" filter="fade">
                                      <p:cBhvr>
                                        <p:cTn id="22" dur="250"/>
                                        <p:tgtEl>
                                          <p:spTgt spid="56"/>
                                        </p:tgtEl>
                                      </p:cBhvr>
                                    </p:animEffect>
                                  </p:childTnLst>
                                </p:cTn>
                              </p:par>
                              <p:par>
                                <p:cTn id="23" presetID="6" presetClass="emph" presetSubtype="0" decel="100000" fill="hold" grpId="1" nodeType="withEffect">
                                  <p:stCondLst>
                                    <p:cond delay="100"/>
                                  </p:stCondLst>
                                  <p:childTnLst>
                                    <p:animScale>
                                      <p:cBhvr>
                                        <p:cTn id="24" dur="250" fill="hold"/>
                                        <p:tgtEl>
                                          <p:spTgt spid="56"/>
                                        </p:tgtEl>
                                      </p:cBhvr>
                                      <p:by x="110000" y="110000"/>
                                    </p:animScale>
                                  </p:childTnLst>
                                </p:cTn>
                              </p:par>
                              <p:par>
                                <p:cTn id="25" presetID="6" presetClass="emph" presetSubtype="0" decel="100000" fill="hold" grpId="2" nodeType="withEffect">
                                  <p:stCondLst>
                                    <p:cond delay="200"/>
                                  </p:stCondLst>
                                  <p:childTnLst>
                                    <p:animScale>
                                      <p:cBhvr>
                                        <p:cTn id="26" dur="250" fill="hold"/>
                                        <p:tgtEl>
                                          <p:spTgt spid="56"/>
                                        </p:tgtEl>
                                      </p:cBhvr>
                                      <p:by x="91000" y="91000"/>
                                    </p:animScale>
                                  </p:childTnLst>
                                </p:cTn>
                              </p:par>
                            </p:childTnLst>
                          </p:cTn>
                        </p:par>
                        <p:par>
                          <p:cTn id="27" fill="hold">
                            <p:stCondLst>
                              <p:cond delay="2150"/>
                            </p:stCondLst>
                            <p:childTnLst>
                              <p:par>
                                <p:cTn id="28" presetID="2" presetClass="entr" presetSubtype="8" decel="100000" fill="hold" grpId="0" nodeType="afterEffect">
                                  <p:stCondLst>
                                    <p:cond delay="0"/>
                                  </p:stCondLst>
                                  <p:childTnLst>
                                    <p:set>
                                      <p:cBhvr>
                                        <p:cTn id="29" dur="1" fill="hold">
                                          <p:stCondLst>
                                            <p:cond delay="0"/>
                                          </p:stCondLst>
                                        </p:cTn>
                                        <p:tgtEl>
                                          <p:spTgt spid="45"/>
                                        </p:tgtEl>
                                        <p:attrNameLst>
                                          <p:attrName>style.visibility</p:attrName>
                                        </p:attrNameLst>
                                      </p:cBhvr>
                                      <p:to>
                                        <p:strVal val="visible"/>
                                      </p:to>
                                    </p:set>
                                    <p:anim calcmode="lin" valueType="num">
                                      <p:cBhvr additive="base">
                                        <p:cTn id="30" dur="700" fill="hold"/>
                                        <p:tgtEl>
                                          <p:spTgt spid="45"/>
                                        </p:tgtEl>
                                        <p:attrNameLst>
                                          <p:attrName>ppt_x</p:attrName>
                                        </p:attrNameLst>
                                      </p:cBhvr>
                                      <p:tavLst>
                                        <p:tav tm="0">
                                          <p:val>
                                            <p:strVal val="0-#ppt_w/2"/>
                                          </p:val>
                                        </p:tav>
                                        <p:tav tm="100000">
                                          <p:val>
                                            <p:strVal val="#ppt_x"/>
                                          </p:val>
                                        </p:tav>
                                      </p:tavLst>
                                    </p:anim>
                                    <p:anim calcmode="lin" valueType="num">
                                      <p:cBhvr additive="base">
                                        <p:cTn id="31" dur="700" fill="hold"/>
                                        <p:tgtEl>
                                          <p:spTgt spid="45"/>
                                        </p:tgtEl>
                                        <p:attrNameLst>
                                          <p:attrName>ppt_y</p:attrName>
                                        </p:attrNameLst>
                                      </p:cBhvr>
                                      <p:tavLst>
                                        <p:tav tm="0">
                                          <p:val>
                                            <p:strVal val="#ppt_y"/>
                                          </p:val>
                                        </p:tav>
                                        <p:tav tm="100000">
                                          <p:val>
                                            <p:strVal val="#ppt_y"/>
                                          </p:val>
                                        </p:tav>
                                      </p:tavLst>
                                    </p:anim>
                                  </p:childTnLst>
                                </p:cTn>
                              </p:par>
                            </p:childTnLst>
                          </p:cTn>
                        </p:par>
                        <p:par>
                          <p:cTn id="32" fill="hold">
                            <p:stCondLst>
                              <p:cond delay="2850"/>
                            </p:stCondLst>
                            <p:childTnLst>
                              <p:par>
                                <p:cTn id="33" presetID="53" presetClass="entr" presetSubtype="16" fill="hold" grpId="0" nodeType="afterEffect">
                                  <p:stCondLst>
                                    <p:cond delay="0"/>
                                  </p:stCondLst>
                                  <p:childTnLst>
                                    <p:set>
                                      <p:cBhvr>
                                        <p:cTn id="34" dur="1" fill="hold">
                                          <p:stCondLst>
                                            <p:cond delay="0"/>
                                          </p:stCondLst>
                                        </p:cTn>
                                        <p:tgtEl>
                                          <p:spTgt spid="55"/>
                                        </p:tgtEl>
                                        <p:attrNameLst>
                                          <p:attrName>style.visibility</p:attrName>
                                        </p:attrNameLst>
                                      </p:cBhvr>
                                      <p:to>
                                        <p:strVal val="visible"/>
                                      </p:to>
                                    </p:set>
                                    <p:anim calcmode="lin" valueType="num">
                                      <p:cBhvr>
                                        <p:cTn id="35" dur="250" fill="hold"/>
                                        <p:tgtEl>
                                          <p:spTgt spid="55"/>
                                        </p:tgtEl>
                                        <p:attrNameLst>
                                          <p:attrName>ppt_w</p:attrName>
                                        </p:attrNameLst>
                                      </p:cBhvr>
                                      <p:tavLst>
                                        <p:tav tm="0">
                                          <p:val>
                                            <p:fltVal val="0"/>
                                          </p:val>
                                        </p:tav>
                                        <p:tav tm="100000">
                                          <p:val>
                                            <p:strVal val="#ppt_w"/>
                                          </p:val>
                                        </p:tav>
                                      </p:tavLst>
                                    </p:anim>
                                    <p:anim calcmode="lin" valueType="num">
                                      <p:cBhvr>
                                        <p:cTn id="36" dur="250" fill="hold"/>
                                        <p:tgtEl>
                                          <p:spTgt spid="55"/>
                                        </p:tgtEl>
                                        <p:attrNameLst>
                                          <p:attrName>ppt_h</p:attrName>
                                        </p:attrNameLst>
                                      </p:cBhvr>
                                      <p:tavLst>
                                        <p:tav tm="0">
                                          <p:val>
                                            <p:fltVal val="0"/>
                                          </p:val>
                                        </p:tav>
                                        <p:tav tm="100000">
                                          <p:val>
                                            <p:strVal val="#ppt_h"/>
                                          </p:val>
                                        </p:tav>
                                      </p:tavLst>
                                    </p:anim>
                                    <p:animEffect transition="in" filter="fade">
                                      <p:cBhvr>
                                        <p:cTn id="37" dur="250"/>
                                        <p:tgtEl>
                                          <p:spTgt spid="55"/>
                                        </p:tgtEl>
                                      </p:cBhvr>
                                    </p:animEffect>
                                  </p:childTnLst>
                                </p:cTn>
                              </p:par>
                              <p:par>
                                <p:cTn id="38" presetID="6" presetClass="emph" presetSubtype="0" decel="100000" fill="hold" grpId="1" nodeType="withEffect">
                                  <p:stCondLst>
                                    <p:cond delay="100"/>
                                  </p:stCondLst>
                                  <p:childTnLst>
                                    <p:animScale>
                                      <p:cBhvr>
                                        <p:cTn id="39" dur="250" fill="hold"/>
                                        <p:tgtEl>
                                          <p:spTgt spid="55"/>
                                        </p:tgtEl>
                                      </p:cBhvr>
                                      <p:by x="110000" y="110000"/>
                                    </p:animScale>
                                  </p:childTnLst>
                                </p:cTn>
                              </p:par>
                              <p:par>
                                <p:cTn id="40" presetID="6" presetClass="emph" presetSubtype="0" decel="100000" fill="hold" grpId="2" nodeType="withEffect">
                                  <p:stCondLst>
                                    <p:cond delay="200"/>
                                  </p:stCondLst>
                                  <p:childTnLst>
                                    <p:animScale>
                                      <p:cBhvr>
                                        <p:cTn id="41" dur="250" fill="hold"/>
                                        <p:tgtEl>
                                          <p:spTgt spid="55"/>
                                        </p:tgtEl>
                                      </p:cBhvr>
                                      <p:by x="91000" y="91000"/>
                                    </p:animScale>
                                  </p:childTnLst>
                                </p:cTn>
                              </p:par>
                            </p:childTnLst>
                          </p:cTn>
                        </p:par>
                        <p:par>
                          <p:cTn id="42" fill="hold">
                            <p:stCondLst>
                              <p:cond delay="3300"/>
                            </p:stCondLst>
                            <p:childTnLst>
                              <p:par>
                                <p:cTn id="43" presetID="2" presetClass="entr" presetSubtype="8" decel="100000" fill="hold" grpId="0" nodeType="afterEffect">
                                  <p:stCondLst>
                                    <p:cond delay="0"/>
                                  </p:stCondLst>
                                  <p:childTnLst>
                                    <p:set>
                                      <p:cBhvr>
                                        <p:cTn id="44" dur="1" fill="hold">
                                          <p:stCondLst>
                                            <p:cond delay="0"/>
                                          </p:stCondLst>
                                        </p:cTn>
                                        <p:tgtEl>
                                          <p:spTgt spid="51"/>
                                        </p:tgtEl>
                                        <p:attrNameLst>
                                          <p:attrName>style.visibility</p:attrName>
                                        </p:attrNameLst>
                                      </p:cBhvr>
                                      <p:to>
                                        <p:strVal val="visible"/>
                                      </p:to>
                                    </p:set>
                                    <p:anim calcmode="lin" valueType="num">
                                      <p:cBhvr additive="base">
                                        <p:cTn id="45" dur="700" fill="hold"/>
                                        <p:tgtEl>
                                          <p:spTgt spid="51"/>
                                        </p:tgtEl>
                                        <p:attrNameLst>
                                          <p:attrName>ppt_x</p:attrName>
                                        </p:attrNameLst>
                                      </p:cBhvr>
                                      <p:tavLst>
                                        <p:tav tm="0">
                                          <p:val>
                                            <p:strVal val="0-#ppt_w/2"/>
                                          </p:val>
                                        </p:tav>
                                        <p:tav tm="100000">
                                          <p:val>
                                            <p:strVal val="#ppt_x"/>
                                          </p:val>
                                        </p:tav>
                                      </p:tavLst>
                                    </p:anim>
                                    <p:anim calcmode="lin" valueType="num">
                                      <p:cBhvr additive="base">
                                        <p:cTn id="46" dur="700" fill="hold"/>
                                        <p:tgtEl>
                                          <p:spTgt spid="51"/>
                                        </p:tgtEl>
                                        <p:attrNameLst>
                                          <p:attrName>ppt_y</p:attrName>
                                        </p:attrNameLst>
                                      </p:cBhvr>
                                      <p:tavLst>
                                        <p:tav tm="0">
                                          <p:val>
                                            <p:strVal val="#ppt_y"/>
                                          </p:val>
                                        </p:tav>
                                        <p:tav tm="100000">
                                          <p:val>
                                            <p:strVal val="#ppt_y"/>
                                          </p:val>
                                        </p:tav>
                                      </p:tavLst>
                                    </p:anim>
                                  </p:childTnLst>
                                </p:cTn>
                              </p:par>
                            </p:childTnLst>
                          </p:cTn>
                        </p:par>
                        <p:par>
                          <p:cTn id="47" fill="hold">
                            <p:stCondLst>
                              <p:cond delay="4000"/>
                            </p:stCondLst>
                            <p:childTnLst>
                              <p:par>
                                <p:cTn id="48" presetID="53" presetClass="entr" presetSubtype="16" fill="hold" grpId="0" nodeType="afterEffect">
                                  <p:stCondLst>
                                    <p:cond delay="0"/>
                                  </p:stCondLst>
                                  <p:childTnLst>
                                    <p:set>
                                      <p:cBhvr>
                                        <p:cTn id="49" dur="1" fill="hold">
                                          <p:stCondLst>
                                            <p:cond delay="0"/>
                                          </p:stCondLst>
                                        </p:cTn>
                                        <p:tgtEl>
                                          <p:spTgt spid="54"/>
                                        </p:tgtEl>
                                        <p:attrNameLst>
                                          <p:attrName>style.visibility</p:attrName>
                                        </p:attrNameLst>
                                      </p:cBhvr>
                                      <p:to>
                                        <p:strVal val="visible"/>
                                      </p:to>
                                    </p:set>
                                    <p:anim calcmode="lin" valueType="num">
                                      <p:cBhvr>
                                        <p:cTn id="50" dur="250" fill="hold"/>
                                        <p:tgtEl>
                                          <p:spTgt spid="54"/>
                                        </p:tgtEl>
                                        <p:attrNameLst>
                                          <p:attrName>ppt_w</p:attrName>
                                        </p:attrNameLst>
                                      </p:cBhvr>
                                      <p:tavLst>
                                        <p:tav tm="0">
                                          <p:val>
                                            <p:fltVal val="0"/>
                                          </p:val>
                                        </p:tav>
                                        <p:tav tm="100000">
                                          <p:val>
                                            <p:strVal val="#ppt_w"/>
                                          </p:val>
                                        </p:tav>
                                      </p:tavLst>
                                    </p:anim>
                                    <p:anim calcmode="lin" valueType="num">
                                      <p:cBhvr>
                                        <p:cTn id="51" dur="250" fill="hold"/>
                                        <p:tgtEl>
                                          <p:spTgt spid="54"/>
                                        </p:tgtEl>
                                        <p:attrNameLst>
                                          <p:attrName>ppt_h</p:attrName>
                                        </p:attrNameLst>
                                      </p:cBhvr>
                                      <p:tavLst>
                                        <p:tav tm="0">
                                          <p:val>
                                            <p:fltVal val="0"/>
                                          </p:val>
                                        </p:tav>
                                        <p:tav tm="100000">
                                          <p:val>
                                            <p:strVal val="#ppt_h"/>
                                          </p:val>
                                        </p:tav>
                                      </p:tavLst>
                                    </p:anim>
                                    <p:animEffect transition="in" filter="fade">
                                      <p:cBhvr>
                                        <p:cTn id="52" dur="250"/>
                                        <p:tgtEl>
                                          <p:spTgt spid="54"/>
                                        </p:tgtEl>
                                      </p:cBhvr>
                                    </p:animEffect>
                                  </p:childTnLst>
                                </p:cTn>
                              </p:par>
                              <p:par>
                                <p:cTn id="53" presetID="6" presetClass="emph" presetSubtype="0" decel="100000" fill="hold" grpId="1" nodeType="withEffect">
                                  <p:stCondLst>
                                    <p:cond delay="100"/>
                                  </p:stCondLst>
                                  <p:childTnLst>
                                    <p:animScale>
                                      <p:cBhvr>
                                        <p:cTn id="54" dur="250" fill="hold"/>
                                        <p:tgtEl>
                                          <p:spTgt spid="54"/>
                                        </p:tgtEl>
                                      </p:cBhvr>
                                      <p:by x="110000" y="110000"/>
                                    </p:animScale>
                                  </p:childTnLst>
                                </p:cTn>
                              </p:par>
                              <p:par>
                                <p:cTn id="55" presetID="6" presetClass="emph" presetSubtype="0" decel="100000" fill="hold" grpId="2" nodeType="withEffect">
                                  <p:stCondLst>
                                    <p:cond delay="200"/>
                                  </p:stCondLst>
                                  <p:childTnLst>
                                    <p:animScale>
                                      <p:cBhvr>
                                        <p:cTn id="56" dur="250" fill="hold"/>
                                        <p:tgtEl>
                                          <p:spTgt spid="54"/>
                                        </p:tgtEl>
                                      </p:cBhvr>
                                      <p:by x="91000" y="91000"/>
                                    </p:animScale>
                                  </p:childTnLst>
                                </p:cTn>
                              </p:par>
                            </p:childTnLst>
                          </p:cTn>
                        </p:par>
                        <p:par>
                          <p:cTn id="57" fill="hold">
                            <p:stCondLst>
                              <p:cond delay="4450"/>
                            </p:stCondLst>
                            <p:childTnLst>
                              <p:par>
                                <p:cTn id="58" presetID="2" presetClass="entr" presetSubtype="8" decel="100000" fill="hold" grpId="0" nodeType="afterEffect">
                                  <p:stCondLst>
                                    <p:cond delay="0"/>
                                  </p:stCondLst>
                                  <p:childTnLst>
                                    <p:set>
                                      <p:cBhvr>
                                        <p:cTn id="59" dur="1" fill="hold">
                                          <p:stCondLst>
                                            <p:cond delay="0"/>
                                          </p:stCondLst>
                                        </p:cTn>
                                        <p:tgtEl>
                                          <p:spTgt spid="52"/>
                                        </p:tgtEl>
                                        <p:attrNameLst>
                                          <p:attrName>style.visibility</p:attrName>
                                        </p:attrNameLst>
                                      </p:cBhvr>
                                      <p:to>
                                        <p:strVal val="visible"/>
                                      </p:to>
                                    </p:set>
                                    <p:anim calcmode="lin" valueType="num">
                                      <p:cBhvr additive="base">
                                        <p:cTn id="60" dur="700" fill="hold"/>
                                        <p:tgtEl>
                                          <p:spTgt spid="52"/>
                                        </p:tgtEl>
                                        <p:attrNameLst>
                                          <p:attrName>ppt_x</p:attrName>
                                        </p:attrNameLst>
                                      </p:cBhvr>
                                      <p:tavLst>
                                        <p:tav tm="0">
                                          <p:val>
                                            <p:strVal val="0-#ppt_w/2"/>
                                          </p:val>
                                        </p:tav>
                                        <p:tav tm="100000">
                                          <p:val>
                                            <p:strVal val="#ppt_x"/>
                                          </p:val>
                                        </p:tav>
                                      </p:tavLst>
                                    </p:anim>
                                    <p:anim calcmode="lin" valueType="num">
                                      <p:cBhvr additive="base">
                                        <p:cTn id="61" dur="700" fill="hold"/>
                                        <p:tgtEl>
                                          <p:spTgt spid="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 grpId="0"/>
      <p:bldP spid="45" grpId="0" animBg="1"/>
      <p:bldP spid="51" grpId="0" animBg="1"/>
      <p:bldP spid="52" grpId="0" animBg="1"/>
      <p:bldP spid="53" grpId="0"/>
      <p:bldP spid="54" grpId="0" animBg="1"/>
      <p:bldP spid="54" grpId="1" animBg="1"/>
      <p:bldP spid="54" grpId="2" animBg="1"/>
      <p:bldP spid="55" grpId="0" animBg="1"/>
      <p:bldP spid="55" grpId="1" animBg="1"/>
      <p:bldP spid="55" grpId="2" animBg="1"/>
      <p:bldP spid="56" grpId="0" animBg="1"/>
      <p:bldP spid="56" grpId="1" animBg="1"/>
      <p:bldP spid="56" grpId="2"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Multidocument 3"/>
          <p:cNvSpPr/>
          <p:nvPr/>
        </p:nvSpPr>
        <p:spPr bwMode="auto">
          <a:xfrm>
            <a:off x="323111" y="2659214"/>
            <a:ext cx="1828541" cy="2542972"/>
          </a:xfrm>
          <a:prstGeom prst="flowChartMultidocumen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r>
              <a:rPr lang="en-US" sz="2400" dirty="0">
                <a:solidFill>
                  <a:srgbClr val="000000"/>
                </a:solidFill>
                <a:ea typeface="Segoe UI" pitchFamily="34" charset="0"/>
                <a:cs typeface="Segoe UI" pitchFamily="34" charset="0"/>
              </a:rPr>
              <a:t>Code</a:t>
            </a:r>
          </a:p>
          <a:p>
            <a:pPr algn="ctr" defTabSz="932293" fontAlgn="base">
              <a:lnSpc>
                <a:spcPct val="90000"/>
              </a:lnSpc>
              <a:spcBef>
                <a:spcPct val="0"/>
              </a:spcBef>
              <a:spcAft>
                <a:spcPct val="0"/>
              </a:spcAft>
            </a:pPr>
            <a:r>
              <a:rPr lang="en-US" sz="1599" dirty="0">
                <a:solidFill>
                  <a:srgbClr val="000000"/>
                </a:solidFill>
                <a:ea typeface="Segoe UI" pitchFamily="34" charset="0"/>
                <a:cs typeface="Segoe UI" pitchFamily="34" charset="0"/>
              </a:rPr>
              <a:t>(</a:t>
            </a:r>
            <a:r>
              <a:rPr lang="en-US" sz="1599" dirty="0" err="1">
                <a:solidFill>
                  <a:srgbClr val="000000"/>
                </a:solidFill>
                <a:ea typeface="Segoe UI" pitchFamily="34" charset="0"/>
                <a:cs typeface="Segoe UI" pitchFamily="34" charset="0"/>
              </a:rPr>
              <a:t>my.cs</a:t>
            </a:r>
            <a:r>
              <a:rPr lang="en-US" sz="1599" dirty="0">
                <a:solidFill>
                  <a:srgbClr val="000000"/>
                </a:solidFill>
                <a:ea typeface="Segoe UI" pitchFamily="34" charset="0"/>
                <a:cs typeface="Segoe UI" pitchFamily="34" charset="0"/>
              </a:rPr>
              <a:t>)</a:t>
            </a:r>
          </a:p>
        </p:txBody>
      </p:sp>
      <p:cxnSp>
        <p:nvCxnSpPr>
          <p:cNvPr id="10" name="Straight Arrow Connector 9"/>
          <p:cNvCxnSpPr/>
          <p:nvPr/>
        </p:nvCxnSpPr>
        <p:spPr>
          <a:xfrm flipV="1">
            <a:off x="2151652" y="4268083"/>
            <a:ext cx="2438054" cy="9200"/>
          </a:xfrm>
          <a:prstGeom prst="straightConnector1">
            <a:avLst/>
          </a:prstGeom>
          <a:ln w="571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030314" y="4828306"/>
            <a:ext cx="380946" cy="803817"/>
          </a:xfrm>
          <a:prstGeom prst="rect">
            <a:avLst/>
          </a:prstGeom>
          <a:noFill/>
        </p:spPr>
        <p:txBody>
          <a:bodyPr wrap="square" lIns="182854" tIns="146283" rIns="182854" bIns="146283" rtlCol="0">
            <a:spAutoFit/>
          </a:bodyPr>
          <a:lstStyle/>
          <a:p>
            <a:pPr defTabSz="932563">
              <a:lnSpc>
                <a:spcPct val="90000"/>
              </a:lnSpc>
            </a:pPr>
            <a:r>
              <a:rPr lang="en-US" sz="3599" dirty="0">
                <a:gradFill>
                  <a:gsLst>
                    <a:gs pos="2917">
                      <a:srgbClr val="000000"/>
                    </a:gs>
                    <a:gs pos="30000">
                      <a:srgbClr val="000000"/>
                    </a:gs>
                  </a:gsLst>
                  <a:lin ang="5400000" scaled="0"/>
                </a:gradFill>
              </a:rPr>
              <a:t>+</a:t>
            </a:r>
          </a:p>
        </p:txBody>
      </p:sp>
      <p:sp>
        <p:nvSpPr>
          <p:cNvPr id="33" name="TextBox 32"/>
          <p:cNvSpPr txBox="1"/>
          <p:nvPr/>
        </p:nvSpPr>
        <p:spPr>
          <a:xfrm>
            <a:off x="4780175" y="4769461"/>
            <a:ext cx="380946" cy="803817"/>
          </a:xfrm>
          <a:prstGeom prst="rect">
            <a:avLst/>
          </a:prstGeom>
          <a:noFill/>
        </p:spPr>
        <p:txBody>
          <a:bodyPr wrap="square" lIns="182854" tIns="146283" rIns="182854" bIns="146283" rtlCol="0">
            <a:spAutoFit/>
          </a:bodyPr>
          <a:lstStyle/>
          <a:p>
            <a:pPr defTabSz="932563">
              <a:lnSpc>
                <a:spcPct val="90000"/>
              </a:lnSpc>
            </a:pPr>
            <a:r>
              <a:rPr lang="en-US" sz="3599" dirty="0">
                <a:gradFill>
                  <a:gsLst>
                    <a:gs pos="2917">
                      <a:srgbClr val="000000"/>
                    </a:gs>
                    <a:gs pos="30000">
                      <a:srgbClr val="000000"/>
                    </a:gs>
                  </a:gsLst>
                  <a:lin ang="5400000" scaled="0"/>
                </a:gradFill>
              </a:rPr>
              <a:t>+</a:t>
            </a:r>
          </a:p>
        </p:txBody>
      </p:sp>
      <p:cxnSp>
        <p:nvCxnSpPr>
          <p:cNvPr id="34" name="Straight Arrow Connector 33"/>
          <p:cNvCxnSpPr/>
          <p:nvPr/>
        </p:nvCxnSpPr>
        <p:spPr>
          <a:xfrm flipV="1">
            <a:off x="6189680" y="2963279"/>
            <a:ext cx="1371405" cy="1262339"/>
          </a:xfrm>
          <a:prstGeom prst="straightConnector1">
            <a:avLst/>
          </a:prstGeom>
          <a:ln w="571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endCxn id="55" idx="1"/>
          </p:cNvCxnSpPr>
          <p:nvPr/>
        </p:nvCxnSpPr>
        <p:spPr>
          <a:xfrm>
            <a:off x="6189680" y="4287255"/>
            <a:ext cx="1404900" cy="661428"/>
          </a:xfrm>
          <a:prstGeom prst="straightConnector1">
            <a:avLst/>
          </a:prstGeom>
          <a:ln w="571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rot="1601289">
            <a:off x="6214743" y="4299368"/>
            <a:ext cx="2438054" cy="634440"/>
          </a:xfrm>
          <a:prstGeom prst="rect">
            <a:avLst/>
          </a:prstGeom>
          <a:noFill/>
        </p:spPr>
        <p:txBody>
          <a:bodyPr wrap="square" lIns="182854" tIns="146283" rIns="182854" bIns="146283" rtlCol="0">
            <a:spAutoFit/>
          </a:bodyPr>
          <a:lstStyle/>
          <a:p>
            <a:pPr defTabSz="932563">
              <a:lnSpc>
                <a:spcPct val="90000"/>
              </a:lnSpc>
            </a:pPr>
            <a:r>
              <a:rPr lang="en-US" sz="2400" dirty="0">
                <a:gradFill>
                  <a:gsLst>
                    <a:gs pos="2917">
                      <a:srgbClr val="000000"/>
                    </a:gs>
                    <a:gs pos="30000">
                      <a:srgbClr val="000000"/>
                    </a:gs>
                  </a:gsLst>
                  <a:lin ang="5400000" scaled="0"/>
                </a:gradFill>
              </a:rPr>
              <a:t>ASP.NET</a:t>
            </a:r>
          </a:p>
        </p:txBody>
      </p:sp>
      <p:sp>
        <p:nvSpPr>
          <p:cNvPr id="39" name="TextBox 38"/>
          <p:cNvSpPr txBox="1"/>
          <p:nvPr/>
        </p:nvSpPr>
        <p:spPr>
          <a:xfrm rot="19038187">
            <a:off x="5863890" y="2704974"/>
            <a:ext cx="2438054" cy="634440"/>
          </a:xfrm>
          <a:prstGeom prst="rect">
            <a:avLst/>
          </a:prstGeom>
          <a:noFill/>
        </p:spPr>
        <p:txBody>
          <a:bodyPr wrap="square" lIns="182854" tIns="146283" rIns="182854" bIns="146283" rtlCol="0">
            <a:spAutoFit/>
          </a:bodyPr>
          <a:lstStyle/>
          <a:p>
            <a:pPr defTabSz="932563">
              <a:lnSpc>
                <a:spcPct val="90000"/>
              </a:lnSpc>
            </a:pPr>
            <a:r>
              <a:rPr lang="en-US" sz="2400" dirty="0">
                <a:gradFill>
                  <a:gsLst>
                    <a:gs pos="2917">
                      <a:srgbClr val="000000"/>
                    </a:gs>
                    <a:gs pos="30000">
                      <a:srgbClr val="000000"/>
                    </a:gs>
                  </a:gsLst>
                  <a:lin ang="5400000" scaled="0"/>
                </a:gradFill>
              </a:rPr>
              <a:t>WinStore</a:t>
            </a:r>
          </a:p>
        </p:txBody>
      </p:sp>
      <p:cxnSp>
        <p:nvCxnSpPr>
          <p:cNvPr id="43" name="Straight Arrow Connector 42"/>
          <p:cNvCxnSpPr>
            <a:stCxn id="40" idx="3"/>
          </p:cNvCxnSpPr>
          <p:nvPr/>
        </p:nvCxnSpPr>
        <p:spPr>
          <a:xfrm>
            <a:off x="9194553" y="2934352"/>
            <a:ext cx="741308" cy="0"/>
          </a:xfrm>
          <a:prstGeom prst="straightConnector1">
            <a:avLst/>
          </a:prstGeom>
          <a:ln w="571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80" name="Group 79"/>
          <p:cNvGrpSpPr/>
          <p:nvPr/>
        </p:nvGrpSpPr>
        <p:grpSpPr>
          <a:xfrm>
            <a:off x="7594579" y="2354721"/>
            <a:ext cx="1599973" cy="1159261"/>
            <a:chOff x="7594774" y="1974217"/>
            <a:chExt cx="1600200" cy="1159426"/>
          </a:xfrm>
        </p:grpSpPr>
        <p:sp>
          <p:nvSpPr>
            <p:cNvPr id="40" name="Flowchart: Process 39"/>
            <p:cNvSpPr/>
            <p:nvPr/>
          </p:nvSpPr>
          <p:spPr bwMode="auto">
            <a:xfrm>
              <a:off x="7594774" y="1974217"/>
              <a:ext cx="1600200" cy="1159426"/>
            </a:xfrm>
            <a:prstGeom prst="flowChartProcess">
              <a:avLst/>
            </a:prstGeom>
            <a:solidFill>
              <a:schemeClr val="accent2">
                <a:lumMod val="75000"/>
              </a:schemeClr>
            </a:solidFill>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r>
                <a:rPr lang="en-US" dirty="0">
                  <a:solidFill>
                    <a:srgbClr val="FFFFFF"/>
                  </a:solidFill>
                  <a:ea typeface="Segoe UI" pitchFamily="34" charset="0"/>
                  <a:cs typeface="Segoe UI" pitchFamily="34" charset="0"/>
                </a:rPr>
                <a:t>.NET Native tool chain</a:t>
              </a:r>
            </a:p>
          </p:txBody>
        </p:sp>
        <p:grpSp>
          <p:nvGrpSpPr>
            <p:cNvPr id="35" name="Group 34"/>
            <p:cNvGrpSpPr>
              <a:grpSpLocks noChangeAspect="1"/>
            </p:cNvGrpSpPr>
            <p:nvPr/>
          </p:nvGrpSpPr>
          <p:grpSpPr>
            <a:xfrm>
              <a:off x="8558026" y="2630322"/>
              <a:ext cx="477285" cy="390078"/>
              <a:chOff x="9061629" y="5706715"/>
              <a:chExt cx="380421" cy="310912"/>
            </a:xfrm>
          </p:grpSpPr>
          <p:sp>
            <p:nvSpPr>
              <p:cNvPr id="37" name="Freeform 86"/>
              <p:cNvSpPr>
                <a:spLocks noEditPoints="1"/>
              </p:cNvSpPr>
              <p:nvPr/>
            </p:nvSpPr>
            <p:spPr bwMode="black">
              <a:xfrm>
                <a:off x="9061629" y="5737038"/>
                <a:ext cx="277768" cy="280589"/>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0" tIns="46611" rIns="93220" bIns="46611" numCol="1" anchor="t" anchorCtr="0" compatLnSpc="1">
                <a:prstTxWarp prst="textNoShape">
                  <a:avLst/>
                </a:prstTxWarp>
              </a:bodyPr>
              <a:lstStyle/>
              <a:p>
                <a:pPr defTabSz="950598"/>
                <a:endParaRPr lang="en-US" sz="1632">
                  <a:gradFill>
                    <a:gsLst>
                      <a:gs pos="14679">
                        <a:srgbClr val="FFFFFF"/>
                      </a:gs>
                      <a:gs pos="38000">
                        <a:srgbClr val="FFFFFF"/>
                      </a:gs>
                    </a:gsLst>
                    <a:lin ang="5400000" scaled="1"/>
                  </a:gradFill>
                </a:endParaRPr>
              </a:p>
            </p:txBody>
          </p:sp>
          <p:sp>
            <p:nvSpPr>
              <p:cNvPr id="41" name="Oval 87"/>
              <p:cNvSpPr>
                <a:spLocks noChangeArrowheads="1"/>
              </p:cNvSpPr>
              <p:nvPr/>
            </p:nvSpPr>
            <p:spPr bwMode="black">
              <a:xfrm>
                <a:off x="9172736" y="5854128"/>
                <a:ext cx="51528" cy="5175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0" tIns="46611" rIns="93220" bIns="46611" numCol="1" anchor="t" anchorCtr="0" compatLnSpc="1">
                <a:prstTxWarp prst="textNoShape">
                  <a:avLst/>
                </a:prstTxWarp>
              </a:bodyPr>
              <a:lstStyle/>
              <a:p>
                <a:pPr defTabSz="950598"/>
                <a:endParaRPr lang="en-US" sz="1632">
                  <a:gradFill>
                    <a:gsLst>
                      <a:gs pos="14679">
                        <a:srgbClr val="FFFFFF"/>
                      </a:gs>
                      <a:gs pos="38000">
                        <a:srgbClr val="FFFFFF"/>
                      </a:gs>
                    </a:gsLst>
                    <a:lin ang="5400000" scaled="1"/>
                  </a:gradFill>
                </a:endParaRPr>
              </a:p>
            </p:txBody>
          </p:sp>
          <p:sp>
            <p:nvSpPr>
              <p:cNvPr id="42" name="Freeform 88"/>
              <p:cNvSpPr>
                <a:spLocks noEditPoints="1"/>
              </p:cNvSpPr>
              <p:nvPr/>
            </p:nvSpPr>
            <p:spPr bwMode="black">
              <a:xfrm>
                <a:off x="9301153" y="5706715"/>
                <a:ext cx="140897" cy="152424"/>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0" tIns="46611" rIns="93220" bIns="46611" numCol="1" anchor="t" anchorCtr="0" compatLnSpc="1">
                <a:prstTxWarp prst="textNoShape">
                  <a:avLst/>
                </a:prstTxWarp>
              </a:bodyPr>
              <a:lstStyle/>
              <a:p>
                <a:pPr defTabSz="950598"/>
                <a:endParaRPr lang="en-US" sz="1632">
                  <a:gradFill>
                    <a:gsLst>
                      <a:gs pos="14679">
                        <a:srgbClr val="FFFFFF"/>
                      </a:gs>
                      <a:gs pos="38000">
                        <a:srgbClr val="FFFFFF"/>
                      </a:gs>
                    </a:gsLst>
                    <a:lin ang="5400000" scaled="1"/>
                  </a:gradFill>
                </a:endParaRPr>
              </a:p>
            </p:txBody>
          </p:sp>
        </p:grpSp>
      </p:grpSp>
      <p:sp>
        <p:nvSpPr>
          <p:cNvPr id="5" name="TextBox 4"/>
          <p:cNvSpPr txBox="1"/>
          <p:nvPr/>
        </p:nvSpPr>
        <p:spPr>
          <a:xfrm>
            <a:off x="1292457" y="130578"/>
            <a:ext cx="4681680" cy="690942"/>
          </a:xfrm>
          <a:prstGeom prst="rect">
            <a:avLst/>
          </a:prstGeom>
          <a:noFill/>
        </p:spPr>
        <p:txBody>
          <a:bodyPr wrap="square" lIns="182854" tIns="146283" rIns="182854" bIns="146283" rtlCol="0">
            <a:spAutoFit/>
          </a:bodyPr>
          <a:lstStyle/>
          <a:p>
            <a:pPr defTabSz="932563">
              <a:lnSpc>
                <a:spcPct val="90000"/>
              </a:lnSpc>
            </a:pPr>
            <a:r>
              <a:rPr lang="en-US" sz="2800" dirty="0">
                <a:gradFill>
                  <a:gsLst>
                    <a:gs pos="2917">
                      <a:srgbClr val="000000"/>
                    </a:gs>
                    <a:gs pos="30000">
                      <a:srgbClr val="000000"/>
                    </a:gs>
                  </a:gsLst>
                  <a:lin ang="5400000" scaled="0"/>
                </a:gradFill>
              </a:rPr>
              <a:t>Code / Build / Debug</a:t>
            </a:r>
          </a:p>
        </p:txBody>
      </p:sp>
      <p:sp>
        <p:nvSpPr>
          <p:cNvPr id="30" name="Round Diagonal Corner Rectangle 29"/>
          <p:cNvSpPr/>
          <p:nvPr/>
        </p:nvSpPr>
        <p:spPr bwMode="auto">
          <a:xfrm>
            <a:off x="4589706" y="3648983"/>
            <a:ext cx="1599973" cy="1209897"/>
          </a:xfrm>
          <a:prstGeom prst="round2Diag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r>
              <a:rPr lang="en-US" sz="2400" dirty="0">
                <a:gradFill>
                  <a:gsLst>
                    <a:gs pos="0">
                      <a:srgbClr val="FFFFFF"/>
                    </a:gs>
                    <a:gs pos="100000">
                      <a:srgbClr val="FFFFFF"/>
                    </a:gs>
                  </a:gsLst>
                  <a:lin ang="5400000" scaled="0"/>
                </a:gradFill>
                <a:ea typeface="Segoe UI" pitchFamily="34" charset="0"/>
                <a:cs typeface="Segoe UI" pitchFamily="34" charset="0"/>
              </a:rPr>
              <a:t>IL</a:t>
            </a:r>
          </a:p>
        </p:txBody>
      </p:sp>
      <p:pic>
        <p:nvPicPr>
          <p:cNvPr id="21" name="Picture 20"/>
          <p:cNvPicPr>
            <a:picLocks noChangeAspect="1"/>
          </p:cNvPicPr>
          <p:nvPr/>
        </p:nvPicPr>
        <p:blipFill>
          <a:blip r:embed="rId3"/>
          <a:stretch>
            <a:fillRect/>
          </a:stretch>
        </p:blipFill>
        <p:spPr>
          <a:xfrm>
            <a:off x="4631858" y="4178165"/>
            <a:ext cx="1528546" cy="641227"/>
          </a:xfrm>
          <a:prstGeom prst="rect">
            <a:avLst/>
          </a:prstGeom>
        </p:spPr>
      </p:pic>
      <p:pic>
        <p:nvPicPr>
          <p:cNvPr id="28" name="Picture 27"/>
          <p:cNvPicPr>
            <a:picLocks noChangeAspect="1"/>
          </p:cNvPicPr>
          <p:nvPr/>
        </p:nvPicPr>
        <p:blipFill>
          <a:blip r:embed="rId4"/>
          <a:stretch>
            <a:fillRect/>
          </a:stretch>
        </p:blipFill>
        <p:spPr>
          <a:xfrm>
            <a:off x="365178" y="3820757"/>
            <a:ext cx="1476368" cy="949351"/>
          </a:xfrm>
          <a:prstGeom prst="rect">
            <a:avLst/>
          </a:prstGeom>
        </p:spPr>
      </p:pic>
      <p:grpSp>
        <p:nvGrpSpPr>
          <p:cNvPr id="50" name="Group 49"/>
          <p:cNvGrpSpPr/>
          <p:nvPr/>
        </p:nvGrpSpPr>
        <p:grpSpPr>
          <a:xfrm>
            <a:off x="1557663" y="5442093"/>
            <a:ext cx="4138999" cy="1371405"/>
            <a:chOff x="1814162" y="5062027"/>
            <a:chExt cx="4139587" cy="1371600"/>
          </a:xfrm>
        </p:grpSpPr>
        <p:grpSp>
          <p:nvGrpSpPr>
            <p:cNvPr id="32" name="Group 31"/>
            <p:cNvGrpSpPr/>
            <p:nvPr/>
          </p:nvGrpSpPr>
          <p:grpSpPr>
            <a:xfrm>
              <a:off x="1814162" y="5062027"/>
              <a:ext cx="4139587" cy="1371600"/>
              <a:chOff x="155435" y="5254254"/>
              <a:chExt cx="4139587" cy="1371600"/>
            </a:xfrm>
          </p:grpSpPr>
          <p:sp>
            <p:nvSpPr>
              <p:cNvPr id="26" name="Rectangle 25"/>
              <p:cNvSpPr/>
              <p:nvPr/>
            </p:nvSpPr>
            <p:spPr bwMode="auto">
              <a:xfrm>
                <a:off x="155435" y="5254254"/>
                <a:ext cx="3428996"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Box 26"/>
              <p:cNvSpPr txBox="1"/>
              <p:nvPr/>
            </p:nvSpPr>
            <p:spPr>
              <a:xfrm>
                <a:off x="155435" y="6039484"/>
                <a:ext cx="4139587" cy="544765"/>
              </a:xfrm>
              <a:prstGeom prst="rect">
                <a:avLst/>
              </a:prstGeom>
              <a:noFill/>
            </p:spPr>
            <p:txBody>
              <a:bodyPr wrap="square" lIns="182854" tIns="146283" rIns="182854" bIns="146283" rtlCol="0">
                <a:spAutoFit/>
              </a:bodyPr>
              <a:lstStyle/>
              <a:p>
                <a:pPr defTabSz="932563">
                  <a:lnSpc>
                    <a:spcPct val="90000"/>
                  </a:lnSpc>
                </a:pPr>
                <a:r>
                  <a:rPr lang="en-US" dirty="0">
                    <a:solidFill>
                      <a:srgbClr val="FFFFFF"/>
                    </a:solidFill>
                  </a:rPr>
                  <a:t>References (Modular, NuGet)</a:t>
                </a:r>
              </a:p>
            </p:txBody>
          </p:sp>
        </p:grpSp>
        <p:grpSp>
          <p:nvGrpSpPr>
            <p:cNvPr id="46" name="Group 45"/>
            <p:cNvGrpSpPr/>
            <p:nvPr/>
          </p:nvGrpSpPr>
          <p:grpSpPr>
            <a:xfrm>
              <a:off x="1869255" y="5203746"/>
              <a:ext cx="1304795" cy="656727"/>
              <a:chOff x="5827842" y="5455354"/>
              <a:chExt cx="1304795" cy="656727"/>
            </a:xfrm>
          </p:grpSpPr>
          <p:sp>
            <p:nvSpPr>
              <p:cNvPr id="45" name="Rectangle 44"/>
              <p:cNvSpPr/>
              <p:nvPr/>
            </p:nvSpPr>
            <p:spPr bwMode="auto">
              <a:xfrm>
                <a:off x="5827842" y="5506148"/>
                <a:ext cx="1304795" cy="605933"/>
              </a:xfrm>
              <a:prstGeom prst="rect">
                <a:avLst/>
              </a:prstGeom>
              <a:solidFill>
                <a:srgbClr val="0070C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defTabSz="932293" fontAlgn="base">
                  <a:lnSpc>
                    <a:spcPct val="90000"/>
                  </a:lnSpc>
                  <a:spcBef>
                    <a:spcPct val="0"/>
                  </a:spcBef>
                  <a:spcAft>
                    <a:spcPct val="0"/>
                  </a:spcAft>
                </a:pPr>
                <a:r>
                  <a:rPr lang="en-US" sz="2400" dirty="0">
                    <a:gradFill>
                      <a:gsLst>
                        <a:gs pos="0">
                          <a:srgbClr val="FFFFFF"/>
                        </a:gs>
                        <a:gs pos="100000">
                          <a:srgbClr val="FFFFFF"/>
                        </a:gs>
                      </a:gsLst>
                      <a:lin ang="5400000" scaled="0"/>
                    </a:gradFill>
                    <a:ea typeface="Segoe UI" pitchFamily="34" charset="0"/>
                    <a:cs typeface="Segoe UI" pitchFamily="34" charset="0"/>
                  </a:rPr>
                  <a:t>BCL</a:t>
                </a:r>
              </a:p>
            </p:txBody>
          </p:sp>
          <p:pic>
            <p:nvPicPr>
              <p:cNvPr id="44" name="Picture 4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75910" y="5455354"/>
                <a:ext cx="656727" cy="656727"/>
              </a:xfrm>
              <a:prstGeom prst="rect">
                <a:avLst/>
              </a:prstGeom>
            </p:spPr>
          </p:pic>
        </p:grpSp>
        <p:grpSp>
          <p:nvGrpSpPr>
            <p:cNvPr id="49" name="Group 48"/>
            <p:cNvGrpSpPr/>
            <p:nvPr/>
          </p:nvGrpSpPr>
          <p:grpSpPr>
            <a:xfrm>
              <a:off x="3258066" y="5197000"/>
              <a:ext cx="1910979" cy="656727"/>
              <a:chOff x="6440858" y="5782690"/>
              <a:chExt cx="1910979" cy="656727"/>
            </a:xfrm>
          </p:grpSpPr>
          <p:sp>
            <p:nvSpPr>
              <p:cNvPr id="60" name="Rectangle 59"/>
              <p:cNvSpPr/>
              <p:nvPr/>
            </p:nvSpPr>
            <p:spPr bwMode="auto">
              <a:xfrm>
                <a:off x="6440858" y="5833484"/>
                <a:ext cx="1910979" cy="605933"/>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defTabSz="932293" fontAlgn="base">
                  <a:lnSpc>
                    <a:spcPct val="90000"/>
                  </a:lnSpc>
                  <a:spcBef>
                    <a:spcPct val="0"/>
                  </a:spcBef>
                  <a:spcAft>
                    <a:spcPct val="0"/>
                  </a:spcAft>
                </a:pPr>
                <a:r>
                  <a:rPr lang="en-US" dirty="0">
                    <a:gradFill>
                      <a:gsLst>
                        <a:gs pos="0">
                          <a:srgbClr val="FFFFFF"/>
                        </a:gs>
                        <a:gs pos="100000">
                          <a:srgbClr val="FFFFFF"/>
                        </a:gs>
                      </a:gsLst>
                      <a:lin ang="5400000" scaled="0"/>
                    </a:gradFill>
                    <a:ea typeface="Segoe UI" pitchFamily="34" charset="0"/>
                    <a:cs typeface="Segoe UI" pitchFamily="34" charset="0"/>
                  </a:rPr>
                  <a:t>App Model</a:t>
                </a:r>
              </a:p>
            </p:txBody>
          </p:sp>
          <p:pic>
            <p:nvPicPr>
              <p:cNvPr id="61" name="Picture 6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95110" y="5782690"/>
                <a:ext cx="656727" cy="656727"/>
              </a:xfrm>
              <a:prstGeom prst="rect">
                <a:avLst/>
              </a:prstGeom>
            </p:spPr>
          </p:pic>
        </p:grpSp>
      </p:grpSp>
      <p:grpSp>
        <p:nvGrpSpPr>
          <p:cNvPr id="68" name="Group 67"/>
          <p:cNvGrpSpPr/>
          <p:nvPr/>
        </p:nvGrpSpPr>
        <p:grpSpPr>
          <a:xfrm>
            <a:off x="9901108" y="1929709"/>
            <a:ext cx="1982179" cy="1632178"/>
            <a:chOff x="9620102" y="1558696"/>
            <a:chExt cx="1982460" cy="1632410"/>
          </a:xfrm>
        </p:grpSpPr>
        <p:sp>
          <p:nvSpPr>
            <p:cNvPr id="53" name="Flowchart: Process 52"/>
            <p:cNvSpPr/>
            <p:nvPr/>
          </p:nvSpPr>
          <p:spPr bwMode="auto">
            <a:xfrm>
              <a:off x="9621362" y="2278751"/>
              <a:ext cx="1981200" cy="912355"/>
            </a:xfrm>
            <a:prstGeom prst="flowChartProcess">
              <a:avLst/>
            </a:prstGeom>
            <a:solidFill>
              <a:schemeClr val="accent6">
                <a:lumMod val="60000"/>
                <a:lumOff val="40000"/>
              </a:schemeClr>
            </a:solidFill>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563">
                <a:lnSpc>
                  <a:spcPct val="90000"/>
                </a:lnSpc>
              </a:pPr>
              <a:r>
                <a:rPr lang="en-US" dirty="0">
                  <a:gradFill>
                    <a:gsLst>
                      <a:gs pos="2917">
                        <a:srgbClr val="000000"/>
                      </a:gs>
                      <a:gs pos="30000">
                        <a:srgbClr val="000000"/>
                      </a:gs>
                    </a:gsLst>
                    <a:lin ang="5400000" scaled="0"/>
                  </a:gradFill>
                </a:rPr>
                <a:t>.NET Native Runtime</a:t>
              </a:r>
            </a:p>
          </p:txBody>
        </p:sp>
        <p:sp>
          <p:nvSpPr>
            <p:cNvPr id="63" name="Flowchart: Process 62"/>
            <p:cNvSpPr/>
            <p:nvPr/>
          </p:nvSpPr>
          <p:spPr bwMode="auto">
            <a:xfrm>
              <a:off x="9620102" y="1558696"/>
              <a:ext cx="1981200" cy="720055"/>
            </a:xfrm>
            <a:prstGeom prst="flowChartProcess">
              <a:avLst/>
            </a:prstGeom>
            <a:solidFill>
              <a:schemeClr val="accent6"/>
            </a:solidFill>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defTabSz="932563">
                <a:lnSpc>
                  <a:spcPct val="90000"/>
                </a:lnSpc>
              </a:pPr>
              <a:r>
                <a:rPr lang="en-US" dirty="0">
                  <a:gradFill>
                    <a:gsLst>
                      <a:gs pos="2917">
                        <a:srgbClr val="000000"/>
                      </a:gs>
                      <a:gs pos="30000">
                        <a:srgbClr val="000000"/>
                      </a:gs>
                    </a:gsLst>
                    <a:lin ang="5400000" scaled="0"/>
                  </a:gradFill>
                </a:rPr>
                <a:t>my.exe (stub)</a:t>
              </a:r>
            </a:p>
            <a:p>
              <a:pPr defTabSz="932563">
                <a:lnSpc>
                  <a:spcPct val="90000"/>
                </a:lnSpc>
              </a:pPr>
              <a:r>
                <a:rPr lang="en-US" dirty="0">
                  <a:gradFill>
                    <a:gsLst>
                      <a:gs pos="2917">
                        <a:srgbClr val="000000"/>
                      </a:gs>
                      <a:gs pos="30000">
                        <a:srgbClr val="000000"/>
                      </a:gs>
                    </a:gsLst>
                    <a:lin ang="5400000" scaled="0"/>
                  </a:gradFill>
                </a:rPr>
                <a:t>my.dll</a:t>
              </a:r>
            </a:p>
          </p:txBody>
        </p:sp>
      </p:grpSp>
      <p:grpSp>
        <p:nvGrpSpPr>
          <p:cNvPr id="67" name="Group 66"/>
          <p:cNvGrpSpPr/>
          <p:nvPr/>
        </p:nvGrpSpPr>
        <p:grpSpPr>
          <a:xfrm>
            <a:off x="9895312" y="4140856"/>
            <a:ext cx="2037115" cy="1632178"/>
            <a:chOff x="9565158" y="3660157"/>
            <a:chExt cx="2037404" cy="1632410"/>
          </a:xfrm>
        </p:grpSpPr>
        <p:sp>
          <p:nvSpPr>
            <p:cNvPr id="64" name="Flowchart: Process 63"/>
            <p:cNvSpPr/>
            <p:nvPr/>
          </p:nvSpPr>
          <p:spPr bwMode="auto">
            <a:xfrm>
              <a:off x="9568294" y="3660157"/>
              <a:ext cx="2034268" cy="720055"/>
            </a:xfrm>
            <a:prstGeom prst="flowChartProcess">
              <a:avLst/>
            </a:prstGeom>
            <a:solidFill>
              <a:schemeClr val="accent6"/>
            </a:solidFill>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defTabSz="932563">
                <a:lnSpc>
                  <a:spcPct val="90000"/>
                </a:lnSpc>
              </a:pPr>
              <a:r>
                <a:rPr lang="en-US" dirty="0">
                  <a:gradFill>
                    <a:gsLst>
                      <a:gs pos="2917">
                        <a:srgbClr val="000000"/>
                      </a:gs>
                      <a:gs pos="30000">
                        <a:srgbClr val="000000"/>
                      </a:gs>
                    </a:gsLst>
                    <a:lin ang="5400000" scaled="0"/>
                  </a:gradFill>
                </a:rPr>
                <a:t>my.dll</a:t>
              </a:r>
            </a:p>
            <a:p>
              <a:pPr defTabSz="932563">
                <a:lnSpc>
                  <a:spcPct val="90000"/>
                </a:lnSpc>
              </a:pPr>
              <a:r>
                <a:rPr lang="en-US" dirty="0">
                  <a:gradFill>
                    <a:gsLst>
                      <a:gs pos="2917">
                        <a:srgbClr val="000000"/>
                      </a:gs>
                      <a:gs pos="30000">
                        <a:srgbClr val="000000"/>
                      </a:gs>
                    </a:gsLst>
                    <a:lin ang="5400000" scaled="0"/>
                  </a:gradFill>
                </a:rPr>
                <a:t>+referenced </a:t>
              </a:r>
              <a:r>
                <a:rPr lang="en-US" dirty="0" err="1">
                  <a:gradFill>
                    <a:gsLst>
                      <a:gs pos="2917">
                        <a:srgbClr val="000000"/>
                      </a:gs>
                      <a:gs pos="30000">
                        <a:srgbClr val="000000"/>
                      </a:gs>
                    </a:gsLst>
                    <a:lin ang="5400000" scaled="0"/>
                  </a:gradFill>
                </a:rPr>
                <a:t>dlls</a:t>
              </a:r>
              <a:endParaRPr lang="en-US" dirty="0">
                <a:gradFill>
                  <a:gsLst>
                    <a:gs pos="2917">
                      <a:srgbClr val="000000"/>
                    </a:gs>
                    <a:gs pos="30000">
                      <a:srgbClr val="000000"/>
                    </a:gs>
                  </a:gsLst>
                  <a:lin ang="5400000" scaled="0"/>
                </a:gradFill>
              </a:endParaRPr>
            </a:p>
          </p:txBody>
        </p:sp>
        <p:sp>
          <p:nvSpPr>
            <p:cNvPr id="65" name="Flowchart: Process 64"/>
            <p:cNvSpPr/>
            <p:nvPr/>
          </p:nvSpPr>
          <p:spPr bwMode="auto">
            <a:xfrm>
              <a:off x="9565158" y="4380212"/>
              <a:ext cx="2037404" cy="912355"/>
            </a:xfrm>
            <a:prstGeom prst="flowChartProcess">
              <a:avLst/>
            </a:prstGeom>
            <a:solidFill>
              <a:schemeClr val="accent6">
                <a:lumMod val="60000"/>
                <a:lumOff val="40000"/>
              </a:schemeClr>
            </a:solidFill>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563">
                <a:lnSpc>
                  <a:spcPct val="90000"/>
                </a:lnSpc>
              </a:pPr>
              <a:r>
                <a:rPr lang="en-US" dirty="0" err="1">
                  <a:gradFill>
                    <a:gsLst>
                      <a:gs pos="2917">
                        <a:srgbClr val="000000"/>
                      </a:gs>
                      <a:gs pos="30000">
                        <a:srgbClr val="000000"/>
                      </a:gs>
                    </a:gsLst>
                    <a:lin ang="5400000" scaled="0"/>
                  </a:gradFill>
                </a:rPr>
                <a:t>CoreCLR</a:t>
              </a:r>
              <a:endParaRPr lang="en-US" dirty="0">
                <a:gradFill>
                  <a:gsLst>
                    <a:gs pos="2917">
                      <a:srgbClr val="000000"/>
                    </a:gs>
                    <a:gs pos="30000">
                      <a:srgbClr val="000000"/>
                    </a:gs>
                  </a:gsLst>
                  <a:lin ang="5400000" scaled="0"/>
                </a:gradFill>
              </a:endParaRPr>
            </a:p>
          </p:txBody>
        </p:sp>
      </p:grpSp>
      <p:cxnSp>
        <p:nvCxnSpPr>
          <p:cNvPr id="66" name="Straight Arrow Connector 65"/>
          <p:cNvCxnSpPr/>
          <p:nvPr/>
        </p:nvCxnSpPr>
        <p:spPr>
          <a:xfrm flipV="1">
            <a:off x="9235481" y="4948822"/>
            <a:ext cx="659831" cy="8124"/>
          </a:xfrm>
          <a:prstGeom prst="straightConnector1">
            <a:avLst/>
          </a:prstGeom>
          <a:ln w="571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7594579" y="5758517"/>
            <a:ext cx="4337848" cy="1058209"/>
          </a:xfrm>
          <a:prstGeom prst="rect">
            <a:avLst/>
          </a:prstGeom>
          <a:noFill/>
        </p:spPr>
        <p:txBody>
          <a:bodyPr wrap="square" lIns="182854" tIns="146283" rIns="182854" bIns="146283" rtlCol="0">
            <a:spAutoFit/>
          </a:bodyPr>
          <a:lstStyle/>
          <a:p>
            <a:pPr defTabSz="932563">
              <a:lnSpc>
                <a:spcPct val="90000"/>
              </a:lnSpc>
            </a:pPr>
            <a:r>
              <a:rPr lang="en-US" dirty="0">
                <a:gradFill>
                  <a:gsLst>
                    <a:gs pos="2917">
                      <a:srgbClr val="000000"/>
                    </a:gs>
                    <a:gs pos="30000">
                      <a:srgbClr val="000000"/>
                    </a:gs>
                  </a:gsLst>
                  <a:lin ang="5400000" scaled="0"/>
                </a:gradFill>
              </a:rPr>
              <a:t>References &amp; </a:t>
            </a:r>
            <a:r>
              <a:rPr lang="en-US" dirty="0" err="1">
                <a:gradFill>
                  <a:gsLst>
                    <a:gs pos="2917">
                      <a:srgbClr val="000000"/>
                    </a:gs>
                    <a:gs pos="30000">
                      <a:srgbClr val="000000"/>
                    </a:gs>
                  </a:gsLst>
                  <a:lin ang="5400000" scaled="0"/>
                </a:gradFill>
              </a:rPr>
              <a:t>CoreCLR</a:t>
            </a:r>
            <a:r>
              <a:rPr lang="en-US" dirty="0">
                <a:gradFill>
                  <a:gsLst>
                    <a:gs pos="2917">
                      <a:srgbClr val="000000"/>
                    </a:gs>
                    <a:gs pos="30000">
                      <a:srgbClr val="000000"/>
                    </a:gs>
                  </a:gsLst>
                  <a:lin ang="5400000" scaled="0"/>
                </a:gradFill>
              </a:rPr>
              <a:t> are deployed with app locally, JIT compilation on start up</a:t>
            </a:r>
          </a:p>
        </p:txBody>
      </p:sp>
      <p:sp>
        <p:nvSpPr>
          <p:cNvPr id="71" name="TextBox 70"/>
          <p:cNvSpPr txBox="1"/>
          <p:nvPr/>
        </p:nvSpPr>
        <p:spPr>
          <a:xfrm>
            <a:off x="7543461" y="1189769"/>
            <a:ext cx="4282080" cy="1058209"/>
          </a:xfrm>
          <a:prstGeom prst="rect">
            <a:avLst/>
          </a:prstGeom>
          <a:noFill/>
        </p:spPr>
        <p:txBody>
          <a:bodyPr wrap="square" lIns="182854" tIns="146283" rIns="182854" bIns="146283" rtlCol="0">
            <a:spAutoFit/>
          </a:bodyPr>
          <a:lstStyle/>
          <a:p>
            <a:pPr defTabSz="932563">
              <a:lnSpc>
                <a:spcPct val="90000"/>
              </a:lnSpc>
            </a:pPr>
            <a:r>
              <a:rPr lang="en-US" dirty="0">
                <a:gradFill>
                  <a:gsLst>
                    <a:gs pos="2917">
                      <a:srgbClr val="000000"/>
                    </a:gs>
                    <a:gs pos="30000">
                      <a:srgbClr val="000000"/>
                    </a:gs>
                  </a:gsLst>
                  <a:lin ang="5400000" scaled="0"/>
                </a:gradFill>
              </a:rPr>
              <a:t>References are built with your app into one native </a:t>
            </a:r>
            <a:r>
              <a:rPr lang="en-US" dirty="0" err="1">
                <a:gradFill>
                  <a:gsLst>
                    <a:gs pos="2917">
                      <a:srgbClr val="000000"/>
                    </a:gs>
                    <a:gs pos="30000">
                      <a:srgbClr val="000000"/>
                    </a:gs>
                  </a:gsLst>
                  <a:lin ang="5400000" scaled="0"/>
                </a:gradFill>
              </a:rPr>
              <a:t>dll</a:t>
            </a:r>
            <a:r>
              <a:rPr lang="en-US" dirty="0">
                <a:gradFill>
                  <a:gsLst>
                    <a:gs pos="2917">
                      <a:srgbClr val="000000"/>
                    </a:gs>
                    <a:gs pos="30000">
                      <a:srgbClr val="000000"/>
                    </a:gs>
                  </a:gsLst>
                  <a:lin ang="5400000" scaled="0"/>
                </a:gradFill>
              </a:rPr>
              <a:t> deployed locally with runtime</a:t>
            </a:r>
          </a:p>
        </p:txBody>
      </p:sp>
      <p:grpSp>
        <p:nvGrpSpPr>
          <p:cNvPr id="81" name="Group 80"/>
          <p:cNvGrpSpPr/>
          <p:nvPr/>
        </p:nvGrpSpPr>
        <p:grpSpPr>
          <a:xfrm>
            <a:off x="2476013" y="3114332"/>
            <a:ext cx="1591806" cy="1167431"/>
            <a:chOff x="2486081" y="2600282"/>
            <a:chExt cx="1592032" cy="1167597"/>
          </a:xfrm>
        </p:grpSpPr>
        <p:sp>
          <p:nvSpPr>
            <p:cNvPr id="3" name="Rectangle 2"/>
            <p:cNvSpPr/>
            <p:nvPr/>
          </p:nvSpPr>
          <p:spPr bwMode="auto">
            <a:xfrm>
              <a:off x="2486081" y="2600282"/>
              <a:ext cx="1592032" cy="116759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r>
                <a:rPr lang="en-US" sz="2400" dirty="0">
                  <a:gradFill>
                    <a:gsLst>
                      <a:gs pos="0">
                        <a:srgbClr val="FFFFFF"/>
                      </a:gs>
                      <a:gs pos="100000">
                        <a:srgbClr val="FFFFFF"/>
                      </a:gs>
                    </a:gsLst>
                    <a:lin ang="5400000" scaled="0"/>
                  </a:gradFill>
                  <a:ea typeface="Segoe UI" pitchFamily="34" charset="0"/>
                  <a:cs typeface="Segoe UI" pitchFamily="34" charset="0"/>
                </a:rPr>
                <a:t>Roslyn</a:t>
              </a:r>
            </a:p>
          </p:txBody>
        </p:sp>
        <p:sp>
          <p:nvSpPr>
            <p:cNvPr id="73" name="Freeform 84"/>
            <p:cNvSpPr>
              <a:spLocks noEditPoints="1"/>
            </p:cNvSpPr>
            <p:nvPr/>
          </p:nvSpPr>
          <p:spPr bwMode="black">
            <a:xfrm>
              <a:off x="3506434" y="3181555"/>
              <a:ext cx="491449" cy="486418"/>
            </a:xfrm>
            <a:custGeom>
              <a:avLst/>
              <a:gdLst>
                <a:gd name="T0" fmla="*/ 604 w 1838"/>
                <a:gd name="T1" fmla="*/ 253 h 2192"/>
                <a:gd name="T2" fmla="*/ 1159 w 1838"/>
                <a:gd name="T3" fmla="*/ 963 h 2192"/>
                <a:gd name="T4" fmla="*/ 1105 w 1838"/>
                <a:gd name="T5" fmla="*/ 573 h 2192"/>
                <a:gd name="T6" fmla="*/ 214 w 1838"/>
                <a:gd name="T7" fmla="*/ 0 h 2192"/>
                <a:gd name="T8" fmla="*/ 1159 w 1838"/>
                <a:gd name="T9" fmla="*/ 694 h 2192"/>
                <a:gd name="T10" fmla="*/ 1088 w 1838"/>
                <a:gd name="T11" fmla="*/ 764 h 2192"/>
                <a:gd name="T12" fmla="*/ 284 w 1838"/>
                <a:gd name="T13" fmla="*/ 198 h 2192"/>
                <a:gd name="T14" fmla="*/ 214 w 1838"/>
                <a:gd name="T15" fmla="*/ 128 h 2192"/>
                <a:gd name="T16" fmla="*/ 1443 w 1838"/>
                <a:gd name="T17" fmla="*/ 262 h 2192"/>
                <a:gd name="T18" fmla="*/ 1309 w 1838"/>
                <a:gd name="T19" fmla="*/ 1063 h 2192"/>
                <a:gd name="T20" fmla="*/ 903 w 1838"/>
                <a:gd name="T21" fmla="*/ 764 h 2192"/>
                <a:gd name="T22" fmla="*/ 639 w 1838"/>
                <a:gd name="T23" fmla="*/ 952 h 2192"/>
                <a:gd name="T24" fmla="*/ 704 w 1838"/>
                <a:gd name="T25" fmla="*/ 1683 h 2192"/>
                <a:gd name="T26" fmla="*/ 767 w 1838"/>
                <a:gd name="T27" fmla="*/ 1191 h 2192"/>
                <a:gd name="T28" fmla="*/ 1683 w 1838"/>
                <a:gd name="T29" fmla="*/ 390 h 2192"/>
                <a:gd name="T30" fmla="*/ 1443 w 1838"/>
                <a:gd name="T31" fmla="*/ 134 h 2192"/>
                <a:gd name="T32" fmla="*/ 960 w 1838"/>
                <a:gd name="T33" fmla="*/ 198 h 2192"/>
                <a:gd name="T34" fmla="*/ 704 w 1838"/>
                <a:gd name="T35" fmla="*/ 1555 h 2192"/>
                <a:gd name="T36" fmla="*/ 775 w 1838"/>
                <a:gd name="T37" fmla="*/ 1484 h 2192"/>
                <a:gd name="T38" fmla="*/ 704 w 1838"/>
                <a:gd name="T39" fmla="*/ 694 h 2192"/>
                <a:gd name="T40" fmla="*/ 1631 w 1838"/>
                <a:gd name="T41" fmla="*/ 128 h 2192"/>
                <a:gd name="T42" fmla="*/ 1560 w 1838"/>
                <a:gd name="T43" fmla="*/ 198 h 2192"/>
                <a:gd name="T44" fmla="*/ 1230 w 1838"/>
                <a:gd name="T45" fmla="*/ 198 h 2192"/>
                <a:gd name="T46" fmla="*/ 1159 w 1838"/>
                <a:gd name="T47" fmla="*/ 128 h 2192"/>
                <a:gd name="T48" fmla="*/ 1823 w 1838"/>
                <a:gd name="T49" fmla="*/ 1484 h 2192"/>
                <a:gd name="T50" fmla="*/ 1553 w 1838"/>
                <a:gd name="T51" fmla="*/ 1670 h 2192"/>
                <a:gd name="T52" fmla="*/ 1362 w 1838"/>
                <a:gd name="T53" fmla="*/ 1922 h 2192"/>
                <a:gd name="T54" fmla="*/ 1177 w 1838"/>
                <a:gd name="T55" fmla="*/ 2192 h 2192"/>
                <a:gd name="T56" fmla="*/ 1639 w 1838"/>
                <a:gd name="T57" fmla="*/ 2192 h 2192"/>
                <a:gd name="T58" fmla="*/ 1177 w 1838"/>
                <a:gd name="T59" fmla="*/ 2064 h 2192"/>
                <a:gd name="T60" fmla="*/ 1247 w 1838"/>
                <a:gd name="T61" fmla="*/ 1993 h 2192"/>
                <a:gd name="T62" fmla="*/ 1695 w 1838"/>
                <a:gd name="T63" fmla="*/ 1484 h 2192"/>
                <a:gd name="T64" fmla="*/ 1624 w 1838"/>
                <a:gd name="T65" fmla="*/ 1414 h 2192"/>
                <a:gd name="T66" fmla="*/ 1639 w 1838"/>
                <a:gd name="T67" fmla="*/ 1922 h 2192"/>
                <a:gd name="T68" fmla="*/ 1133 w 1838"/>
                <a:gd name="T69" fmla="*/ 1678 h 2192"/>
                <a:gd name="T70" fmla="*/ 1177 w 1838"/>
                <a:gd name="T71" fmla="*/ 1286 h 2192"/>
                <a:gd name="T72" fmla="*/ 807 w 1838"/>
                <a:gd name="T73" fmla="*/ 1823 h 2192"/>
                <a:gd name="T74" fmla="*/ 384 w 1838"/>
                <a:gd name="T75" fmla="*/ 1922 h 2192"/>
                <a:gd name="T76" fmla="*/ 412 w 1838"/>
                <a:gd name="T77" fmla="*/ 764 h 2192"/>
                <a:gd name="T78" fmla="*/ 157 w 1838"/>
                <a:gd name="T79" fmla="*/ 955 h 2192"/>
                <a:gd name="T80" fmla="*/ 199 w 1838"/>
                <a:gd name="T81" fmla="*/ 2192 h 2192"/>
                <a:gd name="T82" fmla="*/ 704 w 1838"/>
                <a:gd name="T83" fmla="*/ 2192 h 2192"/>
                <a:gd name="T84" fmla="*/ 1133 w 1838"/>
                <a:gd name="T85" fmla="*/ 1678 h 2192"/>
                <a:gd name="T86" fmla="*/ 1177 w 1838"/>
                <a:gd name="T87" fmla="*/ 1555 h 2192"/>
                <a:gd name="T88" fmla="*/ 199 w 1838"/>
                <a:gd name="T89" fmla="*/ 2064 h 2192"/>
                <a:gd name="T90" fmla="*/ 270 w 1838"/>
                <a:gd name="T91" fmla="*/ 1993 h 2192"/>
                <a:gd name="T92" fmla="*/ 143 w 1838"/>
                <a:gd name="T93" fmla="*/ 764 h 2192"/>
                <a:gd name="T94" fmla="*/ 214 w 1838"/>
                <a:gd name="T95" fmla="*/ 835 h 2192"/>
                <a:gd name="T96" fmla="*/ 704 w 1838"/>
                <a:gd name="T97" fmla="*/ 1922 h 2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838" h="2192">
                  <a:moveTo>
                    <a:pt x="214" y="397"/>
                  </a:moveTo>
                  <a:cubicBezTo>
                    <a:pt x="304" y="397"/>
                    <a:pt x="381" y="336"/>
                    <a:pt x="405" y="253"/>
                  </a:cubicBezTo>
                  <a:cubicBezTo>
                    <a:pt x="604" y="253"/>
                    <a:pt x="604" y="253"/>
                    <a:pt x="604" y="253"/>
                  </a:cubicBezTo>
                  <a:cubicBezTo>
                    <a:pt x="998" y="647"/>
                    <a:pt x="998" y="647"/>
                    <a:pt x="998" y="647"/>
                  </a:cubicBezTo>
                  <a:cubicBezTo>
                    <a:pt x="974" y="680"/>
                    <a:pt x="960" y="720"/>
                    <a:pt x="960" y="764"/>
                  </a:cubicBezTo>
                  <a:cubicBezTo>
                    <a:pt x="960" y="874"/>
                    <a:pt x="1049" y="963"/>
                    <a:pt x="1159" y="963"/>
                  </a:cubicBezTo>
                  <a:cubicBezTo>
                    <a:pt x="1268" y="963"/>
                    <a:pt x="1358" y="874"/>
                    <a:pt x="1358" y="764"/>
                  </a:cubicBezTo>
                  <a:cubicBezTo>
                    <a:pt x="1358" y="655"/>
                    <a:pt x="1268" y="566"/>
                    <a:pt x="1159" y="566"/>
                  </a:cubicBezTo>
                  <a:cubicBezTo>
                    <a:pt x="1140" y="566"/>
                    <a:pt x="1122" y="568"/>
                    <a:pt x="1105" y="573"/>
                  </a:cubicBezTo>
                  <a:cubicBezTo>
                    <a:pt x="657" y="125"/>
                    <a:pt x="657" y="125"/>
                    <a:pt x="657" y="125"/>
                  </a:cubicBezTo>
                  <a:cubicBezTo>
                    <a:pt x="398" y="125"/>
                    <a:pt x="398" y="125"/>
                    <a:pt x="398" y="125"/>
                  </a:cubicBezTo>
                  <a:cubicBezTo>
                    <a:pt x="369" y="51"/>
                    <a:pt x="297" y="0"/>
                    <a:pt x="214" y="0"/>
                  </a:cubicBezTo>
                  <a:cubicBezTo>
                    <a:pt x="104" y="0"/>
                    <a:pt x="15" y="89"/>
                    <a:pt x="15" y="198"/>
                  </a:cubicBezTo>
                  <a:cubicBezTo>
                    <a:pt x="15" y="308"/>
                    <a:pt x="104" y="397"/>
                    <a:pt x="214" y="397"/>
                  </a:cubicBezTo>
                  <a:close/>
                  <a:moveTo>
                    <a:pt x="1159" y="694"/>
                  </a:moveTo>
                  <a:cubicBezTo>
                    <a:pt x="1198" y="694"/>
                    <a:pt x="1230" y="725"/>
                    <a:pt x="1230" y="764"/>
                  </a:cubicBezTo>
                  <a:cubicBezTo>
                    <a:pt x="1230" y="803"/>
                    <a:pt x="1198" y="835"/>
                    <a:pt x="1159" y="835"/>
                  </a:cubicBezTo>
                  <a:cubicBezTo>
                    <a:pt x="1120" y="835"/>
                    <a:pt x="1088" y="803"/>
                    <a:pt x="1088" y="764"/>
                  </a:cubicBezTo>
                  <a:cubicBezTo>
                    <a:pt x="1088" y="725"/>
                    <a:pt x="1120" y="694"/>
                    <a:pt x="1159" y="694"/>
                  </a:cubicBezTo>
                  <a:close/>
                  <a:moveTo>
                    <a:pt x="214" y="128"/>
                  </a:moveTo>
                  <a:cubicBezTo>
                    <a:pt x="253" y="128"/>
                    <a:pt x="284" y="159"/>
                    <a:pt x="284" y="198"/>
                  </a:cubicBezTo>
                  <a:cubicBezTo>
                    <a:pt x="284" y="237"/>
                    <a:pt x="253" y="269"/>
                    <a:pt x="214" y="269"/>
                  </a:cubicBezTo>
                  <a:cubicBezTo>
                    <a:pt x="175" y="269"/>
                    <a:pt x="143" y="237"/>
                    <a:pt x="143" y="198"/>
                  </a:cubicBezTo>
                  <a:cubicBezTo>
                    <a:pt x="143" y="159"/>
                    <a:pt x="175" y="128"/>
                    <a:pt x="214" y="128"/>
                  </a:cubicBezTo>
                  <a:close/>
                  <a:moveTo>
                    <a:pt x="1159" y="397"/>
                  </a:moveTo>
                  <a:cubicBezTo>
                    <a:pt x="1246" y="397"/>
                    <a:pt x="1320" y="341"/>
                    <a:pt x="1347" y="262"/>
                  </a:cubicBezTo>
                  <a:cubicBezTo>
                    <a:pt x="1443" y="262"/>
                    <a:pt x="1443" y="262"/>
                    <a:pt x="1443" y="262"/>
                  </a:cubicBezTo>
                  <a:cubicBezTo>
                    <a:pt x="1461" y="317"/>
                    <a:pt x="1503" y="360"/>
                    <a:pt x="1555" y="382"/>
                  </a:cubicBezTo>
                  <a:cubicBezTo>
                    <a:pt x="1555" y="817"/>
                    <a:pt x="1555" y="817"/>
                    <a:pt x="1555" y="817"/>
                  </a:cubicBezTo>
                  <a:cubicBezTo>
                    <a:pt x="1309" y="1063"/>
                    <a:pt x="1309" y="1063"/>
                    <a:pt x="1309" y="1063"/>
                  </a:cubicBezTo>
                  <a:cubicBezTo>
                    <a:pt x="767" y="1063"/>
                    <a:pt x="767" y="1063"/>
                    <a:pt x="767" y="1063"/>
                  </a:cubicBezTo>
                  <a:cubicBezTo>
                    <a:pt x="767" y="953"/>
                    <a:pt x="767" y="953"/>
                    <a:pt x="767" y="953"/>
                  </a:cubicBezTo>
                  <a:cubicBezTo>
                    <a:pt x="846" y="927"/>
                    <a:pt x="903" y="852"/>
                    <a:pt x="903" y="764"/>
                  </a:cubicBezTo>
                  <a:cubicBezTo>
                    <a:pt x="903" y="655"/>
                    <a:pt x="814" y="566"/>
                    <a:pt x="704" y="566"/>
                  </a:cubicBezTo>
                  <a:cubicBezTo>
                    <a:pt x="595" y="566"/>
                    <a:pt x="506" y="655"/>
                    <a:pt x="506" y="764"/>
                  </a:cubicBezTo>
                  <a:cubicBezTo>
                    <a:pt x="506" y="851"/>
                    <a:pt x="561" y="925"/>
                    <a:pt x="639" y="952"/>
                  </a:cubicBezTo>
                  <a:cubicBezTo>
                    <a:pt x="639" y="1297"/>
                    <a:pt x="639" y="1297"/>
                    <a:pt x="639" y="1297"/>
                  </a:cubicBezTo>
                  <a:cubicBezTo>
                    <a:pt x="561" y="1324"/>
                    <a:pt x="506" y="1398"/>
                    <a:pt x="506" y="1484"/>
                  </a:cubicBezTo>
                  <a:cubicBezTo>
                    <a:pt x="506" y="1594"/>
                    <a:pt x="595" y="1683"/>
                    <a:pt x="704" y="1683"/>
                  </a:cubicBezTo>
                  <a:cubicBezTo>
                    <a:pt x="814" y="1683"/>
                    <a:pt x="903" y="1594"/>
                    <a:pt x="903" y="1484"/>
                  </a:cubicBezTo>
                  <a:cubicBezTo>
                    <a:pt x="903" y="1397"/>
                    <a:pt x="846" y="1322"/>
                    <a:pt x="767" y="1296"/>
                  </a:cubicBezTo>
                  <a:cubicBezTo>
                    <a:pt x="767" y="1191"/>
                    <a:pt x="767" y="1191"/>
                    <a:pt x="767" y="1191"/>
                  </a:cubicBezTo>
                  <a:cubicBezTo>
                    <a:pt x="1362" y="1191"/>
                    <a:pt x="1362" y="1191"/>
                    <a:pt x="1362" y="1191"/>
                  </a:cubicBezTo>
                  <a:cubicBezTo>
                    <a:pt x="1683" y="870"/>
                    <a:pt x="1683" y="870"/>
                    <a:pt x="1683" y="870"/>
                  </a:cubicBezTo>
                  <a:cubicBezTo>
                    <a:pt x="1683" y="390"/>
                    <a:pt x="1683" y="390"/>
                    <a:pt x="1683" y="390"/>
                  </a:cubicBezTo>
                  <a:cubicBezTo>
                    <a:pt x="1768" y="367"/>
                    <a:pt x="1830" y="290"/>
                    <a:pt x="1830" y="198"/>
                  </a:cubicBezTo>
                  <a:cubicBezTo>
                    <a:pt x="1830" y="89"/>
                    <a:pt x="1740" y="0"/>
                    <a:pt x="1631" y="0"/>
                  </a:cubicBezTo>
                  <a:cubicBezTo>
                    <a:pt x="1544" y="0"/>
                    <a:pt x="1469" y="56"/>
                    <a:pt x="1443" y="134"/>
                  </a:cubicBezTo>
                  <a:cubicBezTo>
                    <a:pt x="1347" y="134"/>
                    <a:pt x="1347" y="134"/>
                    <a:pt x="1347" y="134"/>
                  </a:cubicBezTo>
                  <a:cubicBezTo>
                    <a:pt x="1320" y="56"/>
                    <a:pt x="1246" y="0"/>
                    <a:pt x="1159" y="0"/>
                  </a:cubicBezTo>
                  <a:cubicBezTo>
                    <a:pt x="1049" y="0"/>
                    <a:pt x="960" y="89"/>
                    <a:pt x="960" y="198"/>
                  </a:cubicBezTo>
                  <a:cubicBezTo>
                    <a:pt x="960" y="308"/>
                    <a:pt x="1049" y="397"/>
                    <a:pt x="1159" y="397"/>
                  </a:cubicBezTo>
                  <a:close/>
                  <a:moveTo>
                    <a:pt x="775" y="1484"/>
                  </a:moveTo>
                  <a:cubicBezTo>
                    <a:pt x="775" y="1523"/>
                    <a:pt x="743" y="1555"/>
                    <a:pt x="704" y="1555"/>
                  </a:cubicBezTo>
                  <a:cubicBezTo>
                    <a:pt x="665" y="1555"/>
                    <a:pt x="634" y="1523"/>
                    <a:pt x="634" y="1484"/>
                  </a:cubicBezTo>
                  <a:cubicBezTo>
                    <a:pt x="634" y="1445"/>
                    <a:pt x="665" y="1414"/>
                    <a:pt x="704" y="1414"/>
                  </a:cubicBezTo>
                  <a:cubicBezTo>
                    <a:pt x="743" y="1414"/>
                    <a:pt x="775" y="1445"/>
                    <a:pt x="775" y="1484"/>
                  </a:cubicBezTo>
                  <a:close/>
                  <a:moveTo>
                    <a:pt x="704" y="835"/>
                  </a:moveTo>
                  <a:cubicBezTo>
                    <a:pt x="665" y="835"/>
                    <a:pt x="634" y="803"/>
                    <a:pt x="634" y="764"/>
                  </a:cubicBezTo>
                  <a:cubicBezTo>
                    <a:pt x="634" y="725"/>
                    <a:pt x="665" y="694"/>
                    <a:pt x="704" y="694"/>
                  </a:cubicBezTo>
                  <a:cubicBezTo>
                    <a:pt x="743" y="694"/>
                    <a:pt x="775" y="725"/>
                    <a:pt x="775" y="764"/>
                  </a:cubicBezTo>
                  <a:cubicBezTo>
                    <a:pt x="775" y="803"/>
                    <a:pt x="743" y="835"/>
                    <a:pt x="704" y="835"/>
                  </a:cubicBezTo>
                  <a:close/>
                  <a:moveTo>
                    <a:pt x="1631" y="128"/>
                  </a:moveTo>
                  <a:cubicBezTo>
                    <a:pt x="1670" y="128"/>
                    <a:pt x="1702" y="159"/>
                    <a:pt x="1702" y="198"/>
                  </a:cubicBezTo>
                  <a:cubicBezTo>
                    <a:pt x="1702" y="237"/>
                    <a:pt x="1670" y="269"/>
                    <a:pt x="1631" y="269"/>
                  </a:cubicBezTo>
                  <a:cubicBezTo>
                    <a:pt x="1592" y="269"/>
                    <a:pt x="1560" y="237"/>
                    <a:pt x="1560" y="198"/>
                  </a:cubicBezTo>
                  <a:cubicBezTo>
                    <a:pt x="1560" y="159"/>
                    <a:pt x="1592" y="128"/>
                    <a:pt x="1631" y="128"/>
                  </a:cubicBezTo>
                  <a:close/>
                  <a:moveTo>
                    <a:pt x="1159" y="128"/>
                  </a:moveTo>
                  <a:cubicBezTo>
                    <a:pt x="1198" y="128"/>
                    <a:pt x="1230" y="159"/>
                    <a:pt x="1230" y="198"/>
                  </a:cubicBezTo>
                  <a:cubicBezTo>
                    <a:pt x="1230" y="237"/>
                    <a:pt x="1198" y="269"/>
                    <a:pt x="1159" y="269"/>
                  </a:cubicBezTo>
                  <a:cubicBezTo>
                    <a:pt x="1120" y="269"/>
                    <a:pt x="1088" y="237"/>
                    <a:pt x="1088" y="198"/>
                  </a:cubicBezTo>
                  <a:cubicBezTo>
                    <a:pt x="1088" y="159"/>
                    <a:pt x="1120" y="128"/>
                    <a:pt x="1159" y="128"/>
                  </a:cubicBezTo>
                  <a:close/>
                  <a:moveTo>
                    <a:pt x="1681" y="1799"/>
                  </a:moveTo>
                  <a:cubicBezTo>
                    <a:pt x="1681" y="1675"/>
                    <a:pt x="1681" y="1675"/>
                    <a:pt x="1681" y="1675"/>
                  </a:cubicBezTo>
                  <a:cubicBezTo>
                    <a:pt x="1763" y="1650"/>
                    <a:pt x="1823" y="1574"/>
                    <a:pt x="1823" y="1484"/>
                  </a:cubicBezTo>
                  <a:cubicBezTo>
                    <a:pt x="1823" y="1375"/>
                    <a:pt x="1734" y="1286"/>
                    <a:pt x="1624" y="1286"/>
                  </a:cubicBezTo>
                  <a:cubicBezTo>
                    <a:pt x="1514" y="1286"/>
                    <a:pt x="1425" y="1375"/>
                    <a:pt x="1425" y="1484"/>
                  </a:cubicBezTo>
                  <a:cubicBezTo>
                    <a:pt x="1425" y="1569"/>
                    <a:pt x="1478" y="1641"/>
                    <a:pt x="1553" y="1670"/>
                  </a:cubicBezTo>
                  <a:cubicBezTo>
                    <a:pt x="1553" y="1814"/>
                    <a:pt x="1553" y="1814"/>
                    <a:pt x="1553" y="1814"/>
                  </a:cubicBezTo>
                  <a:cubicBezTo>
                    <a:pt x="1507" y="1836"/>
                    <a:pt x="1472" y="1874"/>
                    <a:pt x="1453" y="1922"/>
                  </a:cubicBezTo>
                  <a:cubicBezTo>
                    <a:pt x="1362" y="1922"/>
                    <a:pt x="1362" y="1922"/>
                    <a:pt x="1362" y="1922"/>
                  </a:cubicBezTo>
                  <a:cubicBezTo>
                    <a:pt x="1333" y="1847"/>
                    <a:pt x="1261" y="1794"/>
                    <a:pt x="1177" y="1794"/>
                  </a:cubicBezTo>
                  <a:cubicBezTo>
                    <a:pt x="1067" y="1794"/>
                    <a:pt x="978" y="1883"/>
                    <a:pt x="978" y="1993"/>
                  </a:cubicBezTo>
                  <a:cubicBezTo>
                    <a:pt x="978" y="2103"/>
                    <a:pt x="1067" y="2192"/>
                    <a:pt x="1177" y="2192"/>
                  </a:cubicBezTo>
                  <a:cubicBezTo>
                    <a:pt x="1266" y="2192"/>
                    <a:pt x="1343" y="2132"/>
                    <a:pt x="1367" y="2050"/>
                  </a:cubicBezTo>
                  <a:cubicBezTo>
                    <a:pt x="1448" y="2050"/>
                    <a:pt x="1448" y="2050"/>
                    <a:pt x="1448" y="2050"/>
                  </a:cubicBezTo>
                  <a:cubicBezTo>
                    <a:pt x="1473" y="2132"/>
                    <a:pt x="1549" y="2192"/>
                    <a:pt x="1639" y="2192"/>
                  </a:cubicBezTo>
                  <a:cubicBezTo>
                    <a:pt x="1748" y="2192"/>
                    <a:pt x="1838" y="2103"/>
                    <a:pt x="1838" y="1993"/>
                  </a:cubicBezTo>
                  <a:cubicBezTo>
                    <a:pt x="1838" y="1898"/>
                    <a:pt x="1770" y="1818"/>
                    <a:pt x="1681" y="1799"/>
                  </a:cubicBezTo>
                  <a:close/>
                  <a:moveTo>
                    <a:pt x="1177" y="2064"/>
                  </a:moveTo>
                  <a:cubicBezTo>
                    <a:pt x="1138" y="2064"/>
                    <a:pt x="1106" y="2032"/>
                    <a:pt x="1106" y="1993"/>
                  </a:cubicBezTo>
                  <a:cubicBezTo>
                    <a:pt x="1106" y="1954"/>
                    <a:pt x="1138" y="1922"/>
                    <a:pt x="1177" y="1922"/>
                  </a:cubicBezTo>
                  <a:cubicBezTo>
                    <a:pt x="1216" y="1922"/>
                    <a:pt x="1247" y="1954"/>
                    <a:pt x="1247" y="1993"/>
                  </a:cubicBezTo>
                  <a:cubicBezTo>
                    <a:pt x="1247" y="2032"/>
                    <a:pt x="1216" y="2064"/>
                    <a:pt x="1177" y="2064"/>
                  </a:cubicBezTo>
                  <a:close/>
                  <a:moveTo>
                    <a:pt x="1624" y="1414"/>
                  </a:moveTo>
                  <a:cubicBezTo>
                    <a:pt x="1663" y="1414"/>
                    <a:pt x="1695" y="1445"/>
                    <a:pt x="1695" y="1484"/>
                  </a:cubicBezTo>
                  <a:cubicBezTo>
                    <a:pt x="1695" y="1523"/>
                    <a:pt x="1663" y="1555"/>
                    <a:pt x="1624" y="1555"/>
                  </a:cubicBezTo>
                  <a:cubicBezTo>
                    <a:pt x="1585" y="1555"/>
                    <a:pt x="1553" y="1523"/>
                    <a:pt x="1553" y="1484"/>
                  </a:cubicBezTo>
                  <a:cubicBezTo>
                    <a:pt x="1553" y="1445"/>
                    <a:pt x="1585" y="1414"/>
                    <a:pt x="1624" y="1414"/>
                  </a:cubicBezTo>
                  <a:close/>
                  <a:moveTo>
                    <a:pt x="1639" y="2064"/>
                  </a:moveTo>
                  <a:cubicBezTo>
                    <a:pt x="1600" y="2064"/>
                    <a:pt x="1568" y="2032"/>
                    <a:pt x="1568" y="1993"/>
                  </a:cubicBezTo>
                  <a:cubicBezTo>
                    <a:pt x="1568" y="1954"/>
                    <a:pt x="1600" y="1922"/>
                    <a:pt x="1639" y="1922"/>
                  </a:cubicBezTo>
                  <a:cubicBezTo>
                    <a:pt x="1678" y="1922"/>
                    <a:pt x="1710" y="1954"/>
                    <a:pt x="1710" y="1993"/>
                  </a:cubicBezTo>
                  <a:cubicBezTo>
                    <a:pt x="1710" y="2032"/>
                    <a:pt x="1678" y="2064"/>
                    <a:pt x="1639" y="2064"/>
                  </a:cubicBezTo>
                  <a:close/>
                  <a:moveTo>
                    <a:pt x="1133" y="1678"/>
                  </a:moveTo>
                  <a:cubicBezTo>
                    <a:pt x="1147" y="1681"/>
                    <a:pt x="1162" y="1683"/>
                    <a:pt x="1177" y="1683"/>
                  </a:cubicBezTo>
                  <a:cubicBezTo>
                    <a:pt x="1286" y="1683"/>
                    <a:pt x="1375" y="1594"/>
                    <a:pt x="1375" y="1484"/>
                  </a:cubicBezTo>
                  <a:cubicBezTo>
                    <a:pt x="1375" y="1375"/>
                    <a:pt x="1286" y="1286"/>
                    <a:pt x="1177" y="1286"/>
                  </a:cubicBezTo>
                  <a:cubicBezTo>
                    <a:pt x="1067" y="1286"/>
                    <a:pt x="978" y="1375"/>
                    <a:pt x="978" y="1484"/>
                  </a:cubicBezTo>
                  <a:cubicBezTo>
                    <a:pt x="978" y="1531"/>
                    <a:pt x="994" y="1575"/>
                    <a:pt x="1022" y="1609"/>
                  </a:cubicBezTo>
                  <a:cubicBezTo>
                    <a:pt x="807" y="1823"/>
                    <a:pt x="807" y="1823"/>
                    <a:pt x="807" y="1823"/>
                  </a:cubicBezTo>
                  <a:cubicBezTo>
                    <a:pt x="777" y="1805"/>
                    <a:pt x="742" y="1794"/>
                    <a:pt x="704" y="1794"/>
                  </a:cubicBezTo>
                  <a:cubicBezTo>
                    <a:pt x="620" y="1794"/>
                    <a:pt x="548" y="1847"/>
                    <a:pt x="519" y="1922"/>
                  </a:cubicBezTo>
                  <a:cubicBezTo>
                    <a:pt x="384" y="1922"/>
                    <a:pt x="384" y="1922"/>
                    <a:pt x="384" y="1922"/>
                  </a:cubicBezTo>
                  <a:cubicBezTo>
                    <a:pt x="366" y="1874"/>
                    <a:pt x="330" y="1836"/>
                    <a:pt x="285" y="1814"/>
                  </a:cubicBezTo>
                  <a:cubicBezTo>
                    <a:pt x="285" y="950"/>
                    <a:pt x="285" y="950"/>
                    <a:pt x="285" y="950"/>
                  </a:cubicBezTo>
                  <a:cubicBezTo>
                    <a:pt x="359" y="921"/>
                    <a:pt x="412" y="849"/>
                    <a:pt x="412" y="764"/>
                  </a:cubicBezTo>
                  <a:cubicBezTo>
                    <a:pt x="412" y="655"/>
                    <a:pt x="323" y="566"/>
                    <a:pt x="214" y="566"/>
                  </a:cubicBezTo>
                  <a:cubicBezTo>
                    <a:pt x="104" y="566"/>
                    <a:pt x="15" y="655"/>
                    <a:pt x="15" y="764"/>
                  </a:cubicBezTo>
                  <a:cubicBezTo>
                    <a:pt x="15" y="854"/>
                    <a:pt x="75" y="930"/>
                    <a:pt x="157" y="955"/>
                  </a:cubicBezTo>
                  <a:cubicBezTo>
                    <a:pt x="157" y="1799"/>
                    <a:pt x="157" y="1799"/>
                    <a:pt x="157" y="1799"/>
                  </a:cubicBezTo>
                  <a:cubicBezTo>
                    <a:pt x="67" y="1818"/>
                    <a:pt x="0" y="1898"/>
                    <a:pt x="0" y="1993"/>
                  </a:cubicBezTo>
                  <a:cubicBezTo>
                    <a:pt x="0" y="2103"/>
                    <a:pt x="89" y="2192"/>
                    <a:pt x="199" y="2192"/>
                  </a:cubicBezTo>
                  <a:cubicBezTo>
                    <a:pt x="289" y="2192"/>
                    <a:pt x="365" y="2132"/>
                    <a:pt x="389" y="2050"/>
                  </a:cubicBezTo>
                  <a:cubicBezTo>
                    <a:pt x="514" y="2050"/>
                    <a:pt x="514" y="2050"/>
                    <a:pt x="514" y="2050"/>
                  </a:cubicBezTo>
                  <a:cubicBezTo>
                    <a:pt x="538" y="2132"/>
                    <a:pt x="615" y="2192"/>
                    <a:pt x="704" y="2192"/>
                  </a:cubicBezTo>
                  <a:cubicBezTo>
                    <a:pt x="814" y="2192"/>
                    <a:pt x="903" y="2103"/>
                    <a:pt x="903" y="1993"/>
                  </a:cubicBezTo>
                  <a:cubicBezTo>
                    <a:pt x="903" y="1968"/>
                    <a:pt x="898" y="1944"/>
                    <a:pt x="890" y="1922"/>
                  </a:cubicBezTo>
                  <a:lnTo>
                    <a:pt x="1133" y="1678"/>
                  </a:lnTo>
                  <a:close/>
                  <a:moveTo>
                    <a:pt x="1177" y="1414"/>
                  </a:moveTo>
                  <a:cubicBezTo>
                    <a:pt x="1216" y="1414"/>
                    <a:pt x="1247" y="1445"/>
                    <a:pt x="1247" y="1484"/>
                  </a:cubicBezTo>
                  <a:cubicBezTo>
                    <a:pt x="1247" y="1523"/>
                    <a:pt x="1216" y="1555"/>
                    <a:pt x="1177" y="1555"/>
                  </a:cubicBezTo>
                  <a:cubicBezTo>
                    <a:pt x="1138" y="1555"/>
                    <a:pt x="1106" y="1523"/>
                    <a:pt x="1106" y="1484"/>
                  </a:cubicBezTo>
                  <a:cubicBezTo>
                    <a:pt x="1106" y="1445"/>
                    <a:pt x="1138" y="1414"/>
                    <a:pt x="1177" y="1414"/>
                  </a:cubicBezTo>
                  <a:close/>
                  <a:moveTo>
                    <a:pt x="199" y="2064"/>
                  </a:moveTo>
                  <a:cubicBezTo>
                    <a:pt x="160" y="2064"/>
                    <a:pt x="128" y="2032"/>
                    <a:pt x="128" y="1993"/>
                  </a:cubicBezTo>
                  <a:cubicBezTo>
                    <a:pt x="128" y="1954"/>
                    <a:pt x="160" y="1922"/>
                    <a:pt x="199" y="1922"/>
                  </a:cubicBezTo>
                  <a:cubicBezTo>
                    <a:pt x="238" y="1922"/>
                    <a:pt x="270" y="1954"/>
                    <a:pt x="270" y="1993"/>
                  </a:cubicBezTo>
                  <a:cubicBezTo>
                    <a:pt x="270" y="2032"/>
                    <a:pt x="238" y="2064"/>
                    <a:pt x="199" y="2064"/>
                  </a:cubicBezTo>
                  <a:close/>
                  <a:moveTo>
                    <a:pt x="214" y="835"/>
                  </a:moveTo>
                  <a:cubicBezTo>
                    <a:pt x="175" y="835"/>
                    <a:pt x="143" y="803"/>
                    <a:pt x="143" y="764"/>
                  </a:cubicBezTo>
                  <a:cubicBezTo>
                    <a:pt x="143" y="725"/>
                    <a:pt x="175" y="694"/>
                    <a:pt x="214" y="694"/>
                  </a:cubicBezTo>
                  <a:cubicBezTo>
                    <a:pt x="253" y="694"/>
                    <a:pt x="284" y="725"/>
                    <a:pt x="284" y="764"/>
                  </a:cubicBezTo>
                  <a:cubicBezTo>
                    <a:pt x="284" y="803"/>
                    <a:pt x="253" y="835"/>
                    <a:pt x="214" y="835"/>
                  </a:cubicBezTo>
                  <a:close/>
                  <a:moveTo>
                    <a:pt x="704" y="2064"/>
                  </a:moveTo>
                  <a:cubicBezTo>
                    <a:pt x="665" y="2064"/>
                    <a:pt x="634" y="2032"/>
                    <a:pt x="634" y="1993"/>
                  </a:cubicBezTo>
                  <a:cubicBezTo>
                    <a:pt x="634" y="1954"/>
                    <a:pt x="665" y="1922"/>
                    <a:pt x="704" y="1922"/>
                  </a:cubicBezTo>
                  <a:cubicBezTo>
                    <a:pt x="743" y="1922"/>
                    <a:pt x="775" y="1954"/>
                    <a:pt x="775" y="1993"/>
                  </a:cubicBezTo>
                  <a:cubicBezTo>
                    <a:pt x="775" y="2032"/>
                    <a:pt x="743" y="2064"/>
                    <a:pt x="704" y="2064"/>
                  </a:cubicBezTo>
                  <a:close/>
                </a:path>
              </a:pathLst>
            </a:custGeom>
            <a:solidFill>
              <a:srgbClr val="FFFFFF"/>
            </a:solidFill>
            <a:ln>
              <a:noFill/>
            </a:ln>
          </p:spPr>
          <p:txBody>
            <a:bodyPr vert="horz" wrap="square" lIns="83920" tIns="41960" rIns="83920" bIns="41960" numCol="1" anchor="t" anchorCtr="0" compatLnSpc="1">
              <a:prstTxWarp prst="textNoShape">
                <a:avLst/>
              </a:prstTxWarp>
            </a:bodyPr>
            <a:lstStyle/>
            <a:p>
              <a:pPr defTabSz="932357"/>
              <a:endParaRPr lang="en-US" sz="1632">
                <a:solidFill>
                  <a:prstClr val="black"/>
                </a:solidFill>
              </a:endParaRPr>
            </a:p>
          </p:txBody>
        </p:sp>
      </p:grpSp>
      <p:grpSp>
        <p:nvGrpSpPr>
          <p:cNvPr id="79" name="Group 78"/>
          <p:cNvGrpSpPr/>
          <p:nvPr/>
        </p:nvGrpSpPr>
        <p:grpSpPr>
          <a:xfrm>
            <a:off x="7594578" y="4369053"/>
            <a:ext cx="1650688" cy="1159261"/>
            <a:chOff x="7594774" y="3988834"/>
            <a:chExt cx="1650922" cy="1159426"/>
          </a:xfrm>
        </p:grpSpPr>
        <p:sp>
          <p:nvSpPr>
            <p:cNvPr id="55" name="Flowchart: Process 54"/>
            <p:cNvSpPr/>
            <p:nvPr/>
          </p:nvSpPr>
          <p:spPr bwMode="auto">
            <a:xfrm>
              <a:off x="7594774" y="3988834"/>
              <a:ext cx="1650922" cy="1159426"/>
            </a:xfrm>
            <a:prstGeom prst="flowChartProcess">
              <a:avLst/>
            </a:prstGeom>
            <a:solidFill>
              <a:schemeClr val="accent2">
                <a:lumMod val="75000"/>
              </a:schemeClr>
            </a:solidFill>
            <a:ln>
              <a:solidFill>
                <a:schemeClr val="bg1"/>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r>
                <a:rPr lang="en-US" dirty="0">
                  <a:solidFill>
                    <a:srgbClr val="FFFFFF"/>
                  </a:solidFill>
                  <a:ea typeface="Segoe UI" pitchFamily="34" charset="0"/>
                  <a:cs typeface="Segoe UI" pitchFamily="34" charset="0"/>
                </a:rPr>
                <a:t>JIT Compiler</a:t>
              </a:r>
            </a:p>
            <a:p>
              <a:pPr algn="ctr" defTabSz="932293" fontAlgn="base">
                <a:lnSpc>
                  <a:spcPct val="90000"/>
                </a:lnSpc>
                <a:spcBef>
                  <a:spcPct val="0"/>
                </a:spcBef>
                <a:spcAft>
                  <a:spcPct val="0"/>
                </a:spcAft>
              </a:pPr>
              <a:r>
                <a:rPr lang="en-US" dirty="0">
                  <a:solidFill>
                    <a:srgbClr val="FFFFFF"/>
                  </a:solidFill>
                  <a:ea typeface="Segoe UI" pitchFamily="34" charset="0"/>
                  <a:cs typeface="Segoe UI" pitchFamily="34" charset="0"/>
                </a:rPr>
                <a:t>(</a:t>
              </a:r>
              <a:r>
                <a:rPr lang="en-US" dirty="0" err="1">
                  <a:solidFill>
                    <a:srgbClr val="FFFFFF"/>
                  </a:solidFill>
                  <a:ea typeface="Segoe UI" pitchFamily="34" charset="0"/>
                  <a:cs typeface="Segoe UI" pitchFamily="34" charset="0"/>
                </a:rPr>
                <a:t>RyuJIT</a:t>
              </a:r>
              <a:r>
                <a:rPr lang="en-US" dirty="0">
                  <a:solidFill>
                    <a:srgbClr val="FFFFFF"/>
                  </a:solidFill>
                  <a:ea typeface="Segoe UI" pitchFamily="34" charset="0"/>
                  <a:cs typeface="Segoe UI" pitchFamily="34" charset="0"/>
                </a:rPr>
                <a:t>)</a:t>
              </a:r>
            </a:p>
          </p:txBody>
        </p:sp>
        <p:grpSp>
          <p:nvGrpSpPr>
            <p:cNvPr id="75" name="Group 74"/>
            <p:cNvGrpSpPr>
              <a:grpSpLocks noChangeAspect="1"/>
            </p:cNvGrpSpPr>
            <p:nvPr/>
          </p:nvGrpSpPr>
          <p:grpSpPr>
            <a:xfrm>
              <a:off x="8644316" y="4675780"/>
              <a:ext cx="477285" cy="390078"/>
              <a:chOff x="9061629" y="5706715"/>
              <a:chExt cx="380421" cy="310912"/>
            </a:xfrm>
          </p:grpSpPr>
          <p:sp>
            <p:nvSpPr>
              <p:cNvPr id="76" name="Freeform 86"/>
              <p:cNvSpPr>
                <a:spLocks noEditPoints="1"/>
              </p:cNvSpPr>
              <p:nvPr/>
            </p:nvSpPr>
            <p:spPr bwMode="black">
              <a:xfrm>
                <a:off x="9061629" y="5737038"/>
                <a:ext cx="277768" cy="280589"/>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0" tIns="46611" rIns="93220" bIns="46611" numCol="1" anchor="t" anchorCtr="0" compatLnSpc="1">
                <a:prstTxWarp prst="textNoShape">
                  <a:avLst/>
                </a:prstTxWarp>
              </a:bodyPr>
              <a:lstStyle/>
              <a:p>
                <a:pPr defTabSz="950598"/>
                <a:endParaRPr lang="en-US" sz="1632">
                  <a:gradFill>
                    <a:gsLst>
                      <a:gs pos="14679">
                        <a:srgbClr val="FFFFFF"/>
                      </a:gs>
                      <a:gs pos="38000">
                        <a:srgbClr val="FFFFFF"/>
                      </a:gs>
                    </a:gsLst>
                    <a:lin ang="5400000" scaled="1"/>
                  </a:gradFill>
                </a:endParaRPr>
              </a:p>
            </p:txBody>
          </p:sp>
          <p:sp>
            <p:nvSpPr>
              <p:cNvPr id="77" name="Oval 87"/>
              <p:cNvSpPr>
                <a:spLocks noChangeArrowheads="1"/>
              </p:cNvSpPr>
              <p:nvPr/>
            </p:nvSpPr>
            <p:spPr bwMode="black">
              <a:xfrm>
                <a:off x="9172736" y="5854128"/>
                <a:ext cx="51528" cy="5175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0" tIns="46611" rIns="93220" bIns="46611" numCol="1" anchor="t" anchorCtr="0" compatLnSpc="1">
                <a:prstTxWarp prst="textNoShape">
                  <a:avLst/>
                </a:prstTxWarp>
              </a:bodyPr>
              <a:lstStyle/>
              <a:p>
                <a:pPr defTabSz="950598"/>
                <a:endParaRPr lang="en-US" sz="1632">
                  <a:gradFill>
                    <a:gsLst>
                      <a:gs pos="14679">
                        <a:srgbClr val="FFFFFF"/>
                      </a:gs>
                      <a:gs pos="38000">
                        <a:srgbClr val="FFFFFF"/>
                      </a:gs>
                    </a:gsLst>
                    <a:lin ang="5400000" scaled="1"/>
                  </a:gradFill>
                </a:endParaRPr>
              </a:p>
            </p:txBody>
          </p:sp>
          <p:sp>
            <p:nvSpPr>
              <p:cNvPr id="78" name="Freeform 88"/>
              <p:cNvSpPr>
                <a:spLocks noEditPoints="1"/>
              </p:cNvSpPr>
              <p:nvPr/>
            </p:nvSpPr>
            <p:spPr bwMode="black">
              <a:xfrm>
                <a:off x="9301153" y="5706715"/>
                <a:ext cx="140897" cy="152424"/>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0" tIns="46611" rIns="93220" bIns="46611" numCol="1" anchor="t" anchorCtr="0" compatLnSpc="1">
                <a:prstTxWarp prst="textNoShape">
                  <a:avLst/>
                </a:prstTxWarp>
              </a:bodyPr>
              <a:lstStyle/>
              <a:p>
                <a:pPr defTabSz="950598"/>
                <a:endParaRPr lang="en-US" sz="1632">
                  <a:gradFill>
                    <a:gsLst>
                      <a:gs pos="14679">
                        <a:srgbClr val="FFFFFF"/>
                      </a:gs>
                      <a:gs pos="38000">
                        <a:srgbClr val="FFFFFF"/>
                      </a:gs>
                    </a:gsLst>
                    <a:lin ang="5400000" scaled="1"/>
                  </a:gradFill>
                </a:endParaRPr>
              </a:p>
            </p:txBody>
          </p:sp>
        </p:grpSp>
      </p:grpSp>
      <p:sp>
        <p:nvSpPr>
          <p:cNvPr id="54" name="TextBox 53"/>
          <p:cNvSpPr txBox="1"/>
          <p:nvPr/>
        </p:nvSpPr>
        <p:spPr>
          <a:xfrm>
            <a:off x="8191696" y="130578"/>
            <a:ext cx="4681680" cy="690942"/>
          </a:xfrm>
          <a:prstGeom prst="rect">
            <a:avLst/>
          </a:prstGeom>
          <a:noFill/>
        </p:spPr>
        <p:txBody>
          <a:bodyPr wrap="square" lIns="182854" tIns="146283" rIns="182854" bIns="146283" rtlCol="0">
            <a:spAutoFit/>
          </a:bodyPr>
          <a:lstStyle/>
          <a:p>
            <a:pPr defTabSz="932563">
              <a:lnSpc>
                <a:spcPct val="90000"/>
              </a:lnSpc>
            </a:pPr>
            <a:r>
              <a:rPr lang="en-US" sz="2800" dirty="0">
                <a:gradFill>
                  <a:gsLst>
                    <a:gs pos="2917">
                      <a:srgbClr val="000000"/>
                    </a:gs>
                    <a:gs pos="30000">
                      <a:srgbClr val="000000"/>
                    </a:gs>
                  </a:gsLst>
                  <a:lin ang="5400000" scaled="0"/>
                </a:gradFill>
              </a:rPr>
              <a:t>Deploy &amp; Run</a:t>
            </a:r>
          </a:p>
        </p:txBody>
      </p:sp>
      <p:sp>
        <p:nvSpPr>
          <p:cNvPr id="56" name="TextBox 55"/>
          <p:cNvSpPr txBox="1"/>
          <p:nvPr/>
        </p:nvSpPr>
        <p:spPr>
          <a:xfrm>
            <a:off x="808805" y="1144553"/>
            <a:ext cx="4803798" cy="1058209"/>
          </a:xfrm>
          <a:prstGeom prst="rect">
            <a:avLst/>
          </a:prstGeom>
          <a:noFill/>
        </p:spPr>
        <p:txBody>
          <a:bodyPr wrap="square" lIns="182854" tIns="146283" rIns="182854" bIns="146283" rtlCol="0">
            <a:spAutoFit/>
          </a:bodyPr>
          <a:lstStyle/>
          <a:p>
            <a:pPr defTabSz="932563">
              <a:lnSpc>
                <a:spcPct val="90000"/>
              </a:lnSpc>
            </a:pPr>
            <a:r>
              <a:rPr lang="en-US" dirty="0">
                <a:gradFill>
                  <a:gsLst>
                    <a:gs pos="2917">
                      <a:srgbClr val="000000"/>
                    </a:gs>
                    <a:gs pos="30000">
                      <a:srgbClr val="000000"/>
                    </a:gs>
                  </a:gsLst>
                  <a:lin ang="5400000" scaled="0"/>
                </a:gradFill>
              </a:rPr>
              <a:t>Roslyn takes your code and compiles it to IL. You have very modular references to the BCL and App Model you’re targeting. </a:t>
            </a:r>
          </a:p>
        </p:txBody>
      </p:sp>
    </p:spTree>
    <p:extLst>
      <p:ext uri="{BB962C8B-B14F-4D97-AF65-F5344CB8AC3E}">
        <p14:creationId xmlns:p14="http://schemas.microsoft.com/office/powerpoint/2010/main" val="838191443"/>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bwMode="auto">
          <a:xfrm>
            <a:off x="6681499" y="3615651"/>
            <a:ext cx="5761037" cy="3378873"/>
          </a:xfrm>
          <a:prstGeom prst="rect">
            <a:avLst/>
          </a:prstGeom>
          <a:solidFill>
            <a:srgbClr val="0072C6"/>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429768" tIns="2103120" rIns="182880" bIns="146304" numCol="1" rtlCol="0" anchor="t" anchorCtr="0" compatLnSpc="1">
            <a:prstTxWarp prst="textNoShape">
              <a:avLst/>
            </a:prstTxWarp>
          </a:bodyPr>
          <a:lstStyle/>
          <a:p>
            <a:pPr defTabSz="932468">
              <a:lnSpc>
                <a:spcPct val="90000"/>
              </a:lnSpc>
              <a:spcBef>
                <a:spcPts val="1800"/>
              </a:spcBef>
            </a:pPr>
            <a:endParaRPr lang="en-US" sz="2800" dirty="0">
              <a:gradFill>
                <a:gsLst>
                  <a:gs pos="100000">
                    <a:srgbClr val="FFFFFF"/>
                  </a:gs>
                  <a:gs pos="0">
                    <a:srgbClr val="FFFFFF"/>
                  </a:gs>
                </a:gsLst>
                <a:lin ang="5400000" scaled="0"/>
              </a:gradFill>
              <a:latin typeface="Segoe UI Light"/>
              <a:ea typeface="ＭＳ Ｐゴシック" charset="0"/>
            </a:endParaRPr>
          </a:p>
        </p:txBody>
      </p:sp>
      <p:sp>
        <p:nvSpPr>
          <p:cNvPr id="2" name="Title 1"/>
          <p:cNvSpPr>
            <a:spLocks noGrp="1"/>
          </p:cNvSpPr>
          <p:nvPr>
            <p:ph type="title"/>
          </p:nvPr>
        </p:nvSpPr>
        <p:spPr>
          <a:xfrm>
            <a:off x="253124" y="167171"/>
            <a:ext cx="6422314" cy="1593835"/>
          </a:xfrm>
        </p:spPr>
        <p:txBody>
          <a:bodyPr/>
          <a:lstStyle/>
          <a:p>
            <a:r>
              <a:rPr lang="en-US" sz="4000" dirty="0" smtClean="0"/>
              <a:t>Universal Windows Platform</a:t>
            </a:r>
            <a:endParaRPr lang="en-US" sz="4000" dirty="0"/>
          </a:p>
        </p:txBody>
      </p:sp>
      <p:sp>
        <p:nvSpPr>
          <p:cNvPr id="28" name="Rectangle 27"/>
          <p:cNvSpPr/>
          <p:nvPr/>
        </p:nvSpPr>
        <p:spPr bwMode="auto">
          <a:xfrm>
            <a:off x="6675438" y="0"/>
            <a:ext cx="5761037" cy="3474720"/>
          </a:xfrm>
          <a:prstGeom prst="rect">
            <a:avLst/>
          </a:prstGeom>
          <a:solidFill>
            <a:srgbClr val="0072C6"/>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429768" tIns="2103120" rIns="182880" bIns="146304" numCol="1" rtlCol="0" anchor="t" anchorCtr="0" compatLnSpc="1">
            <a:prstTxWarp prst="textNoShape">
              <a:avLst/>
            </a:prstTxWarp>
          </a:bodyPr>
          <a:lstStyle/>
          <a:p>
            <a:pPr defTabSz="932468">
              <a:lnSpc>
                <a:spcPct val="90000"/>
              </a:lnSpc>
              <a:spcBef>
                <a:spcPts val="1800"/>
              </a:spcBef>
            </a:pPr>
            <a:endParaRPr lang="en-US" sz="2800" dirty="0">
              <a:gradFill>
                <a:gsLst>
                  <a:gs pos="100000">
                    <a:srgbClr val="FFFFFF"/>
                  </a:gs>
                  <a:gs pos="0">
                    <a:srgbClr val="FFFFFF"/>
                  </a:gs>
                </a:gsLst>
                <a:lin ang="5400000" scaled="0"/>
              </a:gradFill>
              <a:latin typeface="Segoe UI Light"/>
              <a:ea typeface="ＭＳ Ｐゴシック" charset="0"/>
            </a:endParaRPr>
          </a:p>
        </p:txBody>
      </p:sp>
      <p:sp>
        <p:nvSpPr>
          <p:cNvPr id="29" name="Rectangle 28"/>
          <p:cNvSpPr/>
          <p:nvPr/>
        </p:nvSpPr>
        <p:spPr>
          <a:xfrm>
            <a:off x="6919262" y="4368966"/>
            <a:ext cx="5517213" cy="2308324"/>
          </a:xfrm>
          <a:prstGeom prst="rect">
            <a:avLst/>
          </a:prstGeom>
        </p:spPr>
        <p:txBody>
          <a:bodyPr wrap="square">
            <a:spAutoFit/>
          </a:bodyPr>
          <a:lstStyle/>
          <a:p>
            <a:pPr marL="233363" indent="-233363" defTabSz="932468">
              <a:lnSpc>
                <a:spcPct val="90000"/>
              </a:lnSpc>
              <a:buFont typeface="Arial" panose="020B0604020202020204" pitchFamily="34" charset="0"/>
              <a:buChar char="•"/>
            </a:pPr>
            <a:r>
              <a:rPr lang="en-US" sz="2000" dirty="0">
                <a:gradFill>
                  <a:gsLst>
                    <a:gs pos="100000">
                      <a:srgbClr val="FFFFFF"/>
                    </a:gs>
                    <a:gs pos="0">
                      <a:srgbClr val="FFFFFF"/>
                    </a:gs>
                  </a:gsLst>
                  <a:lin ang="5400000" scaled="0"/>
                </a:gradFill>
                <a:latin typeface="Segoe UI Light"/>
                <a:ea typeface="ＭＳ Ｐゴシック" charset="0"/>
              </a:rPr>
              <a:t>Next Generation Compiler in the Cloud for Store </a:t>
            </a:r>
            <a:r>
              <a:rPr lang="en-US" sz="2000" dirty="0" smtClean="0">
                <a:gradFill>
                  <a:gsLst>
                    <a:gs pos="100000">
                      <a:srgbClr val="FFFFFF"/>
                    </a:gs>
                    <a:gs pos="0">
                      <a:srgbClr val="FFFFFF"/>
                    </a:gs>
                  </a:gsLst>
                  <a:lin ang="5400000" scaled="0"/>
                </a:gradFill>
                <a:latin typeface="Segoe UI Light"/>
                <a:ea typeface="ＭＳ Ｐゴシック" charset="0"/>
              </a:rPr>
              <a:t>Apps</a:t>
            </a:r>
          </a:p>
          <a:p>
            <a:pPr marL="233363" indent="-233363" defTabSz="932468">
              <a:lnSpc>
                <a:spcPct val="90000"/>
              </a:lnSpc>
              <a:buFont typeface="Arial" panose="020B0604020202020204" pitchFamily="34" charset="0"/>
              <a:buChar char="•"/>
            </a:pPr>
            <a:endParaRPr lang="en-US" sz="2000" dirty="0">
              <a:gradFill>
                <a:gsLst>
                  <a:gs pos="100000">
                    <a:srgbClr val="FFFFFF"/>
                  </a:gs>
                  <a:gs pos="0">
                    <a:srgbClr val="FFFFFF"/>
                  </a:gs>
                </a:gsLst>
                <a:lin ang="5400000" scaled="0"/>
              </a:gradFill>
              <a:latin typeface="Segoe UI Light"/>
              <a:ea typeface="ＭＳ Ｐゴシック" charset="0"/>
            </a:endParaRPr>
          </a:p>
          <a:p>
            <a:pPr marL="233363" indent="-233363" defTabSz="932468">
              <a:lnSpc>
                <a:spcPct val="90000"/>
              </a:lnSpc>
              <a:buFont typeface="Arial" panose="020B0604020202020204" pitchFamily="34" charset="0"/>
              <a:buChar char="•"/>
            </a:pPr>
            <a:r>
              <a:rPr lang="en-US" sz="2000" dirty="0">
                <a:gradFill>
                  <a:gsLst>
                    <a:gs pos="100000">
                      <a:srgbClr val="FFFFFF"/>
                    </a:gs>
                    <a:gs pos="0">
                      <a:srgbClr val="FFFFFF"/>
                    </a:gs>
                  </a:gsLst>
                  <a:lin ang="5400000" scaled="0"/>
                </a:gradFill>
                <a:latin typeface="Segoe UI Light"/>
                <a:ea typeface="ＭＳ Ｐゴシック" charset="0"/>
              </a:rPr>
              <a:t>Uses lean runtime and VC++ optimizer for fast code execution and reduced memory </a:t>
            </a:r>
            <a:r>
              <a:rPr lang="en-US" sz="2000" dirty="0" smtClean="0">
                <a:gradFill>
                  <a:gsLst>
                    <a:gs pos="100000">
                      <a:srgbClr val="FFFFFF"/>
                    </a:gs>
                    <a:gs pos="0">
                      <a:srgbClr val="FFFFFF"/>
                    </a:gs>
                  </a:gsLst>
                  <a:lin ang="5400000" scaled="0"/>
                </a:gradFill>
                <a:latin typeface="Segoe UI Light"/>
                <a:ea typeface="ＭＳ Ｐゴシック" charset="0"/>
              </a:rPr>
              <a:t>usage</a:t>
            </a:r>
          </a:p>
          <a:p>
            <a:pPr marL="233363" indent="-233363" defTabSz="932468">
              <a:lnSpc>
                <a:spcPct val="90000"/>
              </a:lnSpc>
              <a:buFont typeface="Arial" panose="020B0604020202020204" pitchFamily="34" charset="0"/>
              <a:buChar char="•"/>
            </a:pPr>
            <a:endParaRPr lang="en-US" sz="2000" dirty="0">
              <a:gradFill>
                <a:gsLst>
                  <a:gs pos="100000">
                    <a:srgbClr val="FFFFFF"/>
                  </a:gs>
                  <a:gs pos="0">
                    <a:srgbClr val="FFFFFF"/>
                  </a:gs>
                </a:gsLst>
                <a:lin ang="5400000" scaled="0"/>
              </a:gradFill>
              <a:latin typeface="Segoe UI Light"/>
              <a:ea typeface="ＭＳ Ｐゴシック" charset="0"/>
            </a:endParaRPr>
          </a:p>
          <a:p>
            <a:pPr marL="233363" indent="-233363" defTabSz="932468">
              <a:lnSpc>
                <a:spcPct val="90000"/>
              </a:lnSpc>
              <a:buFont typeface="Arial" panose="020B0604020202020204" pitchFamily="34" charset="0"/>
              <a:buChar char="•"/>
            </a:pPr>
            <a:r>
              <a:rPr lang="en-US" sz="2000" dirty="0">
                <a:gradFill>
                  <a:gsLst>
                    <a:gs pos="100000">
                      <a:srgbClr val="FFFFFF"/>
                    </a:gs>
                    <a:gs pos="0">
                      <a:srgbClr val="FFFFFF"/>
                    </a:gs>
                  </a:gsLst>
                  <a:lin ang="5400000" scaled="0"/>
                </a:gradFill>
                <a:latin typeface="Segoe UI Light"/>
                <a:ea typeface="ＭＳ Ｐゴシック" charset="0"/>
              </a:rPr>
              <a:t>Preview available </a:t>
            </a:r>
            <a:r>
              <a:rPr lang="en-US" sz="2000" dirty="0" smtClean="0">
                <a:gradFill>
                  <a:gsLst>
                    <a:gs pos="100000">
                      <a:srgbClr val="FFFFFF"/>
                    </a:gs>
                    <a:gs pos="0">
                      <a:srgbClr val="FFFFFF"/>
                    </a:gs>
                  </a:gsLst>
                  <a:lin ang="5400000" scaled="0"/>
                </a:gradFill>
                <a:latin typeface="Segoe UI Light"/>
                <a:ea typeface="ＭＳ Ｐゴシック" charset="0"/>
              </a:rPr>
              <a:t>from Visual Studio </a:t>
            </a:r>
            <a:br>
              <a:rPr lang="en-US" sz="2000" dirty="0" smtClean="0">
                <a:gradFill>
                  <a:gsLst>
                    <a:gs pos="100000">
                      <a:srgbClr val="FFFFFF"/>
                    </a:gs>
                    <a:gs pos="0">
                      <a:srgbClr val="FFFFFF"/>
                    </a:gs>
                  </a:gsLst>
                  <a:lin ang="5400000" scaled="0"/>
                </a:gradFill>
                <a:latin typeface="Segoe UI Light"/>
                <a:ea typeface="ＭＳ Ｐゴシック" charset="0"/>
              </a:rPr>
            </a:br>
            <a:r>
              <a:rPr lang="en-US" sz="2000" u="sng" dirty="0" smtClean="0">
                <a:gradFill>
                  <a:gsLst>
                    <a:gs pos="100000">
                      <a:srgbClr val="FFFFFF"/>
                    </a:gs>
                    <a:gs pos="0">
                      <a:srgbClr val="FFFFFF"/>
                    </a:gs>
                  </a:gsLst>
                  <a:lin ang="5400000" scaled="0"/>
                </a:gradFill>
                <a:latin typeface="Segoe UI Light"/>
                <a:ea typeface="ＭＳ Ｐゴシック" charset="0"/>
              </a:rPr>
              <a:t>http</a:t>
            </a:r>
            <a:r>
              <a:rPr lang="en-US" sz="2000" u="sng" dirty="0">
                <a:gradFill>
                  <a:gsLst>
                    <a:gs pos="100000">
                      <a:srgbClr val="FFFFFF"/>
                    </a:gs>
                    <a:gs pos="0">
                      <a:srgbClr val="FFFFFF"/>
                    </a:gs>
                  </a:gsLst>
                  <a:lin ang="5400000" scaled="0"/>
                </a:gradFill>
                <a:latin typeface="Segoe UI Light"/>
                <a:ea typeface="ＭＳ Ｐゴシック" charset="0"/>
              </a:rPr>
              <a:t>://aka.ms/dotnetnative  </a:t>
            </a:r>
          </a:p>
        </p:txBody>
      </p:sp>
      <p:pic>
        <p:nvPicPr>
          <p:cNvPr id="30" name="Picture 29"/>
          <p:cNvPicPr>
            <a:picLocks noChangeAspect="1"/>
          </p:cNvPicPr>
          <p:nvPr/>
        </p:nvPicPr>
        <p:blipFill rotWithShape="1">
          <a:blip r:embed="rId3"/>
          <a:srcRect b="3630"/>
          <a:stretch/>
        </p:blipFill>
        <p:spPr>
          <a:xfrm>
            <a:off x="7268948" y="830262"/>
            <a:ext cx="4574017" cy="2391335"/>
          </a:xfrm>
          <a:prstGeom prst="rect">
            <a:avLst/>
          </a:prstGeom>
        </p:spPr>
      </p:pic>
      <p:sp>
        <p:nvSpPr>
          <p:cNvPr id="33" name="3 arrow"/>
          <p:cNvSpPr/>
          <p:nvPr/>
        </p:nvSpPr>
        <p:spPr bwMode="auto">
          <a:xfrm>
            <a:off x="2103436" y="1994099"/>
            <a:ext cx="4254231" cy="1072426"/>
          </a:xfrm>
          <a:prstGeom prst="homePlate">
            <a:avLst/>
          </a:prstGeom>
          <a:solidFill>
            <a:srgbClr val="0072C6"/>
          </a:solidFill>
          <a:ln w="25400" cap="flat" cmpd="sng" algn="ctr">
            <a:noFill/>
            <a:prstDash val="solid"/>
            <a:headEnd type="none" w="med" len="med"/>
            <a:tailEnd type="none" w="med" len="med"/>
          </a:ln>
          <a:effectLst/>
        </p:spPr>
        <p:txBody>
          <a:bodyPr vert="horz" wrap="square" lIns="548640" tIns="45696" rIns="91386" bIns="73109" numCol="1" rtlCol="0" anchor="ctr" anchorCtr="0" compatLnSpc="1">
            <a:prstTxWarp prst="textNoShape">
              <a:avLst/>
            </a:prstTxWarp>
          </a:bodyPr>
          <a:lstStyle/>
          <a:p>
            <a:pPr defTabSz="913862"/>
            <a:r>
              <a:rPr lang="en-US" sz="2000" kern="0" dirty="0" smtClean="0">
                <a:gradFill>
                  <a:gsLst>
                    <a:gs pos="9583">
                      <a:srgbClr val="FFFFFF"/>
                    </a:gs>
                    <a:gs pos="24000">
                      <a:srgbClr val="FFFFFF"/>
                    </a:gs>
                  </a:gsLst>
                  <a:lin ang="5400000" scaled="0"/>
                </a:gradFill>
              </a:rPr>
              <a:t>Universal Windows Platform</a:t>
            </a:r>
            <a:endParaRPr lang="en-US" sz="2400" kern="0" dirty="0" smtClean="0">
              <a:gradFill>
                <a:gsLst>
                  <a:gs pos="9583">
                    <a:srgbClr val="FFFFFF"/>
                  </a:gs>
                  <a:gs pos="24000">
                    <a:srgbClr val="FFFFFF"/>
                  </a:gs>
                </a:gsLst>
                <a:lin ang="5400000" scaled="0"/>
              </a:gradFill>
            </a:endParaRPr>
          </a:p>
          <a:p>
            <a:pPr defTabSz="913862"/>
            <a:r>
              <a:rPr lang="en-US" sz="1600" kern="0" dirty="0" smtClean="0">
                <a:gradFill>
                  <a:gsLst>
                    <a:gs pos="9583">
                      <a:srgbClr val="FFFFFF"/>
                    </a:gs>
                    <a:gs pos="24000">
                      <a:srgbClr val="FFFFFF"/>
                    </a:gs>
                  </a:gsLst>
                  <a:lin ang="5400000" scaled="0"/>
                </a:gradFill>
              </a:rPr>
              <a:t>Shared across Windows and Windows Phone apps</a:t>
            </a:r>
            <a:endParaRPr lang="en-US" kern="0" dirty="0">
              <a:gradFill>
                <a:gsLst>
                  <a:gs pos="9583">
                    <a:srgbClr val="FFFFFF"/>
                  </a:gs>
                  <a:gs pos="24000">
                    <a:srgbClr val="FFFFFF"/>
                  </a:gs>
                </a:gsLst>
                <a:lin ang="5400000" scaled="0"/>
              </a:gradFill>
            </a:endParaRPr>
          </a:p>
        </p:txBody>
      </p:sp>
      <p:sp>
        <p:nvSpPr>
          <p:cNvPr id="34" name="Oval 33"/>
          <p:cNvSpPr/>
          <p:nvPr/>
        </p:nvSpPr>
        <p:spPr bwMode="auto">
          <a:xfrm>
            <a:off x="794224" y="1744662"/>
            <a:ext cx="1554956" cy="1554956"/>
          </a:xfrm>
          <a:prstGeom prst="ellipse">
            <a:avLst/>
          </a:prstGeom>
          <a:solidFill>
            <a:srgbClr val="003B92"/>
          </a:solidFill>
          <a:ln w="76200">
            <a:solidFill>
              <a:srgbClr val="0072C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5" name="Freeform 34"/>
          <p:cNvSpPr>
            <a:spLocks noEditPoints="1"/>
          </p:cNvSpPr>
          <p:nvPr/>
        </p:nvSpPr>
        <p:spPr bwMode="auto">
          <a:xfrm>
            <a:off x="1222615" y="2185418"/>
            <a:ext cx="679290" cy="689788"/>
          </a:xfrm>
          <a:custGeom>
            <a:avLst/>
            <a:gdLst>
              <a:gd name="T0" fmla="*/ 288 w 647"/>
              <a:gd name="T1" fmla="*/ 314 h 657"/>
              <a:gd name="T2" fmla="*/ 288 w 647"/>
              <a:gd name="T3" fmla="*/ 52 h 657"/>
              <a:gd name="T4" fmla="*/ 647 w 647"/>
              <a:gd name="T5" fmla="*/ 0 h 657"/>
              <a:gd name="T6" fmla="*/ 647 w 647"/>
              <a:gd name="T7" fmla="*/ 314 h 657"/>
              <a:gd name="T8" fmla="*/ 288 w 647"/>
              <a:gd name="T9" fmla="*/ 314 h 657"/>
              <a:gd name="T10" fmla="*/ 262 w 647"/>
              <a:gd name="T11" fmla="*/ 57 h 657"/>
              <a:gd name="T12" fmla="*/ 0 w 647"/>
              <a:gd name="T13" fmla="*/ 95 h 657"/>
              <a:gd name="T14" fmla="*/ 0 w 647"/>
              <a:gd name="T15" fmla="*/ 314 h 657"/>
              <a:gd name="T16" fmla="*/ 262 w 647"/>
              <a:gd name="T17" fmla="*/ 314 h 657"/>
              <a:gd name="T18" fmla="*/ 262 w 647"/>
              <a:gd name="T19" fmla="*/ 57 h 657"/>
              <a:gd name="T20" fmla="*/ 0 w 647"/>
              <a:gd name="T21" fmla="*/ 338 h 657"/>
              <a:gd name="T22" fmla="*/ 0 w 647"/>
              <a:gd name="T23" fmla="*/ 560 h 657"/>
              <a:gd name="T24" fmla="*/ 262 w 647"/>
              <a:gd name="T25" fmla="*/ 600 h 657"/>
              <a:gd name="T26" fmla="*/ 262 w 647"/>
              <a:gd name="T27" fmla="*/ 338 h 657"/>
              <a:gd name="T28" fmla="*/ 0 w 647"/>
              <a:gd name="T29" fmla="*/ 338 h 657"/>
              <a:gd name="T30" fmla="*/ 288 w 647"/>
              <a:gd name="T31" fmla="*/ 602 h 657"/>
              <a:gd name="T32" fmla="*/ 647 w 647"/>
              <a:gd name="T33" fmla="*/ 657 h 657"/>
              <a:gd name="T34" fmla="*/ 647 w 647"/>
              <a:gd name="T35" fmla="*/ 338 h 657"/>
              <a:gd name="T36" fmla="*/ 288 w 647"/>
              <a:gd name="T37" fmla="*/ 338 h 657"/>
              <a:gd name="T38" fmla="*/ 288 w 647"/>
              <a:gd name="T39" fmla="*/ 602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47" h="657">
                <a:moveTo>
                  <a:pt x="288" y="314"/>
                </a:moveTo>
                <a:lnTo>
                  <a:pt x="288" y="52"/>
                </a:lnTo>
                <a:lnTo>
                  <a:pt x="647" y="0"/>
                </a:lnTo>
                <a:lnTo>
                  <a:pt x="647" y="314"/>
                </a:lnTo>
                <a:lnTo>
                  <a:pt x="288" y="314"/>
                </a:lnTo>
                <a:close/>
                <a:moveTo>
                  <a:pt x="262" y="57"/>
                </a:moveTo>
                <a:lnTo>
                  <a:pt x="0" y="95"/>
                </a:lnTo>
                <a:lnTo>
                  <a:pt x="0" y="314"/>
                </a:lnTo>
                <a:lnTo>
                  <a:pt x="262" y="314"/>
                </a:lnTo>
                <a:lnTo>
                  <a:pt x="262" y="57"/>
                </a:lnTo>
                <a:close/>
                <a:moveTo>
                  <a:pt x="0" y="338"/>
                </a:moveTo>
                <a:lnTo>
                  <a:pt x="0" y="560"/>
                </a:lnTo>
                <a:lnTo>
                  <a:pt x="262" y="600"/>
                </a:lnTo>
                <a:lnTo>
                  <a:pt x="262" y="338"/>
                </a:lnTo>
                <a:lnTo>
                  <a:pt x="0" y="338"/>
                </a:lnTo>
                <a:close/>
                <a:moveTo>
                  <a:pt x="288" y="602"/>
                </a:moveTo>
                <a:lnTo>
                  <a:pt x="647" y="657"/>
                </a:lnTo>
                <a:lnTo>
                  <a:pt x="647" y="338"/>
                </a:lnTo>
                <a:lnTo>
                  <a:pt x="288" y="338"/>
                </a:lnTo>
                <a:lnTo>
                  <a:pt x="288" y="602"/>
                </a:ln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36" name="3 arrow"/>
          <p:cNvSpPr/>
          <p:nvPr/>
        </p:nvSpPr>
        <p:spPr bwMode="auto">
          <a:xfrm>
            <a:off x="2103437" y="5086447"/>
            <a:ext cx="4254230" cy="1072426"/>
          </a:xfrm>
          <a:prstGeom prst="homePlate">
            <a:avLst/>
          </a:prstGeom>
          <a:solidFill>
            <a:srgbClr val="972FAF"/>
          </a:solidFill>
          <a:ln w="25400" cap="flat" cmpd="sng" algn="ctr">
            <a:noFill/>
            <a:prstDash val="solid"/>
            <a:headEnd type="none" w="med" len="med"/>
            <a:tailEnd type="none" w="med" len="med"/>
          </a:ln>
          <a:effectLst/>
        </p:spPr>
        <p:txBody>
          <a:bodyPr vert="horz" wrap="square" lIns="548640" tIns="45696" rIns="91386" bIns="73109" numCol="1" rtlCol="0" anchor="ctr" anchorCtr="0" compatLnSpc="1">
            <a:prstTxWarp prst="textNoShape">
              <a:avLst/>
            </a:prstTxWarp>
          </a:bodyPr>
          <a:lstStyle/>
          <a:p>
            <a:pPr defTabSz="913862"/>
            <a:r>
              <a:rPr lang="en-US" sz="2000" kern="0" dirty="0" smtClean="0">
                <a:gradFill>
                  <a:gsLst>
                    <a:gs pos="9583">
                      <a:srgbClr val="FFFFFF"/>
                    </a:gs>
                    <a:gs pos="24000">
                      <a:srgbClr val="FFFFFF"/>
                    </a:gs>
                  </a:gsLst>
                  <a:lin ang="5400000" scaled="0"/>
                </a:gradFill>
              </a:rPr>
              <a:t>.NET Native</a:t>
            </a:r>
          </a:p>
          <a:p>
            <a:pPr defTabSz="913862"/>
            <a:r>
              <a:rPr lang="en-US" sz="1600" kern="0" dirty="0" smtClean="0">
                <a:gradFill>
                  <a:gsLst>
                    <a:gs pos="9583">
                      <a:srgbClr val="FFFFFF"/>
                    </a:gs>
                    <a:gs pos="24000">
                      <a:srgbClr val="FFFFFF"/>
                    </a:gs>
                  </a:gsLst>
                  <a:lin ang="5400000" scaled="0"/>
                </a:gradFill>
              </a:rPr>
              <a:t>Native code compilation</a:t>
            </a:r>
            <a:endParaRPr lang="en-US" kern="0" dirty="0">
              <a:gradFill>
                <a:gsLst>
                  <a:gs pos="9583">
                    <a:srgbClr val="FFFFFF"/>
                  </a:gs>
                  <a:gs pos="24000">
                    <a:srgbClr val="FFFFFF"/>
                  </a:gs>
                </a:gsLst>
                <a:lin ang="5400000" scaled="0"/>
              </a:gradFill>
            </a:endParaRPr>
          </a:p>
        </p:txBody>
      </p:sp>
      <p:sp>
        <p:nvSpPr>
          <p:cNvPr id="37" name="Oval 36"/>
          <p:cNvSpPr/>
          <p:nvPr/>
        </p:nvSpPr>
        <p:spPr bwMode="auto">
          <a:xfrm>
            <a:off x="794224" y="4837010"/>
            <a:ext cx="1554956" cy="1554956"/>
          </a:xfrm>
          <a:prstGeom prst="ellipse">
            <a:avLst/>
          </a:prstGeom>
          <a:solidFill>
            <a:srgbClr val="68217A"/>
          </a:solidFill>
          <a:ln w="76200">
            <a:solidFill>
              <a:srgbClr val="972FAF"/>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pic>
        <p:nvPicPr>
          <p:cNvPr id="38" name="Picture 37"/>
          <p:cNvPicPr>
            <a:picLocks noChangeAspect="1"/>
          </p:cNvPicPr>
          <p:nvPr/>
        </p:nvPicPr>
        <p:blipFill>
          <a:blip r:embed="rId4"/>
          <a:stretch>
            <a:fillRect/>
          </a:stretch>
        </p:blipFill>
        <p:spPr>
          <a:xfrm>
            <a:off x="1056171" y="5086447"/>
            <a:ext cx="1012179" cy="1031460"/>
          </a:xfrm>
          <a:prstGeom prst="rect">
            <a:avLst/>
          </a:prstGeom>
          <a:solidFill>
            <a:srgbClr val="972FAF"/>
          </a:solidFill>
        </p:spPr>
      </p:pic>
      <p:sp>
        <p:nvSpPr>
          <p:cNvPr id="13" name="Rectangle 12"/>
          <p:cNvSpPr/>
          <p:nvPr/>
        </p:nvSpPr>
        <p:spPr>
          <a:xfrm>
            <a:off x="6732392" y="118689"/>
            <a:ext cx="4393832" cy="461665"/>
          </a:xfrm>
          <a:prstGeom prst="rect">
            <a:avLst/>
          </a:prstGeom>
        </p:spPr>
        <p:txBody>
          <a:bodyPr wrap="none">
            <a:spAutoFit/>
          </a:bodyPr>
          <a:lstStyle/>
          <a:p>
            <a:pPr defTabSz="932277"/>
            <a:r>
              <a:rPr lang="en-US" sz="2400" b="1" dirty="0" smtClean="0">
                <a:solidFill>
                  <a:srgbClr val="FFFFFF"/>
                </a:solidFill>
                <a:cs typeface="Segoe UI" panose="020B0502040204020203" pitchFamily="34" charset="0"/>
              </a:rPr>
              <a:t>Universal Windows Platform </a:t>
            </a:r>
          </a:p>
        </p:txBody>
      </p:sp>
      <p:sp>
        <p:nvSpPr>
          <p:cNvPr id="15" name="Rectangle 14"/>
          <p:cNvSpPr/>
          <p:nvPr/>
        </p:nvSpPr>
        <p:spPr>
          <a:xfrm>
            <a:off x="6862252" y="3748165"/>
            <a:ext cx="3217227" cy="461665"/>
          </a:xfrm>
          <a:prstGeom prst="rect">
            <a:avLst/>
          </a:prstGeom>
        </p:spPr>
        <p:txBody>
          <a:bodyPr wrap="none">
            <a:spAutoFit/>
          </a:bodyPr>
          <a:lstStyle/>
          <a:p>
            <a:pPr defTabSz="932277"/>
            <a:r>
              <a:rPr lang="en-US" sz="2400" b="1" dirty="0" smtClean="0">
                <a:solidFill>
                  <a:srgbClr val="FFFFFF"/>
                </a:solidFill>
                <a:cs typeface="Segoe UI" panose="020B0502040204020203" pitchFamily="34" charset="0"/>
              </a:rPr>
              <a:t>.NET Native</a:t>
            </a:r>
            <a:r>
              <a:rPr lang="en-US" sz="2400" dirty="0" smtClean="0">
                <a:solidFill>
                  <a:srgbClr val="FFFFFF"/>
                </a:solidFill>
                <a:latin typeface="Segoe UI Light" pitchFamily="34" charset="0"/>
              </a:rPr>
              <a:t> highlights</a:t>
            </a:r>
            <a:endParaRPr lang="en-US" sz="2000" dirty="0">
              <a:solidFill>
                <a:srgbClr val="FFFFFF"/>
              </a:solidFill>
            </a:endParaRPr>
          </a:p>
        </p:txBody>
      </p:sp>
    </p:spTree>
    <p:extLst>
      <p:ext uri="{BB962C8B-B14F-4D97-AF65-F5344CB8AC3E}">
        <p14:creationId xmlns:p14="http://schemas.microsoft.com/office/powerpoint/2010/main" val="3445051396"/>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p:cNvSpPr/>
          <p:nvPr/>
        </p:nvSpPr>
        <p:spPr bwMode="auto">
          <a:xfrm>
            <a:off x="6342635" y="1085766"/>
            <a:ext cx="5956232" cy="4057661"/>
          </a:xfrm>
          <a:prstGeom prst="rect">
            <a:avLst/>
          </a:prstGeom>
          <a:solidFill>
            <a:srgbClr val="616161">
              <a:lumMod val="20000"/>
              <a:lumOff val="80000"/>
            </a:srgbClr>
          </a:solidFill>
          <a:ln w="25400" cap="flat" cmpd="sng" algn="ctr">
            <a:noFill/>
            <a:prstDash val="solid"/>
            <a:headEnd type="none" w="med" len="med"/>
            <a:tailEnd type="none" w="med" len="med"/>
          </a:ln>
          <a:effectLst/>
        </p:spPr>
        <p:txBody>
          <a:bodyPr vert="horz" wrap="square" lIns="137141" tIns="137141" rIns="67183" bIns="53747" numCol="1" rtlCol="0" anchor="t" anchorCtr="0" compatLnSpc="1">
            <a:prstTxWarp prst="textNoShape">
              <a:avLst/>
            </a:prstTxWarp>
          </a:bodyPr>
          <a:lstStyle/>
          <a:p>
            <a:pPr defTabSz="685512">
              <a:defRPr/>
            </a:pPr>
            <a:endParaRPr lang="en-US" sz="900" kern="0" dirty="0" smtClean="0">
              <a:gradFill>
                <a:gsLst>
                  <a:gs pos="58716">
                    <a:srgbClr val="002050"/>
                  </a:gs>
                  <a:gs pos="37000">
                    <a:srgbClr val="002050"/>
                  </a:gs>
                </a:gsLst>
                <a:lin ang="5400000" scaled="1"/>
              </a:gradFill>
              <a:latin typeface="Segoe UI Light"/>
            </a:endParaRPr>
          </a:p>
        </p:txBody>
      </p:sp>
      <p:sp>
        <p:nvSpPr>
          <p:cNvPr id="5" name="Text Placeholder 4"/>
          <p:cNvSpPr>
            <a:spLocks noGrp="1"/>
          </p:cNvSpPr>
          <p:nvPr>
            <p:ph type="body" sz="quarter" idx="10"/>
          </p:nvPr>
        </p:nvSpPr>
        <p:spPr>
          <a:xfrm>
            <a:off x="196729" y="152043"/>
            <a:ext cx="5943597" cy="7045006"/>
          </a:xfrm>
        </p:spPr>
        <p:txBody>
          <a:bodyPr/>
          <a:lstStyle/>
          <a:p>
            <a:r>
              <a:rPr lang="en-US" sz="4400" dirty="0" smtClean="0"/>
              <a:t>Open Sourcing .NET</a:t>
            </a:r>
          </a:p>
          <a:p>
            <a:r>
              <a:rPr lang="en-US" sz="2800" b="1" dirty="0" smtClean="0"/>
              <a:t>Platforms</a:t>
            </a:r>
          </a:p>
          <a:p>
            <a:pPr marL="457200" indent="-457200">
              <a:buFont typeface="Arial" panose="020B0604020202020204" pitchFamily="34" charset="0"/>
              <a:buChar char="•"/>
            </a:pPr>
            <a:r>
              <a:rPr lang="en-US" sz="1800" dirty="0">
                <a:solidFill>
                  <a:schemeClr val="tx1"/>
                </a:solidFill>
              </a:rPr>
              <a:t>General purpose .NET Core runtime, compilers and libraries</a:t>
            </a:r>
          </a:p>
          <a:p>
            <a:pPr marL="457200" indent="-457200">
              <a:buFont typeface="Arial" panose="020B0604020202020204" pitchFamily="34" charset="0"/>
              <a:buChar char="•"/>
            </a:pPr>
            <a:r>
              <a:rPr lang="en-US" sz="1800" dirty="0">
                <a:solidFill>
                  <a:schemeClr val="tx1"/>
                </a:solidFill>
              </a:rPr>
              <a:t>ASP.NET 5 web server stack</a:t>
            </a:r>
          </a:p>
          <a:p>
            <a:r>
              <a:rPr lang="en-US" sz="2800" b="1" dirty="0" smtClean="0"/>
              <a:t>Fully Supported cross-platform</a:t>
            </a:r>
          </a:p>
          <a:p>
            <a:pPr marL="285750" indent="-285750" defTabSz="932327">
              <a:spcBef>
                <a:spcPts val="1200"/>
              </a:spcBef>
              <a:buFont typeface="Arial" panose="020B0604020202020204" pitchFamily="34" charset="0"/>
              <a:buChar char="•"/>
            </a:pPr>
            <a:r>
              <a:rPr lang="en-US" sz="1800" dirty="0">
                <a:gradFill>
                  <a:gsLst>
                    <a:gs pos="100000">
                      <a:srgbClr val="FFFFFF"/>
                    </a:gs>
                    <a:gs pos="0">
                      <a:srgbClr val="FFFFFF"/>
                    </a:gs>
                  </a:gsLst>
                  <a:lin ang="5400000" scaled="0"/>
                </a:gradFill>
                <a:ea typeface="ＭＳ Ｐゴシック" charset="0"/>
              </a:rPr>
              <a:t>Windows, Linux and OS X</a:t>
            </a:r>
          </a:p>
          <a:p>
            <a:pPr marL="285750" indent="-285750" defTabSz="932327">
              <a:spcBef>
                <a:spcPts val="1200"/>
              </a:spcBef>
              <a:buFont typeface="Arial" panose="020B0604020202020204" pitchFamily="34" charset="0"/>
              <a:buChar char="•"/>
            </a:pPr>
            <a:r>
              <a:rPr lang="en-US" sz="1800" dirty="0">
                <a:gradFill>
                  <a:gsLst>
                    <a:gs pos="100000">
                      <a:srgbClr val="FFFFFF"/>
                    </a:gs>
                    <a:gs pos="0">
                      <a:srgbClr val="FFFFFF"/>
                    </a:gs>
                  </a:gsLst>
                  <a:lin ang="5400000" scaled="0"/>
                </a:gradFill>
                <a:ea typeface="ＭＳ Ｐゴシック" charset="0"/>
              </a:rPr>
              <a:t>Visual Studio tooling support (e.g. debugging and deploying to </a:t>
            </a:r>
            <a:r>
              <a:rPr lang="en-US" sz="1800" dirty="0" err="1">
                <a:gradFill>
                  <a:gsLst>
                    <a:gs pos="100000">
                      <a:srgbClr val="FFFFFF"/>
                    </a:gs>
                    <a:gs pos="0">
                      <a:srgbClr val="FFFFFF"/>
                    </a:gs>
                  </a:gsLst>
                  <a:lin ang="5400000" scaled="0"/>
                </a:gradFill>
                <a:ea typeface="ＭＳ Ｐゴシック" charset="0"/>
              </a:rPr>
              <a:t>Docker</a:t>
            </a:r>
            <a:r>
              <a:rPr lang="en-US" sz="1800" dirty="0">
                <a:gradFill>
                  <a:gsLst>
                    <a:gs pos="100000">
                      <a:srgbClr val="FFFFFF"/>
                    </a:gs>
                    <a:gs pos="0">
                      <a:srgbClr val="FFFFFF"/>
                    </a:gs>
                  </a:gsLst>
                  <a:lin ang="5400000" scaled="0"/>
                </a:gradFill>
                <a:ea typeface="ＭＳ Ｐゴシック" charset="0"/>
              </a:rPr>
              <a:t> in Linux)</a:t>
            </a:r>
          </a:p>
          <a:p>
            <a:pPr marL="285750" indent="-285750" defTabSz="932327">
              <a:spcBef>
                <a:spcPts val="1200"/>
              </a:spcBef>
              <a:buFont typeface="Arial" panose="020B0604020202020204" pitchFamily="34" charset="0"/>
              <a:buChar char="•"/>
            </a:pPr>
            <a:r>
              <a:rPr lang="en-US" sz="1800" dirty="0" err="1" smtClean="0">
                <a:gradFill>
                  <a:gsLst>
                    <a:gs pos="100000">
                      <a:srgbClr val="FFFFFF"/>
                    </a:gs>
                    <a:gs pos="0">
                      <a:srgbClr val="FFFFFF"/>
                    </a:gs>
                  </a:gsLst>
                  <a:lin ang="5400000" scaled="0"/>
                </a:gradFill>
                <a:ea typeface="ＭＳ Ｐゴシック" charset="0"/>
              </a:rPr>
              <a:t>OmniSharp</a:t>
            </a:r>
            <a:r>
              <a:rPr lang="en-US" sz="1800" dirty="0" smtClean="0">
                <a:gradFill>
                  <a:gsLst>
                    <a:gs pos="100000">
                      <a:srgbClr val="FFFFFF"/>
                    </a:gs>
                    <a:gs pos="0">
                      <a:srgbClr val="FFFFFF"/>
                    </a:gs>
                  </a:gsLst>
                  <a:lin ang="5400000" scaled="0"/>
                </a:gradFill>
                <a:ea typeface="ＭＳ Ｐゴシック" charset="0"/>
              </a:rPr>
              <a:t> </a:t>
            </a:r>
            <a:r>
              <a:rPr lang="en-US" sz="1800" dirty="0">
                <a:gradFill>
                  <a:gsLst>
                    <a:gs pos="100000">
                      <a:srgbClr val="FFFFFF"/>
                    </a:gs>
                    <a:gs pos="0">
                      <a:srgbClr val="FFFFFF"/>
                    </a:gs>
                  </a:gsLst>
                  <a:lin ang="5400000" scaled="0"/>
                </a:gradFill>
                <a:ea typeface="ＭＳ Ｐゴシック" charset="0"/>
              </a:rPr>
              <a:t>extensions to cross-plat IDEs (Sublime, </a:t>
            </a:r>
            <a:r>
              <a:rPr lang="en-US" sz="1800" dirty="0" err="1">
                <a:gradFill>
                  <a:gsLst>
                    <a:gs pos="100000">
                      <a:srgbClr val="FFFFFF"/>
                    </a:gs>
                    <a:gs pos="0">
                      <a:srgbClr val="FFFFFF"/>
                    </a:gs>
                  </a:gsLst>
                  <a:lin ang="5400000" scaled="0"/>
                </a:gradFill>
                <a:ea typeface="ＭＳ Ｐゴシック" charset="0"/>
              </a:rPr>
              <a:t>Emacs</a:t>
            </a:r>
            <a:r>
              <a:rPr lang="en-US" sz="1800" dirty="0" smtClean="0">
                <a:gradFill>
                  <a:gsLst>
                    <a:gs pos="100000">
                      <a:srgbClr val="FFFFFF"/>
                    </a:gs>
                    <a:gs pos="0">
                      <a:srgbClr val="FFFFFF"/>
                    </a:gs>
                  </a:gsLst>
                  <a:lin ang="5400000" scaled="0"/>
                </a:gradFill>
                <a:ea typeface="ＭＳ Ｐゴシック" charset="0"/>
              </a:rPr>
              <a:t>…)</a:t>
            </a:r>
          </a:p>
          <a:p>
            <a:r>
              <a:rPr lang="en-US" sz="2800" b="1" dirty="0"/>
              <a:t>Open </a:t>
            </a:r>
            <a:r>
              <a:rPr lang="en-US" sz="2800" b="1" dirty="0" smtClean="0"/>
              <a:t>Source</a:t>
            </a:r>
          </a:p>
          <a:p>
            <a:pPr marL="285750" indent="-285750" defTabSz="932327">
              <a:spcBef>
                <a:spcPts val="1200"/>
              </a:spcBef>
              <a:buFont typeface="Arial" panose="020B0604020202020204" pitchFamily="34" charset="0"/>
              <a:buChar char="•"/>
            </a:pPr>
            <a:r>
              <a:rPr lang="en-US" sz="1800" dirty="0">
                <a:gradFill>
                  <a:gsLst>
                    <a:gs pos="100000">
                      <a:srgbClr val="FFFFFF"/>
                    </a:gs>
                    <a:gs pos="0">
                      <a:srgbClr val="FFFFFF"/>
                    </a:gs>
                  </a:gsLst>
                  <a:lin ang="5400000" scaled="0"/>
                </a:gradFill>
                <a:ea typeface="ＭＳ Ｐゴシック" charset="0"/>
              </a:rPr>
              <a:t>.NET Core and ASP.NET 5 source being developed on  GitHub</a:t>
            </a:r>
          </a:p>
          <a:p>
            <a:pPr marL="285750" indent="-285750" defTabSz="932327">
              <a:spcBef>
                <a:spcPts val="1200"/>
              </a:spcBef>
              <a:buFont typeface="Arial" panose="020B0604020202020204" pitchFamily="34" charset="0"/>
              <a:buChar char="•"/>
            </a:pPr>
            <a:r>
              <a:rPr lang="en-US" sz="1800" dirty="0">
                <a:gradFill>
                  <a:gsLst>
                    <a:gs pos="100000">
                      <a:srgbClr val="FFFFFF"/>
                    </a:gs>
                    <a:gs pos="0">
                      <a:srgbClr val="FFFFFF"/>
                    </a:gs>
                  </a:gsLst>
                  <a:lin ang="5400000" scaled="0"/>
                </a:gradFill>
                <a:ea typeface="ＭＳ Ｐゴシック" charset="0"/>
              </a:rPr>
              <a:t>Contributions accepted, tested and fully supported</a:t>
            </a:r>
          </a:p>
          <a:p>
            <a:pPr marL="285750" indent="-285750" defTabSz="932327">
              <a:spcBef>
                <a:spcPts val="1200"/>
              </a:spcBef>
              <a:buFont typeface="Arial" panose="020B0604020202020204" pitchFamily="34" charset="0"/>
              <a:buChar char="•"/>
            </a:pPr>
            <a:r>
              <a:rPr lang="en-US" sz="1800" dirty="0">
                <a:gradFill>
                  <a:gsLst>
                    <a:gs pos="100000">
                      <a:srgbClr val="FFFFFF"/>
                    </a:gs>
                    <a:gs pos="0">
                      <a:srgbClr val="FFFFFF"/>
                    </a:gs>
                  </a:gsLst>
                  <a:lin ang="5400000" scaled="0"/>
                </a:gradFill>
                <a:ea typeface="ＭＳ Ｐゴシック" charset="0"/>
              </a:rPr>
              <a:t>Close collaboration with Mono community</a:t>
            </a:r>
          </a:p>
          <a:p>
            <a:pPr marL="457200" indent="-457200">
              <a:buFont typeface="Arial" panose="020B0604020202020204" pitchFamily="34" charset="0"/>
              <a:buChar char="•"/>
            </a:pPr>
            <a:endParaRPr lang="en-US" sz="1800" b="1" dirty="0"/>
          </a:p>
        </p:txBody>
      </p:sp>
      <p:sp>
        <p:nvSpPr>
          <p:cNvPr id="6" name="Text Placeholder 5"/>
          <p:cNvSpPr>
            <a:spLocks noGrp="1"/>
          </p:cNvSpPr>
          <p:nvPr>
            <p:ph type="body" sz="quarter" idx="11"/>
          </p:nvPr>
        </p:nvSpPr>
        <p:spPr>
          <a:xfrm>
            <a:off x="6446838" y="296862"/>
            <a:ext cx="5450996" cy="572464"/>
          </a:xfrm>
        </p:spPr>
        <p:txBody>
          <a:bodyPr/>
          <a:lstStyle/>
          <a:p>
            <a:r>
              <a:rPr lang="en-US" sz="2800" dirty="0" smtClean="0"/>
              <a:t>What is Microsoft Open Sourcing?</a:t>
            </a:r>
            <a:endParaRPr lang="en-US" sz="2800" dirty="0"/>
          </a:p>
        </p:txBody>
      </p:sp>
      <p:sp>
        <p:nvSpPr>
          <p:cNvPr id="8" name="Rectangle 7"/>
          <p:cNvSpPr/>
          <p:nvPr/>
        </p:nvSpPr>
        <p:spPr>
          <a:xfrm>
            <a:off x="6394240" y="1171803"/>
            <a:ext cx="1913088" cy="584775"/>
          </a:xfrm>
          <a:prstGeom prst="rect">
            <a:avLst/>
          </a:prstGeom>
        </p:spPr>
        <p:txBody>
          <a:bodyPr wrap="none">
            <a:spAutoFit/>
          </a:bodyPr>
          <a:lstStyle/>
          <a:p>
            <a:pPr defTabSz="685512"/>
            <a:r>
              <a:rPr lang="en-US" sz="3200" spc="-75" dirty="0">
                <a:ln w="3175">
                  <a:noFill/>
                </a:ln>
                <a:gradFill>
                  <a:gsLst>
                    <a:gs pos="58716">
                      <a:srgbClr val="002050"/>
                    </a:gs>
                    <a:gs pos="37000">
                      <a:srgbClr val="002050"/>
                    </a:gs>
                  </a:gsLst>
                  <a:lin ang="5400000" scaled="1"/>
                </a:gradFill>
                <a:latin typeface="Segoe UI Semibold" panose="020B0702040204020203" pitchFamily="34" charset="0"/>
                <a:cs typeface="Segoe UI Semibold" panose="020B0702040204020203" pitchFamily="34" charset="0"/>
              </a:rPr>
              <a:t>.NET 2015</a:t>
            </a:r>
            <a:endParaRPr lang="en-US" sz="1000" dirty="0">
              <a:gradFill>
                <a:gsLst>
                  <a:gs pos="58716">
                    <a:srgbClr val="002050"/>
                  </a:gs>
                  <a:gs pos="37000">
                    <a:srgbClr val="002050"/>
                  </a:gs>
                </a:gsLst>
                <a:lin ang="5400000" scaled="1"/>
              </a:gradFill>
              <a:latin typeface="Segoe UI Semibold" panose="020B0702040204020203" pitchFamily="34" charset="0"/>
              <a:cs typeface="Segoe UI Semibold" panose="020B0702040204020203" pitchFamily="34" charset="0"/>
            </a:endParaRPr>
          </a:p>
        </p:txBody>
      </p:sp>
      <p:sp>
        <p:nvSpPr>
          <p:cNvPr id="9" name="Rectangle 8"/>
          <p:cNvSpPr/>
          <p:nvPr/>
        </p:nvSpPr>
        <p:spPr bwMode="auto">
          <a:xfrm>
            <a:off x="9311125" y="1954783"/>
            <a:ext cx="2822005" cy="1479421"/>
          </a:xfrm>
          <a:prstGeom prst="rect">
            <a:avLst/>
          </a:prstGeom>
          <a:solidFill>
            <a:srgbClr val="7FBA00"/>
          </a:solidFill>
          <a:ln w="25400" cap="flat" cmpd="sng" algn="ctr">
            <a:noFill/>
            <a:prstDash val="solid"/>
            <a:headEnd type="none" w="med" len="med"/>
            <a:tailEnd type="none" w="med" len="med"/>
          </a:ln>
          <a:effectLst/>
        </p:spPr>
        <p:txBody>
          <a:bodyPr vert="horz" wrap="square" lIns="548562" tIns="205711" rIns="67219" bIns="67222" numCol="1" rtlCol="0" anchor="t" anchorCtr="0" compatLnSpc="1">
            <a:prstTxWarp prst="textNoShape">
              <a:avLst/>
            </a:prstTxWarp>
          </a:bodyPr>
          <a:lstStyle/>
          <a:p>
            <a:pPr defTabSz="685512"/>
            <a:endParaRPr lang="en-US" sz="2000" dirty="0">
              <a:gradFill>
                <a:gsLst>
                  <a:gs pos="14679">
                    <a:srgbClr val="FFFFFF"/>
                  </a:gs>
                  <a:gs pos="38000">
                    <a:srgbClr val="FFFFFF"/>
                  </a:gs>
                </a:gsLst>
                <a:lin ang="5400000" scaled="1"/>
              </a:gradFill>
              <a:latin typeface="Segoe UI Light"/>
            </a:endParaRPr>
          </a:p>
        </p:txBody>
      </p:sp>
      <p:sp>
        <p:nvSpPr>
          <p:cNvPr id="10" name="Rectangle 9"/>
          <p:cNvSpPr/>
          <p:nvPr/>
        </p:nvSpPr>
        <p:spPr bwMode="auto">
          <a:xfrm>
            <a:off x="6468081" y="1947918"/>
            <a:ext cx="2812724" cy="1480725"/>
          </a:xfrm>
          <a:prstGeom prst="rect">
            <a:avLst/>
          </a:prstGeom>
          <a:solidFill>
            <a:srgbClr val="7FBA00"/>
          </a:solidFill>
          <a:ln w="25400" cap="flat" cmpd="sng" algn="ctr">
            <a:noFill/>
            <a:prstDash val="solid"/>
            <a:headEnd type="none" w="med" len="med"/>
            <a:tailEnd type="none" w="med" len="med"/>
          </a:ln>
          <a:effectLst/>
        </p:spPr>
        <p:txBody>
          <a:bodyPr vert="horz" wrap="square" lIns="548562" tIns="205711" rIns="67219" bIns="67222" numCol="1" rtlCol="0" anchor="t" anchorCtr="0" compatLnSpc="1">
            <a:prstTxWarp prst="textNoShape">
              <a:avLst/>
            </a:prstTxWarp>
          </a:bodyPr>
          <a:lstStyle/>
          <a:p>
            <a:pPr defTabSz="685512"/>
            <a:r>
              <a:rPr lang="en-US" sz="2000" dirty="0">
                <a:gradFill>
                  <a:gsLst>
                    <a:gs pos="14679">
                      <a:srgbClr val="FFFFFF"/>
                    </a:gs>
                    <a:gs pos="38000">
                      <a:srgbClr val="FFFFFF"/>
                    </a:gs>
                  </a:gsLst>
                  <a:lin ang="5400000" scaled="1"/>
                </a:gradFill>
                <a:latin typeface="Segoe UI Light"/>
              </a:rPr>
              <a:t>  </a:t>
            </a:r>
          </a:p>
        </p:txBody>
      </p:sp>
      <p:sp>
        <p:nvSpPr>
          <p:cNvPr id="11" name="Rectangle 10"/>
          <p:cNvSpPr/>
          <p:nvPr/>
        </p:nvSpPr>
        <p:spPr bwMode="auto">
          <a:xfrm>
            <a:off x="6460541" y="3497263"/>
            <a:ext cx="5684632" cy="1358743"/>
          </a:xfrm>
          <a:prstGeom prst="rect">
            <a:avLst/>
          </a:prstGeom>
          <a:solidFill>
            <a:srgbClr val="68217A"/>
          </a:solidFill>
          <a:ln w="25400" cap="flat" cmpd="sng" algn="ctr">
            <a:noFill/>
            <a:prstDash val="solid"/>
            <a:headEnd type="none" w="med" len="med"/>
            <a:tailEnd type="none" w="med" len="med"/>
          </a:ln>
          <a:effectLst/>
        </p:spPr>
        <p:txBody>
          <a:bodyPr vert="horz" wrap="square" lIns="548485" tIns="33589" rIns="67174" bIns="53739" numCol="1" rtlCol="0" anchor="t" anchorCtr="0" compatLnSpc="1">
            <a:prstTxWarp prst="textNoShape">
              <a:avLst/>
            </a:prstTxWarp>
          </a:bodyPr>
          <a:lstStyle/>
          <a:p>
            <a:pPr defTabSz="685380"/>
            <a:endParaRPr lang="en-US" sz="1600" dirty="0">
              <a:gradFill>
                <a:gsLst>
                  <a:gs pos="14679">
                    <a:srgbClr val="FFFFFF"/>
                  </a:gs>
                  <a:gs pos="38000">
                    <a:srgbClr val="FFFFFF"/>
                  </a:gs>
                </a:gsLst>
                <a:lin ang="5400000" scaled="1"/>
              </a:gradFill>
            </a:endParaRPr>
          </a:p>
        </p:txBody>
      </p:sp>
      <p:grpSp>
        <p:nvGrpSpPr>
          <p:cNvPr id="12" name="Group 11"/>
          <p:cNvGrpSpPr/>
          <p:nvPr/>
        </p:nvGrpSpPr>
        <p:grpSpPr>
          <a:xfrm>
            <a:off x="7089749" y="4047846"/>
            <a:ext cx="1337845" cy="758321"/>
            <a:chOff x="3631207" y="5550921"/>
            <a:chExt cx="1468033" cy="1321773"/>
          </a:xfrm>
        </p:grpSpPr>
        <p:sp>
          <p:nvSpPr>
            <p:cNvPr id="13" name="Rectangle 12"/>
            <p:cNvSpPr/>
            <p:nvPr/>
          </p:nvSpPr>
          <p:spPr>
            <a:xfrm>
              <a:off x="3631209" y="6210163"/>
              <a:ext cx="916787" cy="662531"/>
            </a:xfrm>
            <a:prstGeom prst="rect">
              <a:avLst/>
            </a:prstGeom>
          </p:spPr>
          <p:txBody>
            <a:bodyPr wrap="none">
              <a:spAutoFit/>
            </a:bodyPr>
            <a:lstStyle/>
            <a:p>
              <a:pPr marL="0" lvl="1" defTabSz="685380">
                <a:lnSpc>
                  <a:spcPct val="90000"/>
                </a:lnSpc>
                <a:spcAft>
                  <a:spcPts val="250"/>
                </a:spcAft>
                <a:defRPr/>
              </a:pPr>
              <a:r>
                <a:rPr lang="en-US" sz="900" dirty="0" smtClean="0">
                  <a:solidFill>
                    <a:srgbClr val="FFFFFF"/>
                  </a:solidFill>
                </a:rPr>
                <a:t>RyuJIT</a:t>
              </a:r>
              <a:r>
                <a:rPr lang="en-US" sz="800" dirty="0" smtClean="0">
                  <a:solidFill>
                    <a:srgbClr val="FFFFFF"/>
                  </a:solidFill>
                </a:rPr>
                <a:t>, </a:t>
              </a:r>
              <a:r>
                <a:rPr lang="en-US" sz="900" dirty="0" smtClean="0">
                  <a:solidFill>
                    <a:srgbClr val="FFFFFF"/>
                  </a:solidFill>
                </a:rPr>
                <a:t>SIMD</a:t>
              </a:r>
            </a:p>
            <a:p>
              <a:pPr marL="0" lvl="1" defTabSz="685380">
                <a:lnSpc>
                  <a:spcPct val="90000"/>
                </a:lnSpc>
                <a:spcAft>
                  <a:spcPts val="250"/>
                </a:spcAft>
                <a:defRPr/>
              </a:pPr>
              <a:r>
                <a:rPr lang="en-US" sz="900" dirty="0" smtClean="0">
                  <a:solidFill>
                    <a:srgbClr val="FFFFFF"/>
                  </a:solidFill>
                </a:rPr>
                <a:t>Core-CLR</a:t>
              </a:r>
              <a:endParaRPr lang="en-US" sz="900" dirty="0">
                <a:solidFill>
                  <a:srgbClr val="FFFFFF"/>
                </a:solidFill>
              </a:endParaRPr>
            </a:p>
          </p:txBody>
        </p:sp>
        <p:sp>
          <p:nvSpPr>
            <p:cNvPr id="14" name="Rectangle 13"/>
            <p:cNvSpPr/>
            <p:nvPr/>
          </p:nvSpPr>
          <p:spPr>
            <a:xfrm>
              <a:off x="3631207" y="5550921"/>
              <a:ext cx="1468033" cy="740319"/>
            </a:xfrm>
            <a:prstGeom prst="rect">
              <a:avLst/>
            </a:prstGeom>
          </p:spPr>
          <p:txBody>
            <a:bodyPr wrap="square">
              <a:spAutoFit/>
            </a:bodyPr>
            <a:lstStyle/>
            <a:p>
              <a:pPr marL="0" lvl="1" defTabSz="685380">
                <a:lnSpc>
                  <a:spcPct val="90000"/>
                </a:lnSpc>
                <a:spcAft>
                  <a:spcPts val="250"/>
                </a:spcAft>
                <a:defRPr/>
              </a:pPr>
              <a:r>
                <a:rPr lang="en-US" sz="1200" b="1" dirty="0" smtClean="0">
                  <a:solidFill>
                    <a:srgbClr val="FFFFFF"/>
                  </a:solidFill>
                </a:rPr>
                <a:t>Runtime components</a:t>
              </a:r>
              <a:endParaRPr lang="en-US" sz="1200" b="1" dirty="0">
                <a:solidFill>
                  <a:srgbClr val="FFFFFF"/>
                </a:solidFill>
              </a:endParaRPr>
            </a:p>
          </p:txBody>
        </p:sp>
      </p:grpSp>
      <p:grpSp>
        <p:nvGrpSpPr>
          <p:cNvPr id="15" name="Group 14"/>
          <p:cNvGrpSpPr/>
          <p:nvPr/>
        </p:nvGrpSpPr>
        <p:grpSpPr>
          <a:xfrm>
            <a:off x="8642124" y="4048269"/>
            <a:ext cx="1374094" cy="739117"/>
            <a:chOff x="5954092" y="5572192"/>
            <a:chExt cx="2395084" cy="1288292"/>
          </a:xfrm>
        </p:grpSpPr>
        <p:sp>
          <p:nvSpPr>
            <p:cNvPr id="16" name="Rectangle 15"/>
            <p:cNvSpPr/>
            <p:nvPr/>
          </p:nvSpPr>
          <p:spPr>
            <a:xfrm>
              <a:off x="5954092" y="5572192"/>
              <a:ext cx="1759618" cy="450625"/>
            </a:xfrm>
            <a:prstGeom prst="rect">
              <a:avLst/>
            </a:prstGeom>
          </p:spPr>
          <p:txBody>
            <a:bodyPr wrap="square">
              <a:spAutoFit/>
            </a:bodyPr>
            <a:lstStyle/>
            <a:p>
              <a:pPr marL="0" lvl="1" defTabSz="685380">
                <a:lnSpc>
                  <a:spcPct val="90000"/>
                </a:lnSpc>
                <a:spcAft>
                  <a:spcPts val="250"/>
                </a:spcAft>
                <a:defRPr/>
              </a:pPr>
              <a:r>
                <a:rPr lang="en-US" sz="1200" b="1" dirty="0">
                  <a:solidFill>
                    <a:srgbClr val="FFFFFF"/>
                  </a:solidFill>
                </a:rPr>
                <a:t>Compilers</a:t>
              </a:r>
            </a:p>
          </p:txBody>
        </p:sp>
        <p:sp>
          <p:nvSpPr>
            <p:cNvPr id="17" name="Rectangle 16"/>
            <p:cNvSpPr/>
            <p:nvPr/>
          </p:nvSpPr>
          <p:spPr>
            <a:xfrm>
              <a:off x="5954092" y="5913633"/>
              <a:ext cx="2395084" cy="946851"/>
            </a:xfrm>
            <a:prstGeom prst="rect">
              <a:avLst/>
            </a:prstGeom>
          </p:spPr>
          <p:txBody>
            <a:bodyPr wrap="none">
              <a:spAutoFit/>
            </a:bodyPr>
            <a:lstStyle/>
            <a:p>
              <a:pPr marL="0" lvl="1" defTabSz="685380">
                <a:lnSpc>
                  <a:spcPct val="90000"/>
                </a:lnSpc>
                <a:spcAft>
                  <a:spcPts val="250"/>
                </a:spcAft>
              </a:pPr>
              <a:r>
                <a:rPr lang="en-US" sz="900" dirty="0">
                  <a:solidFill>
                    <a:srgbClr val="FFFFFF"/>
                  </a:solidFill>
                </a:rPr>
                <a:t>.NET Compiler </a:t>
              </a:r>
              <a:r>
                <a:rPr lang="en-US" sz="900" dirty="0" smtClean="0">
                  <a:solidFill>
                    <a:srgbClr val="FFFFFF"/>
                  </a:solidFill>
                </a:rPr>
                <a:t>Platform</a:t>
              </a:r>
            </a:p>
            <a:p>
              <a:pPr marL="0" lvl="1" defTabSz="685380">
                <a:lnSpc>
                  <a:spcPct val="90000"/>
                </a:lnSpc>
                <a:spcAft>
                  <a:spcPts val="250"/>
                </a:spcAft>
              </a:pPr>
              <a:r>
                <a:rPr lang="en-US" sz="900" dirty="0" smtClean="0">
                  <a:solidFill>
                    <a:srgbClr val="FFFFFF"/>
                  </a:solidFill>
                </a:rPr>
                <a:t>	(“Roslyn”)</a:t>
              </a:r>
            </a:p>
            <a:p>
              <a:pPr marL="0" lvl="1" defTabSz="685380">
                <a:lnSpc>
                  <a:spcPct val="90000"/>
                </a:lnSpc>
                <a:spcAft>
                  <a:spcPts val="250"/>
                </a:spcAft>
              </a:pPr>
              <a:r>
                <a:rPr lang="en-US" sz="900" dirty="0" smtClean="0">
                  <a:solidFill>
                    <a:srgbClr val="FFFFFF"/>
                  </a:solidFill>
                </a:rPr>
                <a:t>Languages</a:t>
              </a:r>
              <a:endParaRPr lang="en-US" sz="800" dirty="0">
                <a:solidFill>
                  <a:srgbClr val="FFFFFF"/>
                </a:solidFill>
              </a:endParaRPr>
            </a:p>
          </p:txBody>
        </p:sp>
      </p:grpSp>
      <p:grpSp>
        <p:nvGrpSpPr>
          <p:cNvPr id="18" name="Group 17"/>
          <p:cNvGrpSpPr/>
          <p:nvPr/>
        </p:nvGrpSpPr>
        <p:grpSpPr>
          <a:xfrm>
            <a:off x="10455629" y="4037884"/>
            <a:ext cx="1653017" cy="709713"/>
            <a:chOff x="8627481" y="5540297"/>
            <a:chExt cx="2881254" cy="1237045"/>
          </a:xfrm>
        </p:grpSpPr>
        <p:sp>
          <p:nvSpPr>
            <p:cNvPr id="19" name="Rectangle 18"/>
            <p:cNvSpPr/>
            <p:nvPr/>
          </p:nvSpPr>
          <p:spPr>
            <a:xfrm>
              <a:off x="8627481" y="5913640"/>
              <a:ext cx="2881254" cy="863702"/>
            </a:xfrm>
            <a:prstGeom prst="rect">
              <a:avLst/>
            </a:prstGeom>
          </p:spPr>
          <p:txBody>
            <a:bodyPr wrap="none">
              <a:spAutoFit/>
            </a:bodyPr>
            <a:lstStyle/>
            <a:p>
              <a:pPr marL="0" lvl="1" defTabSz="685380">
                <a:lnSpc>
                  <a:spcPct val="90000"/>
                </a:lnSpc>
                <a:spcAft>
                  <a:spcPts val="1200"/>
                </a:spcAft>
                <a:defRPr/>
              </a:pPr>
              <a:r>
                <a:rPr lang="en-US" sz="900" dirty="0">
                  <a:solidFill>
                    <a:srgbClr val="FFFFFF"/>
                  </a:solidFill>
                </a:rPr>
                <a:t>.NET Core 5 Libraries</a:t>
              </a:r>
            </a:p>
            <a:p>
              <a:pPr marL="0" lvl="1" defTabSz="685380">
                <a:lnSpc>
                  <a:spcPct val="90000"/>
                </a:lnSpc>
                <a:spcAft>
                  <a:spcPts val="250"/>
                </a:spcAft>
                <a:defRPr/>
              </a:pPr>
              <a:r>
                <a:rPr lang="en-US" sz="900" dirty="0">
                  <a:solidFill>
                    <a:srgbClr val="FFFFFF"/>
                  </a:solidFill>
                </a:rPr>
                <a:t>.NET Framework 4.6 Libraries</a:t>
              </a:r>
            </a:p>
          </p:txBody>
        </p:sp>
        <p:sp>
          <p:nvSpPr>
            <p:cNvPr id="20" name="Rectangle 19"/>
            <p:cNvSpPr/>
            <p:nvPr/>
          </p:nvSpPr>
          <p:spPr>
            <a:xfrm>
              <a:off x="8627483" y="5540297"/>
              <a:ext cx="2369792" cy="450627"/>
            </a:xfrm>
            <a:prstGeom prst="rect">
              <a:avLst/>
            </a:prstGeom>
          </p:spPr>
          <p:txBody>
            <a:bodyPr wrap="square">
              <a:spAutoFit/>
            </a:bodyPr>
            <a:lstStyle/>
            <a:p>
              <a:pPr marL="0" lvl="1" defTabSz="685380">
                <a:lnSpc>
                  <a:spcPct val="90000"/>
                </a:lnSpc>
                <a:spcAft>
                  <a:spcPts val="250"/>
                </a:spcAft>
                <a:defRPr/>
              </a:pPr>
              <a:r>
                <a:rPr lang="en-US" sz="1200" b="1" dirty="0" smtClean="0">
                  <a:solidFill>
                    <a:srgbClr val="FFFFFF"/>
                  </a:solidFill>
                </a:rPr>
                <a:t>Libraries</a:t>
              </a:r>
              <a:endParaRPr lang="en-US" sz="1200" b="1" dirty="0">
                <a:solidFill>
                  <a:srgbClr val="FFFFFF"/>
                </a:solidFill>
              </a:endParaRPr>
            </a:p>
          </p:txBody>
        </p:sp>
      </p:grpSp>
      <p:grpSp>
        <p:nvGrpSpPr>
          <p:cNvPr id="21" name="Group 20"/>
          <p:cNvGrpSpPr/>
          <p:nvPr/>
        </p:nvGrpSpPr>
        <p:grpSpPr>
          <a:xfrm>
            <a:off x="6686982" y="4183089"/>
            <a:ext cx="361583" cy="295516"/>
            <a:chOff x="9061629" y="5706715"/>
            <a:chExt cx="380421" cy="310912"/>
          </a:xfrm>
        </p:grpSpPr>
        <p:sp>
          <p:nvSpPr>
            <p:cNvPr id="22" name="Freeform 86"/>
            <p:cNvSpPr>
              <a:spLocks noEditPoints="1"/>
            </p:cNvSpPr>
            <p:nvPr/>
          </p:nvSpPr>
          <p:spPr bwMode="black">
            <a:xfrm>
              <a:off x="9061629" y="5737038"/>
              <a:ext cx="277768" cy="280589"/>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0" tIns="34280" rIns="68560" bIns="34280" numCol="1" anchor="t" anchorCtr="0" compatLnSpc="1">
              <a:prstTxWarp prst="textNoShape">
                <a:avLst/>
              </a:prstTxWarp>
            </a:bodyPr>
            <a:lstStyle/>
            <a:p>
              <a:pPr defTabSz="699154"/>
              <a:endParaRPr lang="en-US" sz="1200">
                <a:gradFill>
                  <a:gsLst>
                    <a:gs pos="14679">
                      <a:srgbClr val="FFFFFF"/>
                    </a:gs>
                    <a:gs pos="38000">
                      <a:srgbClr val="FFFFFF"/>
                    </a:gs>
                  </a:gsLst>
                  <a:lin ang="5400000" scaled="1"/>
                </a:gradFill>
              </a:endParaRPr>
            </a:p>
          </p:txBody>
        </p:sp>
        <p:sp>
          <p:nvSpPr>
            <p:cNvPr id="23" name="Oval 87"/>
            <p:cNvSpPr>
              <a:spLocks noChangeArrowheads="1"/>
            </p:cNvSpPr>
            <p:nvPr/>
          </p:nvSpPr>
          <p:spPr bwMode="black">
            <a:xfrm>
              <a:off x="9172736" y="5854128"/>
              <a:ext cx="51528" cy="5175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0" tIns="34280" rIns="68560" bIns="34280" numCol="1" anchor="t" anchorCtr="0" compatLnSpc="1">
              <a:prstTxWarp prst="textNoShape">
                <a:avLst/>
              </a:prstTxWarp>
            </a:bodyPr>
            <a:lstStyle/>
            <a:p>
              <a:pPr defTabSz="699154"/>
              <a:endParaRPr lang="en-US" sz="1200">
                <a:gradFill>
                  <a:gsLst>
                    <a:gs pos="14679">
                      <a:srgbClr val="FFFFFF"/>
                    </a:gs>
                    <a:gs pos="38000">
                      <a:srgbClr val="FFFFFF"/>
                    </a:gs>
                  </a:gsLst>
                  <a:lin ang="5400000" scaled="1"/>
                </a:gradFill>
              </a:endParaRPr>
            </a:p>
          </p:txBody>
        </p:sp>
        <p:sp>
          <p:nvSpPr>
            <p:cNvPr id="24" name="Freeform 88"/>
            <p:cNvSpPr>
              <a:spLocks noEditPoints="1"/>
            </p:cNvSpPr>
            <p:nvPr/>
          </p:nvSpPr>
          <p:spPr bwMode="black">
            <a:xfrm>
              <a:off x="9301153" y="5706715"/>
              <a:ext cx="140897" cy="152424"/>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0" tIns="34280" rIns="68560" bIns="34280" numCol="1" anchor="t" anchorCtr="0" compatLnSpc="1">
              <a:prstTxWarp prst="textNoShape">
                <a:avLst/>
              </a:prstTxWarp>
            </a:bodyPr>
            <a:lstStyle/>
            <a:p>
              <a:pPr defTabSz="699154"/>
              <a:endParaRPr lang="en-US" sz="1200">
                <a:gradFill>
                  <a:gsLst>
                    <a:gs pos="14679">
                      <a:srgbClr val="FFFFFF"/>
                    </a:gs>
                    <a:gs pos="38000">
                      <a:srgbClr val="FFFFFF"/>
                    </a:gs>
                  </a:gsLst>
                  <a:lin ang="5400000" scaled="1"/>
                </a:gradFill>
              </a:endParaRPr>
            </a:p>
          </p:txBody>
        </p:sp>
      </p:grpSp>
      <p:sp>
        <p:nvSpPr>
          <p:cNvPr id="25" name="Rectangle 24"/>
          <p:cNvSpPr/>
          <p:nvPr/>
        </p:nvSpPr>
        <p:spPr>
          <a:xfrm>
            <a:off x="6741396" y="3540491"/>
            <a:ext cx="1255472" cy="400110"/>
          </a:xfrm>
          <a:prstGeom prst="rect">
            <a:avLst/>
          </a:prstGeom>
        </p:spPr>
        <p:txBody>
          <a:bodyPr wrap="none">
            <a:spAutoFit/>
          </a:bodyPr>
          <a:lstStyle/>
          <a:p>
            <a:pPr defTabSz="685380"/>
            <a:r>
              <a:rPr lang="en-US" sz="2000" dirty="0">
                <a:gradFill>
                  <a:gsLst>
                    <a:gs pos="14679">
                      <a:srgbClr val="FFFFFF"/>
                    </a:gs>
                    <a:gs pos="38000">
                      <a:srgbClr val="FFFFFF"/>
                    </a:gs>
                  </a:gsLst>
                  <a:lin ang="5400000" scaled="1"/>
                </a:gradFill>
                <a:latin typeface="Segoe UI Semibold" panose="020B0702040204020203" pitchFamily="34" charset="0"/>
                <a:cs typeface="Segoe UI Semibold" panose="020B0702040204020203" pitchFamily="34" charset="0"/>
              </a:rPr>
              <a:t>Common</a:t>
            </a:r>
            <a:endParaRPr lang="en-US" sz="1600" dirty="0">
              <a:gradFill>
                <a:gsLst>
                  <a:gs pos="14679">
                    <a:srgbClr val="FFFFFF"/>
                  </a:gs>
                  <a:gs pos="38000">
                    <a:srgbClr val="FFFFFF"/>
                  </a:gs>
                </a:gsLst>
                <a:lin ang="5400000" scaled="1"/>
              </a:gradFill>
              <a:latin typeface="Segoe UI Semibold" panose="020B0702040204020203" pitchFamily="34" charset="0"/>
              <a:cs typeface="Segoe UI Semibold" panose="020B0702040204020203" pitchFamily="34" charset="0"/>
            </a:endParaRPr>
          </a:p>
        </p:txBody>
      </p:sp>
      <p:sp>
        <p:nvSpPr>
          <p:cNvPr id="26" name="Freeform 25"/>
          <p:cNvSpPr>
            <a:spLocks noEditPoints="1"/>
          </p:cNvSpPr>
          <p:nvPr/>
        </p:nvSpPr>
        <p:spPr bwMode="black">
          <a:xfrm>
            <a:off x="10125079" y="4230881"/>
            <a:ext cx="286629" cy="266063"/>
          </a:xfrm>
          <a:custGeom>
            <a:avLst/>
            <a:gdLst>
              <a:gd name="T0" fmla="*/ 0 w 708"/>
              <a:gd name="T1" fmla="*/ 709 h 709"/>
              <a:gd name="T2" fmla="*/ 212 w 708"/>
              <a:gd name="T3" fmla="*/ 567 h 709"/>
              <a:gd name="T4" fmla="*/ 708 w 708"/>
              <a:gd name="T5" fmla="*/ 567 h 709"/>
              <a:gd name="T6" fmla="*/ 496 w 708"/>
              <a:gd name="T7" fmla="*/ 709 h 709"/>
              <a:gd name="T8" fmla="*/ 708 w 708"/>
              <a:gd name="T9" fmla="*/ 567 h 709"/>
              <a:gd name="T10" fmla="*/ 248 w 708"/>
              <a:gd name="T11" fmla="*/ 567 h 709"/>
              <a:gd name="T12" fmla="*/ 460 w 708"/>
              <a:gd name="T13" fmla="*/ 709 h 709"/>
              <a:gd name="T14" fmla="*/ 212 w 708"/>
              <a:gd name="T15" fmla="*/ 227 h 709"/>
              <a:gd name="T16" fmla="*/ 0 w 708"/>
              <a:gd name="T17" fmla="*/ 369 h 709"/>
              <a:gd name="T18" fmla="*/ 212 w 708"/>
              <a:gd name="T19" fmla="*/ 227 h 709"/>
              <a:gd name="T20" fmla="*/ 496 w 708"/>
              <a:gd name="T21" fmla="*/ 14 h 709"/>
              <a:gd name="T22" fmla="*/ 708 w 708"/>
              <a:gd name="T23" fmla="*/ 156 h 709"/>
              <a:gd name="T24" fmla="*/ 460 w 708"/>
              <a:gd name="T25" fmla="*/ 156 h 709"/>
              <a:gd name="T26" fmla="*/ 248 w 708"/>
              <a:gd name="T27" fmla="*/ 298 h 709"/>
              <a:gd name="T28" fmla="*/ 460 w 708"/>
              <a:gd name="T29" fmla="*/ 156 h 709"/>
              <a:gd name="T30" fmla="*/ 127 w 708"/>
              <a:gd name="T31" fmla="*/ 397 h 709"/>
              <a:gd name="T32" fmla="*/ 340 w 708"/>
              <a:gd name="T33" fmla="*/ 539 h 709"/>
              <a:gd name="T34" fmla="*/ 97 w 708"/>
              <a:gd name="T35" fmla="*/ 397 h 709"/>
              <a:gd name="T36" fmla="*/ 0 w 708"/>
              <a:gd name="T37" fmla="*/ 539 h 709"/>
              <a:gd name="T38" fmla="*/ 97 w 708"/>
              <a:gd name="T39" fmla="*/ 397 h 709"/>
              <a:gd name="T40" fmla="*/ 0 w 708"/>
              <a:gd name="T41" fmla="*/ 57 h 709"/>
              <a:gd name="T42" fmla="*/ 97 w 708"/>
              <a:gd name="T43" fmla="*/ 199 h 709"/>
              <a:gd name="T44" fmla="*/ 583 w 708"/>
              <a:gd name="T45" fmla="*/ 397 h 709"/>
              <a:gd name="T46" fmla="*/ 371 w 708"/>
              <a:gd name="T47" fmla="*/ 539 h 709"/>
              <a:gd name="T48" fmla="*/ 583 w 708"/>
              <a:gd name="T49" fmla="*/ 397 h 709"/>
              <a:gd name="T50" fmla="*/ 614 w 708"/>
              <a:gd name="T51" fmla="*/ 397 h 709"/>
              <a:gd name="T52" fmla="*/ 708 w 708"/>
              <a:gd name="T53" fmla="*/ 539 h 709"/>
              <a:gd name="T54" fmla="*/ 354 w 708"/>
              <a:gd name="T55" fmla="*/ 132 h 709"/>
              <a:gd name="T56" fmla="*/ 392 w 708"/>
              <a:gd name="T57" fmla="*/ 47 h 709"/>
              <a:gd name="T58" fmla="*/ 316 w 708"/>
              <a:gd name="T59" fmla="*/ 0 h 709"/>
              <a:gd name="T60" fmla="*/ 269 w 708"/>
              <a:gd name="T61" fmla="*/ 47 h 709"/>
              <a:gd name="T62" fmla="*/ 602 w 708"/>
              <a:gd name="T63" fmla="*/ 343 h 709"/>
              <a:gd name="T64" fmla="*/ 640 w 708"/>
              <a:gd name="T65" fmla="*/ 258 h 709"/>
              <a:gd name="T66" fmla="*/ 564 w 708"/>
              <a:gd name="T67" fmla="*/ 210 h 709"/>
              <a:gd name="T68" fmla="*/ 517 w 708"/>
              <a:gd name="T69" fmla="*/ 25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08" h="709">
                <a:moveTo>
                  <a:pt x="212" y="709"/>
                </a:moveTo>
                <a:lnTo>
                  <a:pt x="0" y="709"/>
                </a:lnTo>
                <a:lnTo>
                  <a:pt x="0" y="567"/>
                </a:lnTo>
                <a:lnTo>
                  <a:pt x="212" y="567"/>
                </a:lnTo>
                <a:lnTo>
                  <a:pt x="212" y="709"/>
                </a:lnTo>
                <a:close/>
                <a:moveTo>
                  <a:pt x="708" y="567"/>
                </a:moveTo>
                <a:lnTo>
                  <a:pt x="496" y="567"/>
                </a:lnTo>
                <a:lnTo>
                  <a:pt x="496" y="709"/>
                </a:lnTo>
                <a:lnTo>
                  <a:pt x="708" y="709"/>
                </a:lnTo>
                <a:lnTo>
                  <a:pt x="708" y="567"/>
                </a:lnTo>
                <a:close/>
                <a:moveTo>
                  <a:pt x="460" y="567"/>
                </a:moveTo>
                <a:lnTo>
                  <a:pt x="248" y="567"/>
                </a:lnTo>
                <a:lnTo>
                  <a:pt x="248" y="709"/>
                </a:lnTo>
                <a:lnTo>
                  <a:pt x="460" y="709"/>
                </a:lnTo>
                <a:lnTo>
                  <a:pt x="460" y="567"/>
                </a:lnTo>
                <a:close/>
                <a:moveTo>
                  <a:pt x="212" y="227"/>
                </a:moveTo>
                <a:lnTo>
                  <a:pt x="0" y="227"/>
                </a:lnTo>
                <a:lnTo>
                  <a:pt x="0" y="369"/>
                </a:lnTo>
                <a:lnTo>
                  <a:pt x="212" y="369"/>
                </a:lnTo>
                <a:lnTo>
                  <a:pt x="212" y="227"/>
                </a:lnTo>
                <a:close/>
                <a:moveTo>
                  <a:pt x="708" y="14"/>
                </a:moveTo>
                <a:lnTo>
                  <a:pt x="496" y="14"/>
                </a:lnTo>
                <a:lnTo>
                  <a:pt x="496" y="156"/>
                </a:lnTo>
                <a:lnTo>
                  <a:pt x="708" y="156"/>
                </a:lnTo>
                <a:lnTo>
                  <a:pt x="708" y="14"/>
                </a:lnTo>
                <a:close/>
                <a:moveTo>
                  <a:pt x="460" y="156"/>
                </a:moveTo>
                <a:lnTo>
                  <a:pt x="248" y="156"/>
                </a:lnTo>
                <a:lnTo>
                  <a:pt x="248" y="298"/>
                </a:lnTo>
                <a:lnTo>
                  <a:pt x="460" y="298"/>
                </a:lnTo>
                <a:lnTo>
                  <a:pt x="460" y="156"/>
                </a:lnTo>
                <a:close/>
                <a:moveTo>
                  <a:pt x="340" y="397"/>
                </a:moveTo>
                <a:lnTo>
                  <a:pt x="127" y="397"/>
                </a:lnTo>
                <a:lnTo>
                  <a:pt x="127" y="539"/>
                </a:lnTo>
                <a:lnTo>
                  <a:pt x="340" y="539"/>
                </a:lnTo>
                <a:lnTo>
                  <a:pt x="340" y="397"/>
                </a:lnTo>
                <a:close/>
                <a:moveTo>
                  <a:pt x="97" y="397"/>
                </a:moveTo>
                <a:lnTo>
                  <a:pt x="0" y="397"/>
                </a:lnTo>
                <a:lnTo>
                  <a:pt x="0" y="539"/>
                </a:lnTo>
                <a:lnTo>
                  <a:pt x="97" y="539"/>
                </a:lnTo>
                <a:lnTo>
                  <a:pt x="97" y="397"/>
                </a:lnTo>
                <a:close/>
                <a:moveTo>
                  <a:pt x="97" y="57"/>
                </a:moveTo>
                <a:lnTo>
                  <a:pt x="0" y="57"/>
                </a:lnTo>
                <a:lnTo>
                  <a:pt x="0" y="199"/>
                </a:lnTo>
                <a:lnTo>
                  <a:pt x="97" y="199"/>
                </a:lnTo>
                <a:lnTo>
                  <a:pt x="97" y="57"/>
                </a:lnTo>
                <a:close/>
                <a:moveTo>
                  <a:pt x="583" y="397"/>
                </a:moveTo>
                <a:lnTo>
                  <a:pt x="371" y="397"/>
                </a:lnTo>
                <a:lnTo>
                  <a:pt x="371" y="539"/>
                </a:lnTo>
                <a:lnTo>
                  <a:pt x="583" y="539"/>
                </a:lnTo>
                <a:lnTo>
                  <a:pt x="583" y="397"/>
                </a:lnTo>
                <a:close/>
                <a:moveTo>
                  <a:pt x="708" y="397"/>
                </a:moveTo>
                <a:lnTo>
                  <a:pt x="614" y="397"/>
                </a:lnTo>
                <a:lnTo>
                  <a:pt x="614" y="539"/>
                </a:lnTo>
                <a:lnTo>
                  <a:pt x="708" y="539"/>
                </a:lnTo>
                <a:lnTo>
                  <a:pt x="708" y="397"/>
                </a:lnTo>
                <a:close/>
                <a:moveTo>
                  <a:pt x="354" y="132"/>
                </a:moveTo>
                <a:lnTo>
                  <a:pt x="439" y="47"/>
                </a:lnTo>
                <a:lnTo>
                  <a:pt x="392" y="47"/>
                </a:lnTo>
                <a:lnTo>
                  <a:pt x="392" y="0"/>
                </a:lnTo>
                <a:lnTo>
                  <a:pt x="316" y="0"/>
                </a:lnTo>
                <a:lnTo>
                  <a:pt x="316" y="47"/>
                </a:lnTo>
                <a:lnTo>
                  <a:pt x="269" y="47"/>
                </a:lnTo>
                <a:lnTo>
                  <a:pt x="354" y="132"/>
                </a:lnTo>
                <a:close/>
                <a:moveTo>
                  <a:pt x="602" y="343"/>
                </a:moveTo>
                <a:lnTo>
                  <a:pt x="687" y="258"/>
                </a:lnTo>
                <a:lnTo>
                  <a:pt x="640" y="258"/>
                </a:lnTo>
                <a:lnTo>
                  <a:pt x="640" y="210"/>
                </a:lnTo>
                <a:lnTo>
                  <a:pt x="564" y="210"/>
                </a:lnTo>
                <a:lnTo>
                  <a:pt x="564" y="258"/>
                </a:lnTo>
                <a:lnTo>
                  <a:pt x="517" y="258"/>
                </a:lnTo>
                <a:lnTo>
                  <a:pt x="602" y="34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1720" tIns="30860" rIns="61720" bIns="30860" numCol="1" anchor="t" anchorCtr="0" compatLnSpc="1">
            <a:prstTxWarp prst="textNoShape">
              <a:avLst/>
            </a:prstTxWarp>
          </a:bodyPr>
          <a:lstStyle/>
          <a:p>
            <a:pPr defTabSz="685739"/>
            <a:endParaRPr lang="en-US" sz="1200">
              <a:solidFill>
                <a:prstClr val="black"/>
              </a:solidFill>
            </a:endParaRPr>
          </a:p>
        </p:txBody>
      </p:sp>
      <p:sp>
        <p:nvSpPr>
          <p:cNvPr id="27" name="Freeform 84"/>
          <p:cNvSpPr>
            <a:spLocks noEditPoints="1"/>
          </p:cNvSpPr>
          <p:nvPr/>
        </p:nvSpPr>
        <p:spPr bwMode="black">
          <a:xfrm>
            <a:off x="8363519" y="4192504"/>
            <a:ext cx="235014" cy="280940"/>
          </a:xfrm>
          <a:custGeom>
            <a:avLst/>
            <a:gdLst>
              <a:gd name="T0" fmla="*/ 604 w 1838"/>
              <a:gd name="T1" fmla="*/ 253 h 2192"/>
              <a:gd name="T2" fmla="*/ 1159 w 1838"/>
              <a:gd name="T3" fmla="*/ 963 h 2192"/>
              <a:gd name="T4" fmla="*/ 1105 w 1838"/>
              <a:gd name="T5" fmla="*/ 573 h 2192"/>
              <a:gd name="T6" fmla="*/ 214 w 1838"/>
              <a:gd name="T7" fmla="*/ 0 h 2192"/>
              <a:gd name="T8" fmla="*/ 1159 w 1838"/>
              <a:gd name="T9" fmla="*/ 694 h 2192"/>
              <a:gd name="T10" fmla="*/ 1088 w 1838"/>
              <a:gd name="T11" fmla="*/ 764 h 2192"/>
              <a:gd name="T12" fmla="*/ 284 w 1838"/>
              <a:gd name="T13" fmla="*/ 198 h 2192"/>
              <a:gd name="T14" fmla="*/ 214 w 1838"/>
              <a:gd name="T15" fmla="*/ 128 h 2192"/>
              <a:gd name="T16" fmla="*/ 1443 w 1838"/>
              <a:gd name="T17" fmla="*/ 262 h 2192"/>
              <a:gd name="T18" fmla="*/ 1309 w 1838"/>
              <a:gd name="T19" fmla="*/ 1063 h 2192"/>
              <a:gd name="T20" fmla="*/ 903 w 1838"/>
              <a:gd name="T21" fmla="*/ 764 h 2192"/>
              <a:gd name="T22" fmla="*/ 639 w 1838"/>
              <a:gd name="T23" fmla="*/ 952 h 2192"/>
              <a:gd name="T24" fmla="*/ 704 w 1838"/>
              <a:gd name="T25" fmla="*/ 1683 h 2192"/>
              <a:gd name="T26" fmla="*/ 767 w 1838"/>
              <a:gd name="T27" fmla="*/ 1191 h 2192"/>
              <a:gd name="T28" fmla="*/ 1683 w 1838"/>
              <a:gd name="T29" fmla="*/ 390 h 2192"/>
              <a:gd name="T30" fmla="*/ 1443 w 1838"/>
              <a:gd name="T31" fmla="*/ 134 h 2192"/>
              <a:gd name="T32" fmla="*/ 960 w 1838"/>
              <a:gd name="T33" fmla="*/ 198 h 2192"/>
              <a:gd name="T34" fmla="*/ 704 w 1838"/>
              <a:gd name="T35" fmla="*/ 1555 h 2192"/>
              <a:gd name="T36" fmla="*/ 775 w 1838"/>
              <a:gd name="T37" fmla="*/ 1484 h 2192"/>
              <a:gd name="T38" fmla="*/ 704 w 1838"/>
              <a:gd name="T39" fmla="*/ 694 h 2192"/>
              <a:gd name="T40" fmla="*/ 1631 w 1838"/>
              <a:gd name="T41" fmla="*/ 128 h 2192"/>
              <a:gd name="T42" fmla="*/ 1560 w 1838"/>
              <a:gd name="T43" fmla="*/ 198 h 2192"/>
              <a:gd name="T44" fmla="*/ 1230 w 1838"/>
              <a:gd name="T45" fmla="*/ 198 h 2192"/>
              <a:gd name="T46" fmla="*/ 1159 w 1838"/>
              <a:gd name="T47" fmla="*/ 128 h 2192"/>
              <a:gd name="T48" fmla="*/ 1823 w 1838"/>
              <a:gd name="T49" fmla="*/ 1484 h 2192"/>
              <a:gd name="T50" fmla="*/ 1553 w 1838"/>
              <a:gd name="T51" fmla="*/ 1670 h 2192"/>
              <a:gd name="T52" fmla="*/ 1362 w 1838"/>
              <a:gd name="T53" fmla="*/ 1922 h 2192"/>
              <a:gd name="T54" fmla="*/ 1177 w 1838"/>
              <a:gd name="T55" fmla="*/ 2192 h 2192"/>
              <a:gd name="T56" fmla="*/ 1639 w 1838"/>
              <a:gd name="T57" fmla="*/ 2192 h 2192"/>
              <a:gd name="T58" fmla="*/ 1177 w 1838"/>
              <a:gd name="T59" fmla="*/ 2064 h 2192"/>
              <a:gd name="T60" fmla="*/ 1247 w 1838"/>
              <a:gd name="T61" fmla="*/ 1993 h 2192"/>
              <a:gd name="T62" fmla="*/ 1695 w 1838"/>
              <a:gd name="T63" fmla="*/ 1484 h 2192"/>
              <a:gd name="T64" fmla="*/ 1624 w 1838"/>
              <a:gd name="T65" fmla="*/ 1414 h 2192"/>
              <a:gd name="T66" fmla="*/ 1639 w 1838"/>
              <a:gd name="T67" fmla="*/ 1922 h 2192"/>
              <a:gd name="T68" fmla="*/ 1133 w 1838"/>
              <a:gd name="T69" fmla="*/ 1678 h 2192"/>
              <a:gd name="T70" fmla="*/ 1177 w 1838"/>
              <a:gd name="T71" fmla="*/ 1286 h 2192"/>
              <a:gd name="T72" fmla="*/ 807 w 1838"/>
              <a:gd name="T73" fmla="*/ 1823 h 2192"/>
              <a:gd name="T74" fmla="*/ 384 w 1838"/>
              <a:gd name="T75" fmla="*/ 1922 h 2192"/>
              <a:gd name="T76" fmla="*/ 412 w 1838"/>
              <a:gd name="T77" fmla="*/ 764 h 2192"/>
              <a:gd name="T78" fmla="*/ 157 w 1838"/>
              <a:gd name="T79" fmla="*/ 955 h 2192"/>
              <a:gd name="T80" fmla="*/ 199 w 1838"/>
              <a:gd name="T81" fmla="*/ 2192 h 2192"/>
              <a:gd name="T82" fmla="*/ 704 w 1838"/>
              <a:gd name="T83" fmla="*/ 2192 h 2192"/>
              <a:gd name="T84" fmla="*/ 1133 w 1838"/>
              <a:gd name="T85" fmla="*/ 1678 h 2192"/>
              <a:gd name="T86" fmla="*/ 1177 w 1838"/>
              <a:gd name="T87" fmla="*/ 1555 h 2192"/>
              <a:gd name="T88" fmla="*/ 199 w 1838"/>
              <a:gd name="T89" fmla="*/ 2064 h 2192"/>
              <a:gd name="T90" fmla="*/ 270 w 1838"/>
              <a:gd name="T91" fmla="*/ 1993 h 2192"/>
              <a:gd name="T92" fmla="*/ 143 w 1838"/>
              <a:gd name="T93" fmla="*/ 764 h 2192"/>
              <a:gd name="T94" fmla="*/ 214 w 1838"/>
              <a:gd name="T95" fmla="*/ 835 h 2192"/>
              <a:gd name="T96" fmla="*/ 704 w 1838"/>
              <a:gd name="T97" fmla="*/ 1922 h 2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838" h="2192">
                <a:moveTo>
                  <a:pt x="214" y="397"/>
                </a:moveTo>
                <a:cubicBezTo>
                  <a:pt x="304" y="397"/>
                  <a:pt x="381" y="336"/>
                  <a:pt x="405" y="253"/>
                </a:cubicBezTo>
                <a:cubicBezTo>
                  <a:pt x="604" y="253"/>
                  <a:pt x="604" y="253"/>
                  <a:pt x="604" y="253"/>
                </a:cubicBezTo>
                <a:cubicBezTo>
                  <a:pt x="998" y="647"/>
                  <a:pt x="998" y="647"/>
                  <a:pt x="998" y="647"/>
                </a:cubicBezTo>
                <a:cubicBezTo>
                  <a:pt x="974" y="680"/>
                  <a:pt x="960" y="720"/>
                  <a:pt x="960" y="764"/>
                </a:cubicBezTo>
                <a:cubicBezTo>
                  <a:pt x="960" y="874"/>
                  <a:pt x="1049" y="963"/>
                  <a:pt x="1159" y="963"/>
                </a:cubicBezTo>
                <a:cubicBezTo>
                  <a:pt x="1268" y="963"/>
                  <a:pt x="1358" y="874"/>
                  <a:pt x="1358" y="764"/>
                </a:cubicBezTo>
                <a:cubicBezTo>
                  <a:pt x="1358" y="655"/>
                  <a:pt x="1268" y="566"/>
                  <a:pt x="1159" y="566"/>
                </a:cubicBezTo>
                <a:cubicBezTo>
                  <a:pt x="1140" y="566"/>
                  <a:pt x="1122" y="568"/>
                  <a:pt x="1105" y="573"/>
                </a:cubicBezTo>
                <a:cubicBezTo>
                  <a:pt x="657" y="125"/>
                  <a:pt x="657" y="125"/>
                  <a:pt x="657" y="125"/>
                </a:cubicBezTo>
                <a:cubicBezTo>
                  <a:pt x="398" y="125"/>
                  <a:pt x="398" y="125"/>
                  <a:pt x="398" y="125"/>
                </a:cubicBezTo>
                <a:cubicBezTo>
                  <a:pt x="369" y="51"/>
                  <a:pt x="297" y="0"/>
                  <a:pt x="214" y="0"/>
                </a:cubicBezTo>
                <a:cubicBezTo>
                  <a:pt x="104" y="0"/>
                  <a:pt x="15" y="89"/>
                  <a:pt x="15" y="198"/>
                </a:cubicBezTo>
                <a:cubicBezTo>
                  <a:pt x="15" y="308"/>
                  <a:pt x="104" y="397"/>
                  <a:pt x="214" y="397"/>
                </a:cubicBezTo>
                <a:close/>
                <a:moveTo>
                  <a:pt x="1159" y="694"/>
                </a:moveTo>
                <a:cubicBezTo>
                  <a:pt x="1198" y="694"/>
                  <a:pt x="1230" y="725"/>
                  <a:pt x="1230" y="764"/>
                </a:cubicBezTo>
                <a:cubicBezTo>
                  <a:pt x="1230" y="803"/>
                  <a:pt x="1198" y="835"/>
                  <a:pt x="1159" y="835"/>
                </a:cubicBezTo>
                <a:cubicBezTo>
                  <a:pt x="1120" y="835"/>
                  <a:pt x="1088" y="803"/>
                  <a:pt x="1088" y="764"/>
                </a:cubicBezTo>
                <a:cubicBezTo>
                  <a:pt x="1088" y="725"/>
                  <a:pt x="1120" y="694"/>
                  <a:pt x="1159" y="694"/>
                </a:cubicBezTo>
                <a:close/>
                <a:moveTo>
                  <a:pt x="214" y="128"/>
                </a:moveTo>
                <a:cubicBezTo>
                  <a:pt x="253" y="128"/>
                  <a:pt x="284" y="159"/>
                  <a:pt x="284" y="198"/>
                </a:cubicBezTo>
                <a:cubicBezTo>
                  <a:pt x="284" y="237"/>
                  <a:pt x="253" y="269"/>
                  <a:pt x="214" y="269"/>
                </a:cubicBezTo>
                <a:cubicBezTo>
                  <a:pt x="175" y="269"/>
                  <a:pt x="143" y="237"/>
                  <a:pt x="143" y="198"/>
                </a:cubicBezTo>
                <a:cubicBezTo>
                  <a:pt x="143" y="159"/>
                  <a:pt x="175" y="128"/>
                  <a:pt x="214" y="128"/>
                </a:cubicBezTo>
                <a:close/>
                <a:moveTo>
                  <a:pt x="1159" y="397"/>
                </a:moveTo>
                <a:cubicBezTo>
                  <a:pt x="1246" y="397"/>
                  <a:pt x="1320" y="341"/>
                  <a:pt x="1347" y="262"/>
                </a:cubicBezTo>
                <a:cubicBezTo>
                  <a:pt x="1443" y="262"/>
                  <a:pt x="1443" y="262"/>
                  <a:pt x="1443" y="262"/>
                </a:cubicBezTo>
                <a:cubicBezTo>
                  <a:pt x="1461" y="317"/>
                  <a:pt x="1503" y="360"/>
                  <a:pt x="1555" y="382"/>
                </a:cubicBezTo>
                <a:cubicBezTo>
                  <a:pt x="1555" y="817"/>
                  <a:pt x="1555" y="817"/>
                  <a:pt x="1555" y="817"/>
                </a:cubicBezTo>
                <a:cubicBezTo>
                  <a:pt x="1309" y="1063"/>
                  <a:pt x="1309" y="1063"/>
                  <a:pt x="1309" y="1063"/>
                </a:cubicBezTo>
                <a:cubicBezTo>
                  <a:pt x="767" y="1063"/>
                  <a:pt x="767" y="1063"/>
                  <a:pt x="767" y="1063"/>
                </a:cubicBezTo>
                <a:cubicBezTo>
                  <a:pt x="767" y="953"/>
                  <a:pt x="767" y="953"/>
                  <a:pt x="767" y="953"/>
                </a:cubicBezTo>
                <a:cubicBezTo>
                  <a:pt x="846" y="927"/>
                  <a:pt x="903" y="852"/>
                  <a:pt x="903" y="764"/>
                </a:cubicBezTo>
                <a:cubicBezTo>
                  <a:pt x="903" y="655"/>
                  <a:pt x="814" y="566"/>
                  <a:pt x="704" y="566"/>
                </a:cubicBezTo>
                <a:cubicBezTo>
                  <a:pt x="595" y="566"/>
                  <a:pt x="506" y="655"/>
                  <a:pt x="506" y="764"/>
                </a:cubicBezTo>
                <a:cubicBezTo>
                  <a:pt x="506" y="851"/>
                  <a:pt x="561" y="925"/>
                  <a:pt x="639" y="952"/>
                </a:cubicBezTo>
                <a:cubicBezTo>
                  <a:pt x="639" y="1297"/>
                  <a:pt x="639" y="1297"/>
                  <a:pt x="639" y="1297"/>
                </a:cubicBezTo>
                <a:cubicBezTo>
                  <a:pt x="561" y="1324"/>
                  <a:pt x="506" y="1398"/>
                  <a:pt x="506" y="1484"/>
                </a:cubicBezTo>
                <a:cubicBezTo>
                  <a:pt x="506" y="1594"/>
                  <a:pt x="595" y="1683"/>
                  <a:pt x="704" y="1683"/>
                </a:cubicBezTo>
                <a:cubicBezTo>
                  <a:pt x="814" y="1683"/>
                  <a:pt x="903" y="1594"/>
                  <a:pt x="903" y="1484"/>
                </a:cubicBezTo>
                <a:cubicBezTo>
                  <a:pt x="903" y="1397"/>
                  <a:pt x="846" y="1322"/>
                  <a:pt x="767" y="1296"/>
                </a:cubicBezTo>
                <a:cubicBezTo>
                  <a:pt x="767" y="1191"/>
                  <a:pt x="767" y="1191"/>
                  <a:pt x="767" y="1191"/>
                </a:cubicBezTo>
                <a:cubicBezTo>
                  <a:pt x="1362" y="1191"/>
                  <a:pt x="1362" y="1191"/>
                  <a:pt x="1362" y="1191"/>
                </a:cubicBezTo>
                <a:cubicBezTo>
                  <a:pt x="1683" y="870"/>
                  <a:pt x="1683" y="870"/>
                  <a:pt x="1683" y="870"/>
                </a:cubicBezTo>
                <a:cubicBezTo>
                  <a:pt x="1683" y="390"/>
                  <a:pt x="1683" y="390"/>
                  <a:pt x="1683" y="390"/>
                </a:cubicBezTo>
                <a:cubicBezTo>
                  <a:pt x="1768" y="367"/>
                  <a:pt x="1830" y="290"/>
                  <a:pt x="1830" y="198"/>
                </a:cubicBezTo>
                <a:cubicBezTo>
                  <a:pt x="1830" y="89"/>
                  <a:pt x="1740" y="0"/>
                  <a:pt x="1631" y="0"/>
                </a:cubicBezTo>
                <a:cubicBezTo>
                  <a:pt x="1544" y="0"/>
                  <a:pt x="1469" y="56"/>
                  <a:pt x="1443" y="134"/>
                </a:cubicBezTo>
                <a:cubicBezTo>
                  <a:pt x="1347" y="134"/>
                  <a:pt x="1347" y="134"/>
                  <a:pt x="1347" y="134"/>
                </a:cubicBezTo>
                <a:cubicBezTo>
                  <a:pt x="1320" y="56"/>
                  <a:pt x="1246" y="0"/>
                  <a:pt x="1159" y="0"/>
                </a:cubicBezTo>
                <a:cubicBezTo>
                  <a:pt x="1049" y="0"/>
                  <a:pt x="960" y="89"/>
                  <a:pt x="960" y="198"/>
                </a:cubicBezTo>
                <a:cubicBezTo>
                  <a:pt x="960" y="308"/>
                  <a:pt x="1049" y="397"/>
                  <a:pt x="1159" y="397"/>
                </a:cubicBezTo>
                <a:close/>
                <a:moveTo>
                  <a:pt x="775" y="1484"/>
                </a:moveTo>
                <a:cubicBezTo>
                  <a:pt x="775" y="1523"/>
                  <a:pt x="743" y="1555"/>
                  <a:pt x="704" y="1555"/>
                </a:cubicBezTo>
                <a:cubicBezTo>
                  <a:pt x="665" y="1555"/>
                  <a:pt x="634" y="1523"/>
                  <a:pt x="634" y="1484"/>
                </a:cubicBezTo>
                <a:cubicBezTo>
                  <a:pt x="634" y="1445"/>
                  <a:pt x="665" y="1414"/>
                  <a:pt x="704" y="1414"/>
                </a:cubicBezTo>
                <a:cubicBezTo>
                  <a:pt x="743" y="1414"/>
                  <a:pt x="775" y="1445"/>
                  <a:pt x="775" y="1484"/>
                </a:cubicBezTo>
                <a:close/>
                <a:moveTo>
                  <a:pt x="704" y="835"/>
                </a:moveTo>
                <a:cubicBezTo>
                  <a:pt x="665" y="835"/>
                  <a:pt x="634" y="803"/>
                  <a:pt x="634" y="764"/>
                </a:cubicBezTo>
                <a:cubicBezTo>
                  <a:pt x="634" y="725"/>
                  <a:pt x="665" y="694"/>
                  <a:pt x="704" y="694"/>
                </a:cubicBezTo>
                <a:cubicBezTo>
                  <a:pt x="743" y="694"/>
                  <a:pt x="775" y="725"/>
                  <a:pt x="775" y="764"/>
                </a:cubicBezTo>
                <a:cubicBezTo>
                  <a:pt x="775" y="803"/>
                  <a:pt x="743" y="835"/>
                  <a:pt x="704" y="835"/>
                </a:cubicBezTo>
                <a:close/>
                <a:moveTo>
                  <a:pt x="1631" y="128"/>
                </a:moveTo>
                <a:cubicBezTo>
                  <a:pt x="1670" y="128"/>
                  <a:pt x="1702" y="159"/>
                  <a:pt x="1702" y="198"/>
                </a:cubicBezTo>
                <a:cubicBezTo>
                  <a:pt x="1702" y="237"/>
                  <a:pt x="1670" y="269"/>
                  <a:pt x="1631" y="269"/>
                </a:cubicBezTo>
                <a:cubicBezTo>
                  <a:pt x="1592" y="269"/>
                  <a:pt x="1560" y="237"/>
                  <a:pt x="1560" y="198"/>
                </a:cubicBezTo>
                <a:cubicBezTo>
                  <a:pt x="1560" y="159"/>
                  <a:pt x="1592" y="128"/>
                  <a:pt x="1631" y="128"/>
                </a:cubicBezTo>
                <a:close/>
                <a:moveTo>
                  <a:pt x="1159" y="128"/>
                </a:moveTo>
                <a:cubicBezTo>
                  <a:pt x="1198" y="128"/>
                  <a:pt x="1230" y="159"/>
                  <a:pt x="1230" y="198"/>
                </a:cubicBezTo>
                <a:cubicBezTo>
                  <a:pt x="1230" y="237"/>
                  <a:pt x="1198" y="269"/>
                  <a:pt x="1159" y="269"/>
                </a:cubicBezTo>
                <a:cubicBezTo>
                  <a:pt x="1120" y="269"/>
                  <a:pt x="1088" y="237"/>
                  <a:pt x="1088" y="198"/>
                </a:cubicBezTo>
                <a:cubicBezTo>
                  <a:pt x="1088" y="159"/>
                  <a:pt x="1120" y="128"/>
                  <a:pt x="1159" y="128"/>
                </a:cubicBezTo>
                <a:close/>
                <a:moveTo>
                  <a:pt x="1681" y="1799"/>
                </a:moveTo>
                <a:cubicBezTo>
                  <a:pt x="1681" y="1675"/>
                  <a:pt x="1681" y="1675"/>
                  <a:pt x="1681" y="1675"/>
                </a:cubicBezTo>
                <a:cubicBezTo>
                  <a:pt x="1763" y="1650"/>
                  <a:pt x="1823" y="1574"/>
                  <a:pt x="1823" y="1484"/>
                </a:cubicBezTo>
                <a:cubicBezTo>
                  <a:pt x="1823" y="1375"/>
                  <a:pt x="1734" y="1286"/>
                  <a:pt x="1624" y="1286"/>
                </a:cubicBezTo>
                <a:cubicBezTo>
                  <a:pt x="1514" y="1286"/>
                  <a:pt x="1425" y="1375"/>
                  <a:pt x="1425" y="1484"/>
                </a:cubicBezTo>
                <a:cubicBezTo>
                  <a:pt x="1425" y="1569"/>
                  <a:pt x="1478" y="1641"/>
                  <a:pt x="1553" y="1670"/>
                </a:cubicBezTo>
                <a:cubicBezTo>
                  <a:pt x="1553" y="1814"/>
                  <a:pt x="1553" y="1814"/>
                  <a:pt x="1553" y="1814"/>
                </a:cubicBezTo>
                <a:cubicBezTo>
                  <a:pt x="1507" y="1836"/>
                  <a:pt x="1472" y="1874"/>
                  <a:pt x="1453" y="1922"/>
                </a:cubicBezTo>
                <a:cubicBezTo>
                  <a:pt x="1362" y="1922"/>
                  <a:pt x="1362" y="1922"/>
                  <a:pt x="1362" y="1922"/>
                </a:cubicBezTo>
                <a:cubicBezTo>
                  <a:pt x="1333" y="1847"/>
                  <a:pt x="1261" y="1794"/>
                  <a:pt x="1177" y="1794"/>
                </a:cubicBezTo>
                <a:cubicBezTo>
                  <a:pt x="1067" y="1794"/>
                  <a:pt x="978" y="1883"/>
                  <a:pt x="978" y="1993"/>
                </a:cubicBezTo>
                <a:cubicBezTo>
                  <a:pt x="978" y="2103"/>
                  <a:pt x="1067" y="2192"/>
                  <a:pt x="1177" y="2192"/>
                </a:cubicBezTo>
                <a:cubicBezTo>
                  <a:pt x="1266" y="2192"/>
                  <a:pt x="1343" y="2132"/>
                  <a:pt x="1367" y="2050"/>
                </a:cubicBezTo>
                <a:cubicBezTo>
                  <a:pt x="1448" y="2050"/>
                  <a:pt x="1448" y="2050"/>
                  <a:pt x="1448" y="2050"/>
                </a:cubicBezTo>
                <a:cubicBezTo>
                  <a:pt x="1473" y="2132"/>
                  <a:pt x="1549" y="2192"/>
                  <a:pt x="1639" y="2192"/>
                </a:cubicBezTo>
                <a:cubicBezTo>
                  <a:pt x="1748" y="2192"/>
                  <a:pt x="1838" y="2103"/>
                  <a:pt x="1838" y="1993"/>
                </a:cubicBezTo>
                <a:cubicBezTo>
                  <a:pt x="1838" y="1898"/>
                  <a:pt x="1770" y="1818"/>
                  <a:pt x="1681" y="1799"/>
                </a:cubicBezTo>
                <a:close/>
                <a:moveTo>
                  <a:pt x="1177" y="2064"/>
                </a:moveTo>
                <a:cubicBezTo>
                  <a:pt x="1138" y="2064"/>
                  <a:pt x="1106" y="2032"/>
                  <a:pt x="1106" y="1993"/>
                </a:cubicBezTo>
                <a:cubicBezTo>
                  <a:pt x="1106" y="1954"/>
                  <a:pt x="1138" y="1922"/>
                  <a:pt x="1177" y="1922"/>
                </a:cubicBezTo>
                <a:cubicBezTo>
                  <a:pt x="1216" y="1922"/>
                  <a:pt x="1247" y="1954"/>
                  <a:pt x="1247" y="1993"/>
                </a:cubicBezTo>
                <a:cubicBezTo>
                  <a:pt x="1247" y="2032"/>
                  <a:pt x="1216" y="2064"/>
                  <a:pt x="1177" y="2064"/>
                </a:cubicBezTo>
                <a:close/>
                <a:moveTo>
                  <a:pt x="1624" y="1414"/>
                </a:moveTo>
                <a:cubicBezTo>
                  <a:pt x="1663" y="1414"/>
                  <a:pt x="1695" y="1445"/>
                  <a:pt x="1695" y="1484"/>
                </a:cubicBezTo>
                <a:cubicBezTo>
                  <a:pt x="1695" y="1523"/>
                  <a:pt x="1663" y="1555"/>
                  <a:pt x="1624" y="1555"/>
                </a:cubicBezTo>
                <a:cubicBezTo>
                  <a:pt x="1585" y="1555"/>
                  <a:pt x="1553" y="1523"/>
                  <a:pt x="1553" y="1484"/>
                </a:cubicBezTo>
                <a:cubicBezTo>
                  <a:pt x="1553" y="1445"/>
                  <a:pt x="1585" y="1414"/>
                  <a:pt x="1624" y="1414"/>
                </a:cubicBezTo>
                <a:close/>
                <a:moveTo>
                  <a:pt x="1639" y="2064"/>
                </a:moveTo>
                <a:cubicBezTo>
                  <a:pt x="1600" y="2064"/>
                  <a:pt x="1568" y="2032"/>
                  <a:pt x="1568" y="1993"/>
                </a:cubicBezTo>
                <a:cubicBezTo>
                  <a:pt x="1568" y="1954"/>
                  <a:pt x="1600" y="1922"/>
                  <a:pt x="1639" y="1922"/>
                </a:cubicBezTo>
                <a:cubicBezTo>
                  <a:pt x="1678" y="1922"/>
                  <a:pt x="1710" y="1954"/>
                  <a:pt x="1710" y="1993"/>
                </a:cubicBezTo>
                <a:cubicBezTo>
                  <a:pt x="1710" y="2032"/>
                  <a:pt x="1678" y="2064"/>
                  <a:pt x="1639" y="2064"/>
                </a:cubicBezTo>
                <a:close/>
                <a:moveTo>
                  <a:pt x="1133" y="1678"/>
                </a:moveTo>
                <a:cubicBezTo>
                  <a:pt x="1147" y="1681"/>
                  <a:pt x="1162" y="1683"/>
                  <a:pt x="1177" y="1683"/>
                </a:cubicBezTo>
                <a:cubicBezTo>
                  <a:pt x="1286" y="1683"/>
                  <a:pt x="1375" y="1594"/>
                  <a:pt x="1375" y="1484"/>
                </a:cubicBezTo>
                <a:cubicBezTo>
                  <a:pt x="1375" y="1375"/>
                  <a:pt x="1286" y="1286"/>
                  <a:pt x="1177" y="1286"/>
                </a:cubicBezTo>
                <a:cubicBezTo>
                  <a:pt x="1067" y="1286"/>
                  <a:pt x="978" y="1375"/>
                  <a:pt x="978" y="1484"/>
                </a:cubicBezTo>
                <a:cubicBezTo>
                  <a:pt x="978" y="1531"/>
                  <a:pt x="994" y="1575"/>
                  <a:pt x="1022" y="1609"/>
                </a:cubicBezTo>
                <a:cubicBezTo>
                  <a:pt x="807" y="1823"/>
                  <a:pt x="807" y="1823"/>
                  <a:pt x="807" y="1823"/>
                </a:cubicBezTo>
                <a:cubicBezTo>
                  <a:pt x="777" y="1805"/>
                  <a:pt x="742" y="1794"/>
                  <a:pt x="704" y="1794"/>
                </a:cubicBezTo>
                <a:cubicBezTo>
                  <a:pt x="620" y="1794"/>
                  <a:pt x="548" y="1847"/>
                  <a:pt x="519" y="1922"/>
                </a:cubicBezTo>
                <a:cubicBezTo>
                  <a:pt x="384" y="1922"/>
                  <a:pt x="384" y="1922"/>
                  <a:pt x="384" y="1922"/>
                </a:cubicBezTo>
                <a:cubicBezTo>
                  <a:pt x="366" y="1874"/>
                  <a:pt x="330" y="1836"/>
                  <a:pt x="285" y="1814"/>
                </a:cubicBezTo>
                <a:cubicBezTo>
                  <a:pt x="285" y="950"/>
                  <a:pt x="285" y="950"/>
                  <a:pt x="285" y="950"/>
                </a:cubicBezTo>
                <a:cubicBezTo>
                  <a:pt x="359" y="921"/>
                  <a:pt x="412" y="849"/>
                  <a:pt x="412" y="764"/>
                </a:cubicBezTo>
                <a:cubicBezTo>
                  <a:pt x="412" y="655"/>
                  <a:pt x="323" y="566"/>
                  <a:pt x="214" y="566"/>
                </a:cubicBezTo>
                <a:cubicBezTo>
                  <a:pt x="104" y="566"/>
                  <a:pt x="15" y="655"/>
                  <a:pt x="15" y="764"/>
                </a:cubicBezTo>
                <a:cubicBezTo>
                  <a:pt x="15" y="854"/>
                  <a:pt x="75" y="930"/>
                  <a:pt x="157" y="955"/>
                </a:cubicBezTo>
                <a:cubicBezTo>
                  <a:pt x="157" y="1799"/>
                  <a:pt x="157" y="1799"/>
                  <a:pt x="157" y="1799"/>
                </a:cubicBezTo>
                <a:cubicBezTo>
                  <a:pt x="67" y="1818"/>
                  <a:pt x="0" y="1898"/>
                  <a:pt x="0" y="1993"/>
                </a:cubicBezTo>
                <a:cubicBezTo>
                  <a:pt x="0" y="2103"/>
                  <a:pt x="89" y="2192"/>
                  <a:pt x="199" y="2192"/>
                </a:cubicBezTo>
                <a:cubicBezTo>
                  <a:pt x="289" y="2192"/>
                  <a:pt x="365" y="2132"/>
                  <a:pt x="389" y="2050"/>
                </a:cubicBezTo>
                <a:cubicBezTo>
                  <a:pt x="514" y="2050"/>
                  <a:pt x="514" y="2050"/>
                  <a:pt x="514" y="2050"/>
                </a:cubicBezTo>
                <a:cubicBezTo>
                  <a:pt x="538" y="2132"/>
                  <a:pt x="615" y="2192"/>
                  <a:pt x="704" y="2192"/>
                </a:cubicBezTo>
                <a:cubicBezTo>
                  <a:pt x="814" y="2192"/>
                  <a:pt x="903" y="2103"/>
                  <a:pt x="903" y="1993"/>
                </a:cubicBezTo>
                <a:cubicBezTo>
                  <a:pt x="903" y="1968"/>
                  <a:pt x="898" y="1944"/>
                  <a:pt x="890" y="1922"/>
                </a:cubicBezTo>
                <a:lnTo>
                  <a:pt x="1133" y="1678"/>
                </a:lnTo>
                <a:close/>
                <a:moveTo>
                  <a:pt x="1177" y="1414"/>
                </a:moveTo>
                <a:cubicBezTo>
                  <a:pt x="1216" y="1414"/>
                  <a:pt x="1247" y="1445"/>
                  <a:pt x="1247" y="1484"/>
                </a:cubicBezTo>
                <a:cubicBezTo>
                  <a:pt x="1247" y="1523"/>
                  <a:pt x="1216" y="1555"/>
                  <a:pt x="1177" y="1555"/>
                </a:cubicBezTo>
                <a:cubicBezTo>
                  <a:pt x="1138" y="1555"/>
                  <a:pt x="1106" y="1523"/>
                  <a:pt x="1106" y="1484"/>
                </a:cubicBezTo>
                <a:cubicBezTo>
                  <a:pt x="1106" y="1445"/>
                  <a:pt x="1138" y="1414"/>
                  <a:pt x="1177" y="1414"/>
                </a:cubicBezTo>
                <a:close/>
                <a:moveTo>
                  <a:pt x="199" y="2064"/>
                </a:moveTo>
                <a:cubicBezTo>
                  <a:pt x="160" y="2064"/>
                  <a:pt x="128" y="2032"/>
                  <a:pt x="128" y="1993"/>
                </a:cubicBezTo>
                <a:cubicBezTo>
                  <a:pt x="128" y="1954"/>
                  <a:pt x="160" y="1922"/>
                  <a:pt x="199" y="1922"/>
                </a:cubicBezTo>
                <a:cubicBezTo>
                  <a:pt x="238" y="1922"/>
                  <a:pt x="270" y="1954"/>
                  <a:pt x="270" y="1993"/>
                </a:cubicBezTo>
                <a:cubicBezTo>
                  <a:pt x="270" y="2032"/>
                  <a:pt x="238" y="2064"/>
                  <a:pt x="199" y="2064"/>
                </a:cubicBezTo>
                <a:close/>
                <a:moveTo>
                  <a:pt x="214" y="835"/>
                </a:moveTo>
                <a:cubicBezTo>
                  <a:pt x="175" y="835"/>
                  <a:pt x="143" y="803"/>
                  <a:pt x="143" y="764"/>
                </a:cubicBezTo>
                <a:cubicBezTo>
                  <a:pt x="143" y="725"/>
                  <a:pt x="175" y="694"/>
                  <a:pt x="214" y="694"/>
                </a:cubicBezTo>
                <a:cubicBezTo>
                  <a:pt x="253" y="694"/>
                  <a:pt x="284" y="725"/>
                  <a:pt x="284" y="764"/>
                </a:cubicBezTo>
                <a:cubicBezTo>
                  <a:pt x="284" y="803"/>
                  <a:pt x="253" y="835"/>
                  <a:pt x="214" y="835"/>
                </a:cubicBezTo>
                <a:close/>
                <a:moveTo>
                  <a:pt x="704" y="2064"/>
                </a:moveTo>
                <a:cubicBezTo>
                  <a:pt x="665" y="2064"/>
                  <a:pt x="634" y="2032"/>
                  <a:pt x="634" y="1993"/>
                </a:cubicBezTo>
                <a:cubicBezTo>
                  <a:pt x="634" y="1954"/>
                  <a:pt x="665" y="1922"/>
                  <a:pt x="704" y="1922"/>
                </a:cubicBezTo>
                <a:cubicBezTo>
                  <a:pt x="743" y="1922"/>
                  <a:pt x="775" y="1954"/>
                  <a:pt x="775" y="1993"/>
                </a:cubicBezTo>
                <a:cubicBezTo>
                  <a:pt x="775" y="2032"/>
                  <a:pt x="743" y="2064"/>
                  <a:pt x="704" y="2064"/>
                </a:cubicBezTo>
                <a:close/>
              </a:path>
            </a:pathLst>
          </a:custGeom>
          <a:solidFill>
            <a:srgbClr val="FFFFFF"/>
          </a:solidFill>
          <a:ln>
            <a:noFill/>
          </a:ln>
        </p:spPr>
        <p:txBody>
          <a:bodyPr vert="horz" wrap="square" lIns="61720" tIns="30860" rIns="61720" bIns="30860" numCol="1" anchor="t" anchorCtr="0" compatLnSpc="1">
            <a:prstTxWarp prst="textNoShape">
              <a:avLst/>
            </a:prstTxWarp>
          </a:bodyPr>
          <a:lstStyle/>
          <a:p>
            <a:pPr defTabSz="685739"/>
            <a:endParaRPr lang="en-US" sz="1100">
              <a:solidFill>
                <a:prstClr val="black"/>
              </a:solidFill>
            </a:endParaRPr>
          </a:p>
        </p:txBody>
      </p:sp>
      <p:sp>
        <p:nvSpPr>
          <p:cNvPr id="28" name="TextBox 27"/>
          <p:cNvSpPr txBox="1"/>
          <p:nvPr/>
        </p:nvSpPr>
        <p:spPr>
          <a:xfrm>
            <a:off x="7174363" y="2264787"/>
            <a:ext cx="2128494" cy="707886"/>
          </a:xfrm>
          <a:prstGeom prst="rect">
            <a:avLst/>
          </a:prstGeom>
          <a:noFill/>
        </p:spPr>
        <p:txBody>
          <a:bodyPr wrap="square" rtlCol="0">
            <a:spAutoFit/>
          </a:bodyPr>
          <a:lstStyle/>
          <a:p>
            <a:pPr defTabSz="685739"/>
            <a:r>
              <a:rPr lang="en-US" sz="2000" b="1" dirty="0">
                <a:solidFill>
                  <a:srgbClr val="FFFFFF"/>
                </a:solidFill>
                <a:latin typeface="Segoe UI Semibold" panose="020B0702040204020203" pitchFamily="34" charset="0"/>
                <a:cs typeface="Segoe UI Semibold" panose="020B0702040204020203" pitchFamily="34" charset="0"/>
              </a:rPr>
              <a:t>.NET </a:t>
            </a:r>
            <a:endParaRPr lang="en-US" sz="2000" b="1" dirty="0" smtClean="0">
              <a:solidFill>
                <a:srgbClr val="FFFFFF"/>
              </a:solidFill>
              <a:latin typeface="Segoe UI Semibold" panose="020B0702040204020203" pitchFamily="34" charset="0"/>
              <a:cs typeface="Segoe UI Semibold" panose="020B0702040204020203" pitchFamily="34" charset="0"/>
            </a:endParaRPr>
          </a:p>
          <a:p>
            <a:pPr defTabSz="685739"/>
            <a:r>
              <a:rPr lang="en-US" sz="2000" b="1" dirty="0" smtClean="0">
                <a:solidFill>
                  <a:srgbClr val="FFFFFF"/>
                </a:solidFill>
                <a:latin typeface="Segoe UI Semibold" panose="020B0702040204020203" pitchFamily="34" charset="0"/>
                <a:cs typeface="Segoe UI Semibold" panose="020B0702040204020203" pitchFamily="34" charset="0"/>
              </a:rPr>
              <a:t>Framework 4.6 </a:t>
            </a:r>
            <a:endParaRPr lang="en-US" sz="2000" b="1" dirty="0">
              <a:solidFill>
                <a:srgbClr val="FFFFFF"/>
              </a:solidFill>
              <a:latin typeface="Segoe UI Semibold" panose="020B0702040204020203" pitchFamily="34" charset="0"/>
              <a:cs typeface="Segoe UI Semibold" panose="020B0702040204020203" pitchFamily="34" charset="0"/>
            </a:endParaRPr>
          </a:p>
        </p:txBody>
      </p:sp>
      <p:pic>
        <p:nvPicPr>
          <p:cNvPr id="29" name="Picture 28"/>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9956863" y="2681312"/>
            <a:ext cx="146558" cy="172549"/>
          </a:xfrm>
          <a:prstGeom prst="rect">
            <a:avLst/>
          </a:prstGeom>
        </p:spPr>
      </p:pic>
      <p:pic>
        <p:nvPicPr>
          <p:cNvPr id="30" name="Picture 2" descr="http://files.softicons.com/download/system-icons/windows-8-metro-icons-by-dakirby309/png/512x512/Folders%20&amp;%20OS/Linux.png"/>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0135693" y="2664199"/>
            <a:ext cx="210617" cy="20677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C:\temp\WinAzure_rgb_Wht_S.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371" t="15460" r="80628" b="15496"/>
          <a:stretch/>
        </p:blipFill>
        <p:spPr bwMode="auto">
          <a:xfrm>
            <a:off x="9984349" y="2392844"/>
            <a:ext cx="198335" cy="20143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C:\temp\WinAzure_rgb_Wht_S.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371" t="15460" r="80628" b="15496"/>
          <a:stretch/>
        </p:blipFill>
        <p:spPr bwMode="auto">
          <a:xfrm>
            <a:off x="6695974" y="2390378"/>
            <a:ext cx="446117" cy="453080"/>
          </a:xfrm>
          <a:prstGeom prst="rect">
            <a:avLst/>
          </a:prstGeom>
          <a:noFill/>
          <a:extLst>
            <a:ext uri="{909E8E84-426E-40DD-AFC4-6F175D3DCCD1}">
              <a14:hiddenFill xmlns:a14="http://schemas.microsoft.com/office/drawing/2010/main">
                <a:solidFill>
                  <a:srgbClr val="FFFFFF"/>
                </a:solidFill>
              </a14:hiddenFill>
            </a:ext>
          </a:extLst>
        </p:spPr>
      </p:pic>
      <p:sp>
        <p:nvSpPr>
          <p:cNvPr id="33" name="Rounded Rectangle 32"/>
          <p:cNvSpPr/>
          <p:nvPr/>
        </p:nvSpPr>
        <p:spPr>
          <a:xfrm>
            <a:off x="9373144" y="2002171"/>
            <a:ext cx="2677043" cy="1362152"/>
          </a:xfrm>
          <a:prstGeom prst="roundRect">
            <a:avLst/>
          </a:prstGeom>
          <a:noFill/>
          <a:ln w="50800">
            <a:solidFill>
              <a:schemeClr val="accent4">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32277"/>
            <a:endParaRPr lang="en-US" sz="1768">
              <a:solidFill>
                <a:prstClr val="white"/>
              </a:solidFill>
            </a:endParaRPr>
          </a:p>
        </p:txBody>
      </p:sp>
      <p:sp>
        <p:nvSpPr>
          <p:cNvPr id="34" name="Rounded Rectangle 33"/>
          <p:cNvSpPr/>
          <p:nvPr/>
        </p:nvSpPr>
        <p:spPr>
          <a:xfrm>
            <a:off x="8275331" y="4025037"/>
            <a:ext cx="1691052" cy="771191"/>
          </a:xfrm>
          <a:prstGeom prst="roundRect">
            <a:avLst/>
          </a:prstGeom>
          <a:noFill/>
          <a:ln w="50800">
            <a:solidFill>
              <a:schemeClr val="accent4">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32277"/>
            <a:endParaRPr lang="en-US" sz="1768">
              <a:solidFill>
                <a:prstClr val="white"/>
              </a:solidFill>
            </a:endParaRPr>
          </a:p>
        </p:txBody>
      </p:sp>
      <p:sp>
        <p:nvSpPr>
          <p:cNvPr id="35" name="Rounded Rectangle 34"/>
          <p:cNvSpPr/>
          <p:nvPr/>
        </p:nvSpPr>
        <p:spPr>
          <a:xfrm>
            <a:off x="10472385" y="4037882"/>
            <a:ext cx="1200053" cy="434696"/>
          </a:xfrm>
          <a:prstGeom prst="roundRect">
            <a:avLst/>
          </a:prstGeom>
          <a:noFill/>
          <a:ln w="50800">
            <a:solidFill>
              <a:schemeClr val="accent4">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32277"/>
            <a:endParaRPr lang="en-US" sz="1768">
              <a:solidFill>
                <a:prstClr val="white"/>
              </a:solidFill>
            </a:endParaRPr>
          </a:p>
        </p:txBody>
      </p:sp>
      <p:sp>
        <p:nvSpPr>
          <p:cNvPr id="36" name="Rounded Rectangle 35"/>
          <p:cNvSpPr/>
          <p:nvPr/>
        </p:nvSpPr>
        <p:spPr>
          <a:xfrm>
            <a:off x="7099751" y="4033698"/>
            <a:ext cx="1039299" cy="762530"/>
          </a:xfrm>
          <a:prstGeom prst="roundRect">
            <a:avLst/>
          </a:prstGeom>
          <a:noFill/>
          <a:ln w="50800">
            <a:solidFill>
              <a:schemeClr val="accent4">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32277"/>
            <a:endParaRPr lang="en-US" sz="1768">
              <a:solidFill>
                <a:prstClr val="white"/>
              </a:solidFill>
            </a:endParaRPr>
          </a:p>
        </p:txBody>
      </p:sp>
      <p:sp>
        <p:nvSpPr>
          <p:cNvPr id="38" name="Rectangle 37"/>
          <p:cNvSpPr/>
          <p:nvPr/>
        </p:nvSpPr>
        <p:spPr>
          <a:xfrm>
            <a:off x="6384950" y="5898241"/>
            <a:ext cx="5956232" cy="523220"/>
          </a:xfrm>
          <a:prstGeom prst="rect">
            <a:avLst/>
          </a:prstGeom>
        </p:spPr>
        <p:txBody>
          <a:bodyPr wrap="square">
            <a:spAutoFit/>
          </a:bodyPr>
          <a:lstStyle/>
          <a:p>
            <a:pPr algn="ctr" defTabSz="932277"/>
            <a:r>
              <a:rPr lang="en-US" sz="2800" dirty="0" smtClean="0">
                <a:gradFill>
                  <a:gsLst>
                    <a:gs pos="88976">
                      <a:srgbClr val="FFFFFF"/>
                    </a:gs>
                    <a:gs pos="65000">
                      <a:srgbClr val="FFFFFF"/>
                    </a:gs>
                  </a:gsLst>
                  <a:lin ang="5400000" scaled="0"/>
                </a:gradFill>
                <a:hlinkClick r:id="rId6"/>
              </a:rPr>
              <a:t>github.com/</a:t>
            </a:r>
            <a:r>
              <a:rPr lang="en-US" sz="2800" dirty="0" err="1" smtClean="0">
                <a:gradFill>
                  <a:gsLst>
                    <a:gs pos="88976">
                      <a:srgbClr val="FFFFFF"/>
                    </a:gs>
                    <a:gs pos="65000">
                      <a:srgbClr val="FFFFFF"/>
                    </a:gs>
                  </a:gsLst>
                  <a:lin ang="5400000" scaled="0"/>
                </a:gradFill>
                <a:hlinkClick r:id="rId6"/>
              </a:rPr>
              <a:t>microsoft</a:t>
            </a:r>
            <a:r>
              <a:rPr lang="en-US" sz="2800" dirty="0" smtClean="0">
                <a:gradFill>
                  <a:gsLst>
                    <a:gs pos="88976">
                      <a:srgbClr val="FFFFFF"/>
                    </a:gs>
                    <a:gs pos="65000">
                      <a:srgbClr val="FFFFFF"/>
                    </a:gs>
                  </a:gsLst>
                  <a:lin ang="5400000" scaled="0"/>
                </a:gradFill>
                <a:hlinkClick r:id="rId6"/>
              </a:rPr>
              <a:t>/</a:t>
            </a:r>
            <a:r>
              <a:rPr lang="en-US" sz="2800" dirty="0" err="1" smtClean="0">
                <a:gradFill>
                  <a:gsLst>
                    <a:gs pos="88976">
                      <a:srgbClr val="FFFFFF"/>
                    </a:gs>
                    <a:gs pos="65000">
                      <a:srgbClr val="FFFFFF"/>
                    </a:gs>
                  </a:gsLst>
                  <a:lin ang="5400000" scaled="0"/>
                </a:gradFill>
                <a:hlinkClick r:id="rId6"/>
              </a:rPr>
              <a:t>dotnet</a:t>
            </a:r>
            <a:r>
              <a:rPr lang="en-US" sz="2800" dirty="0" smtClean="0">
                <a:gradFill>
                  <a:gsLst>
                    <a:gs pos="88976">
                      <a:srgbClr val="FFFFFF"/>
                    </a:gs>
                    <a:gs pos="65000">
                      <a:srgbClr val="FFFFFF"/>
                    </a:gs>
                  </a:gsLst>
                  <a:lin ang="5400000" scaled="0"/>
                </a:gradFill>
                <a:hlinkClick r:id="rId6"/>
              </a:rPr>
              <a:t> </a:t>
            </a:r>
            <a:endParaRPr lang="en-US" sz="2800" dirty="0">
              <a:gradFill>
                <a:gsLst>
                  <a:gs pos="88976">
                    <a:srgbClr val="FFFFFF"/>
                  </a:gs>
                  <a:gs pos="65000">
                    <a:srgbClr val="FFFFFF"/>
                  </a:gs>
                </a:gsLst>
                <a:lin ang="5400000" scaled="0"/>
              </a:gradFill>
            </a:endParaRPr>
          </a:p>
        </p:txBody>
      </p:sp>
      <p:sp>
        <p:nvSpPr>
          <p:cNvPr id="39" name="Rectangle 38"/>
          <p:cNvSpPr/>
          <p:nvPr/>
        </p:nvSpPr>
        <p:spPr>
          <a:xfrm>
            <a:off x="6981605" y="5485819"/>
            <a:ext cx="2745239" cy="523220"/>
          </a:xfrm>
          <a:prstGeom prst="rect">
            <a:avLst/>
          </a:prstGeom>
        </p:spPr>
        <p:txBody>
          <a:bodyPr wrap="none">
            <a:spAutoFit/>
          </a:bodyPr>
          <a:lstStyle/>
          <a:p>
            <a:pPr defTabSz="932277"/>
            <a:r>
              <a:rPr lang="en-US" sz="2800" dirty="0">
                <a:solidFill>
                  <a:srgbClr val="FFFFFF"/>
                </a:solidFill>
                <a:latin typeface="Segoe UI Light"/>
              </a:rPr>
              <a:t>Get started from:</a:t>
            </a:r>
          </a:p>
        </p:txBody>
      </p:sp>
      <p:sp>
        <p:nvSpPr>
          <p:cNvPr id="45" name="TextBox 44"/>
          <p:cNvSpPr txBox="1"/>
          <p:nvPr/>
        </p:nvSpPr>
        <p:spPr>
          <a:xfrm>
            <a:off x="10373773" y="2264787"/>
            <a:ext cx="2051660" cy="707886"/>
          </a:xfrm>
          <a:prstGeom prst="rect">
            <a:avLst/>
          </a:prstGeom>
          <a:noFill/>
        </p:spPr>
        <p:txBody>
          <a:bodyPr wrap="square" rtlCol="0">
            <a:spAutoFit/>
          </a:bodyPr>
          <a:lstStyle/>
          <a:p>
            <a:pPr defTabSz="685739"/>
            <a:r>
              <a:rPr lang="en-US" sz="2000" b="1" dirty="0">
                <a:solidFill>
                  <a:srgbClr val="FFFFFF"/>
                </a:solidFill>
                <a:latin typeface="Segoe UI Semibold" panose="020B0702040204020203" pitchFamily="34" charset="0"/>
                <a:cs typeface="Segoe UI Semibold" panose="020B0702040204020203" pitchFamily="34" charset="0"/>
              </a:rPr>
              <a:t>.NET </a:t>
            </a:r>
            <a:endParaRPr lang="en-US" sz="2000" b="1" dirty="0" smtClean="0">
              <a:solidFill>
                <a:srgbClr val="FFFFFF"/>
              </a:solidFill>
              <a:latin typeface="Segoe UI Semibold" panose="020B0702040204020203" pitchFamily="34" charset="0"/>
              <a:cs typeface="Segoe UI Semibold" panose="020B0702040204020203" pitchFamily="34" charset="0"/>
            </a:endParaRPr>
          </a:p>
          <a:p>
            <a:pPr defTabSz="685739"/>
            <a:r>
              <a:rPr lang="en-US" sz="2000" dirty="0" smtClean="0">
                <a:solidFill>
                  <a:srgbClr val="FFFFFF"/>
                </a:solidFill>
                <a:latin typeface="Segoe UI Semibold" panose="020B0702040204020203" pitchFamily="34" charset="0"/>
                <a:cs typeface="Segoe UI Semibold" panose="020B0702040204020203" pitchFamily="34" charset="0"/>
              </a:rPr>
              <a:t>Core 5</a:t>
            </a:r>
            <a:r>
              <a:rPr lang="en-US" sz="2000" b="1" dirty="0" smtClean="0">
                <a:solidFill>
                  <a:srgbClr val="FFFFFF"/>
                </a:solidFill>
                <a:latin typeface="Segoe UI Semibold" panose="020B0702040204020203" pitchFamily="34" charset="0"/>
                <a:cs typeface="Segoe UI Semibold" panose="020B0702040204020203" pitchFamily="34" charset="0"/>
              </a:rPr>
              <a:t> </a:t>
            </a:r>
            <a:endParaRPr lang="en-US" sz="2000" b="1" dirty="0">
              <a:solidFill>
                <a:srgbClr val="FFFFFF"/>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4157750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1000"/>
                                        <p:tgtEl>
                                          <p:spTgt spid="36"/>
                                        </p:tgtEl>
                                      </p:cBhvr>
                                    </p:animEffect>
                                    <p:anim calcmode="lin" valueType="num">
                                      <p:cBhvr>
                                        <p:cTn id="13" dur="1000" fill="hold"/>
                                        <p:tgtEl>
                                          <p:spTgt spid="36"/>
                                        </p:tgtEl>
                                        <p:attrNameLst>
                                          <p:attrName>ppt_x</p:attrName>
                                        </p:attrNameLst>
                                      </p:cBhvr>
                                      <p:tavLst>
                                        <p:tav tm="0">
                                          <p:val>
                                            <p:strVal val="#ppt_x"/>
                                          </p:val>
                                        </p:tav>
                                        <p:tav tm="100000">
                                          <p:val>
                                            <p:strVal val="#ppt_x"/>
                                          </p:val>
                                        </p:tav>
                                      </p:tavLst>
                                    </p:anim>
                                    <p:anim calcmode="lin" valueType="num">
                                      <p:cBhvr>
                                        <p:cTn id="14" dur="1000" fill="hold"/>
                                        <p:tgtEl>
                                          <p:spTgt spid="3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1000"/>
                                        <p:tgtEl>
                                          <p:spTgt spid="34"/>
                                        </p:tgtEl>
                                      </p:cBhvr>
                                    </p:animEffect>
                                    <p:anim calcmode="lin" valueType="num">
                                      <p:cBhvr>
                                        <p:cTn id="18" dur="1000" fill="hold"/>
                                        <p:tgtEl>
                                          <p:spTgt spid="34"/>
                                        </p:tgtEl>
                                        <p:attrNameLst>
                                          <p:attrName>ppt_x</p:attrName>
                                        </p:attrNameLst>
                                      </p:cBhvr>
                                      <p:tavLst>
                                        <p:tav tm="0">
                                          <p:val>
                                            <p:strVal val="#ppt_x"/>
                                          </p:val>
                                        </p:tav>
                                        <p:tav tm="100000">
                                          <p:val>
                                            <p:strVal val="#ppt_x"/>
                                          </p:val>
                                        </p:tav>
                                      </p:tavLst>
                                    </p:anim>
                                    <p:anim calcmode="lin" valueType="num">
                                      <p:cBhvr>
                                        <p:cTn id="19" dur="1000" fill="hold"/>
                                        <p:tgtEl>
                                          <p:spTgt spid="3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1000"/>
                                        <p:tgtEl>
                                          <p:spTgt spid="35"/>
                                        </p:tgtEl>
                                      </p:cBhvr>
                                    </p:animEffect>
                                    <p:anim calcmode="lin" valueType="num">
                                      <p:cBhvr>
                                        <p:cTn id="23" dur="1000" fill="hold"/>
                                        <p:tgtEl>
                                          <p:spTgt spid="35"/>
                                        </p:tgtEl>
                                        <p:attrNameLst>
                                          <p:attrName>ppt_x</p:attrName>
                                        </p:attrNameLst>
                                      </p:cBhvr>
                                      <p:tavLst>
                                        <p:tav tm="0">
                                          <p:val>
                                            <p:strVal val="#ppt_x"/>
                                          </p:val>
                                        </p:tav>
                                        <p:tav tm="100000">
                                          <p:val>
                                            <p:strVal val="#ppt_x"/>
                                          </p:val>
                                        </p:tav>
                                      </p:tavLst>
                                    </p:anim>
                                    <p:anim calcmode="lin" valueType="num">
                                      <p:cBhvr>
                                        <p:cTn id="24"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does ASP.NET fit in?</a:t>
            </a:r>
            <a:endParaRPr lang="en-US" dirty="0"/>
          </a:p>
        </p:txBody>
      </p:sp>
    </p:spTree>
    <p:extLst>
      <p:ext uri="{BB962C8B-B14F-4D97-AF65-F5344CB8AC3E}">
        <p14:creationId xmlns:p14="http://schemas.microsoft.com/office/powerpoint/2010/main" val="1583120643"/>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1382383" y="2155259"/>
            <a:ext cx="9451496" cy="1338533"/>
          </a:xfrm>
          <a:prstGeom prst="rect">
            <a:avLst/>
          </a:prstGeom>
          <a:solidFill>
            <a:srgbClr val="7FBA00"/>
          </a:solidFill>
          <a:ln w="25400" cap="flat" cmpd="sng" algn="ctr">
            <a:noFill/>
            <a:prstDash val="solid"/>
            <a:headEnd type="none" w="med" len="med"/>
            <a:tailEnd type="none" w="med" len="med"/>
          </a:ln>
          <a:effectLst/>
        </p:spPr>
        <p:txBody>
          <a:bodyPr vert="horz" wrap="square" lIns="745977" tIns="279742" rIns="91410" bIns="91414"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5" name="TextBox 4"/>
          <p:cNvSpPr txBox="1"/>
          <p:nvPr/>
        </p:nvSpPr>
        <p:spPr>
          <a:xfrm>
            <a:off x="4847972" y="2210701"/>
            <a:ext cx="2520318" cy="678327"/>
          </a:xfrm>
          <a:prstGeom prst="rect">
            <a:avLst/>
          </a:prstGeom>
          <a:noFill/>
        </p:spPr>
        <p:txBody>
          <a:bodyPr wrap="square" rtlCol="0">
            <a:spAutoFit/>
          </a:bodyPr>
          <a:lstStyle/>
          <a:p>
            <a:pPr defTabSz="932536"/>
            <a:r>
              <a:rPr lang="en-US" sz="3808" b="1" dirty="0">
                <a:solidFill>
                  <a:srgbClr val="FFFFFF"/>
                </a:solidFill>
                <a:latin typeface="Segoe UI Semibold" panose="020B0702040204020203" pitchFamily="34" charset="0"/>
                <a:cs typeface="Segoe UI Semibold" panose="020B0702040204020203" pitchFamily="34" charset="0"/>
              </a:rPr>
              <a:t>ASP.NET 5</a:t>
            </a:r>
          </a:p>
        </p:txBody>
      </p:sp>
      <p:sp>
        <p:nvSpPr>
          <p:cNvPr id="6" name="Rectangle 5"/>
          <p:cNvSpPr/>
          <p:nvPr/>
        </p:nvSpPr>
        <p:spPr bwMode="auto">
          <a:xfrm>
            <a:off x="6128512" y="3549235"/>
            <a:ext cx="4705367" cy="1370621"/>
          </a:xfrm>
          <a:prstGeom prst="rect">
            <a:avLst/>
          </a:prstGeom>
          <a:solidFill>
            <a:srgbClr val="0072C6"/>
          </a:solidFill>
          <a:ln w="25400" cap="flat" cmpd="sng" algn="ctr">
            <a:noFill/>
            <a:prstDash val="solid"/>
            <a:headEnd type="none" w="med" len="med"/>
            <a:tailEnd type="none" w="med" len="med"/>
          </a:ln>
          <a:effectLst/>
        </p:spPr>
        <p:txBody>
          <a:bodyPr vert="horz" wrap="square" lIns="745977" tIns="279742" rIns="91410" bIns="0" numCol="1" rtlCol="0" anchor="t" anchorCtr="0" compatLnSpc="1">
            <a:prstTxWarp prst="textNoShape">
              <a:avLst/>
            </a:prstTxWarp>
          </a:bodyPr>
          <a:lstStyle/>
          <a:p>
            <a:pPr defTabSz="932228"/>
            <a:endParaRPr lang="en-US" sz="2856" dirty="0">
              <a:gradFill>
                <a:gsLst>
                  <a:gs pos="14679">
                    <a:srgbClr val="FFFFFF"/>
                  </a:gs>
                  <a:gs pos="38000">
                    <a:srgbClr val="FFFFFF"/>
                  </a:gs>
                </a:gsLst>
                <a:lin ang="5400000" scaled="1"/>
              </a:gradFill>
              <a:latin typeface="Segoe UI Light"/>
            </a:endParaRPr>
          </a:p>
        </p:txBody>
      </p:sp>
      <p:sp>
        <p:nvSpPr>
          <p:cNvPr id="7" name="Rectangle 6"/>
          <p:cNvSpPr/>
          <p:nvPr/>
        </p:nvSpPr>
        <p:spPr bwMode="auto">
          <a:xfrm>
            <a:off x="1382384" y="3549235"/>
            <a:ext cx="4689892" cy="1370621"/>
          </a:xfrm>
          <a:prstGeom prst="rect">
            <a:avLst/>
          </a:prstGeom>
          <a:solidFill>
            <a:srgbClr val="0072C6"/>
          </a:solidFill>
          <a:ln w="25400" cap="flat" cmpd="sng" algn="ctr">
            <a:noFill/>
            <a:prstDash val="solid"/>
            <a:headEnd type="none" w="med" len="med"/>
            <a:tailEnd type="none" w="med" len="med"/>
          </a:ln>
          <a:effectLst/>
        </p:spPr>
        <p:txBody>
          <a:bodyPr vert="horz" wrap="square" lIns="745977" tIns="279742" rIns="91410" bIns="0" numCol="1" rtlCol="0" anchor="t" anchorCtr="0" compatLnSpc="1">
            <a:prstTxWarp prst="textNoShape">
              <a:avLst/>
            </a:prstTxWarp>
          </a:bodyPr>
          <a:lstStyle/>
          <a:p>
            <a:pPr defTabSz="932228"/>
            <a:r>
              <a:rPr lang="en-US" sz="2856" dirty="0">
                <a:gradFill>
                  <a:gsLst>
                    <a:gs pos="14679">
                      <a:srgbClr val="FFFFFF"/>
                    </a:gs>
                    <a:gs pos="38000">
                      <a:srgbClr val="FFFFFF"/>
                    </a:gs>
                  </a:gsLst>
                  <a:lin ang="5400000" scaled="1"/>
                </a:gradFill>
                <a:latin typeface="Segoe UI Light"/>
              </a:rPr>
              <a:t>  </a:t>
            </a:r>
          </a:p>
        </p:txBody>
      </p:sp>
      <p:sp>
        <p:nvSpPr>
          <p:cNvPr id="8" name="TextBox 7"/>
          <p:cNvSpPr txBox="1"/>
          <p:nvPr/>
        </p:nvSpPr>
        <p:spPr>
          <a:xfrm>
            <a:off x="1382384" y="3614491"/>
            <a:ext cx="4689891" cy="448136"/>
          </a:xfrm>
          <a:prstGeom prst="rect">
            <a:avLst/>
          </a:prstGeom>
          <a:noFill/>
        </p:spPr>
        <p:txBody>
          <a:bodyPr wrap="square" rtlCol="0">
            <a:spAutoFit/>
          </a:bodyPr>
          <a:lstStyle/>
          <a:p>
            <a:pPr defTabSz="932536"/>
            <a:r>
              <a:rPr lang="en-US" sz="2312" dirty="0">
                <a:solidFill>
                  <a:srgbClr val="FFFFFF"/>
                </a:solidFill>
                <a:latin typeface="Segoe UI Semibold" panose="020B0702040204020203" pitchFamily="34" charset="0"/>
                <a:cs typeface="Segoe UI Semibold" panose="020B0702040204020203" pitchFamily="34" charset="0"/>
              </a:rPr>
              <a:t>.NET Framework 4.6 </a:t>
            </a:r>
            <a:r>
              <a:rPr lang="en-US" sz="2312" dirty="0">
                <a:solidFill>
                  <a:srgbClr val="FFFFFF"/>
                </a:solidFill>
                <a:latin typeface="Segoe UI Light"/>
                <a:cs typeface="Segoe UI Semibold" panose="020B0702040204020203" pitchFamily="34" charset="0"/>
              </a:rPr>
              <a:t>stack and libs</a:t>
            </a:r>
          </a:p>
        </p:txBody>
      </p:sp>
      <p:sp>
        <p:nvSpPr>
          <p:cNvPr id="9" name="TextBox 8"/>
          <p:cNvSpPr txBox="1"/>
          <p:nvPr/>
        </p:nvSpPr>
        <p:spPr>
          <a:xfrm>
            <a:off x="6298515" y="3614491"/>
            <a:ext cx="4425437" cy="448136"/>
          </a:xfrm>
          <a:prstGeom prst="rect">
            <a:avLst/>
          </a:prstGeom>
          <a:noFill/>
        </p:spPr>
        <p:txBody>
          <a:bodyPr wrap="square" rtlCol="0">
            <a:spAutoFit/>
          </a:bodyPr>
          <a:lstStyle/>
          <a:p>
            <a:pPr defTabSz="932536"/>
            <a:r>
              <a:rPr lang="en-US" sz="2312" b="1" dirty="0">
                <a:solidFill>
                  <a:srgbClr val="FFFFFF"/>
                </a:solidFill>
                <a:latin typeface="Segoe UI Semibold" panose="020B0702040204020203" pitchFamily="34" charset="0"/>
                <a:cs typeface="Segoe UI Semibold" panose="020B0702040204020203" pitchFamily="34" charset="0"/>
              </a:rPr>
              <a:t>.NET </a:t>
            </a:r>
            <a:r>
              <a:rPr lang="en-US" sz="2312" dirty="0">
                <a:solidFill>
                  <a:srgbClr val="FFFFFF"/>
                </a:solidFill>
                <a:latin typeface="Segoe UI Semibold" panose="020B0702040204020203" pitchFamily="34" charset="0"/>
                <a:cs typeface="Segoe UI Semibold" panose="020B0702040204020203" pitchFamily="34" charset="0"/>
              </a:rPr>
              <a:t>Core 5 </a:t>
            </a:r>
            <a:r>
              <a:rPr lang="en-US" sz="2312" dirty="0">
                <a:solidFill>
                  <a:srgbClr val="FFFFFF"/>
                </a:solidFill>
                <a:latin typeface="Segoe UI Light"/>
                <a:cs typeface="Segoe UI Semibold" panose="020B0702040204020203" pitchFamily="34" charset="0"/>
              </a:rPr>
              <a:t>stack and libs</a:t>
            </a:r>
            <a:endParaRPr lang="en-US" sz="2312" b="1" dirty="0">
              <a:solidFill>
                <a:srgbClr val="FFFFFF"/>
              </a:solidFill>
              <a:latin typeface="Segoe UI Light"/>
              <a:cs typeface="Segoe UI Semibold" panose="020B0702040204020203" pitchFamily="34" charset="0"/>
            </a:endParaRPr>
          </a:p>
        </p:txBody>
      </p:sp>
      <p:sp>
        <p:nvSpPr>
          <p:cNvPr id="10" name="Rectangle 9"/>
          <p:cNvSpPr/>
          <p:nvPr/>
        </p:nvSpPr>
        <p:spPr>
          <a:xfrm>
            <a:off x="2904813" y="2855853"/>
            <a:ext cx="6275564" cy="427168"/>
          </a:xfrm>
          <a:prstGeom prst="rect">
            <a:avLst/>
          </a:prstGeom>
        </p:spPr>
        <p:txBody>
          <a:bodyPr wrap="none">
            <a:spAutoFit/>
          </a:bodyPr>
          <a:lstStyle/>
          <a:p>
            <a:pPr defTabSz="932277"/>
            <a:r>
              <a:rPr lang="en-US" sz="2176" dirty="0">
                <a:solidFill>
                  <a:srgbClr val="FFFFFF"/>
                </a:solidFill>
              </a:rPr>
              <a:t>Unified framework for MVC, Web API and SignalR</a:t>
            </a:r>
          </a:p>
        </p:txBody>
      </p:sp>
      <p:sp>
        <p:nvSpPr>
          <p:cNvPr id="11" name="Rectangle 10"/>
          <p:cNvSpPr/>
          <p:nvPr/>
        </p:nvSpPr>
        <p:spPr>
          <a:xfrm>
            <a:off x="1448892" y="4198556"/>
            <a:ext cx="4526560" cy="301621"/>
          </a:xfrm>
          <a:prstGeom prst="rect">
            <a:avLst/>
          </a:prstGeom>
        </p:spPr>
        <p:txBody>
          <a:bodyPr wrap="none">
            <a:spAutoFit/>
          </a:bodyPr>
          <a:lstStyle/>
          <a:p>
            <a:pPr defTabSz="932277"/>
            <a:r>
              <a:rPr lang="en-US" sz="1360" i="1" dirty="0">
                <a:solidFill>
                  <a:srgbClr val="FFFFFF"/>
                </a:solidFill>
              </a:rPr>
              <a:t> Full .NET Framework for any scenario and library support</a:t>
            </a:r>
          </a:p>
        </p:txBody>
      </p:sp>
      <p:sp>
        <p:nvSpPr>
          <p:cNvPr id="12" name="Rectangle 11"/>
          <p:cNvSpPr/>
          <p:nvPr/>
        </p:nvSpPr>
        <p:spPr>
          <a:xfrm>
            <a:off x="6164183" y="4194387"/>
            <a:ext cx="4587714" cy="301621"/>
          </a:xfrm>
          <a:prstGeom prst="rect">
            <a:avLst/>
          </a:prstGeom>
        </p:spPr>
        <p:txBody>
          <a:bodyPr wrap="square">
            <a:spAutoFit/>
          </a:bodyPr>
          <a:lstStyle/>
          <a:p>
            <a:pPr defTabSz="932277"/>
            <a:r>
              <a:rPr lang="en-US" sz="1360" i="1" dirty="0">
                <a:solidFill>
                  <a:srgbClr val="FFFFFF"/>
                </a:solidFill>
              </a:rPr>
              <a:t>Small runtime optimized for server and cloud workloads</a:t>
            </a:r>
          </a:p>
        </p:txBody>
      </p:sp>
    </p:spTree>
    <p:extLst>
      <p:ext uri="{BB962C8B-B14F-4D97-AF65-F5344CB8AC3E}">
        <p14:creationId xmlns:p14="http://schemas.microsoft.com/office/powerpoint/2010/main" val="2371649730"/>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Open Source?</a:t>
            </a:r>
            <a:endParaRPr lang="en-US" dirty="0"/>
          </a:p>
        </p:txBody>
      </p:sp>
      <p:pic>
        <p:nvPicPr>
          <p:cNvPr id="4" name="Picture 3"/>
          <p:cNvPicPr>
            <a:picLocks noChangeAspect="1"/>
          </p:cNvPicPr>
          <p:nvPr/>
        </p:nvPicPr>
        <p:blipFill>
          <a:blip r:embed="rId2"/>
          <a:stretch>
            <a:fillRect/>
          </a:stretch>
        </p:blipFill>
        <p:spPr>
          <a:xfrm>
            <a:off x="1910757" y="1305731"/>
            <a:ext cx="8178649" cy="5341332"/>
          </a:xfrm>
          <a:prstGeom prst="rect">
            <a:avLst/>
          </a:prstGeom>
        </p:spPr>
      </p:pic>
    </p:spTree>
    <p:extLst>
      <p:ext uri="{BB962C8B-B14F-4D97-AF65-F5344CB8AC3E}">
        <p14:creationId xmlns:p14="http://schemas.microsoft.com/office/powerpoint/2010/main" val="284141956"/>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rot="5400000">
            <a:off x="6487468" y="1365907"/>
            <a:ext cx="5980504" cy="346334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en-US" sz="3672">
                <a:solidFill>
                  <a:srgbClr val="FFFFFF"/>
                </a:solidFill>
              </a:rPr>
              <a:t>Open Source</a:t>
            </a:r>
            <a:endParaRPr lang="en-US" sz="3672" dirty="0">
              <a:solidFill>
                <a:srgbClr val="FFFFFF"/>
              </a:solidFill>
            </a:endParaRPr>
          </a:p>
        </p:txBody>
      </p:sp>
      <p:sp>
        <p:nvSpPr>
          <p:cNvPr id="5" name="Rectangle 4"/>
          <p:cNvSpPr/>
          <p:nvPr/>
        </p:nvSpPr>
        <p:spPr>
          <a:xfrm>
            <a:off x="5144994" y="6150743"/>
            <a:ext cx="2146468" cy="6143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36" dirty="0">
                <a:solidFill>
                  <a:srgbClr val="FFFFFF"/>
                </a:solidFill>
              </a:rPr>
              <a:t>Operating System</a:t>
            </a:r>
          </a:p>
        </p:txBody>
      </p:sp>
      <p:sp>
        <p:nvSpPr>
          <p:cNvPr id="6" name="Rectangle 5"/>
          <p:cNvSpPr/>
          <p:nvPr/>
        </p:nvSpPr>
        <p:spPr>
          <a:xfrm>
            <a:off x="5144995" y="5410582"/>
            <a:ext cx="2146468" cy="6143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36" dirty="0">
                <a:solidFill>
                  <a:srgbClr val="FFFFFF"/>
                </a:solidFill>
              </a:rPr>
              <a:t>Runtime Loader</a:t>
            </a:r>
          </a:p>
        </p:txBody>
      </p:sp>
      <p:sp>
        <p:nvSpPr>
          <p:cNvPr id="7" name="Rectangle 6"/>
          <p:cNvSpPr/>
          <p:nvPr/>
        </p:nvSpPr>
        <p:spPr>
          <a:xfrm>
            <a:off x="5144996" y="4670422"/>
            <a:ext cx="2146468" cy="6143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36" dirty="0">
                <a:solidFill>
                  <a:srgbClr val="FFFFFF"/>
                </a:solidFill>
              </a:rPr>
              <a:t>Runtime</a:t>
            </a:r>
          </a:p>
        </p:txBody>
      </p:sp>
      <p:sp>
        <p:nvSpPr>
          <p:cNvPr id="8" name="Rectangle 7"/>
          <p:cNvSpPr/>
          <p:nvPr/>
        </p:nvSpPr>
        <p:spPr>
          <a:xfrm>
            <a:off x="5144997" y="3930260"/>
            <a:ext cx="2146468" cy="6143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36" dirty="0">
                <a:solidFill>
                  <a:srgbClr val="FFFFFF"/>
                </a:solidFill>
              </a:rPr>
              <a:t>Platform Libraries</a:t>
            </a:r>
          </a:p>
        </p:txBody>
      </p:sp>
      <p:sp>
        <p:nvSpPr>
          <p:cNvPr id="9" name="Rectangle 8"/>
          <p:cNvSpPr/>
          <p:nvPr/>
        </p:nvSpPr>
        <p:spPr>
          <a:xfrm>
            <a:off x="5144998" y="3190095"/>
            <a:ext cx="2146468" cy="6143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36" dirty="0">
                <a:solidFill>
                  <a:srgbClr val="FFFFFF"/>
                </a:solidFill>
              </a:rPr>
              <a:t>Application Host</a:t>
            </a:r>
          </a:p>
        </p:txBody>
      </p:sp>
      <p:sp>
        <p:nvSpPr>
          <p:cNvPr id="10" name="Rectangle 9"/>
          <p:cNvSpPr/>
          <p:nvPr/>
        </p:nvSpPr>
        <p:spPr>
          <a:xfrm>
            <a:off x="5144999" y="2449938"/>
            <a:ext cx="2146468" cy="6143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36" dirty="0">
                <a:solidFill>
                  <a:srgbClr val="FFFFFF"/>
                </a:solidFill>
              </a:rPr>
              <a:t>Web Server</a:t>
            </a:r>
          </a:p>
        </p:txBody>
      </p:sp>
      <p:sp>
        <p:nvSpPr>
          <p:cNvPr id="11" name="Rectangle 10"/>
          <p:cNvSpPr/>
          <p:nvPr/>
        </p:nvSpPr>
        <p:spPr>
          <a:xfrm>
            <a:off x="5145000" y="1709776"/>
            <a:ext cx="2146468" cy="6143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36" dirty="0">
                <a:solidFill>
                  <a:srgbClr val="FFFFFF"/>
                </a:solidFill>
              </a:rPr>
              <a:t>Application Frameworks</a:t>
            </a:r>
          </a:p>
        </p:txBody>
      </p:sp>
      <p:sp>
        <p:nvSpPr>
          <p:cNvPr id="12" name="Rectangle 11"/>
          <p:cNvSpPr/>
          <p:nvPr/>
        </p:nvSpPr>
        <p:spPr>
          <a:xfrm>
            <a:off x="5145001" y="969613"/>
            <a:ext cx="2146468" cy="6143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36" dirty="0">
                <a:solidFill>
                  <a:srgbClr val="FFFFFF"/>
                </a:solidFill>
              </a:rPr>
              <a:t>Libraries</a:t>
            </a:r>
          </a:p>
        </p:txBody>
      </p:sp>
      <p:sp>
        <p:nvSpPr>
          <p:cNvPr id="13" name="Rectangle 12"/>
          <p:cNvSpPr/>
          <p:nvPr/>
        </p:nvSpPr>
        <p:spPr>
          <a:xfrm>
            <a:off x="5145002" y="229456"/>
            <a:ext cx="2146468" cy="6143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36" dirty="0">
                <a:solidFill>
                  <a:srgbClr val="FFFFFF"/>
                </a:solidFill>
              </a:rPr>
              <a:t>Application</a:t>
            </a:r>
          </a:p>
        </p:txBody>
      </p:sp>
      <p:sp>
        <p:nvSpPr>
          <p:cNvPr id="14" name="Rectangle 13"/>
          <p:cNvSpPr/>
          <p:nvPr/>
        </p:nvSpPr>
        <p:spPr>
          <a:xfrm>
            <a:off x="2395304" y="6150743"/>
            <a:ext cx="2146468" cy="61433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836" dirty="0">
                <a:solidFill>
                  <a:srgbClr val="FFFFFF"/>
                </a:solidFill>
              </a:rPr>
              <a:t>Windows</a:t>
            </a:r>
          </a:p>
        </p:txBody>
      </p:sp>
      <p:sp>
        <p:nvSpPr>
          <p:cNvPr id="15" name="Rectangle 14"/>
          <p:cNvSpPr/>
          <p:nvPr/>
        </p:nvSpPr>
        <p:spPr>
          <a:xfrm>
            <a:off x="2395304" y="5410582"/>
            <a:ext cx="2146468" cy="61433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836" dirty="0">
                <a:solidFill>
                  <a:srgbClr val="FFFFFF"/>
                </a:solidFill>
              </a:rPr>
              <a:t>IIS: WebEngine4.dll</a:t>
            </a:r>
          </a:p>
          <a:p>
            <a:pPr algn="ctr"/>
            <a:r>
              <a:rPr lang="en-US" sz="1836" dirty="0">
                <a:solidFill>
                  <a:srgbClr val="FFFFFF"/>
                </a:solidFill>
              </a:rPr>
              <a:t>Exe: OS</a:t>
            </a:r>
          </a:p>
        </p:txBody>
      </p:sp>
      <p:sp>
        <p:nvSpPr>
          <p:cNvPr id="16" name="Rectangle 15"/>
          <p:cNvSpPr/>
          <p:nvPr/>
        </p:nvSpPr>
        <p:spPr>
          <a:xfrm>
            <a:off x="2395304" y="4670422"/>
            <a:ext cx="2146468" cy="61433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836" dirty="0">
                <a:solidFill>
                  <a:srgbClr val="FFFFFF"/>
                </a:solidFill>
              </a:rPr>
              <a:t>.NET CLR</a:t>
            </a:r>
          </a:p>
        </p:txBody>
      </p:sp>
      <p:sp>
        <p:nvSpPr>
          <p:cNvPr id="17" name="Rectangle 16"/>
          <p:cNvSpPr/>
          <p:nvPr/>
        </p:nvSpPr>
        <p:spPr>
          <a:xfrm>
            <a:off x="2395304" y="3930260"/>
            <a:ext cx="2146468" cy="61433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836" dirty="0">
                <a:solidFill>
                  <a:srgbClr val="FFFFFF"/>
                </a:solidFill>
              </a:rPr>
              <a:t>.NET BCL &amp; FCL</a:t>
            </a:r>
          </a:p>
        </p:txBody>
      </p:sp>
      <p:sp>
        <p:nvSpPr>
          <p:cNvPr id="18" name="Rectangle 17"/>
          <p:cNvSpPr/>
          <p:nvPr/>
        </p:nvSpPr>
        <p:spPr>
          <a:xfrm>
            <a:off x="2395303" y="3190100"/>
            <a:ext cx="2146468" cy="61433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836" dirty="0" err="1">
                <a:solidFill>
                  <a:srgbClr val="FFFFFF"/>
                </a:solidFill>
              </a:rPr>
              <a:t>System.Web</a:t>
            </a:r>
            <a:endParaRPr lang="en-US" sz="1836" dirty="0">
              <a:solidFill>
                <a:srgbClr val="FFFFFF"/>
              </a:solidFill>
            </a:endParaRPr>
          </a:p>
        </p:txBody>
      </p:sp>
      <p:sp>
        <p:nvSpPr>
          <p:cNvPr id="19" name="Rectangle 18"/>
          <p:cNvSpPr/>
          <p:nvPr/>
        </p:nvSpPr>
        <p:spPr>
          <a:xfrm>
            <a:off x="2395303" y="2449938"/>
            <a:ext cx="2146468" cy="61433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836" dirty="0">
                <a:solidFill>
                  <a:srgbClr val="FFFFFF"/>
                </a:solidFill>
              </a:rPr>
              <a:t>IIS</a:t>
            </a:r>
          </a:p>
        </p:txBody>
      </p:sp>
      <p:sp>
        <p:nvSpPr>
          <p:cNvPr id="20" name="Rectangle 19"/>
          <p:cNvSpPr/>
          <p:nvPr/>
        </p:nvSpPr>
        <p:spPr>
          <a:xfrm>
            <a:off x="2395303" y="1709776"/>
            <a:ext cx="2146468" cy="61433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836" dirty="0">
                <a:solidFill>
                  <a:srgbClr val="FFFFFF"/>
                </a:solidFill>
              </a:rPr>
              <a:t>FCL, GAC, NuGet</a:t>
            </a:r>
          </a:p>
        </p:txBody>
      </p:sp>
      <p:sp>
        <p:nvSpPr>
          <p:cNvPr id="21" name="Rectangle 20"/>
          <p:cNvSpPr/>
          <p:nvPr/>
        </p:nvSpPr>
        <p:spPr>
          <a:xfrm>
            <a:off x="2395303" y="969614"/>
            <a:ext cx="2146468" cy="61433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836" dirty="0">
                <a:solidFill>
                  <a:srgbClr val="FFFFFF"/>
                </a:solidFill>
              </a:rPr>
              <a:t>Loose, GAC, NuGet</a:t>
            </a:r>
          </a:p>
        </p:txBody>
      </p:sp>
      <p:sp>
        <p:nvSpPr>
          <p:cNvPr id="22" name="Rectangle 21"/>
          <p:cNvSpPr/>
          <p:nvPr/>
        </p:nvSpPr>
        <p:spPr>
          <a:xfrm>
            <a:off x="2395302" y="229455"/>
            <a:ext cx="2146468" cy="61433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836" dirty="0" err="1">
                <a:solidFill>
                  <a:srgbClr val="FFFFFF"/>
                </a:solidFill>
              </a:rPr>
              <a:t>MSBuild</a:t>
            </a:r>
            <a:r>
              <a:rPr lang="en-US" sz="1836" dirty="0">
                <a:solidFill>
                  <a:srgbClr val="FFFFFF"/>
                </a:solidFill>
              </a:rPr>
              <a:t> -&gt; csc.exe</a:t>
            </a:r>
          </a:p>
          <a:p>
            <a:pPr algn="ctr"/>
            <a:r>
              <a:rPr lang="en-US" sz="1836" dirty="0" err="1">
                <a:solidFill>
                  <a:srgbClr val="FFFFFF"/>
                </a:solidFill>
              </a:rPr>
              <a:t>CodeDOM</a:t>
            </a:r>
            <a:r>
              <a:rPr lang="en-US" sz="1836" dirty="0">
                <a:solidFill>
                  <a:srgbClr val="FFFFFF"/>
                </a:solidFill>
              </a:rPr>
              <a:t> -&gt; csc.exe</a:t>
            </a:r>
          </a:p>
        </p:txBody>
      </p:sp>
      <p:sp>
        <p:nvSpPr>
          <p:cNvPr id="23" name="Rectangle 22"/>
          <p:cNvSpPr/>
          <p:nvPr/>
        </p:nvSpPr>
        <p:spPr>
          <a:xfrm>
            <a:off x="7894686" y="6150743"/>
            <a:ext cx="2146468" cy="61433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36" dirty="0">
                <a:solidFill>
                  <a:srgbClr val="FFFFFF"/>
                </a:solidFill>
              </a:rPr>
              <a:t>Windows, OSX,  Linux</a:t>
            </a:r>
          </a:p>
        </p:txBody>
      </p:sp>
      <p:sp>
        <p:nvSpPr>
          <p:cNvPr id="24" name="Rectangle 23"/>
          <p:cNvSpPr/>
          <p:nvPr/>
        </p:nvSpPr>
        <p:spPr>
          <a:xfrm>
            <a:off x="7894686" y="5410582"/>
            <a:ext cx="2146468" cy="61433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36" dirty="0" smtClean="0">
                <a:solidFill>
                  <a:srgbClr val="FFFFFF"/>
                </a:solidFill>
              </a:rPr>
              <a:t>DNX</a:t>
            </a:r>
            <a:endParaRPr lang="en-US" sz="1836" dirty="0">
              <a:solidFill>
                <a:srgbClr val="FFFFFF"/>
              </a:solidFill>
            </a:endParaRPr>
          </a:p>
        </p:txBody>
      </p:sp>
      <p:sp>
        <p:nvSpPr>
          <p:cNvPr id="25" name="Rectangle 24"/>
          <p:cNvSpPr/>
          <p:nvPr/>
        </p:nvSpPr>
        <p:spPr>
          <a:xfrm>
            <a:off x="7894686" y="4670422"/>
            <a:ext cx="2146468" cy="61433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36" dirty="0">
                <a:solidFill>
                  <a:srgbClr val="FFFFFF"/>
                </a:solidFill>
              </a:rPr>
              <a:t>.NET CLR</a:t>
            </a:r>
          </a:p>
          <a:p>
            <a:pPr algn="ctr"/>
            <a:r>
              <a:rPr lang="en-US" sz="1836" dirty="0">
                <a:solidFill>
                  <a:srgbClr val="FFFFFF"/>
                </a:solidFill>
              </a:rPr>
              <a:t>.NET Core CLR</a:t>
            </a:r>
          </a:p>
        </p:txBody>
      </p:sp>
      <p:sp>
        <p:nvSpPr>
          <p:cNvPr id="26" name="Rectangle 25"/>
          <p:cNvSpPr/>
          <p:nvPr/>
        </p:nvSpPr>
        <p:spPr>
          <a:xfrm>
            <a:off x="7894686" y="3930260"/>
            <a:ext cx="2146468" cy="61433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36" dirty="0">
                <a:solidFill>
                  <a:srgbClr val="FFFFFF"/>
                </a:solidFill>
              </a:rPr>
              <a:t>.NET BCL &amp; FCL</a:t>
            </a:r>
          </a:p>
          <a:p>
            <a:pPr algn="ctr"/>
            <a:r>
              <a:rPr lang="en-US" sz="1836" dirty="0">
                <a:solidFill>
                  <a:srgbClr val="FFFFFF"/>
                </a:solidFill>
              </a:rPr>
              <a:t>.NET on NuGet</a:t>
            </a:r>
          </a:p>
        </p:txBody>
      </p:sp>
      <p:sp>
        <p:nvSpPr>
          <p:cNvPr id="27" name="Rectangle 26"/>
          <p:cNvSpPr/>
          <p:nvPr/>
        </p:nvSpPr>
        <p:spPr>
          <a:xfrm>
            <a:off x="7894685" y="3190100"/>
            <a:ext cx="2146468" cy="61433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36" dirty="0" smtClean="0">
                <a:solidFill>
                  <a:srgbClr val="FFFFFF"/>
                </a:solidFill>
              </a:rPr>
              <a:t>DNX</a:t>
            </a:r>
            <a:endParaRPr lang="en-US" sz="1836" dirty="0">
              <a:solidFill>
                <a:srgbClr val="FFFFFF"/>
              </a:solidFill>
            </a:endParaRPr>
          </a:p>
        </p:txBody>
      </p:sp>
      <p:sp>
        <p:nvSpPr>
          <p:cNvPr id="28" name="Rectangle 27"/>
          <p:cNvSpPr/>
          <p:nvPr/>
        </p:nvSpPr>
        <p:spPr>
          <a:xfrm>
            <a:off x="7894685" y="2449938"/>
            <a:ext cx="2146468" cy="61433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36" dirty="0">
                <a:solidFill>
                  <a:srgbClr val="FFFFFF"/>
                </a:solidFill>
              </a:rPr>
              <a:t>IIS, HTTP.SYS</a:t>
            </a:r>
          </a:p>
          <a:p>
            <a:pPr algn="ctr"/>
            <a:r>
              <a:rPr lang="en-US" sz="1836" dirty="0">
                <a:solidFill>
                  <a:srgbClr val="FFFFFF"/>
                </a:solidFill>
              </a:rPr>
              <a:t>Kestrel</a:t>
            </a:r>
          </a:p>
        </p:txBody>
      </p:sp>
      <p:sp>
        <p:nvSpPr>
          <p:cNvPr id="29" name="Rectangle 28"/>
          <p:cNvSpPr/>
          <p:nvPr/>
        </p:nvSpPr>
        <p:spPr>
          <a:xfrm>
            <a:off x="7894685" y="1709776"/>
            <a:ext cx="2146468" cy="61433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36" dirty="0">
                <a:solidFill>
                  <a:srgbClr val="FFFFFF"/>
                </a:solidFill>
              </a:rPr>
              <a:t>NuGet</a:t>
            </a:r>
          </a:p>
        </p:txBody>
      </p:sp>
      <p:sp>
        <p:nvSpPr>
          <p:cNvPr id="30" name="Rectangle 29"/>
          <p:cNvSpPr/>
          <p:nvPr/>
        </p:nvSpPr>
        <p:spPr>
          <a:xfrm>
            <a:off x="7894685" y="969614"/>
            <a:ext cx="2146468" cy="61433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36" dirty="0">
                <a:solidFill>
                  <a:srgbClr val="FFFFFF"/>
                </a:solidFill>
              </a:rPr>
              <a:t>NuGet</a:t>
            </a:r>
          </a:p>
        </p:txBody>
      </p:sp>
      <p:sp>
        <p:nvSpPr>
          <p:cNvPr id="31" name="Rectangle 30"/>
          <p:cNvSpPr/>
          <p:nvPr/>
        </p:nvSpPr>
        <p:spPr>
          <a:xfrm>
            <a:off x="7894684" y="229455"/>
            <a:ext cx="2146468" cy="61433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836" dirty="0" smtClean="0">
                <a:solidFill>
                  <a:srgbClr val="FFFFFF"/>
                </a:solidFill>
              </a:rPr>
              <a:t>DNX (Roslyn</a:t>
            </a:r>
            <a:r>
              <a:rPr lang="en-US" sz="1836" dirty="0">
                <a:solidFill>
                  <a:srgbClr val="FFFFFF"/>
                </a:solidFill>
              </a:rPr>
              <a:t>)</a:t>
            </a:r>
          </a:p>
        </p:txBody>
      </p:sp>
    </p:spTree>
    <p:extLst>
      <p:ext uri="{BB962C8B-B14F-4D97-AF65-F5344CB8AC3E}">
        <p14:creationId xmlns:p14="http://schemas.microsoft.com/office/powerpoint/2010/main" val="37223118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5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fade">
                                      <p:cBhvr>
                                        <p:cTn id="67" dur="500"/>
                                        <p:tgtEl>
                                          <p:spTgt spid="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fade">
                                      <p:cBhvr>
                                        <p:cTn id="82" dur="500"/>
                                        <p:tgtEl>
                                          <p:spTgt spid="10"/>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500"/>
                                        <p:tgtEl>
                                          <p:spTgt spid="1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500"/>
                                        <p:tgtEl>
                                          <p:spTgt spid="28"/>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11"/>
                                        </p:tgtEl>
                                        <p:attrNameLst>
                                          <p:attrName>style.visibility</p:attrName>
                                        </p:attrNameLst>
                                      </p:cBhvr>
                                      <p:to>
                                        <p:strVal val="visible"/>
                                      </p:to>
                                    </p:set>
                                    <p:animEffect transition="in" filter="fade">
                                      <p:cBhvr>
                                        <p:cTn id="97" dur="500"/>
                                        <p:tgtEl>
                                          <p:spTgt spid="11"/>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0"/>
                                        </p:tgtEl>
                                        <p:attrNameLst>
                                          <p:attrName>style.visibility</p:attrName>
                                        </p:attrNameLst>
                                      </p:cBhvr>
                                      <p:to>
                                        <p:strVal val="visible"/>
                                      </p:to>
                                    </p:set>
                                    <p:animEffect transition="in" filter="fade">
                                      <p:cBhvr>
                                        <p:cTn id="102" dur="500"/>
                                        <p:tgtEl>
                                          <p:spTgt spid="20"/>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29"/>
                                        </p:tgtEl>
                                        <p:attrNameLst>
                                          <p:attrName>style.visibility</p:attrName>
                                        </p:attrNameLst>
                                      </p:cBhvr>
                                      <p:to>
                                        <p:strVal val="visible"/>
                                      </p:to>
                                    </p:set>
                                    <p:animEffect transition="in" filter="fade">
                                      <p:cBhvr>
                                        <p:cTn id="107" dur="500"/>
                                        <p:tgtEl>
                                          <p:spTgt spid="29"/>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12"/>
                                        </p:tgtEl>
                                        <p:attrNameLst>
                                          <p:attrName>style.visibility</p:attrName>
                                        </p:attrNameLst>
                                      </p:cBhvr>
                                      <p:to>
                                        <p:strVal val="visible"/>
                                      </p:to>
                                    </p:set>
                                    <p:animEffect transition="in" filter="fade">
                                      <p:cBhvr>
                                        <p:cTn id="112" dur="500"/>
                                        <p:tgtEl>
                                          <p:spTgt spid="12"/>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21"/>
                                        </p:tgtEl>
                                        <p:attrNameLst>
                                          <p:attrName>style.visibility</p:attrName>
                                        </p:attrNameLst>
                                      </p:cBhvr>
                                      <p:to>
                                        <p:strVal val="visible"/>
                                      </p:to>
                                    </p:set>
                                    <p:animEffect transition="in" filter="fade">
                                      <p:cBhvr>
                                        <p:cTn id="117" dur="500"/>
                                        <p:tgtEl>
                                          <p:spTgt spid="21"/>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30"/>
                                        </p:tgtEl>
                                        <p:attrNameLst>
                                          <p:attrName>style.visibility</p:attrName>
                                        </p:attrNameLst>
                                      </p:cBhvr>
                                      <p:to>
                                        <p:strVal val="visible"/>
                                      </p:to>
                                    </p:set>
                                    <p:animEffect transition="in" filter="fade">
                                      <p:cBhvr>
                                        <p:cTn id="122" dur="500"/>
                                        <p:tgtEl>
                                          <p:spTgt spid="30"/>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13"/>
                                        </p:tgtEl>
                                        <p:attrNameLst>
                                          <p:attrName>style.visibility</p:attrName>
                                        </p:attrNameLst>
                                      </p:cBhvr>
                                      <p:to>
                                        <p:strVal val="visible"/>
                                      </p:to>
                                    </p:set>
                                    <p:animEffect transition="in" filter="fade">
                                      <p:cBhvr>
                                        <p:cTn id="127" dur="500"/>
                                        <p:tgtEl>
                                          <p:spTgt spid="13"/>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22"/>
                                        </p:tgtEl>
                                        <p:attrNameLst>
                                          <p:attrName>style.visibility</p:attrName>
                                        </p:attrNameLst>
                                      </p:cBhvr>
                                      <p:to>
                                        <p:strVal val="visible"/>
                                      </p:to>
                                    </p:set>
                                    <p:animEffect transition="in" filter="fade">
                                      <p:cBhvr>
                                        <p:cTn id="132" dur="500"/>
                                        <p:tgtEl>
                                          <p:spTgt spid="22"/>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31"/>
                                        </p:tgtEl>
                                        <p:attrNameLst>
                                          <p:attrName>style.visibility</p:attrName>
                                        </p:attrNameLst>
                                      </p:cBhvr>
                                      <p:to>
                                        <p:strVal val="visible"/>
                                      </p:to>
                                    </p:set>
                                    <p:animEffect transition="in" filter="fade">
                                      <p:cBhvr>
                                        <p:cTn id="137" dur="500"/>
                                        <p:tgtEl>
                                          <p:spTgt spid="31"/>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4"/>
                                        </p:tgtEl>
                                        <p:attrNameLst>
                                          <p:attrName>style.visibility</p:attrName>
                                        </p:attrNameLst>
                                      </p:cBhvr>
                                      <p:to>
                                        <p:strVal val="visible"/>
                                      </p:to>
                                    </p:set>
                                    <p:animEffect transition="in" filter="fade">
                                      <p:cBhvr>
                                        <p:cTn id="1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274638" y="1212851"/>
            <a:ext cx="11887200" cy="4124206"/>
          </a:xfrm>
        </p:spPr>
        <p:txBody>
          <a:bodyPr/>
          <a:lstStyle/>
          <a:p>
            <a:r>
              <a:rPr lang="en-US" dirty="0" smtClean="0"/>
              <a:t>1996 – Active Server Pages (ASP)</a:t>
            </a:r>
          </a:p>
          <a:p>
            <a:r>
              <a:rPr lang="en-US" dirty="0" smtClean="0"/>
              <a:t>2002 – ASP.NET</a:t>
            </a:r>
          </a:p>
          <a:p>
            <a:r>
              <a:rPr lang="en-US" dirty="0" smtClean="0"/>
              <a:t>2008 – ASP.NET MVC</a:t>
            </a:r>
          </a:p>
          <a:p>
            <a:r>
              <a:rPr lang="en-US" dirty="0" smtClean="0"/>
              <a:t>2010 – ASP.NET Web Pages</a:t>
            </a:r>
          </a:p>
          <a:p>
            <a:r>
              <a:rPr lang="en-US" dirty="0" smtClean="0"/>
              <a:t>2012 – ASP.NET Web API, SignalR</a:t>
            </a:r>
          </a:p>
          <a:p>
            <a:r>
              <a:rPr lang="en-US" dirty="0" smtClean="0"/>
              <a:t>2014 – ASP.NET Core (and the Core CLR)</a:t>
            </a:r>
            <a:endParaRPr lang="en-US" dirty="0"/>
          </a:p>
        </p:txBody>
      </p:sp>
      <p:sp>
        <p:nvSpPr>
          <p:cNvPr id="4" name="Title 3"/>
          <p:cNvSpPr>
            <a:spLocks noGrp="1"/>
          </p:cNvSpPr>
          <p:nvPr>
            <p:ph type="title"/>
          </p:nvPr>
        </p:nvSpPr>
        <p:spPr/>
        <p:txBody>
          <a:bodyPr/>
          <a:lstStyle/>
          <a:p>
            <a:r>
              <a:rPr lang="en-US" dirty="0" smtClean="0"/>
              <a:t>History of ASP </a:t>
            </a:r>
            <a:r>
              <a:rPr lang="en-US" dirty="0" smtClean="0"/>
              <a:t>(20+ </a:t>
            </a:r>
            <a:r>
              <a:rPr lang="en-US" dirty="0" smtClean="0"/>
              <a:t>years)</a:t>
            </a:r>
            <a:endParaRPr lang="en-US" dirty="0"/>
          </a:p>
        </p:txBody>
      </p:sp>
    </p:spTree>
    <p:extLst>
      <p:ext uri="{BB962C8B-B14F-4D97-AF65-F5344CB8AC3E}">
        <p14:creationId xmlns:p14="http://schemas.microsoft.com/office/powerpoint/2010/main" val="1970425433"/>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ASP.NET and the Modern Web</a:t>
            </a:r>
            <a:endParaRPr lang="en-US" dirty="0"/>
          </a:p>
        </p:txBody>
      </p:sp>
      <p:sp>
        <p:nvSpPr>
          <p:cNvPr id="4" name="Rectangle 3"/>
          <p:cNvSpPr/>
          <p:nvPr/>
        </p:nvSpPr>
        <p:spPr>
          <a:xfrm>
            <a:off x="7816526" y="3202627"/>
            <a:ext cx="3462294" cy="954107"/>
          </a:xfrm>
          <a:prstGeom prst="rect">
            <a:avLst/>
          </a:prstGeom>
        </p:spPr>
        <p:txBody>
          <a:bodyPr wrap="none">
            <a:spAutoFit/>
          </a:bodyPr>
          <a:lstStyle/>
          <a:p>
            <a:r>
              <a:rPr lang="en-US" sz="2800" dirty="0" smtClean="0">
                <a:solidFill>
                  <a:srgbClr val="FFFFFF"/>
                </a:solidFill>
              </a:rPr>
              <a:t>Choose your Editors </a:t>
            </a:r>
          </a:p>
          <a:p>
            <a:r>
              <a:rPr lang="en-US" sz="2800" dirty="0" smtClean="0">
                <a:solidFill>
                  <a:srgbClr val="FFFFFF"/>
                </a:solidFill>
              </a:rPr>
              <a:t>and Tools</a:t>
            </a:r>
          </a:p>
        </p:txBody>
      </p:sp>
      <p:sp>
        <p:nvSpPr>
          <p:cNvPr id="5" name="Rectangle 4"/>
          <p:cNvSpPr/>
          <p:nvPr/>
        </p:nvSpPr>
        <p:spPr>
          <a:xfrm>
            <a:off x="1961121" y="4509344"/>
            <a:ext cx="3113353" cy="954107"/>
          </a:xfrm>
          <a:prstGeom prst="rect">
            <a:avLst/>
          </a:prstGeom>
        </p:spPr>
        <p:txBody>
          <a:bodyPr wrap="none">
            <a:spAutoFit/>
          </a:bodyPr>
          <a:lstStyle/>
          <a:p>
            <a:r>
              <a:rPr lang="en-US" sz="2800" dirty="0" smtClean="0">
                <a:solidFill>
                  <a:srgbClr val="FFFFFF"/>
                </a:solidFill>
              </a:rPr>
              <a:t>Open Source </a:t>
            </a:r>
            <a:br>
              <a:rPr lang="en-US" sz="2800" dirty="0" smtClean="0">
                <a:solidFill>
                  <a:srgbClr val="FFFFFF"/>
                </a:solidFill>
              </a:rPr>
            </a:br>
            <a:r>
              <a:rPr lang="en-US" sz="2800" dirty="0" smtClean="0">
                <a:solidFill>
                  <a:srgbClr val="FFFFFF"/>
                </a:solidFill>
              </a:rPr>
              <a:t>with Contributions</a:t>
            </a:r>
          </a:p>
        </p:txBody>
      </p:sp>
      <p:sp>
        <p:nvSpPr>
          <p:cNvPr id="6" name="Rectangle 5"/>
          <p:cNvSpPr/>
          <p:nvPr/>
        </p:nvSpPr>
        <p:spPr>
          <a:xfrm>
            <a:off x="7754278" y="4758813"/>
            <a:ext cx="2534027" cy="523220"/>
          </a:xfrm>
          <a:prstGeom prst="rect">
            <a:avLst/>
          </a:prstGeom>
        </p:spPr>
        <p:txBody>
          <a:bodyPr wrap="none">
            <a:spAutoFit/>
          </a:bodyPr>
          <a:lstStyle/>
          <a:p>
            <a:r>
              <a:rPr lang="en-US" sz="2800" dirty="0" smtClean="0">
                <a:solidFill>
                  <a:srgbClr val="FFFFFF"/>
                </a:solidFill>
              </a:rPr>
              <a:t>Cross-Platform</a:t>
            </a:r>
          </a:p>
        </p:txBody>
      </p:sp>
      <p:grpSp>
        <p:nvGrpSpPr>
          <p:cNvPr id="7" name="Group 6"/>
          <p:cNvGrpSpPr/>
          <p:nvPr/>
        </p:nvGrpSpPr>
        <p:grpSpPr>
          <a:xfrm>
            <a:off x="6785010" y="4569022"/>
            <a:ext cx="906342" cy="867556"/>
            <a:chOff x="2211181" y="1874910"/>
            <a:chExt cx="609600" cy="594360"/>
          </a:xfrm>
        </p:grpSpPr>
        <p:sp>
          <p:nvSpPr>
            <p:cNvPr id="8" name="Oval 7"/>
            <p:cNvSpPr/>
            <p:nvPr/>
          </p:nvSpPr>
          <p:spPr bwMode="auto">
            <a:xfrm>
              <a:off x="2211181" y="1874910"/>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800" dirty="0" err="1" smtClean="0">
                <a:gradFill>
                  <a:gsLst>
                    <a:gs pos="0">
                      <a:srgbClr val="FFFFFF"/>
                    </a:gs>
                    <a:gs pos="100000">
                      <a:srgbClr val="FFFFFF"/>
                    </a:gs>
                  </a:gsLst>
                  <a:lin ang="5400000" scaled="0"/>
                </a:gradFill>
                <a:ea typeface="Segoe UI" pitchFamily="34" charset="0"/>
                <a:cs typeface="Segoe UI" pitchFamily="34" charset="0"/>
              </a:endParaRPr>
            </a:p>
          </p:txBody>
        </p:sp>
        <p:pic>
          <p:nvPicPr>
            <p:cNvPr id="9" name="Picture 6" descr="C:\temp\WinAzure_rgb_Wht_S.png"/>
            <p:cNvPicPr>
              <a:picLocks noChangeAspect="1" noChangeArrowheads="1"/>
            </p:cNvPicPr>
            <p:nvPr/>
          </p:nvPicPr>
          <p:blipFill rotWithShape="1">
            <a:blip r:embed="rId2">
              <a:extLst>
                <a:ext uri="{28A0092B-C50C-407E-A947-70E740481C1C}">
                  <a14:useLocalDpi xmlns:a14="http://schemas.microsoft.com/office/drawing/2010/main" val="0"/>
                </a:ext>
              </a:extLst>
            </a:blip>
            <a:srcRect l="3371" t="15460" r="80628" b="15496"/>
            <a:stretch/>
          </p:blipFill>
          <p:spPr bwMode="auto">
            <a:xfrm>
              <a:off x="2404459" y="1943117"/>
              <a:ext cx="210181" cy="21742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http://files.softicons.com/download/system-icons/windows-8-metro-icons-by-dakirby309/png/512x512/Folders%20&amp;%20OS/Linux.png"/>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520482" y="2147586"/>
              <a:ext cx="242063" cy="242063"/>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p:cNvGrpSpPr>
              <a:grpSpLocks noChangeAspect="1"/>
            </p:cNvGrpSpPr>
            <p:nvPr/>
          </p:nvGrpSpPr>
          <p:grpSpPr bwMode="auto">
            <a:xfrm>
              <a:off x="2314492" y="2130536"/>
              <a:ext cx="197134" cy="235237"/>
              <a:chOff x="3485" y="1766"/>
              <a:chExt cx="745" cy="889"/>
            </a:xfrm>
          </p:grpSpPr>
          <p:sp>
            <p:nvSpPr>
              <p:cNvPr id="12" name="Freeform 11"/>
              <p:cNvSpPr>
                <a:spLocks/>
              </p:cNvSpPr>
              <p:nvPr/>
            </p:nvSpPr>
            <p:spPr bwMode="auto">
              <a:xfrm>
                <a:off x="3485" y="2008"/>
                <a:ext cx="745" cy="647"/>
              </a:xfrm>
              <a:custGeom>
                <a:avLst/>
                <a:gdLst>
                  <a:gd name="T0" fmla="*/ 296 w 296"/>
                  <a:gd name="T1" fmla="*/ 167 h 256"/>
                  <a:gd name="T2" fmla="*/ 274 w 296"/>
                  <a:gd name="T3" fmla="*/ 207 h 256"/>
                  <a:gd name="T4" fmla="*/ 216 w 296"/>
                  <a:gd name="T5" fmla="*/ 256 h 256"/>
                  <a:gd name="T6" fmla="*/ 159 w 296"/>
                  <a:gd name="T7" fmla="*/ 242 h 256"/>
                  <a:gd name="T8" fmla="*/ 101 w 296"/>
                  <a:gd name="T9" fmla="*/ 256 h 256"/>
                  <a:gd name="T10" fmla="*/ 44 w 296"/>
                  <a:gd name="T11" fmla="*/ 210 h 256"/>
                  <a:gd name="T12" fmla="*/ 24 w 296"/>
                  <a:gd name="T13" fmla="*/ 42 h 256"/>
                  <a:gd name="T14" fmla="*/ 94 w 296"/>
                  <a:gd name="T15" fmla="*/ 0 h 256"/>
                  <a:gd name="T16" fmla="*/ 158 w 296"/>
                  <a:gd name="T17" fmla="*/ 15 h 256"/>
                  <a:gd name="T18" fmla="*/ 222 w 296"/>
                  <a:gd name="T19" fmla="*/ 0 h 256"/>
                  <a:gd name="T20" fmla="*/ 286 w 296"/>
                  <a:gd name="T21" fmla="*/ 34 h 256"/>
                  <a:gd name="T22" fmla="*/ 296 w 296"/>
                  <a:gd name="T23" fmla="*/ 16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6" h="256">
                    <a:moveTo>
                      <a:pt x="296" y="167"/>
                    </a:moveTo>
                    <a:cubicBezTo>
                      <a:pt x="288" y="184"/>
                      <a:pt x="284" y="192"/>
                      <a:pt x="274" y="207"/>
                    </a:cubicBezTo>
                    <a:cubicBezTo>
                      <a:pt x="260" y="229"/>
                      <a:pt x="240" y="255"/>
                      <a:pt x="216" y="256"/>
                    </a:cubicBezTo>
                    <a:cubicBezTo>
                      <a:pt x="194" y="256"/>
                      <a:pt x="188" y="241"/>
                      <a:pt x="159" y="242"/>
                    </a:cubicBezTo>
                    <a:cubicBezTo>
                      <a:pt x="129" y="242"/>
                      <a:pt x="123" y="256"/>
                      <a:pt x="101" y="256"/>
                    </a:cubicBezTo>
                    <a:cubicBezTo>
                      <a:pt x="76" y="255"/>
                      <a:pt x="58" y="231"/>
                      <a:pt x="44" y="210"/>
                    </a:cubicBezTo>
                    <a:cubicBezTo>
                      <a:pt x="4" y="150"/>
                      <a:pt x="0" y="80"/>
                      <a:pt x="24" y="42"/>
                    </a:cubicBezTo>
                    <a:cubicBezTo>
                      <a:pt x="42" y="16"/>
                      <a:pt x="69" y="0"/>
                      <a:pt x="94" y="0"/>
                    </a:cubicBezTo>
                    <a:cubicBezTo>
                      <a:pt x="120" y="0"/>
                      <a:pt x="137" y="15"/>
                      <a:pt x="158" y="15"/>
                    </a:cubicBezTo>
                    <a:cubicBezTo>
                      <a:pt x="179" y="15"/>
                      <a:pt x="192" y="0"/>
                      <a:pt x="222" y="0"/>
                    </a:cubicBezTo>
                    <a:cubicBezTo>
                      <a:pt x="245" y="0"/>
                      <a:pt x="269" y="13"/>
                      <a:pt x="286" y="34"/>
                    </a:cubicBezTo>
                    <a:cubicBezTo>
                      <a:pt x="230" y="65"/>
                      <a:pt x="239" y="145"/>
                      <a:pt x="296" y="167"/>
                    </a:cubicBezTo>
                    <a:close/>
                  </a:path>
                </a:pathLst>
              </a:custGeom>
              <a:solidFill>
                <a:srgbClr val="FFFFFF"/>
              </a:solidFill>
              <a:ln>
                <a:noFill/>
              </a:ln>
              <a:extLst/>
            </p:spPr>
            <p:txBody>
              <a:bodyPr vert="horz" wrap="square" lIns="91440" tIns="45720" rIns="91440" bIns="45720" numCol="1" anchor="t" anchorCtr="0" compatLnSpc="1">
                <a:prstTxWarp prst="textNoShape">
                  <a:avLst/>
                </a:prstTxWarp>
              </a:bodyPr>
              <a:lstStyle/>
              <a:p>
                <a:pPr defTabSz="914363">
                  <a:defRPr/>
                </a:pPr>
                <a:endParaRPr lang="en-US" sz="2000" kern="0" smtClean="0">
                  <a:solidFill>
                    <a:srgbClr val="000000"/>
                  </a:solidFill>
                </a:endParaRPr>
              </a:p>
            </p:txBody>
          </p:sp>
          <p:sp>
            <p:nvSpPr>
              <p:cNvPr id="13" name="Freeform 12"/>
              <p:cNvSpPr>
                <a:spLocks/>
              </p:cNvSpPr>
              <p:nvPr/>
            </p:nvSpPr>
            <p:spPr bwMode="auto">
              <a:xfrm>
                <a:off x="3825" y="1766"/>
                <a:ext cx="175" cy="191"/>
              </a:xfrm>
              <a:custGeom>
                <a:avLst/>
                <a:gdLst>
                  <a:gd name="T0" fmla="*/ 55 w 74"/>
                  <a:gd name="T1" fmla="*/ 54 h 81"/>
                  <a:gd name="T2" fmla="*/ 71 w 74"/>
                  <a:gd name="T3" fmla="*/ 0 h 81"/>
                  <a:gd name="T4" fmla="*/ 20 w 74"/>
                  <a:gd name="T5" fmla="*/ 28 h 81"/>
                  <a:gd name="T6" fmla="*/ 4 w 74"/>
                  <a:gd name="T7" fmla="*/ 81 h 81"/>
                  <a:gd name="T8" fmla="*/ 55 w 74"/>
                  <a:gd name="T9" fmla="*/ 54 h 81"/>
                </a:gdLst>
                <a:ahLst/>
                <a:cxnLst>
                  <a:cxn ang="0">
                    <a:pos x="T0" y="T1"/>
                  </a:cxn>
                  <a:cxn ang="0">
                    <a:pos x="T2" y="T3"/>
                  </a:cxn>
                  <a:cxn ang="0">
                    <a:pos x="T4" y="T5"/>
                  </a:cxn>
                  <a:cxn ang="0">
                    <a:pos x="T6" y="T7"/>
                  </a:cxn>
                  <a:cxn ang="0">
                    <a:pos x="T8" y="T9"/>
                  </a:cxn>
                </a:cxnLst>
                <a:rect l="0" t="0" r="r" b="b"/>
                <a:pathLst>
                  <a:path w="74" h="81">
                    <a:moveTo>
                      <a:pt x="55" y="54"/>
                    </a:moveTo>
                    <a:cubicBezTo>
                      <a:pt x="66" y="40"/>
                      <a:pt x="74" y="21"/>
                      <a:pt x="71" y="0"/>
                    </a:cubicBezTo>
                    <a:cubicBezTo>
                      <a:pt x="54" y="2"/>
                      <a:pt x="33" y="13"/>
                      <a:pt x="20" y="28"/>
                    </a:cubicBezTo>
                    <a:cubicBezTo>
                      <a:pt x="9" y="41"/>
                      <a:pt x="0" y="61"/>
                      <a:pt x="4" y="81"/>
                    </a:cubicBezTo>
                    <a:cubicBezTo>
                      <a:pt x="23" y="81"/>
                      <a:pt x="44" y="70"/>
                      <a:pt x="55" y="54"/>
                    </a:cubicBezTo>
                    <a:close/>
                  </a:path>
                </a:pathLst>
              </a:custGeom>
              <a:solidFill>
                <a:srgbClr val="FFFFFF"/>
              </a:solidFill>
              <a:ln>
                <a:noFill/>
              </a:ln>
              <a:extLst/>
            </p:spPr>
            <p:txBody>
              <a:bodyPr vert="horz" wrap="square" lIns="91440" tIns="45720" rIns="91440" bIns="45720" numCol="1" anchor="t" anchorCtr="0" compatLnSpc="1">
                <a:prstTxWarp prst="textNoShape">
                  <a:avLst/>
                </a:prstTxWarp>
              </a:bodyPr>
              <a:lstStyle/>
              <a:p>
                <a:pPr defTabSz="914363">
                  <a:defRPr/>
                </a:pPr>
                <a:endParaRPr lang="en-US" sz="2000" kern="0" smtClean="0">
                  <a:solidFill>
                    <a:srgbClr val="000000"/>
                  </a:solidFill>
                </a:endParaRPr>
              </a:p>
            </p:txBody>
          </p:sp>
        </p:grpSp>
      </p:grpSp>
      <p:grpSp>
        <p:nvGrpSpPr>
          <p:cNvPr id="14" name="Group 13"/>
          <p:cNvGrpSpPr/>
          <p:nvPr/>
        </p:nvGrpSpPr>
        <p:grpSpPr>
          <a:xfrm>
            <a:off x="6794824" y="3178099"/>
            <a:ext cx="906342" cy="867556"/>
            <a:chOff x="2199148" y="3390553"/>
            <a:chExt cx="609600" cy="594360"/>
          </a:xfrm>
        </p:grpSpPr>
        <p:sp>
          <p:nvSpPr>
            <p:cNvPr id="15" name="Oval 14"/>
            <p:cNvSpPr/>
            <p:nvPr/>
          </p:nvSpPr>
          <p:spPr bwMode="auto">
            <a:xfrm>
              <a:off x="2199148" y="3390553"/>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8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16" name="Freeform 110"/>
            <p:cNvSpPr>
              <a:spLocks noEditPoints="1"/>
            </p:cNvSpPr>
            <p:nvPr/>
          </p:nvSpPr>
          <p:spPr bwMode="black">
            <a:xfrm>
              <a:off x="2413059" y="3555351"/>
              <a:ext cx="255468" cy="257688"/>
            </a:xfrm>
            <a:custGeom>
              <a:avLst/>
              <a:gdLst>
                <a:gd name="T0" fmla="*/ 9 w 70"/>
                <a:gd name="T1" fmla="*/ 68 h 70"/>
                <a:gd name="T2" fmla="*/ 10 w 70"/>
                <a:gd name="T3" fmla="*/ 66 h 70"/>
                <a:gd name="T4" fmla="*/ 4 w 70"/>
                <a:gd name="T5" fmla="*/ 60 h 70"/>
                <a:gd name="T6" fmla="*/ 2 w 70"/>
                <a:gd name="T7" fmla="*/ 61 h 70"/>
                <a:gd name="T8" fmla="*/ 0 w 70"/>
                <a:gd name="T9" fmla="*/ 68 h 70"/>
                <a:gd name="T10" fmla="*/ 2 w 70"/>
                <a:gd name="T11" fmla="*/ 70 h 70"/>
                <a:gd name="T12" fmla="*/ 9 w 70"/>
                <a:gd name="T13" fmla="*/ 68 h 70"/>
                <a:gd name="T14" fmla="*/ 64 w 70"/>
                <a:gd name="T15" fmla="*/ 6 h 70"/>
                <a:gd name="T16" fmla="*/ 52 w 70"/>
                <a:gd name="T17" fmla="*/ 4 h 70"/>
                <a:gd name="T18" fmla="*/ 49 w 70"/>
                <a:gd name="T19" fmla="*/ 7 h 70"/>
                <a:gd name="T20" fmla="*/ 49 w 70"/>
                <a:gd name="T21" fmla="*/ 11 h 70"/>
                <a:gd name="T22" fmla="*/ 60 w 70"/>
                <a:gd name="T23" fmla="*/ 21 h 70"/>
                <a:gd name="T24" fmla="*/ 63 w 70"/>
                <a:gd name="T25" fmla="*/ 21 h 70"/>
                <a:gd name="T26" fmla="*/ 66 w 70"/>
                <a:gd name="T27" fmla="*/ 18 h 70"/>
                <a:gd name="T28" fmla="*/ 64 w 70"/>
                <a:gd name="T29" fmla="*/ 6 h 70"/>
                <a:gd name="T30" fmla="*/ 22 w 70"/>
                <a:gd name="T31" fmla="*/ 62 h 70"/>
                <a:gd name="T32" fmla="*/ 19 w 70"/>
                <a:gd name="T33" fmla="*/ 62 h 70"/>
                <a:gd name="T34" fmla="*/ 8 w 70"/>
                <a:gd name="T35" fmla="*/ 51 h 70"/>
                <a:gd name="T36" fmla="*/ 8 w 70"/>
                <a:gd name="T37" fmla="*/ 48 h 70"/>
                <a:gd name="T38" fmla="*/ 42 w 70"/>
                <a:gd name="T39" fmla="*/ 14 h 70"/>
                <a:gd name="T40" fmla="*/ 45 w 70"/>
                <a:gd name="T41" fmla="*/ 14 h 70"/>
                <a:gd name="T42" fmla="*/ 56 w 70"/>
                <a:gd name="T43" fmla="*/ 25 h 70"/>
                <a:gd name="T44" fmla="*/ 56 w 70"/>
                <a:gd name="T45" fmla="*/ 28 h 70"/>
                <a:gd name="T46" fmla="*/ 22 w 70"/>
                <a:gd name="T47" fmla="*/ 6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 h="70">
                  <a:moveTo>
                    <a:pt x="9" y="68"/>
                  </a:moveTo>
                  <a:cubicBezTo>
                    <a:pt x="10" y="67"/>
                    <a:pt x="11" y="67"/>
                    <a:pt x="10" y="66"/>
                  </a:cubicBezTo>
                  <a:cubicBezTo>
                    <a:pt x="4" y="60"/>
                    <a:pt x="4" y="60"/>
                    <a:pt x="4" y="60"/>
                  </a:cubicBezTo>
                  <a:cubicBezTo>
                    <a:pt x="4" y="59"/>
                    <a:pt x="3" y="60"/>
                    <a:pt x="2" y="61"/>
                  </a:cubicBezTo>
                  <a:cubicBezTo>
                    <a:pt x="0" y="68"/>
                    <a:pt x="0" y="68"/>
                    <a:pt x="0" y="68"/>
                  </a:cubicBezTo>
                  <a:cubicBezTo>
                    <a:pt x="0" y="69"/>
                    <a:pt x="1" y="70"/>
                    <a:pt x="2" y="70"/>
                  </a:cubicBezTo>
                  <a:lnTo>
                    <a:pt x="9" y="68"/>
                  </a:lnTo>
                  <a:close/>
                  <a:moveTo>
                    <a:pt x="64" y="6"/>
                  </a:moveTo>
                  <a:cubicBezTo>
                    <a:pt x="58" y="0"/>
                    <a:pt x="52" y="4"/>
                    <a:pt x="52" y="4"/>
                  </a:cubicBezTo>
                  <a:cubicBezTo>
                    <a:pt x="51" y="5"/>
                    <a:pt x="50" y="6"/>
                    <a:pt x="49" y="7"/>
                  </a:cubicBezTo>
                  <a:cubicBezTo>
                    <a:pt x="48" y="8"/>
                    <a:pt x="48" y="10"/>
                    <a:pt x="49" y="11"/>
                  </a:cubicBezTo>
                  <a:cubicBezTo>
                    <a:pt x="60" y="21"/>
                    <a:pt x="60" y="21"/>
                    <a:pt x="60" y="21"/>
                  </a:cubicBezTo>
                  <a:cubicBezTo>
                    <a:pt x="60" y="22"/>
                    <a:pt x="62" y="22"/>
                    <a:pt x="63" y="21"/>
                  </a:cubicBezTo>
                  <a:cubicBezTo>
                    <a:pt x="64" y="20"/>
                    <a:pt x="65" y="19"/>
                    <a:pt x="66" y="18"/>
                  </a:cubicBezTo>
                  <a:cubicBezTo>
                    <a:pt x="66" y="18"/>
                    <a:pt x="70" y="12"/>
                    <a:pt x="64" y="6"/>
                  </a:cubicBezTo>
                  <a:moveTo>
                    <a:pt x="22" y="62"/>
                  </a:moveTo>
                  <a:cubicBezTo>
                    <a:pt x="21" y="63"/>
                    <a:pt x="20" y="63"/>
                    <a:pt x="19" y="62"/>
                  </a:cubicBezTo>
                  <a:cubicBezTo>
                    <a:pt x="8" y="51"/>
                    <a:pt x="8" y="51"/>
                    <a:pt x="8" y="51"/>
                  </a:cubicBezTo>
                  <a:cubicBezTo>
                    <a:pt x="7" y="51"/>
                    <a:pt x="7" y="49"/>
                    <a:pt x="8" y="48"/>
                  </a:cubicBezTo>
                  <a:cubicBezTo>
                    <a:pt x="42" y="14"/>
                    <a:pt x="42" y="14"/>
                    <a:pt x="42" y="14"/>
                  </a:cubicBezTo>
                  <a:cubicBezTo>
                    <a:pt x="43" y="13"/>
                    <a:pt x="44" y="13"/>
                    <a:pt x="45" y="14"/>
                  </a:cubicBezTo>
                  <a:cubicBezTo>
                    <a:pt x="56" y="25"/>
                    <a:pt x="56" y="25"/>
                    <a:pt x="56" y="25"/>
                  </a:cubicBezTo>
                  <a:cubicBezTo>
                    <a:pt x="57" y="26"/>
                    <a:pt x="57" y="27"/>
                    <a:pt x="56" y="28"/>
                  </a:cubicBezTo>
                  <a:lnTo>
                    <a:pt x="22" y="62"/>
                  </a:lnTo>
                  <a:close/>
                </a:path>
              </a:pathLst>
            </a:custGeom>
            <a:solidFill>
              <a:srgbClr val="FFFFFF"/>
            </a:solidFill>
            <a:ln>
              <a:noFill/>
            </a:ln>
            <a:extLst/>
          </p:spPr>
          <p:txBody>
            <a:bodyPr vert="horz" wrap="square" lIns="91440" tIns="45720" rIns="91440" bIns="45720" numCol="1" anchor="t" anchorCtr="0" compatLnSpc="1">
              <a:prstTxWarp prst="textNoShape">
                <a:avLst/>
              </a:prstTxWarp>
            </a:bodyPr>
            <a:lstStyle/>
            <a:p>
              <a:endParaRPr lang="en-US" sz="2000">
                <a:solidFill>
                  <a:srgbClr val="FFFFFF"/>
                </a:solidFill>
              </a:endParaRPr>
            </a:p>
          </p:txBody>
        </p:sp>
      </p:grpSp>
      <p:grpSp>
        <p:nvGrpSpPr>
          <p:cNvPr id="17" name="Group 16"/>
          <p:cNvGrpSpPr/>
          <p:nvPr/>
        </p:nvGrpSpPr>
        <p:grpSpPr>
          <a:xfrm>
            <a:off x="940880" y="4557479"/>
            <a:ext cx="906342" cy="867556"/>
            <a:chOff x="2203935" y="5009693"/>
            <a:chExt cx="609600" cy="594360"/>
          </a:xfrm>
        </p:grpSpPr>
        <p:sp>
          <p:nvSpPr>
            <p:cNvPr id="18" name="Oval 17"/>
            <p:cNvSpPr/>
            <p:nvPr/>
          </p:nvSpPr>
          <p:spPr bwMode="auto">
            <a:xfrm>
              <a:off x="2203935" y="5009693"/>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8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19" name="Rectangle 18"/>
            <p:cNvSpPr/>
            <p:nvPr/>
          </p:nvSpPr>
          <p:spPr>
            <a:xfrm>
              <a:off x="2256866" y="5140354"/>
              <a:ext cx="500486" cy="316285"/>
            </a:xfrm>
            <a:prstGeom prst="rect">
              <a:avLst/>
            </a:prstGeom>
          </p:spPr>
          <p:txBody>
            <a:bodyPr wrap="none">
              <a:spAutoFit/>
            </a:bodyPr>
            <a:lstStyle/>
            <a:p>
              <a:r>
                <a:rPr lang="en-US" sz="2400" dirty="0" smtClean="0">
                  <a:solidFill>
                    <a:srgbClr val="FFFFFF"/>
                  </a:solidFill>
                </a:rPr>
                <a:t>OSS</a:t>
              </a:r>
              <a:endParaRPr lang="en-US" sz="2400" dirty="0">
                <a:solidFill>
                  <a:srgbClr val="FFFFFF"/>
                </a:solidFill>
              </a:endParaRPr>
            </a:p>
          </p:txBody>
        </p:sp>
      </p:grpSp>
      <p:sp>
        <p:nvSpPr>
          <p:cNvPr id="20" name="Rectangle 19"/>
          <p:cNvSpPr/>
          <p:nvPr/>
        </p:nvSpPr>
        <p:spPr>
          <a:xfrm>
            <a:off x="1880015" y="3202627"/>
            <a:ext cx="4401077" cy="954107"/>
          </a:xfrm>
          <a:prstGeom prst="rect">
            <a:avLst/>
          </a:prstGeom>
        </p:spPr>
        <p:txBody>
          <a:bodyPr wrap="none">
            <a:spAutoFit/>
          </a:bodyPr>
          <a:lstStyle/>
          <a:p>
            <a:r>
              <a:rPr lang="en-US" sz="2800" dirty="0" smtClean="0">
                <a:solidFill>
                  <a:srgbClr val="FFFFFF"/>
                </a:solidFill>
              </a:rPr>
              <a:t>Seamless transition </a:t>
            </a:r>
            <a:br>
              <a:rPr lang="en-US" sz="2800" dirty="0" smtClean="0">
                <a:solidFill>
                  <a:srgbClr val="FFFFFF"/>
                </a:solidFill>
              </a:rPr>
            </a:br>
            <a:r>
              <a:rPr lang="en-US" sz="2800" dirty="0" smtClean="0">
                <a:solidFill>
                  <a:srgbClr val="FFFFFF"/>
                </a:solidFill>
              </a:rPr>
              <a:t>from on-premises to cloud</a:t>
            </a:r>
          </a:p>
        </p:txBody>
      </p:sp>
      <p:sp>
        <p:nvSpPr>
          <p:cNvPr id="21" name="Freeform 13"/>
          <p:cNvSpPr>
            <a:spLocks noChangeAspect="1" noEditPoints="1"/>
          </p:cNvSpPr>
          <p:nvPr/>
        </p:nvSpPr>
        <p:spPr bwMode="auto">
          <a:xfrm>
            <a:off x="937268" y="3185995"/>
            <a:ext cx="917115" cy="920494"/>
          </a:xfrm>
          <a:custGeom>
            <a:avLst/>
            <a:gdLst>
              <a:gd name="T0" fmla="*/ 808 w 1605"/>
              <a:gd name="T1" fmla="*/ 1611 h 1611"/>
              <a:gd name="T2" fmla="*/ 1605 w 1605"/>
              <a:gd name="T3" fmla="*/ 798 h 1611"/>
              <a:gd name="T4" fmla="*/ 808 w 1605"/>
              <a:gd name="T5" fmla="*/ 0 h 1611"/>
              <a:gd name="T6" fmla="*/ 0 w 1605"/>
              <a:gd name="T7" fmla="*/ 798 h 1611"/>
              <a:gd name="T8" fmla="*/ 808 w 1605"/>
              <a:gd name="T9" fmla="*/ 1611 h 1611"/>
              <a:gd name="T10" fmla="*/ 808 w 1605"/>
              <a:gd name="T11" fmla="*/ 96 h 1611"/>
              <a:gd name="T12" fmla="*/ 1505 w 1605"/>
              <a:gd name="T13" fmla="*/ 798 h 1611"/>
              <a:gd name="T14" fmla="*/ 808 w 1605"/>
              <a:gd name="T15" fmla="*/ 1511 h 1611"/>
              <a:gd name="T16" fmla="*/ 96 w 1605"/>
              <a:gd name="T17" fmla="*/ 798 h 1611"/>
              <a:gd name="T18" fmla="*/ 808 w 1605"/>
              <a:gd name="T19" fmla="*/ 96 h 1611"/>
              <a:gd name="T20" fmla="*/ 1106 w 1605"/>
              <a:gd name="T21" fmla="*/ 1104 h 1611"/>
              <a:gd name="T22" fmla="*/ 382 w 1605"/>
              <a:gd name="T23" fmla="*/ 1104 h 1611"/>
              <a:gd name="T24" fmla="*/ 260 w 1605"/>
              <a:gd name="T25" fmla="*/ 982 h 1611"/>
              <a:gd name="T26" fmla="*/ 352 w 1605"/>
              <a:gd name="T27" fmla="*/ 863 h 1611"/>
              <a:gd name="T28" fmla="*/ 496 w 1605"/>
              <a:gd name="T29" fmla="*/ 754 h 1611"/>
              <a:gd name="T30" fmla="*/ 756 w 1605"/>
              <a:gd name="T31" fmla="*/ 507 h 1611"/>
              <a:gd name="T32" fmla="*/ 992 w 1605"/>
              <a:gd name="T33" fmla="*/ 657 h 1611"/>
              <a:gd name="T34" fmla="*/ 1106 w 1605"/>
              <a:gd name="T35" fmla="*/ 627 h 1611"/>
              <a:gd name="T36" fmla="*/ 1345 w 1605"/>
              <a:gd name="T37" fmla="*/ 865 h 1611"/>
              <a:gd name="T38" fmla="*/ 1106 w 1605"/>
              <a:gd name="T39" fmla="*/ 1104 h 1611"/>
              <a:gd name="T40" fmla="*/ 382 w 1605"/>
              <a:gd name="T41" fmla="*/ 944 h 1611"/>
              <a:gd name="T42" fmla="*/ 344 w 1605"/>
              <a:gd name="T43" fmla="*/ 982 h 1611"/>
              <a:gd name="T44" fmla="*/ 382 w 1605"/>
              <a:gd name="T45" fmla="*/ 1020 h 1611"/>
              <a:gd name="T46" fmla="*/ 1106 w 1605"/>
              <a:gd name="T47" fmla="*/ 1020 h 1611"/>
              <a:gd name="T48" fmla="*/ 1261 w 1605"/>
              <a:gd name="T49" fmla="*/ 865 h 1611"/>
              <a:gd name="T50" fmla="*/ 1106 w 1605"/>
              <a:gd name="T51" fmla="*/ 711 h 1611"/>
              <a:gd name="T52" fmla="*/ 998 w 1605"/>
              <a:gd name="T53" fmla="*/ 754 h 1611"/>
              <a:gd name="T54" fmla="*/ 944 w 1605"/>
              <a:gd name="T55" fmla="*/ 806 h 1611"/>
              <a:gd name="T56" fmla="*/ 927 w 1605"/>
              <a:gd name="T57" fmla="*/ 733 h 1611"/>
              <a:gd name="T58" fmla="*/ 756 w 1605"/>
              <a:gd name="T59" fmla="*/ 592 h 1611"/>
              <a:gd name="T60" fmla="*/ 580 w 1605"/>
              <a:gd name="T61" fmla="*/ 768 h 1611"/>
              <a:gd name="T62" fmla="*/ 580 w 1605"/>
              <a:gd name="T63" fmla="*/ 792 h 1611"/>
              <a:gd name="T64" fmla="*/ 588 w 1605"/>
              <a:gd name="T65" fmla="*/ 849 h 1611"/>
              <a:gd name="T66" fmla="*/ 531 w 1605"/>
              <a:gd name="T67" fmla="*/ 838 h 1611"/>
              <a:gd name="T68" fmla="*/ 515 w 1605"/>
              <a:gd name="T69" fmla="*/ 838 h 1611"/>
              <a:gd name="T70" fmla="*/ 425 w 1605"/>
              <a:gd name="T71" fmla="*/ 912 h 1611"/>
              <a:gd name="T72" fmla="*/ 420 w 1605"/>
              <a:gd name="T73" fmla="*/ 947 h 1611"/>
              <a:gd name="T74" fmla="*/ 384 w 1605"/>
              <a:gd name="T75" fmla="*/ 944 h 1611"/>
              <a:gd name="T76" fmla="*/ 382 w 1605"/>
              <a:gd name="T77" fmla="*/ 944 h 1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05" h="1611">
                <a:moveTo>
                  <a:pt x="808" y="1611"/>
                </a:moveTo>
                <a:cubicBezTo>
                  <a:pt x="1247" y="1611"/>
                  <a:pt x="1605" y="1253"/>
                  <a:pt x="1605" y="798"/>
                </a:cubicBezTo>
                <a:cubicBezTo>
                  <a:pt x="1605" y="355"/>
                  <a:pt x="1247" y="0"/>
                  <a:pt x="808" y="0"/>
                </a:cubicBezTo>
                <a:cubicBezTo>
                  <a:pt x="354" y="0"/>
                  <a:pt x="0" y="355"/>
                  <a:pt x="0" y="798"/>
                </a:cubicBezTo>
                <a:cubicBezTo>
                  <a:pt x="0" y="1253"/>
                  <a:pt x="354" y="1611"/>
                  <a:pt x="808" y="1611"/>
                </a:cubicBezTo>
                <a:close/>
                <a:moveTo>
                  <a:pt x="808" y="96"/>
                </a:moveTo>
                <a:cubicBezTo>
                  <a:pt x="1195" y="96"/>
                  <a:pt x="1505" y="410"/>
                  <a:pt x="1505" y="798"/>
                </a:cubicBezTo>
                <a:cubicBezTo>
                  <a:pt x="1505" y="1190"/>
                  <a:pt x="1195" y="1511"/>
                  <a:pt x="808" y="1511"/>
                </a:cubicBezTo>
                <a:cubicBezTo>
                  <a:pt x="420" y="1511"/>
                  <a:pt x="96" y="1190"/>
                  <a:pt x="96" y="798"/>
                </a:cubicBezTo>
                <a:cubicBezTo>
                  <a:pt x="96" y="410"/>
                  <a:pt x="420" y="96"/>
                  <a:pt x="808" y="96"/>
                </a:cubicBezTo>
                <a:close/>
                <a:moveTo>
                  <a:pt x="1106" y="1104"/>
                </a:moveTo>
                <a:cubicBezTo>
                  <a:pt x="382" y="1104"/>
                  <a:pt x="382" y="1104"/>
                  <a:pt x="382" y="1104"/>
                </a:cubicBezTo>
                <a:cubicBezTo>
                  <a:pt x="314" y="1104"/>
                  <a:pt x="260" y="1050"/>
                  <a:pt x="260" y="982"/>
                </a:cubicBezTo>
                <a:cubicBezTo>
                  <a:pt x="260" y="925"/>
                  <a:pt x="300" y="876"/>
                  <a:pt x="352" y="863"/>
                </a:cubicBezTo>
                <a:cubicBezTo>
                  <a:pt x="376" y="806"/>
                  <a:pt x="431" y="762"/>
                  <a:pt x="496" y="754"/>
                </a:cubicBezTo>
                <a:cubicBezTo>
                  <a:pt x="501" y="616"/>
                  <a:pt x="615" y="507"/>
                  <a:pt x="756" y="507"/>
                </a:cubicBezTo>
                <a:cubicBezTo>
                  <a:pt x="857" y="507"/>
                  <a:pt x="949" y="567"/>
                  <a:pt x="992" y="657"/>
                </a:cubicBezTo>
                <a:cubicBezTo>
                  <a:pt x="1025" y="638"/>
                  <a:pt x="1066" y="627"/>
                  <a:pt x="1106" y="627"/>
                </a:cubicBezTo>
                <a:cubicBezTo>
                  <a:pt x="1237" y="627"/>
                  <a:pt x="1345" y="735"/>
                  <a:pt x="1345" y="865"/>
                </a:cubicBezTo>
                <a:cubicBezTo>
                  <a:pt x="1345" y="998"/>
                  <a:pt x="1237" y="1104"/>
                  <a:pt x="1106" y="1104"/>
                </a:cubicBezTo>
                <a:close/>
                <a:moveTo>
                  <a:pt x="382" y="944"/>
                </a:moveTo>
                <a:cubicBezTo>
                  <a:pt x="360" y="944"/>
                  <a:pt x="344" y="963"/>
                  <a:pt x="344" y="982"/>
                </a:cubicBezTo>
                <a:cubicBezTo>
                  <a:pt x="344" y="1004"/>
                  <a:pt x="360" y="1020"/>
                  <a:pt x="382" y="1020"/>
                </a:cubicBezTo>
                <a:cubicBezTo>
                  <a:pt x="1106" y="1020"/>
                  <a:pt x="1106" y="1020"/>
                  <a:pt x="1106" y="1020"/>
                </a:cubicBezTo>
                <a:cubicBezTo>
                  <a:pt x="1191" y="1020"/>
                  <a:pt x="1261" y="952"/>
                  <a:pt x="1261" y="865"/>
                </a:cubicBezTo>
                <a:cubicBezTo>
                  <a:pt x="1261" y="781"/>
                  <a:pt x="1191" y="711"/>
                  <a:pt x="1106" y="711"/>
                </a:cubicBezTo>
                <a:cubicBezTo>
                  <a:pt x="1066" y="711"/>
                  <a:pt x="1028" y="727"/>
                  <a:pt x="998" y="754"/>
                </a:cubicBezTo>
                <a:cubicBezTo>
                  <a:pt x="944" y="806"/>
                  <a:pt x="944" y="806"/>
                  <a:pt x="944" y="806"/>
                </a:cubicBezTo>
                <a:cubicBezTo>
                  <a:pt x="927" y="733"/>
                  <a:pt x="927" y="733"/>
                  <a:pt x="927" y="733"/>
                </a:cubicBezTo>
                <a:cubicBezTo>
                  <a:pt x="911" y="651"/>
                  <a:pt x="840" y="592"/>
                  <a:pt x="756" y="592"/>
                </a:cubicBezTo>
                <a:cubicBezTo>
                  <a:pt x="659" y="592"/>
                  <a:pt x="580" y="670"/>
                  <a:pt x="580" y="768"/>
                </a:cubicBezTo>
                <a:cubicBezTo>
                  <a:pt x="580" y="776"/>
                  <a:pt x="580" y="784"/>
                  <a:pt x="580" y="792"/>
                </a:cubicBezTo>
                <a:cubicBezTo>
                  <a:pt x="588" y="849"/>
                  <a:pt x="588" y="849"/>
                  <a:pt x="588" y="849"/>
                </a:cubicBezTo>
                <a:cubicBezTo>
                  <a:pt x="531" y="838"/>
                  <a:pt x="531" y="838"/>
                  <a:pt x="531" y="838"/>
                </a:cubicBezTo>
                <a:cubicBezTo>
                  <a:pt x="526" y="838"/>
                  <a:pt x="520" y="838"/>
                  <a:pt x="515" y="838"/>
                </a:cubicBezTo>
                <a:cubicBezTo>
                  <a:pt x="471" y="838"/>
                  <a:pt x="436" y="868"/>
                  <a:pt x="425" y="912"/>
                </a:cubicBezTo>
                <a:cubicBezTo>
                  <a:pt x="420" y="947"/>
                  <a:pt x="420" y="947"/>
                  <a:pt x="420" y="947"/>
                </a:cubicBezTo>
                <a:cubicBezTo>
                  <a:pt x="384" y="944"/>
                  <a:pt x="384" y="944"/>
                  <a:pt x="384" y="944"/>
                </a:cubicBezTo>
                <a:cubicBezTo>
                  <a:pt x="382" y="944"/>
                  <a:pt x="382" y="944"/>
                  <a:pt x="382" y="94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2000">
              <a:solidFill>
                <a:srgbClr val="FFFFFF"/>
              </a:solidFill>
            </a:endParaRPr>
          </a:p>
        </p:txBody>
      </p:sp>
      <p:sp>
        <p:nvSpPr>
          <p:cNvPr id="22" name="Rectangle 21"/>
          <p:cNvSpPr/>
          <p:nvPr/>
        </p:nvSpPr>
        <p:spPr>
          <a:xfrm>
            <a:off x="7754278" y="2130071"/>
            <a:ext cx="4268348" cy="523220"/>
          </a:xfrm>
          <a:prstGeom prst="rect">
            <a:avLst/>
          </a:prstGeom>
        </p:spPr>
        <p:txBody>
          <a:bodyPr wrap="none">
            <a:spAutoFit/>
          </a:bodyPr>
          <a:lstStyle/>
          <a:p>
            <a:r>
              <a:rPr lang="en-US" sz="2800" dirty="0" smtClean="0">
                <a:solidFill>
                  <a:srgbClr val="FFFFFF"/>
                </a:solidFill>
              </a:rPr>
              <a:t>Faster Development Cycle</a:t>
            </a:r>
          </a:p>
        </p:txBody>
      </p:sp>
      <p:sp>
        <p:nvSpPr>
          <p:cNvPr id="23" name="Rectangle 22"/>
          <p:cNvSpPr/>
          <p:nvPr/>
        </p:nvSpPr>
        <p:spPr>
          <a:xfrm>
            <a:off x="1897478" y="2117205"/>
            <a:ext cx="2635530" cy="523220"/>
          </a:xfrm>
          <a:prstGeom prst="rect">
            <a:avLst/>
          </a:prstGeom>
        </p:spPr>
        <p:txBody>
          <a:bodyPr wrap="none">
            <a:spAutoFit/>
          </a:bodyPr>
          <a:lstStyle/>
          <a:p>
            <a:r>
              <a:rPr lang="en-US" sz="2800" dirty="0" smtClean="0">
                <a:solidFill>
                  <a:srgbClr val="FFFFFF"/>
                </a:solidFill>
              </a:rPr>
              <a:t>Totally Modular</a:t>
            </a:r>
          </a:p>
        </p:txBody>
      </p:sp>
      <p:grpSp>
        <p:nvGrpSpPr>
          <p:cNvPr id="24" name="Group 23"/>
          <p:cNvGrpSpPr/>
          <p:nvPr/>
        </p:nvGrpSpPr>
        <p:grpSpPr>
          <a:xfrm>
            <a:off x="6795969" y="1948286"/>
            <a:ext cx="888298" cy="850284"/>
            <a:chOff x="1785636" y="1768035"/>
            <a:chExt cx="609600" cy="594360"/>
          </a:xfrm>
        </p:grpSpPr>
        <p:sp>
          <p:nvSpPr>
            <p:cNvPr id="25" name="Oval 24"/>
            <p:cNvSpPr/>
            <p:nvPr/>
          </p:nvSpPr>
          <p:spPr bwMode="auto">
            <a:xfrm>
              <a:off x="1785636" y="1768035"/>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8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6" name="Freeform 58"/>
            <p:cNvSpPr>
              <a:spLocks noEditPoints="1"/>
            </p:cNvSpPr>
            <p:nvPr/>
          </p:nvSpPr>
          <p:spPr bwMode="black">
            <a:xfrm>
              <a:off x="1944132" y="1871523"/>
              <a:ext cx="292608" cy="384736"/>
            </a:xfrm>
            <a:custGeom>
              <a:avLst/>
              <a:gdLst>
                <a:gd name="T0" fmla="*/ 181 w 182"/>
                <a:gd name="T1" fmla="*/ 65 h 195"/>
                <a:gd name="T2" fmla="*/ 88 w 182"/>
                <a:gd name="T3" fmla="*/ 0 h 195"/>
                <a:gd name="T4" fmla="*/ 88 w 182"/>
                <a:gd name="T5" fmla="*/ 40 h 195"/>
                <a:gd name="T6" fmla="*/ 1 w 182"/>
                <a:gd name="T7" fmla="*/ 40 h 195"/>
                <a:gd name="T8" fmla="*/ 1 w 182"/>
                <a:gd name="T9" fmla="*/ 89 h 195"/>
                <a:gd name="T10" fmla="*/ 57 w 182"/>
                <a:gd name="T11" fmla="*/ 89 h 195"/>
                <a:gd name="T12" fmla="*/ 88 w 182"/>
                <a:gd name="T13" fmla="*/ 68 h 195"/>
                <a:gd name="T14" fmla="*/ 88 w 182"/>
                <a:gd name="T15" fmla="*/ 130 h 195"/>
                <a:gd name="T16" fmla="*/ 181 w 182"/>
                <a:gd name="T17" fmla="*/ 65 h 195"/>
                <a:gd name="T18" fmla="*/ 19 w 182"/>
                <a:gd name="T19" fmla="*/ 127 h 195"/>
                <a:gd name="T20" fmla="*/ 88 w 182"/>
                <a:gd name="T21" fmla="*/ 172 h 195"/>
                <a:gd name="T22" fmla="*/ 88 w 182"/>
                <a:gd name="T23" fmla="*/ 142 h 195"/>
                <a:gd name="T24" fmla="*/ 178 w 182"/>
                <a:gd name="T25" fmla="*/ 142 h 195"/>
                <a:gd name="T26" fmla="*/ 178 w 182"/>
                <a:gd name="T27" fmla="*/ 153 h 195"/>
                <a:gd name="T28" fmla="*/ 100 w 182"/>
                <a:gd name="T29" fmla="*/ 153 h 195"/>
                <a:gd name="T30" fmla="*/ 100 w 182"/>
                <a:gd name="T31" fmla="*/ 195 h 195"/>
                <a:gd name="T32" fmla="*/ 0 w 182"/>
                <a:gd name="T33" fmla="*/ 127 h 195"/>
                <a:gd name="T34" fmla="*/ 19 w 182"/>
                <a:gd name="T35" fmla="*/ 127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2" h="195">
                  <a:moveTo>
                    <a:pt x="181" y="65"/>
                  </a:moveTo>
                  <a:cubicBezTo>
                    <a:pt x="88" y="0"/>
                    <a:pt x="88" y="0"/>
                    <a:pt x="88" y="0"/>
                  </a:cubicBezTo>
                  <a:cubicBezTo>
                    <a:pt x="88" y="40"/>
                    <a:pt x="88" y="40"/>
                    <a:pt x="88" y="40"/>
                  </a:cubicBezTo>
                  <a:cubicBezTo>
                    <a:pt x="1" y="40"/>
                    <a:pt x="1" y="40"/>
                    <a:pt x="1" y="40"/>
                  </a:cubicBezTo>
                  <a:cubicBezTo>
                    <a:pt x="1" y="89"/>
                    <a:pt x="1" y="89"/>
                    <a:pt x="1" y="89"/>
                  </a:cubicBezTo>
                  <a:cubicBezTo>
                    <a:pt x="57" y="89"/>
                    <a:pt x="57" y="89"/>
                    <a:pt x="57" y="89"/>
                  </a:cubicBezTo>
                  <a:cubicBezTo>
                    <a:pt x="88" y="68"/>
                    <a:pt x="88" y="68"/>
                    <a:pt x="88" y="68"/>
                  </a:cubicBezTo>
                  <a:cubicBezTo>
                    <a:pt x="88" y="130"/>
                    <a:pt x="88" y="130"/>
                    <a:pt x="88" y="130"/>
                  </a:cubicBezTo>
                  <a:cubicBezTo>
                    <a:pt x="181" y="65"/>
                    <a:pt x="181" y="65"/>
                    <a:pt x="181" y="65"/>
                  </a:cubicBezTo>
                  <a:close/>
                  <a:moveTo>
                    <a:pt x="19" y="127"/>
                  </a:moveTo>
                  <a:cubicBezTo>
                    <a:pt x="88" y="172"/>
                    <a:pt x="88" y="172"/>
                    <a:pt x="88" y="172"/>
                  </a:cubicBezTo>
                  <a:cubicBezTo>
                    <a:pt x="88" y="142"/>
                    <a:pt x="88" y="142"/>
                    <a:pt x="88" y="142"/>
                  </a:cubicBezTo>
                  <a:cubicBezTo>
                    <a:pt x="178" y="142"/>
                    <a:pt x="178" y="142"/>
                    <a:pt x="178" y="142"/>
                  </a:cubicBezTo>
                  <a:cubicBezTo>
                    <a:pt x="182" y="142"/>
                    <a:pt x="182" y="153"/>
                    <a:pt x="178" y="153"/>
                  </a:cubicBezTo>
                  <a:cubicBezTo>
                    <a:pt x="100" y="153"/>
                    <a:pt x="100" y="153"/>
                    <a:pt x="100" y="153"/>
                  </a:cubicBezTo>
                  <a:cubicBezTo>
                    <a:pt x="100" y="195"/>
                    <a:pt x="100" y="195"/>
                    <a:pt x="100" y="195"/>
                  </a:cubicBezTo>
                  <a:cubicBezTo>
                    <a:pt x="0" y="127"/>
                    <a:pt x="0" y="127"/>
                    <a:pt x="0" y="127"/>
                  </a:cubicBezTo>
                  <a:cubicBezTo>
                    <a:pt x="19" y="127"/>
                    <a:pt x="19" y="127"/>
                    <a:pt x="19" y="127"/>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endParaRPr lang="en-US">
                <a:solidFill>
                  <a:srgbClr val="FFFFFF"/>
                </a:solidFill>
              </a:endParaRPr>
            </a:p>
          </p:txBody>
        </p:sp>
      </p:grpSp>
      <p:grpSp>
        <p:nvGrpSpPr>
          <p:cNvPr id="27" name="Group 26"/>
          <p:cNvGrpSpPr/>
          <p:nvPr/>
        </p:nvGrpSpPr>
        <p:grpSpPr>
          <a:xfrm>
            <a:off x="951466" y="1961252"/>
            <a:ext cx="888298" cy="850284"/>
            <a:chOff x="1795746" y="3978504"/>
            <a:chExt cx="609600" cy="594360"/>
          </a:xfrm>
        </p:grpSpPr>
        <p:sp>
          <p:nvSpPr>
            <p:cNvPr id="28" name="Oval 27"/>
            <p:cNvSpPr/>
            <p:nvPr/>
          </p:nvSpPr>
          <p:spPr bwMode="auto">
            <a:xfrm>
              <a:off x="1795746" y="3978504"/>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8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9" name="Freeform 8"/>
            <p:cNvSpPr>
              <a:spLocks noEditPoints="1"/>
            </p:cNvSpPr>
            <p:nvPr/>
          </p:nvSpPr>
          <p:spPr bwMode="black">
            <a:xfrm>
              <a:off x="1894192" y="4082378"/>
              <a:ext cx="414835" cy="38661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endParaRPr lang="en-US">
                <a:solidFill>
                  <a:srgbClr val="FFFFFF"/>
                </a:solidFill>
              </a:endParaRPr>
            </a:p>
          </p:txBody>
        </p:sp>
      </p:grpSp>
      <p:sp>
        <p:nvSpPr>
          <p:cNvPr id="30" name="Freeform 5"/>
          <p:cNvSpPr>
            <a:spLocks noEditPoints="1"/>
          </p:cNvSpPr>
          <p:nvPr/>
        </p:nvSpPr>
        <p:spPr bwMode="auto">
          <a:xfrm>
            <a:off x="4784301" y="5816061"/>
            <a:ext cx="878847" cy="837318"/>
          </a:xfrm>
          <a:custGeom>
            <a:avLst/>
            <a:gdLst>
              <a:gd name="T0" fmla="*/ 808 w 1605"/>
              <a:gd name="T1" fmla="*/ 1611 h 1611"/>
              <a:gd name="T2" fmla="*/ 1605 w 1605"/>
              <a:gd name="T3" fmla="*/ 798 h 1611"/>
              <a:gd name="T4" fmla="*/ 808 w 1605"/>
              <a:gd name="T5" fmla="*/ 0 h 1611"/>
              <a:gd name="T6" fmla="*/ 0 w 1605"/>
              <a:gd name="T7" fmla="*/ 798 h 1611"/>
              <a:gd name="T8" fmla="*/ 808 w 1605"/>
              <a:gd name="T9" fmla="*/ 1611 h 1611"/>
              <a:gd name="T10" fmla="*/ 808 w 1605"/>
              <a:gd name="T11" fmla="*/ 96 h 1611"/>
              <a:gd name="T12" fmla="*/ 1505 w 1605"/>
              <a:gd name="T13" fmla="*/ 798 h 1611"/>
              <a:gd name="T14" fmla="*/ 808 w 1605"/>
              <a:gd name="T15" fmla="*/ 1511 h 1611"/>
              <a:gd name="T16" fmla="*/ 96 w 1605"/>
              <a:gd name="T17" fmla="*/ 798 h 1611"/>
              <a:gd name="T18" fmla="*/ 808 w 1605"/>
              <a:gd name="T19" fmla="*/ 96 h 1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05" h="1611">
                <a:moveTo>
                  <a:pt x="808" y="1611"/>
                </a:moveTo>
                <a:cubicBezTo>
                  <a:pt x="1247" y="1611"/>
                  <a:pt x="1605" y="1252"/>
                  <a:pt x="1605" y="798"/>
                </a:cubicBezTo>
                <a:cubicBezTo>
                  <a:pt x="1605" y="354"/>
                  <a:pt x="1247" y="0"/>
                  <a:pt x="808" y="0"/>
                </a:cubicBezTo>
                <a:cubicBezTo>
                  <a:pt x="354" y="0"/>
                  <a:pt x="0" y="354"/>
                  <a:pt x="0" y="798"/>
                </a:cubicBezTo>
                <a:cubicBezTo>
                  <a:pt x="0" y="1252"/>
                  <a:pt x="354" y="1611"/>
                  <a:pt x="808" y="1611"/>
                </a:cubicBezTo>
                <a:close/>
                <a:moveTo>
                  <a:pt x="808" y="96"/>
                </a:moveTo>
                <a:cubicBezTo>
                  <a:pt x="1195" y="96"/>
                  <a:pt x="1505" y="410"/>
                  <a:pt x="1505" y="798"/>
                </a:cubicBezTo>
                <a:cubicBezTo>
                  <a:pt x="1505" y="1190"/>
                  <a:pt x="1195" y="1511"/>
                  <a:pt x="808" y="1511"/>
                </a:cubicBezTo>
                <a:cubicBezTo>
                  <a:pt x="420" y="1511"/>
                  <a:pt x="96" y="1190"/>
                  <a:pt x="96" y="798"/>
                </a:cubicBezTo>
                <a:cubicBezTo>
                  <a:pt x="96" y="410"/>
                  <a:pt x="420" y="96"/>
                  <a:pt x="808" y="9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31" name="Freeform 35"/>
          <p:cNvSpPr>
            <a:spLocks/>
          </p:cNvSpPr>
          <p:nvPr/>
        </p:nvSpPr>
        <p:spPr bwMode="black">
          <a:xfrm>
            <a:off x="4940154" y="5951144"/>
            <a:ext cx="558982" cy="513267"/>
          </a:xfrm>
          <a:custGeom>
            <a:avLst/>
            <a:gdLst>
              <a:gd name="T0" fmla="*/ 120 w 191"/>
              <a:gd name="T1" fmla="*/ 32 h 197"/>
              <a:gd name="T2" fmla="*/ 83 w 191"/>
              <a:gd name="T3" fmla="*/ 3 h 197"/>
              <a:gd name="T4" fmla="*/ 47 w 191"/>
              <a:gd name="T5" fmla="*/ 5 h 197"/>
              <a:gd name="T6" fmla="*/ 44 w 191"/>
              <a:gd name="T7" fmla="*/ 27 h 197"/>
              <a:gd name="T8" fmla="*/ 40 w 191"/>
              <a:gd name="T9" fmla="*/ 29 h 197"/>
              <a:gd name="T10" fmla="*/ 40 w 191"/>
              <a:gd name="T11" fmla="*/ 33 h 197"/>
              <a:gd name="T12" fmla="*/ 45 w 191"/>
              <a:gd name="T13" fmla="*/ 40 h 197"/>
              <a:gd name="T14" fmla="*/ 88 w 191"/>
              <a:gd name="T15" fmla="*/ 44 h 197"/>
              <a:gd name="T16" fmla="*/ 118 w 191"/>
              <a:gd name="T17" fmla="*/ 113 h 197"/>
              <a:gd name="T18" fmla="*/ 144 w 191"/>
              <a:gd name="T19" fmla="*/ 129 h 197"/>
              <a:gd name="T20" fmla="*/ 112 w 191"/>
              <a:gd name="T21" fmla="*/ 109 h 197"/>
              <a:gd name="T22" fmla="*/ 65 w 191"/>
              <a:gd name="T23" fmla="*/ 115 h 197"/>
              <a:gd name="T24" fmla="*/ 0 w 191"/>
              <a:gd name="T25" fmla="*/ 116 h 197"/>
              <a:gd name="T26" fmla="*/ 26 w 191"/>
              <a:gd name="T27" fmla="*/ 174 h 197"/>
              <a:gd name="T28" fmla="*/ 61 w 191"/>
              <a:gd name="T29" fmla="*/ 136 h 197"/>
              <a:gd name="T30" fmla="*/ 57 w 191"/>
              <a:gd name="T31" fmla="*/ 148 h 197"/>
              <a:gd name="T32" fmla="*/ 126 w 191"/>
              <a:gd name="T33" fmla="*/ 140 h 197"/>
              <a:gd name="T34" fmla="*/ 55 w 191"/>
              <a:gd name="T35" fmla="*/ 153 h 197"/>
              <a:gd name="T36" fmla="*/ 30 w 191"/>
              <a:gd name="T37" fmla="*/ 180 h 197"/>
              <a:gd name="T38" fmla="*/ 32 w 191"/>
              <a:gd name="T39" fmla="*/ 182 h 197"/>
              <a:gd name="T40" fmla="*/ 180 w 191"/>
              <a:gd name="T41" fmla="*/ 159 h 197"/>
              <a:gd name="T42" fmla="*/ 185 w 191"/>
              <a:gd name="T43" fmla="*/ 129 h 197"/>
              <a:gd name="T44" fmla="*/ 120 w 191"/>
              <a:gd name="T45" fmla="*/ 3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1" h="197">
                <a:moveTo>
                  <a:pt x="120" y="32"/>
                </a:moveTo>
                <a:cubicBezTo>
                  <a:pt x="112" y="23"/>
                  <a:pt x="99" y="9"/>
                  <a:pt x="83" y="3"/>
                </a:cubicBezTo>
                <a:cubicBezTo>
                  <a:pt x="72" y="0"/>
                  <a:pt x="47" y="5"/>
                  <a:pt x="47" y="5"/>
                </a:cubicBezTo>
                <a:cubicBezTo>
                  <a:pt x="44" y="27"/>
                  <a:pt x="44" y="27"/>
                  <a:pt x="44" y="27"/>
                </a:cubicBezTo>
                <a:cubicBezTo>
                  <a:pt x="40" y="29"/>
                  <a:pt x="40" y="29"/>
                  <a:pt x="40" y="29"/>
                </a:cubicBezTo>
                <a:cubicBezTo>
                  <a:pt x="40" y="33"/>
                  <a:pt x="40" y="33"/>
                  <a:pt x="40" y="33"/>
                </a:cubicBezTo>
                <a:cubicBezTo>
                  <a:pt x="40" y="33"/>
                  <a:pt x="40" y="37"/>
                  <a:pt x="45" y="40"/>
                </a:cubicBezTo>
                <a:cubicBezTo>
                  <a:pt x="50" y="42"/>
                  <a:pt x="73" y="53"/>
                  <a:pt x="88" y="44"/>
                </a:cubicBezTo>
                <a:cubicBezTo>
                  <a:pt x="118" y="60"/>
                  <a:pt x="105" y="91"/>
                  <a:pt x="118" y="113"/>
                </a:cubicBezTo>
                <a:cubicBezTo>
                  <a:pt x="123" y="120"/>
                  <a:pt x="131" y="127"/>
                  <a:pt x="144" y="129"/>
                </a:cubicBezTo>
                <a:cubicBezTo>
                  <a:pt x="144" y="129"/>
                  <a:pt x="115" y="131"/>
                  <a:pt x="112" y="109"/>
                </a:cubicBezTo>
                <a:cubicBezTo>
                  <a:pt x="101" y="104"/>
                  <a:pt x="82" y="99"/>
                  <a:pt x="65" y="115"/>
                </a:cubicBezTo>
                <a:cubicBezTo>
                  <a:pt x="51" y="100"/>
                  <a:pt x="14" y="100"/>
                  <a:pt x="0" y="116"/>
                </a:cubicBezTo>
                <a:cubicBezTo>
                  <a:pt x="6" y="141"/>
                  <a:pt x="18" y="163"/>
                  <a:pt x="26" y="174"/>
                </a:cubicBezTo>
                <a:cubicBezTo>
                  <a:pt x="52" y="156"/>
                  <a:pt x="61" y="136"/>
                  <a:pt x="61" y="136"/>
                </a:cubicBezTo>
                <a:cubicBezTo>
                  <a:pt x="60" y="140"/>
                  <a:pt x="59" y="144"/>
                  <a:pt x="57" y="148"/>
                </a:cubicBezTo>
                <a:cubicBezTo>
                  <a:pt x="103" y="167"/>
                  <a:pt x="126" y="140"/>
                  <a:pt x="126" y="140"/>
                </a:cubicBezTo>
                <a:cubicBezTo>
                  <a:pt x="107" y="171"/>
                  <a:pt x="63" y="157"/>
                  <a:pt x="55" y="153"/>
                </a:cubicBezTo>
                <a:cubicBezTo>
                  <a:pt x="48" y="166"/>
                  <a:pt x="38" y="175"/>
                  <a:pt x="30" y="180"/>
                </a:cubicBezTo>
                <a:cubicBezTo>
                  <a:pt x="32" y="181"/>
                  <a:pt x="32" y="182"/>
                  <a:pt x="32" y="182"/>
                </a:cubicBezTo>
                <a:cubicBezTo>
                  <a:pt x="88" y="197"/>
                  <a:pt x="154" y="177"/>
                  <a:pt x="180" y="159"/>
                </a:cubicBezTo>
                <a:cubicBezTo>
                  <a:pt x="191" y="151"/>
                  <a:pt x="188" y="138"/>
                  <a:pt x="185" y="129"/>
                </a:cubicBezTo>
                <a:cubicBezTo>
                  <a:pt x="172" y="91"/>
                  <a:pt x="134" y="49"/>
                  <a:pt x="120" y="32"/>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endParaRPr lang="en-US" sz="1600">
              <a:solidFill>
                <a:srgbClr val="FFFFFF"/>
              </a:solidFill>
            </a:endParaRPr>
          </a:p>
        </p:txBody>
      </p:sp>
      <p:sp>
        <p:nvSpPr>
          <p:cNvPr id="32" name="Rectangle 31"/>
          <p:cNvSpPr/>
          <p:nvPr/>
        </p:nvSpPr>
        <p:spPr>
          <a:xfrm>
            <a:off x="5765191" y="5850772"/>
            <a:ext cx="1155957" cy="769441"/>
          </a:xfrm>
          <a:prstGeom prst="rect">
            <a:avLst/>
          </a:prstGeom>
        </p:spPr>
        <p:txBody>
          <a:bodyPr wrap="none">
            <a:spAutoFit/>
          </a:bodyPr>
          <a:lstStyle/>
          <a:p>
            <a:r>
              <a:rPr lang="en-US" sz="4400" dirty="0" smtClean="0">
                <a:solidFill>
                  <a:srgbClr val="FFFFFF"/>
                </a:solidFill>
              </a:rPr>
              <a:t>Fast</a:t>
            </a:r>
          </a:p>
        </p:txBody>
      </p:sp>
    </p:spTree>
    <p:extLst>
      <p:ext uri="{BB962C8B-B14F-4D97-AF65-F5344CB8AC3E}">
        <p14:creationId xmlns:p14="http://schemas.microsoft.com/office/powerpoint/2010/main" val="1535868304"/>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Modern Web - Agility</a:t>
            </a:r>
            <a:endParaRPr lang="en-US" dirty="0"/>
          </a:p>
        </p:txBody>
      </p:sp>
      <p:sp>
        <p:nvSpPr>
          <p:cNvPr id="11" name="Rectangle 10"/>
          <p:cNvSpPr/>
          <p:nvPr/>
        </p:nvSpPr>
        <p:spPr>
          <a:xfrm>
            <a:off x="2395236" y="1838487"/>
            <a:ext cx="4268348" cy="523220"/>
          </a:xfrm>
          <a:prstGeom prst="rect">
            <a:avLst/>
          </a:prstGeom>
        </p:spPr>
        <p:txBody>
          <a:bodyPr wrap="none">
            <a:spAutoFit/>
          </a:bodyPr>
          <a:lstStyle/>
          <a:p>
            <a:r>
              <a:rPr lang="en-US" sz="2800" dirty="0" smtClean="0">
                <a:solidFill>
                  <a:srgbClr val="FFFFFF"/>
                </a:solidFill>
              </a:rPr>
              <a:t>Faster Development Cycle</a:t>
            </a:r>
          </a:p>
        </p:txBody>
      </p:sp>
      <p:sp>
        <p:nvSpPr>
          <p:cNvPr id="12" name="Content Placeholder 2"/>
          <p:cNvSpPr>
            <a:spLocks noGrp="1"/>
          </p:cNvSpPr>
          <p:nvPr>
            <p:ph type="body" sz="quarter" idx="4294967295"/>
          </p:nvPr>
        </p:nvSpPr>
        <p:spPr>
          <a:xfrm>
            <a:off x="1875427" y="2470593"/>
            <a:ext cx="5704300" cy="1255728"/>
          </a:xfrm>
          <a:prstGeom prst="rect">
            <a:avLst/>
          </a:prstGeom>
        </p:spPr>
        <p:txBody>
          <a:bodyPr/>
          <a:lstStyle/>
          <a:p>
            <a:r>
              <a:rPr lang="en-US" sz="2400" dirty="0">
                <a:latin typeface="+mn-lt"/>
              </a:rPr>
              <a:t>Features are shipped as packages</a:t>
            </a:r>
          </a:p>
          <a:p>
            <a:r>
              <a:rPr lang="en-US" sz="2400" dirty="0">
                <a:latin typeface="+mn-lt"/>
              </a:rPr>
              <a:t>Framework ships as part of the application</a:t>
            </a:r>
            <a:endParaRPr lang="en-US" sz="2400" dirty="0" smtClean="0">
              <a:latin typeface="+mn-lt"/>
            </a:endParaRPr>
          </a:p>
        </p:txBody>
      </p:sp>
      <p:sp>
        <p:nvSpPr>
          <p:cNvPr id="13" name="Oval 12"/>
          <p:cNvSpPr/>
          <p:nvPr/>
        </p:nvSpPr>
        <p:spPr bwMode="auto">
          <a:xfrm>
            <a:off x="1785636" y="1768035"/>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14" name="Rectangle 13"/>
          <p:cNvSpPr/>
          <p:nvPr/>
        </p:nvSpPr>
        <p:spPr>
          <a:xfrm>
            <a:off x="2405346" y="4048956"/>
            <a:ext cx="2297552" cy="523220"/>
          </a:xfrm>
          <a:prstGeom prst="rect">
            <a:avLst/>
          </a:prstGeom>
        </p:spPr>
        <p:txBody>
          <a:bodyPr wrap="none">
            <a:spAutoFit/>
          </a:bodyPr>
          <a:lstStyle/>
          <a:p>
            <a:r>
              <a:rPr lang="en-US" sz="2800" dirty="0" smtClean="0">
                <a:solidFill>
                  <a:srgbClr val="FFFFFF"/>
                </a:solidFill>
              </a:rPr>
              <a:t>More Control</a:t>
            </a:r>
          </a:p>
        </p:txBody>
      </p:sp>
      <p:sp>
        <p:nvSpPr>
          <p:cNvPr id="15" name="Content Placeholder 2"/>
          <p:cNvSpPr>
            <a:spLocks noGrp="1"/>
          </p:cNvSpPr>
          <p:nvPr>
            <p:ph type="body" sz="quarter" idx="4294967295"/>
          </p:nvPr>
        </p:nvSpPr>
        <p:spPr>
          <a:xfrm>
            <a:off x="1885536" y="4681061"/>
            <a:ext cx="10044810" cy="1329595"/>
          </a:xfrm>
          <a:prstGeom prst="rect">
            <a:avLst/>
          </a:prstGeom>
        </p:spPr>
        <p:txBody>
          <a:bodyPr/>
          <a:lstStyle/>
          <a:p>
            <a:r>
              <a:rPr lang="en-US" sz="2400" dirty="0" smtClean="0">
                <a:latin typeface="+mn-lt"/>
              </a:rPr>
              <a:t>Zero </a:t>
            </a:r>
            <a:r>
              <a:rPr lang="en-US" sz="2400" dirty="0">
                <a:latin typeface="+mn-lt"/>
              </a:rPr>
              <a:t>day security bugs patched by Microsoft</a:t>
            </a:r>
          </a:p>
          <a:p>
            <a:r>
              <a:rPr lang="en-US" sz="2400" dirty="0">
                <a:latin typeface="+mn-lt"/>
              </a:rPr>
              <a:t>Same code runs in development and production</a:t>
            </a:r>
          </a:p>
          <a:p>
            <a:r>
              <a:rPr lang="en-US" sz="2400" dirty="0">
                <a:latin typeface="+mn-lt"/>
              </a:rPr>
              <a:t>Developer opts into new versions, allowing breaking </a:t>
            </a:r>
            <a:r>
              <a:rPr lang="en-US" sz="2400" dirty="0" smtClean="0">
                <a:latin typeface="+mn-lt"/>
              </a:rPr>
              <a:t>changes</a:t>
            </a:r>
            <a:endParaRPr lang="en-US" sz="1800" dirty="0" smtClean="0">
              <a:latin typeface="+mn-lt"/>
            </a:endParaRPr>
          </a:p>
        </p:txBody>
      </p:sp>
      <p:sp>
        <p:nvSpPr>
          <p:cNvPr id="16" name="Oval 15"/>
          <p:cNvSpPr/>
          <p:nvPr/>
        </p:nvSpPr>
        <p:spPr bwMode="auto">
          <a:xfrm>
            <a:off x="1795746" y="3978504"/>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17" name="Freeform 58"/>
          <p:cNvSpPr>
            <a:spLocks noEditPoints="1"/>
          </p:cNvSpPr>
          <p:nvPr/>
        </p:nvSpPr>
        <p:spPr bwMode="black">
          <a:xfrm>
            <a:off x="1944132" y="1871523"/>
            <a:ext cx="292608" cy="384736"/>
          </a:xfrm>
          <a:custGeom>
            <a:avLst/>
            <a:gdLst>
              <a:gd name="T0" fmla="*/ 181 w 182"/>
              <a:gd name="T1" fmla="*/ 65 h 195"/>
              <a:gd name="T2" fmla="*/ 88 w 182"/>
              <a:gd name="T3" fmla="*/ 0 h 195"/>
              <a:gd name="T4" fmla="*/ 88 w 182"/>
              <a:gd name="T5" fmla="*/ 40 h 195"/>
              <a:gd name="T6" fmla="*/ 1 w 182"/>
              <a:gd name="T7" fmla="*/ 40 h 195"/>
              <a:gd name="T8" fmla="*/ 1 w 182"/>
              <a:gd name="T9" fmla="*/ 89 h 195"/>
              <a:gd name="T10" fmla="*/ 57 w 182"/>
              <a:gd name="T11" fmla="*/ 89 h 195"/>
              <a:gd name="T12" fmla="*/ 88 w 182"/>
              <a:gd name="T13" fmla="*/ 68 h 195"/>
              <a:gd name="T14" fmla="*/ 88 w 182"/>
              <a:gd name="T15" fmla="*/ 130 h 195"/>
              <a:gd name="T16" fmla="*/ 181 w 182"/>
              <a:gd name="T17" fmla="*/ 65 h 195"/>
              <a:gd name="T18" fmla="*/ 19 w 182"/>
              <a:gd name="T19" fmla="*/ 127 h 195"/>
              <a:gd name="T20" fmla="*/ 88 w 182"/>
              <a:gd name="T21" fmla="*/ 172 h 195"/>
              <a:gd name="T22" fmla="*/ 88 w 182"/>
              <a:gd name="T23" fmla="*/ 142 h 195"/>
              <a:gd name="T24" fmla="*/ 178 w 182"/>
              <a:gd name="T25" fmla="*/ 142 h 195"/>
              <a:gd name="T26" fmla="*/ 178 w 182"/>
              <a:gd name="T27" fmla="*/ 153 h 195"/>
              <a:gd name="T28" fmla="*/ 100 w 182"/>
              <a:gd name="T29" fmla="*/ 153 h 195"/>
              <a:gd name="T30" fmla="*/ 100 w 182"/>
              <a:gd name="T31" fmla="*/ 195 h 195"/>
              <a:gd name="T32" fmla="*/ 0 w 182"/>
              <a:gd name="T33" fmla="*/ 127 h 195"/>
              <a:gd name="T34" fmla="*/ 19 w 182"/>
              <a:gd name="T35" fmla="*/ 127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2" h="195">
                <a:moveTo>
                  <a:pt x="181" y="65"/>
                </a:moveTo>
                <a:cubicBezTo>
                  <a:pt x="88" y="0"/>
                  <a:pt x="88" y="0"/>
                  <a:pt x="88" y="0"/>
                </a:cubicBezTo>
                <a:cubicBezTo>
                  <a:pt x="88" y="40"/>
                  <a:pt x="88" y="40"/>
                  <a:pt x="88" y="40"/>
                </a:cubicBezTo>
                <a:cubicBezTo>
                  <a:pt x="1" y="40"/>
                  <a:pt x="1" y="40"/>
                  <a:pt x="1" y="40"/>
                </a:cubicBezTo>
                <a:cubicBezTo>
                  <a:pt x="1" y="89"/>
                  <a:pt x="1" y="89"/>
                  <a:pt x="1" y="89"/>
                </a:cubicBezTo>
                <a:cubicBezTo>
                  <a:pt x="57" y="89"/>
                  <a:pt x="57" y="89"/>
                  <a:pt x="57" y="89"/>
                </a:cubicBezTo>
                <a:cubicBezTo>
                  <a:pt x="88" y="68"/>
                  <a:pt x="88" y="68"/>
                  <a:pt x="88" y="68"/>
                </a:cubicBezTo>
                <a:cubicBezTo>
                  <a:pt x="88" y="130"/>
                  <a:pt x="88" y="130"/>
                  <a:pt x="88" y="130"/>
                </a:cubicBezTo>
                <a:cubicBezTo>
                  <a:pt x="181" y="65"/>
                  <a:pt x="181" y="65"/>
                  <a:pt x="181" y="65"/>
                </a:cubicBezTo>
                <a:close/>
                <a:moveTo>
                  <a:pt x="19" y="127"/>
                </a:moveTo>
                <a:cubicBezTo>
                  <a:pt x="88" y="172"/>
                  <a:pt x="88" y="172"/>
                  <a:pt x="88" y="172"/>
                </a:cubicBezTo>
                <a:cubicBezTo>
                  <a:pt x="88" y="142"/>
                  <a:pt x="88" y="142"/>
                  <a:pt x="88" y="142"/>
                </a:cubicBezTo>
                <a:cubicBezTo>
                  <a:pt x="178" y="142"/>
                  <a:pt x="178" y="142"/>
                  <a:pt x="178" y="142"/>
                </a:cubicBezTo>
                <a:cubicBezTo>
                  <a:pt x="182" y="142"/>
                  <a:pt x="182" y="153"/>
                  <a:pt x="178" y="153"/>
                </a:cubicBezTo>
                <a:cubicBezTo>
                  <a:pt x="100" y="153"/>
                  <a:pt x="100" y="153"/>
                  <a:pt x="100" y="153"/>
                </a:cubicBezTo>
                <a:cubicBezTo>
                  <a:pt x="100" y="195"/>
                  <a:pt x="100" y="195"/>
                  <a:pt x="100" y="195"/>
                </a:cubicBezTo>
                <a:cubicBezTo>
                  <a:pt x="0" y="127"/>
                  <a:pt x="0" y="127"/>
                  <a:pt x="0" y="127"/>
                </a:cubicBezTo>
                <a:cubicBezTo>
                  <a:pt x="19" y="127"/>
                  <a:pt x="19" y="127"/>
                  <a:pt x="19" y="127"/>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endParaRPr lang="en-US" sz="1600">
              <a:solidFill>
                <a:srgbClr val="FFFFFF"/>
              </a:solidFill>
            </a:endParaRPr>
          </a:p>
        </p:txBody>
      </p:sp>
      <p:sp>
        <p:nvSpPr>
          <p:cNvPr id="18" name="Freeform 8"/>
          <p:cNvSpPr>
            <a:spLocks noEditPoints="1"/>
          </p:cNvSpPr>
          <p:nvPr/>
        </p:nvSpPr>
        <p:spPr bwMode="black">
          <a:xfrm>
            <a:off x="1894192" y="4082378"/>
            <a:ext cx="414835" cy="386612"/>
          </a:xfrm>
          <a:custGeom>
            <a:avLst/>
            <a:gdLst>
              <a:gd name="T0" fmla="*/ 226 w 300"/>
              <a:gd name="T1" fmla="*/ 193 h 300"/>
              <a:gd name="T2" fmla="*/ 233 w 300"/>
              <a:gd name="T3" fmla="*/ 157 h 300"/>
              <a:gd name="T4" fmla="*/ 233 w 300"/>
              <a:gd name="T5" fmla="*/ 128 h 300"/>
              <a:gd name="T6" fmla="*/ 142 w 300"/>
              <a:gd name="T7" fmla="*/ 51 h 300"/>
              <a:gd name="T8" fmla="*/ 52 w 300"/>
              <a:gd name="T9" fmla="*/ 128 h 300"/>
              <a:gd name="T10" fmla="*/ 52 w 300"/>
              <a:gd name="T11" fmla="*/ 157 h 300"/>
              <a:gd name="T12" fmla="*/ 142 w 300"/>
              <a:gd name="T13" fmla="*/ 234 h 300"/>
              <a:gd name="T14" fmla="*/ 183 w 300"/>
              <a:gd name="T15" fmla="*/ 224 h 300"/>
              <a:gd name="T16" fmla="*/ 193 w 300"/>
              <a:gd name="T17" fmla="*/ 226 h 300"/>
              <a:gd name="T18" fmla="*/ 270 w 300"/>
              <a:gd name="T19" fmla="*/ 300 h 300"/>
              <a:gd name="T20" fmla="*/ 298 w 300"/>
              <a:gd name="T21" fmla="*/ 275 h 300"/>
              <a:gd name="T22" fmla="*/ 206 w 300"/>
              <a:gd name="T23" fmla="*/ 157 h 300"/>
              <a:gd name="T24" fmla="*/ 142 w 300"/>
              <a:gd name="T25" fmla="*/ 208 h 300"/>
              <a:gd name="T26" fmla="*/ 78 w 300"/>
              <a:gd name="T27" fmla="*/ 157 h 300"/>
              <a:gd name="T28" fmla="*/ 78 w 300"/>
              <a:gd name="T29" fmla="*/ 128 h 300"/>
              <a:gd name="T30" fmla="*/ 142 w 300"/>
              <a:gd name="T31" fmla="*/ 77 h 300"/>
              <a:gd name="T32" fmla="*/ 206 w 300"/>
              <a:gd name="T33" fmla="*/ 128 h 300"/>
              <a:gd name="T34" fmla="*/ 206 w 300"/>
              <a:gd name="T35" fmla="*/ 157 h 300"/>
              <a:gd name="T36" fmla="*/ 197 w 300"/>
              <a:gd name="T37" fmla="*/ 142 h 300"/>
              <a:gd name="T38" fmla="*/ 156 w 300"/>
              <a:gd name="T39" fmla="*/ 157 h 300"/>
              <a:gd name="T40" fmla="*/ 142 w 300"/>
              <a:gd name="T41" fmla="*/ 197 h 300"/>
              <a:gd name="T42" fmla="*/ 128 w 300"/>
              <a:gd name="T43" fmla="*/ 157 h 300"/>
              <a:gd name="T44" fmla="*/ 87 w 300"/>
              <a:gd name="T45" fmla="*/ 142 h 300"/>
              <a:gd name="T46" fmla="*/ 128 w 300"/>
              <a:gd name="T47" fmla="*/ 128 h 300"/>
              <a:gd name="T48" fmla="*/ 142 w 300"/>
              <a:gd name="T49" fmla="*/ 88 h 300"/>
              <a:gd name="T50" fmla="*/ 156 w 300"/>
              <a:gd name="T51" fmla="*/ 128 h 300"/>
              <a:gd name="T52" fmla="*/ 142 w 300"/>
              <a:gd name="T53" fmla="*/ 40 h 300"/>
              <a:gd name="T54" fmla="*/ 128 w 300"/>
              <a:gd name="T55" fmla="*/ 0 h 300"/>
              <a:gd name="T56" fmla="*/ 156 w 300"/>
              <a:gd name="T57" fmla="*/ 41 h 300"/>
              <a:gd name="T58" fmla="*/ 40 w 300"/>
              <a:gd name="T59" fmla="*/ 142 h 300"/>
              <a:gd name="T60" fmla="*/ 0 w 300"/>
              <a:gd name="T61" fmla="*/ 157 h 300"/>
              <a:gd name="T62" fmla="*/ 41 w 300"/>
              <a:gd name="T63" fmla="*/ 128 h 300"/>
              <a:gd name="T64" fmla="*/ 142 w 300"/>
              <a:gd name="T65" fmla="*/ 245 h 300"/>
              <a:gd name="T66" fmla="*/ 156 w 300"/>
              <a:gd name="T67" fmla="*/ 285 h 300"/>
              <a:gd name="T68" fmla="*/ 128 w 300"/>
              <a:gd name="T69" fmla="*/ 244 h 300"/>
              <a:gd name="T70" fmla="*/ 245 w 300"/>
              <a:gd name="T71" fmla="*/ 142 h 300"/>
              <a:gd name="T72" fmla="*/ 285 w 300"/>
              <a:gd name="T73" fmla="*/ 128 h 300"/>
              <a:gd name="T74" fmla="*/ 243 w 300"/>
              <a:gd name="T75" fmla="*/ 15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0" h="300">
                <a:moveTo>
                  <a:pt x="298" y="266"/>
                </a:moveTo>
                <a:cubicBezTo>
                  <a:pt x="226" y="193"/>
                  <a:pt x="226" y="193"/>
                  <a:pt x="226" y="193"/>
                </a:cubicBezTo>
                <a:cubicBezTo>
                  <a:pt x="223" y="191"/>
                  <a:pt x="222" y="186"/>
                  <a:pt x="224" y="183"/>
                </a:cubicBezTo>
                <a:cubicBezTo>
                  <a:pt x="228" y="175"/>
                  <a:pt x="231" y="166"/>
                  <a:pt x="233" y="157"/>
                </a:cubicBezTo>
                <a:cubicBezTo>
                  <a:pt x="233" y="152"/>
                  <a:pt x="234" y="147"/>
                  <a:pt x="234" y="142"/>
                </a:cubicBezTo>
                <a:cubicBezTo>
                  <a:pt x="234" y="138"/>
                  <a:pt x="233" y="133"/>
                  <a:pt x="233" y="128"/>
                </a:cubicBezTo>
                <a:cubicBezTo>
                  <a:pt x="227" y="89"/>
                  <a:pt x="196" y="58"/>
                  <a:pt x="156" y="52"/>
                </a:cubicBezTo>
                <a:cubicBezTo>
                  <a:pt x="152" y="51"/>
                  <a:pt x="147" y="51"/>
                  <a:pt x="142" y="51"/>
                </a:cubicBezTo>
                <a:cubicBezTo>
                  <a:pt x="137" y="51"/>
                  <a:pt x="133" y="51"/>
                  <a:pt x="128" y="52"/>
                </a:cubicBezTo>
                <a:cubicBezTo>
                  <a:pt x="89" y="58"/>
                  <a:pt x="58" y="89"/>
                  <a:pt x="52" y="128"/>
                </a:cubicBezTo>
                <a:cubicBezTo>
                  <a:pt x="51" y="133"/>
                  <a:pt x="51" y="138"/>
                  <a:pt x="51" y="142"/>
                </a:cubicBezTo>
                <a:cubicBezTo>
                  <a:pt x="51" y="147"/>
                  <a:pt x="51" y="152"/>
                  <a:pt x="52" y="157"/>
                </a:cubicBezTo>
                <a:cubicBezTo>
                  <a:pt x="58" y="196"/>
                  <a:pt x="89" y="227"/>
                  <a:pt x="128" y="233"/>
                </a:cubicBezTo>
                <a:cubicBezTo>
                  <a:pt x="133" y="234"/>
                  <a:pt x="137" y="234"/>
                  <a:pt x="142" y="234"/>
                </a:cubicBezTo>
                <a:cubicBezTo>
                  <a:pt x="147" y="234"/>
                  <a:pt x="152" y="234"/>
                  <a:pt x="156" y="233"/>
                </a:cubicBezTo>
                <a:cubicBezTo>
                  <a:pt x="166" y="231"/>
                  <a:pt x="175" y="228"/>
                  <a:pt x="183" y="224"/>
                </a:cubicBezTo>
                <a:cubicBezTo>
                  <a:pt x="184" y="224"/>
                  <a:pt x="185" y="223"/>
                  <a:pt x="187" y="223"/>
                </a:cubicBezTo>
                <a:cubicBezTo>
                  <a:pt x="189" y="223"/>
                  <a:pt x="192" y="224"/>
                  <a:pt x="193" y="226"/>
                </a:cubicBezTo>
                <a:cubicBezTo>
                  <a:pt x="265" y="298"/>
                  <a:pt x="265" y="298"/>
                  <a:pt x="265" y="298"/>
                </a:cubicBezTo>
                <a:cubicBezTo>
                  <a:pt x="267" y="299"/>
                  <a:pt x="268" y="300"/>
                  <a:pt x="270" y="300"/>
                </a:cubicBezTo>
                <a:cubicBezTo>
                  <a:pt x="272" y="300"/>
                  <a:pt x="273" y="299"/>
                  <a:pt x="275" y="298"/>
                </a:cubicBezTo>
                <a:cubicBezTo>
                  <a:pt x="298" y="275"/>
                  <a:pt x="298" y="275"/>
                  <a:pt x="298" y="275"/>
                </a:cubicBezTo>
                <a:cubicBezTo>
                  <a:pt x="300" y="272"/>
                  <a:pt x="300" y="268"/>
                  <a:pt x="298" y="266"/>
                </a:cubicBezTo>
                <a:close/>
                <a:moveTo>
                  <a:pt x="206" y="157"/>
                </a:moveTo>
                <a:cubicBezTo>
                  <a:pt x="201" y="181"/>
                  <a:pt x="181" y="201"/>
                  <a:pt x="156" y="206"/>
                </a:cubicBezTo>
                <a:cubicBezTo>
                  <a:pt x="152" y="207"/>
                  <a:pt x="147" y="208"/>
                  <a:pt x="142" y="208"/>
                </a:cubicBezTo>
                <a:cubicBezTo>
                  <a:pt x="137" y="208"/>
                  <a:pt x="133" y="207"/>
                  <a:pt x="128" y="206"/>
                </a:cubicBezTo>
                <a:cubicBezTo>
                  <a:pt x="103" y="201"/>
                  <a:pt x="84" y="181"/>
                  <a:pt x="78" y="157"/>
                </a:cubicBezTo>
                <a:cubicBezTo>
                  <a:pt x="77" y="152"/>
                  <a:pt x="77" y="147"/>
                  <a:pt x="77" y="142"/>
                </a:cubicBezTo>
                <a:cubicBezTo>
                  <a:pt x="77" y="138"/>
                  <a:pt x="77" y="133"/>
                  <a:pt x="78" y="128"/>
                </a:cubicBezTo>
                <a:cubicBezTo>
                  <a:pt x="84" y="103"/>
                  <a:pt x="103" y="84"/>
                  <a:pt x="128" y="79"/>
                </a:cubicBezTo>
                <a:cubicBezTo>
                  <a:pt x="133" y="78"/>
                  <a:pt x="137" y="77"/>
                  <a:pt x="142" y="77"/>
                </a:cubicBezTo>
                <a:cubicBezTo>
                  <a:pt x="147" y="77"/>
                  <a:pt x="152" y="78"/>
                  <a:pt x="156" y="79"/>
                </a:cubicBezTo>
                <a:cubicBezTo>
                  <a:pt x="181" y="84"/>
                  <a:pt x="201" y="103"/>
                  <a:pt x="206" y="128"/>
                </a:cubicBezTo>
                <a:cubicBezTo>
                  <a:pt x="207" y="133"/>
                  <a:pt x="208" y="138"/>
                  <a:pt x="208" y="142"/>
                </a:cubicBezTo>
                <a:cubicBezTo>
                  <a:pt x="208" y="147"/>
                  <a:pt x="207" y="152"/>
                  <a:pt x="206" y="157"/>
                </a:cubicBezTo>
                <a:close/>
                <a:moveTo>
                  <a:pt x="195" y="128"/>
                </a:moveTo>
                <a:cubicBezTo>
                  <a:pt x="196" y="133"/>
                  <a:pt x="197" y="138"/>
                  <a:pt x="197" y="142"/>
                </a:cubicBezTo>
                <a:cubicBezTo>
                  <a:pt x="197" y="147"/>
                  <a:pt x="196" y="152"/>
                  <a:pt x="195" y="157"/>
                </a:cubicBezTo>
                <a:cubicBezTo>
                  <a:pt x="156" y="157"/>
                  <a:pt x="156" y="157"/>
                  <a:pt x="156" y="157"/>
                </a:cubicBezTo>
                <a:cubicBezTo>
                  <a:pt x="156" y="195"/>
                  <a:pt x="156" y="195"/>
                  <a:pt x="156" y="195"/>
                </a:cubicBezTo>
                <a:cubicBezTo>
                  <a:pt x="152" y="197"/>
                  <a:pt x="147" y="197"/>
                  <a:pt x="142" y="197"/>
                </a:cubicBezTo>
                <a:cubicBezTo>
                  <a:pt x="137" y="197"/>
                  <a:pt x="133" y="197"/>
                  <a:pt x="128" y="195"/>
                </a:cubicBezTo>
                <a:cubicBezTo>
                  <a:pt x="128" y="157"/>
                  <a:pt x="128" y="157"/>
                  <a:pt x="128" y="157"/>
                </a:cubicBezTo>
                <a:cubicBezTo>
                  <a:pt x="89" y="157"/>
                  <a:pt x="89" y="157"/>
                  <a:pt x="89" y="157"/>
                </a:cubicBezTo>
                <a:cubicBezTo>
                  <a:pt x="88" y="152"/>
                  <a:pt x="87" y="147"/>
                  <a:pt x="87" y="142"/>
                </a:cubicBezTo>
                <a:cubicBezTo>
                  <a:pt x="87" y="138"/>
                  <a:pt x="88" y="133"/>
                  <a:pt x="89" y="128"/>
                </a:cubicBezTo>
                <a:cubicBezTo>
                  <a:pt x="128" y="128"/>
                  <a:pt x="128" y="128"/>
                  <a:pt x="128" y="128"/>
                </a:cubicBezTo>
                <a:cubicBezTo>
                  <a:pt x="128" y="90"/>
                  <a:pt x="128" y="90"/>
                  <a:pt x="128" y="90"/>
                </a:cubicBezTo>
                <a:cubicBezTo>
                  <a:pt x="133" y="88"/>
                  <a:pt x="137" y="88"/>
                  <a:pt x="142" y="88"/>
                </a:cubicBezTo>
                <a:cubicBezTo>
                  <a:pt x="147" y="88"/>
                  <a:pt x="152" y="88"/>
                  <a:pt x="156" y="90"/>
                </a:cubicBezTo>
                <a:cubicBezTo>
                  <a:pt x="156" y="128"/>
                  <a:pt x="156" y="128"/>
                  <a:pt x="156" y="128"/>
                </a:cubicBezTo>
                <a:lnTo>
                  <a:pt x="195" y="128"/>
                </a:lnTo>
                <a:close/>
                <a:moveTo>
                  <a:pt x="142" y="40"/>
                </a:moveTo>
                <a:cubicBezTo>
                  <a:pt x="137" y="40"/>
                  <a:pt x="133" y="41"/>
                  <a:pt x="128" y="41"/>
                </a:cubicBezTo>
                <a:cubicBezTo>
                  <a:pt x="128" y="0"/>
                  <a:pt x="128" y="0"/>
                  <a:pt x="128" y="0"/>
                </a:cubicBezTo>
                <a:cubicBezTo>
                  <a:pt x="156" y="0"/>
                  <a:pt x="156" y="0"/>
                  <a:pt x="156" y="0"/>
                </a:cubicBezTo>
                <a:cubicBezTo>
                  <a:pt x="156" y="41"/>
                  <a:pt x="156" y="41"/>
                  <a:pt x="156" y="41"/>
                </a:cubicBezTo>
                <a:cubicBezTo>
                  <a:pt x="152" y="41"/>
                  <a:pt x="147" y="40"/>
                  <a:pt x="142" y="40"/>
                </a:cubicBezTo>
                <a:close/>
                <a:moveTo>
                  <a:pt x="40" y="142"/>
                </a:moveTo>
                <a:cubicBezTo>
                  <a:pt x="40" y="147"/>
                  <a:pt x="40" y="152"/>
                  <a:pt x="41" y="157"/>
                </a:cubicBezTo>
                <a:cubicBezTo>
                  <a:pt x="0" y="157"/>
                  <a:pt x="0" y="157"/>
                  <a:pt x="0" y="157"/>
                </a:cubicBezTo>
                <a:cubicBezTo>
                  <a:pt x="0" y="128"/>
                  <a:pt x="0" y="128"/>
                  <a:pt x="0" y="128"/>
                </a:cubicBezTo>
                <a:cubicBezTo>
                  <a:pt x="41" y="128"/>
                  <a:pt x="41" y="128"/>
                  <a:pt x="41" y="128"/>
                </a:cubicBezTo>
                <a:cubicBezTo>
                  <a:pt x="40" y="133"/>
                  <a:pt x="40" y="138"/>
                  <a:pt x="40" y="142"/>
                </a:cubicBezTo>
                <a:close/>
                <a:moveTo>
                  <a:pt x="142" y="245"/>
                </a:moveTo>
                <a:cubicBezTo>
                  <a:pt x="147" y="245"/>
                  <a:pt x="152" y="244"/>
                  <a:pt x="156" y="244"/>
                </a:cubicBezTo>
                <a:cubicBezTo>
                  <a:pt x="156" y="285"/>
                  <a:pt x="156" y="285"/>
                  <a:pt x="156" y="285"/>
                </a:cubicBezTo>
                <a:cubicBezTo>
                  <a:pt x="128" y="285"/>
                  <a:pt x="128" y="285"/>
                  <a:pt x="128" y="285"/>
                </a:cubicBezTo>
                <a:cubicBezTo>
                  <a:pt x="128" y="244"/>
                  <a:pt x="128" y="244"/>
                  <a:pt x="128" y="244"/>
                </a:cubicBezTo>
                <a:cubicBezTo>
                  <a:pt x="133" y="244"/>
                  <a:pt x="137" y="245"/>
                  <a:pt x="142" y="245"/>
                </a:cubicBezTo>
                <a:close/>
                <a:moveTo>
                  <a:pt x="245" y="142"/>
                </a:moveTo>
                <a:cubicBezTo>
                  <a:pt x="245" y="138"/>
                  <a:pt x="244" y="133"/>
                  <a:pt x="243" y="128"/>
                </a:cubicBezTo>
                <a:cubicBezTo>
                  <a:pt x="285" y="128"/>
                  <a:pt x="285" y="128"/>
                  <a:pt x="285" y="128"/>
                </a:cubicBezTo>
                <a:cubicBezTo>
                  <a:pt x="285" y="157"/>
                  <a:pt x="285" y="157"/>
                  <a:pt x="285" y="157"/>
                </a:cubicBezTo>
                <a:cubicBezTo>
                  <a:pt x="243" y="157"/>
                  <a:pt x="243" y="157"/>
                  <a:pt x="243" y="157"/>
                </a:cubicBezTo>
                <a:cubicBezTo>
                  <a:pt x="244" y="152"/>
                  <a:pt x="245" y="147"/>
                  <a:pt x="245" y="142"/>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endParaRPr lang="en-US" sz="1600">
              <a:solidFill>
                <a:srgbClr val="FFFFFF"/>
              </a:solidFill>
            </a:endParaRPr>
          </a:p>
        </p:txBody>
      </p:sp>
    </p:spTree>
    <p:extLst>
      <p:ext uri="{BB962C8B-B14F-4D97-AF65-F5344CB8AC3E}">
        <p14:creationId xmlns:p14="http://schemas.microsoft.com/office/powerpoint/2010/main" val="2775051297"/>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Modern Web - Fast</a:t>
            </a:r>
            <a:endParaRPr lang="en-US" dirty="0"/>
          </a:p>
        </p:txBody>
      </p:sp>
      <p:sp>
        <p:nvSpPr>
          <p:cNvPr id="4" name="Rectangle 3"/>
          <p:cNvSpPr/>
          <p:nvPr/>
        </p:nvSpPr>
        <p:spPr>
          <a:xfrm>
            <a:off x="2405346" y="1784966"/>
            <a:ext cx="3611117" cy="523220"/>
          </a:xfrm>
          <a:prstGeom prst="rect">
            <a:avLst/>
          </a:prstGeom>
        </p:spPr>
        <p:txBody>
          <a:bodyPr wrap="none">
            <a:spAutoFit/>
          </a:bodyPr>
          <a:lstStyle/>
          <a:p>
            <a:r>
              <a:rPr lang="en-US" sz="2800" dirty="0" smtClean="0">
                <a:solidFill>
                  <a:srgbClr val="FFFFFF"/>
                </a:solidFill>
              </a:rPr>
              <a:t>Runtime Performance</a:t>
            </a:r>
          </a:p>
        </p:txBody>
      </p:sp>
      <p:sp>
        <p:nvSpPr>
          <p:cNvPr id="5" name="Content Placeholder 2"/>
          <p:cNvSpPr>
            <a:spLocks noGrp="1"/>
          </p:cNvSpPr>
          <p:nvPr>
            <p:ph type="body" sz="quarter" idx="4294967295"/>
          </p:nvPr>
        </p:nvSpPr>
        <p:spPr>
          <a:xfrm>
            <a:off x="1885537" y="2417071"/>
            <a:ext cx="7685500" cy="1735860"/>
          </a:xfrm>
          <a:prstGeom prst="rect">
            <a:avLst/>
          </a:prstGeom>
        </p:spPr>
        <p:txBody>
          <a:bodyPr/>
          <a:lstStyle/>
          <a:p>
            <a:r>
              <a:rPr lang="en-US" sz="2400" dirty="0">
                <a:latin typeface="+mn-lt"/>
              </a:rPr>
              <a:t>Faster startup times</a:t>
            </a:r>
          </a:p>
          <a:p>
            <a:r>
              <a:rPr lang="en-US" sz="2400" dirty="0">
                <a:latin typeface="+mn-lt"/>
              </a:rPr>
              <a:t>Lower memory / higher density (&gt; 90% reduction)</a:t>
            </a:r>
          </a:p>
          <a:p>
            <a:r>
              <a:rPr lang="en-US" sz="2400" dirty="0">
                <a:latin typeface="+mn-lt"/>
              </a:rPr>
              <a:t>Modular, opt into just features needed</a:t>
            </a:r>
          </a:p>
          <a:p>
            <a:r>
              <a:rPr lang="en-US" sz="2400" dirty="0">
                <a:latin typeface="+mn-lt"/>
              </a:rPr>
              <a:t>Use a raw socket, framework or both</a:t>
            </a:r>
            <a:endParaRPr lang="en-US" sz="2400" dirty="0" smtClean="0">
              <a:latin typeface="+mn-lt"/>
            </a:endParaRPr>
          </a:p>
        </p:txBody>
      </p:sp>
      <p:sp>
        <p:nvSpPr>
          <p:cNvPr id="6" name="Oval 5"/>
          <p:cNvSpPr/>
          <p:nvPr/>
        </p:nvSpPr>
        <p:spPr bwMode="auto">
          <a:xfrm>
            <a:off x="1795746" y="1714514"/>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p:cNvSpPr/>
          <p:nvPr/>
        </p:nvSpPr>
        <p:spPr>
          <a:xfrm>
            <a:off x="2405346" y="4342031"/>
            <a:ext cx="6851106" cy="523220"/>
          </a:xfrm>
          <a:prstGeom prst="rect">
            <a:avLst/>
          </a:prstGeom>
        </p:spPr>
        <p:txBody>
          <a:bodyPr wrap="none">
            <a:spAutoFit/>
          </a:bodyPr>
          <a:lstStyle/>
          <a:p>
            <a:r>
              <a:rPr lang="en-US" sz="2800" dirty="0" smtClean="0">
                <a:solidFill>
                  <a:srgbClr val="FFFFFF"/>
                </a:solidFill>
              </a:rPr>
              <a:t>Development productivity and low friction</a:t>
            </a:r>
          </a:p>
        </p:txBody>
      </p:sp>
      <p:sp>
        <p:nvSpPr>
          <p:cNvPr id="8" name="Content Placeholder 2"/>
          <p:cNvSpPr>
            <a:spLocks noGrp="1"/>
          </p:cNvSpPr>
          <p:nvPr>
            <p:ph type="body" sz="quarter" idx="4294967295"/>
          </p:nvPr>
        </p:nvSpPr>
        <p:spPr>
          <a:xfrm>
            <a:off x="1885536" y="4974136"/>
            <a:ext cx="10044810" cy="1735860"/>
          </a:xfrm>
          <a:prstGeom prst="rect">
            <a:avLst/>
          </a:prstGeom>
        </p:spPr>
        <p:txBody>
          <a:bodyPr/>
          <a:lstStyle/>
          <a:p>
            <a:pPr lvl="1"/>
            <a:r>
              <a:rPr lang="en-US" dirty="0" smtClean="0"/>
              <a:t>Edit code and refresh browser</a:t>
            </a:r>
            <a:endParaRPr lang="en-US" dirty="0"/>
          </a:p>
          <a:p>
            <a:pPr lvl="1"/>
            <a:r>
              <a:rPr lang="en-US" dirty="0" smtClean="0"/>
              <a:t>Flexibility of dynamic environment with the power of .NET</a:t>
            </a:r>
          </a:p>
          <a:p>
            <a:pPr lvl="1"/>
            <a:r>
              <a:rPr lang="en-US" dirty="0" smtClean="0"/>
              <a:t>Develop </a:t>
            </a:r>
            <a:r>
              <a:rPr lang="en-US" dirty="0"/>
              <a:t>with Visual Studio, third party and cloud </a:t>
            </a:r>
            <a:r>
              <a:rPr lang="en-US" dirty="0" smtClean="0"/>
              <a:t>editors</a:t>
            </a:r>
          </a:p>
          <a:p>
            <a:pPr lvl="1"/>
            <a:endParaRPr lang="en-US" dirty="0"/>
          </a:p>
        </p:txBody>
      </p:sp>
      <p:sp>
        <p:nvSpPr>
          <p:cNvPr id="9" name="Oval 8"/>
          <p:cNvSpPr/>
          <p:nvPr/>
        </p:nvSpPr>
        <p:spPr bwMode="auto">
          <a:xfrm>
            <a:off x="1795746" y="4271579"/>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10" name="Freeform 35"/>
          <p:cNvSpPr>
            <a:spLocks/>
          </p:cNvSpPr>
          <p:nvPr/>
        </p:nvSpPr>
        <p:spPr bwMode="black">
          <a:xfrm>
            <a:off x="1919737" y="1829065"/>
            <a:ext cx="364738" cy="352813"/>
          </a:xfrm>
          <a:custGeom>
            <a:avLst/>
            <a:gdLst>
              <a:gd name="T0" fmla="*/ 120 w 191"/>
              <a:gd name="T1" fmla="*/ 32 h 197"/>
              <a:gd name="T2" fmla="*/ 83 w 191"/>
              <a:gd name="T3" fmla="*/ 3 h 197"/>
              <a:gd name="T4" fmla="*/ 47 w 191"/>
              <a:gd name="T5" fmla="*/ 5 h 197"/>
              <a:gd name="T6" fmla="*/ 44 w 191"/>
              <a:gd name="T7" fmla="*/ 27 h 197"/>
              <a:gd name="T8" fmla="*/ 40 w 191"/>
              <a:gd name="T9" fmla="*/ 29 h 197"/>
              <a:gd name="T10" fmla="*/ 40 w 191"/>
              <a:gd name="T11" fmla="*/ 33 h 197"/>
              <a:gd name="T12" fmla="*/ 45 w 191"/>
              <a:gd name="T13" fmla="*/ 40 h 197"/>
              <a:gd name="T14" fmla="*/ 88 w 191"/>
              <a:gd name="T15" fmla="*/ 44 h 197"/>
              <a:gd name="T16" fmla="*/ 118 w 191"/>
              <a:gd name="T17" fmla="*/ 113 h 197"/>
              <a:gd name="T18" fmla="*/ 144 w 191"/>
              <a:gd name="T19" fmla="*/ 129 h 197"/>
              <a:gd name="T20" fmla="*/ 112 w 191"/>
              <a:gd name="T21" fmla="*/ 109 h 197"/>
              <a:gd name="T22" fmla="*/ 65 w 191"/>
              <a:gd name="T23" fmla="*/ 115 h 197"/>
              <a:gd name="T24" fmla="*/ 0 w 191"/>
              <a:gd name="T25" fmla="*/ 116 h 197"/>
              <a:gd name="T26" fmla="*/ 26 w 191"/>
              <a:gd name="T27" fmla="*/ 174 h 197"/>
              <a:gd name="T28" fmla="*/ 61 w 191"/>
              <a:gd name="T29" fmla="*/ 136 h 197"/>
              <a:gd name="T30" fmla="*/ 57 w 191"/>
              <a:gd name="T31" fmla="*/ 148 h 197"/>
              <a:gd name="T32" fmla="*/ 126 w 191"/>
              <a:gd name="T33" fmla="*/ 140 h 197"/>
              <a:gd name="T34" fmla="*/ 55 w 191"/>
              <a:gd name="T35" fmla="*/ 153 h 197"/>
              <a:gd name="T36" fmla="*/ 30 w 191"/>
              <a:gd name="T37" fmla="*/ 180 h 197"/>
              <a:gd name="T38" fmla="*/ 32 w 191"/>
              <a:gd name="T39" fmla="*/ 182 h 197"/>
              <a:gd name="T40" fmla="*/ 180 w 191"/>
              <a:gd name="T41" fmla="*/ 159 h 197"/>
              <a:gd name="T42" fmla="*/ 185 w 191"/>
              <a:gd name="T43" fmla="*/ 129 h 197"/>
              <a:gd name="T44" fmla="*/ 120 w 191"/>
              <a:gd name="T45" fmla="*/ 3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1" h="197">
                <a:moveTo>
                  <a:pt x="120" y="32"/>
                </a:moveTo>
                <a:cubicBezTo>
                  <a:pt x="112" y="23"/>
                  <a:pt x="99" y="9"/>
                  <a:pt x="83" y="3"/>
                </a:cubicBezTo>
                <a:cubicBezTo>
                  <a:pt x="72" y="0"/>
                  <a:pt x="47" y="5"/>
                  <a:pt x="47" y="5"/>
                </a:cubicBezTo>
                <a:cubicBezTo>
                  <a:pt x="44" y="27"/>
                  <a:pt x="44" y="27"/>
                  <a:pt x="44" y="27"/>
                </a:cubicBezTo>
                <a:cubicBezTo>
                  <a:pt x="40" y="29"/>
                  <a:pt x="40" y="29"/>
                  <a:pt x="40" y="29"/>
                </a:cubicBezTo>
                <a:cubicBezTo>
                  <a:pt x="40" y="33"/>
                  <a:pt x="40" y="33"/>
                  <a:pt x="40" y="33"/>
                </a:cubicBezTo>
                <a:cubicBezTo>
                  <a:pt x="40" y="33"/>
                  <a:pt x="40" y="37"/>
                  <a:pt x="45" y="40"/>
                </a:cubicBezTo>
                <a:cubicBezTo>
                  <a:pt x="50" y="42"/>
                  <a:pt x="73" y="53"/>
                  <a:pt x="88" y="44"/>
                </a:cubicBezTo>
                <a:cubicBezTo>
                  <a:pt x="118" y="60"/>
                  <a:pt x="105" y="91"/>
                  <a:pt x="118" y="113"/>
                </a:cubicBezTo>
                <a:cubicBezTo>
                  <a:pt x="123" y="120"/>
                  <a:pt x="131" y="127"/>
                  <a:pt x="144" y="129"/>
                </a:cubicBezTo>
                <a:cubicBezTo>
                  <a:pt x="144" y="129"/>
                  <a:pt x="115" y="131"/>
                  <a:pt x="112" y="109"/>
                </a:cubicBezTo>
                <a:cubicBezTo>
                  <a:pt x="101" y="104"/>
                  <a:pt x="82" y="99"/>
                  <a:pt x="65" y="115"/>
                </a:cubicBezTo>
                <a:cubicBezTo>
                  <a:pt x="51" y="100"/>
                  <a:pt x="14" y="100"/>
                  <a:pt x="0" y="116"/>
                </a:cubicBezTo>
                <a:cubicBezTo>
                  <a:pt x="6" y="141"/>
                  <a:pt x="18" y="163"/>
                  <a:pt x="26" y="174"/>
                </a:cubicBezTo>
                <a:cubicBezTo>
                  <a:pt x="52" y="156"/>
                  <a:pt x="61" y="136"/>
                  <a:pt x="61" y="136"/>
                </a:cubicBezTo>
                <a:cubicBezTo>
                  <a:pt x="60" y="140"/>
                  <a:pt x="59" y="144"/>
                  <a:pt x="57" y="148"/>
                </a:cubicBezTo>
                <a:cubicBezTo>
                  <a:pt x="103" y="167"/>
                  <a:pt x="126" y="140"/>
                  <a:pt x="126" y="140"/>
                </a:cubicBezTo>
                <a:cubicBezTo>
                  <a:pt x="107" y="171"/>
                  <a:pt x="63" y="157"/>
                  <a:pt x="55" y="153"/>
                </a:cubicBezTo>
                <a:cubicBezTo>
                  <a:pt x="48" y="166"/>
                  <a:pt x="38" y="175"/>
                  <a:pt x="30" y="180"/>
                </a:cubicBezTo>
                <a:cubicBezTo>
                  <a:pt x="32" y="181"/>
                  <a:pt x="32" y="182"/>
                  <a:pt x="32" y="182"/>
                </a:cubicBezTo>
                <a:cubicBezTo>
                  <a:pt x="88" y="197"/>
                  <a:pt x="154" y="177"/>
                  <a:pt x="180" y="159"/>
                </a:cubicBezTo>
                <a:cubicBezTo>
                  <a:pt x="191" y="151"/>
                  <a:pt x="188" y="138"/>
                  <a:pt x="185" y="129"/>
                </a:cubicBezTo>
                <a:cubicBezTo>
                  <a:pt x="172" y="91"/>
                  <a:pt x="134" y="49"/>
                  <a:pt x="120" y="32"/>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endParaRPr lang="en-US" sz="1600">
              <a:solidFill>
                <a:srgbClr val="FFFFFF"/>
              </a:solidFill>
            </a:endParaRPr>
          </a:p>
        </p:txBody>
      </p:sp>
      <p:sp>
        <p:nvSpPr>
          <p:cNvPr id="11" name="Freeform 124"/>
          <p:cNvSpPr>
            <a:spLocks/>
          </p:cNvSpPr>
          <p:nvPr/>
        </p:nvSpPr>
        <p:spPr bwMode="black">
          <a:xfrm>
            <a:off x="1935328" y="4413470"/>
            <a:ext cx="330437" cy="291267"/>
          </a:xfrm>
          <a:custGeom>
            <a:avLst/>
            <a:gdLst>
              <a:gd name="T0" fmla="*/ 313 w 315"/>
              <a:gd name="T1" fmla="*/ 135 h 236"/>
              <a:gd name="T2" fmla="*/ 300 w 315"/>
              <a:gd name="T3" fmla="*/ 125 h 236"/>
              <a:gd name="T4" fmla="*/ 294 w 315"/>
              <a:gd name="T5" fmla="*/ 122 h 236"/>
              <a:gd name="T6" fmla="*/ 124 w 315"/>
              <a:gd name="T7" fmla="*/ 58 h 236"/>
              <a:gd name="T8" fmla="*/ 125 w 315"/>
              <a:gd name="T9" fmla="*/ 56 h 236"/>
              <a:gd name="T10" fmla="*/ 100 w 315"/>
              <a:gd name="T11" fmla="*/ 39 h 236"/>
              <a:gd name="T12" fmla="*/ 153 w 315"/>
              <a:gd name="T13" fmla="*/ 11 h 236"/>
              <a:gd name="T14" fmla="*/ 103 w 315"/>
              <a:gd name="T15" fmla="*/ 8 h 236"/>
              <a:gd name="T16" fmla="*/ 61 w 315"/>
              <a:gd name="T17" fmla="*/ 44 h 236"/>
              <a:gd name="T18" fmla="*/ 54 w 315"/>
              <a:gd name="T19" fmla="*/ 85 h 236"/>
              <a:gd name="T20" fmla="*/ 37 w 315"/>
              <a:gd name="T21" fmla="*/ 112 h 236"/>
              <a:gd name="T22" fmla="*/ 56 w 315"/>
              <a:gd name="T23" fmla="*/ 133 h 236"/>
              <a:gd name="T24" fmla="*/ 63 w 315"/>
              <a:gd name="T25" fmla="*/ 135 h 236"/>
              <a:gd name="T26" fmla="*/ 35 w 315"/>
              <a:gd name="T27" fmla="*/ 135 h 236"/>
              <a:gd name="T28" fmla="*/ 31 w 315"/>
              <a:gd name="T29" fmla="*/ 141 h 236"/>
              <a:gd name="T30" fmla="*/ 35 w 315"/>
              <a:gd name="T31" fmla="*/ 147 h 236"/>
              <a:gd name="T32" fmla="*/ 50 w 315"/>
              <a:gd name="T33" fmla="*/ 147 h 236"/>
              <a:gd name="T34" fmla="*/ 50 w 315"/>
              <a:gd name="T35" fmla="*/ 176 h 236"/>
              <a:gd name="T36" fmla="*/ 0 w 315"/>
              <a:gd name="T37" fmla="*/ 176 h 236"/>
              <a:gd name="T38" fmla="*/ 0 w 315"/>
              <a:gd name="T39" fmla="*/ 236 h 236"/>
              <a:gd name="T40" fmla="*/ 227 w 315"/>
              <a:gd name="T41" fmla="*/ 236 h 236"/>
              <a:gd name="T42" fmla="*/ 227 w 315"/>
              <a:gd name="T43" fmla="*/ 176 h 236"/>
              <a:gd name="T44" fmla="*/ 61 w 315"/>
              <a:gd name="T45" fmla="*/ 176 h 236"/>
              <a:gd name="T46" fmla="*/ 61 w 315"/>
              <a:gd name="T47" fmla="*/ 147 h 236"/>
              <a:gd name="T48" fmla="*/ 75 w 315"/>
              <a:gd name="T49" fmla="*/ 147 h 236"/>
              <a:gd name="T50" fmla="*/ 79 w 315"/>
              <a:gd name="T51" fmla="*/ 141 h 236"/>
              <a:gd name="T52" fmla="*/ 75 w 315"/>
              <a:gd name="T53" fmla="*/ 135 h 236"/>
              <a:gd name="T54" fmla="*/ 70 w 315"/>
              <a:gd name="T55" fmla="*/ 135 h 236"/>
              <a:gd name="T56" fmla="*/ 77 w 315"/>
              <a:gd name="T57" fmla="*/ 127 h 236"/>
              <a:gd name="T58" fmla="*/ 84 w 315"/>
              <a:gd name="T59" fmla="*/ 93 h 236"/>
              <a:gd name="T60" fmla="*/ 112 w 315"/>
              <a:gd name="T61" fmla="*/ 93 h 236"/>
              <a:gd name="T62" fmla="*/ 113 w 315"/>
              <a:gd name="T63" fmla="*/ 90 h 236"/>
              <a:gd name="T64" fmla="*/ 282 w 315"/>
              <a:gd name="T65" fmla="*/ 154 h 236"/>
              <a:gd name="T66" fmla="*/ 289 w 315"/>
              <a:gd name="T67" fmla="*/ 156 h 236"/>
              <a:gd name="T68" fmla="*/ 305 w 315"/>
              <a:gd name="T69" fmla="*/ 156 h 236"/>
              <a:gd name="T70" fmla="*/ 314 w 315"/>
              <a:gd name="T71" fmla="*/ 145 h 236"/>
              <a:gd name="T72" fmla="*/ 313 w 315"/>
              <a:gd name="T73" fmla="*/ 135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5" h="236">
                <a:moveTo>
                  <a:pt x="313" y="135"/>
                </a:moveTo>
                <a:cubicBezTo>
                  <a:pt x="311" y="131"/>
                  <a:pt x="306" y="127"/>
                  <a:pt x="300" y="125"/>
                </a:cubicBezTo>
                <a:cubicBezTo>
                  <a:pt x="298" y="124"/>
                  <a:pt x="296" y="123"/>
                  <a:pt x="294" y="122"/>
                </a:cubicBezTo>
                <a:cubicBezTo>
                  <a:pt x="237" y="101"/>
                  <a:pt x="181" y="80"/>
                  <a:pt x="124" y="58"/>
                </a:cubicBezTo>
                <a:cubicBezTo>
                  <a:pt x="125" y="56"/>
                  <a:pt x="125" y="56"/>
                  <a:pt x="125" y="56"/>
                </a:cubicBezTo>
                <a:cubicBezTo>
                  <a:pt x="132" y="52"/>
                  <a:pt x="104" y="51"/>
                  <a:pt x="100" y="39"/>
                </a:cubicBezTo>
                <a:cubicBezTo>
                  <a:pt x="96" y="26"/>
                  <a:pt x="146" y="14"/>
                  <a:pt x="153" y="11"/>
                </a:cubicBezTo>
                <a:cubicBezTo>
                  <a:pt x="161" y="7"/>
                  <a:pt x="125" y="0"/>
                  <a:pt x="103" y="8"/>
                </a:cubicBezTo>
                <a:cubicBezTo>
                  <a:pt x="81" y="16"/>
                  <a:pt x="69" y="29"/>
                  <a:pt x="61" y="44"/>
                </a:cubicBezTo>
                <a:cubicBezTo>
                  <a:pt x="53" y="58"/>
                  <a:pt x="55" y="77"/>
                  <a:pt x="54" y="85"/>
                </a:cubicBezTo>
                <a:cubicBezTo>
                  <a:pt x="54" y="92"/>
                  <a:pt x="40" y="104"/>
                  <a:pt x="37" y="112"/>
                </a:cubicBezTo>
                <a:cubicBezTo>
                  <a:pt x="32" y="125"/>
                  <a:pt x="46" y="129"/>
                  <a:pt x="56" y="133"/>
                </a:cubicBezTo>
                <a:cubicBezTo>
                  <a:pt x="59" y="134"/>
                  <a:pt x="61" y="135"/>
                  <a:pt x="63" y="135"/>
                </a:cubicBezTo>
                <a:cubicBezTo>
                  <a:pt x="35" y="135"/>
                  <a:pt x="35" y="135"/>
                  <a:pt x="35" y="135"/>
                </a:cubicBezTo>
                <a:cubicBezTo>
                  <a:pt x="33" y="135"/>
                  <a:pt x="31" y="138"/>
                  <a:pt x="31" y="141"/>
                </a:cubicBezTo>
                <a:cubicBezTo>
                  <a:pt x="31" y="144"/>
                  <a:pt x="33" y="147"/>
                  <a:pt x="35" y="147"/>
                </a:cubicBezTo>
                <a:cubicBezTo>
                  <a:pt x="50" y="147"/>
                  <a:pt x="50" y="147"/>
                  <a:pt x="50" y="147"/>
                </a:cubicBezTo>
                <a:cubicBezTo>
                  <a:pt x="50" y="176"/>
                  <a:pt x="50" y="176"/>
                  <a:pt x="50" y="176"/>
                </a:cubicBezTo>
                <a:cubicBezTo>
                  <a:pt x="0" y="176"/>
                  <a:pt x="0" y="176"/>
                  <a:pt x="0" y="176"/>
                </a:cubicBezTo>
                <a:cubicBezTo>
                  <a:pt x="0" y="236"/>
                  <a:pt x="0" y="236"/>
                  <a:pt x="0" y="236"/>
                </a:cubicBezTo>
                <a:cubicBezTo>
                  <a:pt x="227" y="236"/>
                  <a:pt x="227" y="236"/>
                  <a:pt x="227" y="236"/>
                </a:cubicBezTo>
                <a:cubicBezTo>
                  <a:pt x="227" y="176"/>
                  <a:pt x="227" y="176"/>
                  <a:pt x="227" y="176"/>
                </a:cubicBezTo>
                <a:cubicBezTo>
                  <a:pt x="61" y="176"/>
                  <a:pt x="61" y="176"/>
                  <a:pt x="61" y="176"/>
                </a:cubicBezTo>
                <a:cubicBezTo>
                  <a:pt x="61" y="147"/>
                  <a:pt x="61" y="147"/>
                  <a:pt x="61" y="147"/>
                </a:cubicBezTo>
                <a:cubicBezTo>
                  <a:pt x="75" y="147"/>
                  <a:pt x="75" y="147"/>
                  <a:pt x="75" y="147"/>
                </a:cubicBezTo>
                <a:cubicBezTo>
                  <a:pt x="77" y="147"/>
                  <a:pt x="79" y="144"/>
                  <a:pt x="79" y="141"/>
                </a:cubicBezTo>
                <a:cubicBezTo>
                  <a:pt x="79" y="138"/>
                  <a:pt x="77" y="135"/>
                  <a:pt x="75" y="135"/>
                </a:cubicBezTo>
                <a:cubicBezTo>
                  <a:pt x="70" y="135"/>
                  <a:pt x="70" y="135"/>
                  <a:pt x="70" y="135"/>
                </a:cubicBezTo>
                <a:cubicBezTo>
                  <a:pt x="73" y="134"/>
                  <a:pt x="75" y="132"/>
                  <a:pt x="77" y="127"/>
                </a:cubicBezTo>
                <a:cubicBezTo>
                  <a:pt x="82" y="118"/>
                  <a:pt x="76" y="104"/>
                  <a:pt x="84" y="93"/>
                </a:cubicBezTo>
                <a:cubicBezTo>
                  <a:pt x="91" y="83"/>
                  <a:pt x="112" y="93"/>
                  <a:pt x="112" y="93"/>
                </a:cubicBezTo>
                <a:cubicBezTo>
                  <a:pt x="113" y="90"/>
                  <a:pt x="113" y="90"/>
                  <a:pt x="113" y="90"/>
                </a:cubicBezTo>
                <a:cubicBezTo>
                  <a:pt x="170" y="111"/>
                  <a:pt x="226" y="132"/>
                  <a:pt x="282" y="154"/>
                </a:cubicBezTo>
                <a:cubicBezTo>
                  <a:pt x="284" y="154"/>
                  <a:pt x="287" y="155"/>
                  <a:pt x="289" y="156"/>
                </a:cubicBezTo>
                <a:cubicBezTo>
                  <a:pt x="294" y="158"/>
                  <a:pt x="300" y="158"/>
                  <a:pt x="305" y="156"/>
                </a:cubicBezTo>
                <a:cubicBezTo>
                  <a:pt x="310" y="154"/>
                  <a:pt x="314" y="150"/>
                  <a:pt x="314" y="145"/>
                </a:cubicBezTo>
                <a:cubicBezTo>
                  <a:pt x="315" y="142"/>
                  <a:pt x="314" y="138"/>
                  <a:pt x="313" y="135"/>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endParaRPr lang="en-US" sz="1600">
              <a:solidFill>
                <a:srgbClr val="FFFFFF"/>
              </a:solidFill>
            </a:endParaRPr>
          </a:p>
        </p:txBody>
      </p:sp>
    </p:spTree>
    <p:extLst>
      <p:ext uri="{BB962C8B-B14F-4D97-AF65-F5344CB8AC3E}">
        <p14:creationId xmlns:p14="http://schemas.microsoft.com/office/powerpoint/2010/main" val="149625895"/>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Modern Web - Cloud</a:t>
            </a:r>
            <a:endParaRPr lang="en-US" dirty="0"/>
          </a:p>
        </p:txBody>
      </p:sp>
      <p:sp>
        <p:nvSpPr>
          <p:cNvPr id="4" name="Rectangle 3"/>
          <p:cNvSpPr/>
          <p:nvPr/>
        </p:nvSpPr>
        <p:spPr>
          <a:xfrm>
            <a:off x="2405346" y="2976166"/>
            <a:ext cx="2092304" cy="523220"/>
          </a:xfrm>
          <a:prstGeom prst="rect">
            <a:avLst/>
          </a:prstGeom>
        </p:spPr>
        <p:txBody>
          <a:bodyPr wrap="none">
            <a:spAutoFit/>
          </a:bodyPr>
          <a:lstStyle/>
          <a:p>
            <a:r>
              <a:rPr lang="en-US" sz="2800" dirty="0" smtClean="0">
                <a:solidFill>
                  <a:srgbClr val="FFFFFF"/>
                </a:solidFill>
              </a:rPr>
              <a:t>Cloud ready</a:t>
            </a:r>
          </a:p>
        </p:txBody>
      </p:sp>
      <p:sp>
        <p:nvSpPr>
          <p:cNvPr id="5" name="Content Placeholder 2"/>
          <p:cNvSpPr>
            <a:spLocks noGrp="1"/>
          </p:cNvSpPr>
          <p:nvPr>
            <p:ph type="body" sz="quarter" idx="4294967295"/>
          </p:nvPr>
        </p:nvSpPr>
        <p:spPr>
          <a:xfrm>
            <a:off x="1885537" y="3497262"/>
            <a:ext cx="7685500" cy="1329595"/>
          </a:xfrm>
          <a:prstGeom prst="rect">
            <a:avLst/>
          </a:prstGeom>
        </p:spPr>
        <p:txBody>
          <a:bodyPr/>
          <a:lstStyle/>
          <a:p>
            <a:r>
              <a:rPr lang="en-US" sz="2400" dirty="0" smtClean="0">
                <a:latin typeface="+mn-lt"/>
              </a:rPr>
              <a:t>Configuration</a:t>
            </a:r>
          </a:p>
          <a:p>
            <a:r>
              <a:rPr lang="en-US" sz="2400" dirty="0" smtClean="0">
                <a:latin typeface="+mn-lt"/>
              </a:rPr>
              <a:t>Session</a:t>
            </a:r>
          </a:p>
          <a:p>
            <a:r>
              <a:rPr lang="en-US" sz="2400" dirty="0" smtClean="0">
                <a:latin typeface="+mn-lt"/>
              </a:rPr>
              <a:t>Cache</a:t>
            </a:r>
          </a:p>
        </p:txBody>
      </p:sp>
      <p:sp>
        <p:nvSpPr>
          <p:cNvPr id="6" name="Rectangle 5"/>
          <p:cNvSpPr/>
          <p:nvPr/>
        </p:nvSpPr>
        <p:spPr>
          <a:xfrm>
            <a:off x="2405346" y="5015514"/>
            <a:ext cx="2008883" cy="523220"/>
          </a:xfrm>
          <a:prstGeom prst="rect">
            <a:avLst/>
          </a:prstGeom>
        </p:spPr>
        <p:txBody>
          <a:bodyPr wrap="none">
            <a:spAutoFit/>
          </a:bodyPr>
          <a:lstStyle/>
          <a:p>
            <a:r>
              <a:rPr lang="en-US" sz="2800" dirty="0" smtClean="0">
                <a:solidFill>
                  <a:srgbClr val="FFFFFF"/>
                </a:solidFill>
              </a:rPr>
              <a:t>Diagnostics</a:t>
            </a:r>
          </a:p>
        </p:txBody>
      </p:sp>
      <p:sp>
        <p:nvSpPr>
          <p:cNvPr id="7" name="Content Placeholder 2"/>
          <p:cNvSpPr>
            <a:spLocks noGrp="1"/>
          </p:cNvSpPr>
          <p:nvPr>
            <p:ph type="body" sz="quarter" idx="4294967295"/>
          </p:nvPr>
        </p:nvSpPr>
        <p:spPr>
          <a:xfrm>
            <a:off x="1885536" y="5554662"/>
            <a:ext cx="10044810" cy="923330"/>
          </a:xfrm>
          <a:prstGeom prst="rect">
            <a:avLst/>
          </a:prstGeom>
        </p:spPr>
        <p:txBody>
          <a:bodyPr/>
          <a:lstStyle/>
          <a:p>
            <a:pPr lvl="1"/>
            <a:r>
              <a:rPr lang="en-US" dirty="0" smtClean="0"/>
              <a:t>Run/Debug in Cloud</a:t>
            </a:r>
          </a:p>
          <a:p>
            <a:pPr lvl="1"/>
            <a:r>
              <a:rPr lang="en-US" dirty="0" smtClean="0"/>
              <a:t>Tracing/Logging without re-deploy</a:t>
            </a:r>
            <a:endParaRPr lang="en-US" dirty="0"/>
          </a:p>
        </p:txBody>
      </p:sp>
      <p:sp>
        <p:nvSpPr>
          <p:cNvPr id="8" name="Oval 7"/>
          <p:cNvSpPr/>
          <p:nvPr/>
        </p:nvSpPr>
        <p:spPr bwMode="auto">
          <a:xfrm>
            <a:off x="1795746" y="4945062"/>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p:cNvSpPr/>
          <p:nvPr/>
        </p:nvSpPr>
        <p:spPr>
          <a:xfrm>
            <a:off x="2412592" y="1817231"/>
            <a:ext cx="7539756" cy="523220"/>
          </a:xfrm>
          <a:prstGeom prst="rect">
            <a:avLst/>
          </a:prstGeom>
        </p:spPr>
        <p:txBody>
          <a:bodyPr wrap="none">
            <a:spAutoFit/>
          </a:bodyPr>
          <a:lstStyle/>
          <a:p>
            <a:r>
              <a:rPr lang="en-US" sz="2800" dirty="0" smtClean="0">
                <a:solidFill>
                  <a:srgbClr val="FFFFFF"/>
                </a:solidFill>
              </a:rPr>
              <a:t>Seamless transition from on-premises to cloud</a:t>
            </a:r>
          </a:p>
        </p:txBody>
      </p:sp>
      <p:sp>
        <p:nvSpPr>
          <p:cNvPr id="10" name="Freeform 13"/>
          <p:cNvSpPr>
            <a:spLocks noChangeAspect="1" noEditPoints="1"/>
          </p:cNvSpPr>
          <p:nvPr/>
        </p:nvSpPr>
        <p:spPr bwMode="auto">
          <a:xfrm>
            <a:off x="1797487" y="1744662"/>
            <a:ext cx="616846" cy="619119"/>
          </a:xfrm>
          <a:custGeom>
            <a:avLst/>
            <a:gdLst>
              <a:gd name="T0" fmla="*/ 808 w 1605"/>
              <a:gd name="T1" fmla="*/ 1611 h 1611"/>
              <a:gd name="T2" fmla="*/ 1605 w 1605"/>
              <a:gd name="T3" fmla="*/ 798 h 1611"/>
              <a:gd name="T4" fmla="*/ 808 w 1605"/>
              <a:gd name="T5" fmla="*/ 0 h 1611"/>
              <a:gd name="T6" fmla="*/ 0 w 1605"/>
              <a:gd name="T7" fmla="*/ 798 h 1611"/>
              <a:gd name="T8" fmla="*/ 808 w 1605"/>
              <a:gd name="T9" fmla="*/ 1611 h 1611"/>
              <a:gd name="T10" fmla="*/ 808 w 1605"/>
              <a:gd name="T11" fmla="*/ 96 h 1611"/>
              <a:gd name="T12" fmla="*/ 1505 w 1605"/>
              <a:gd name="T13" fmla="*/ 798 h 1611"/>
              <a:gd name="T14" fmla="*/ 808 w 1605"/>
              <a:gd name="T15" fmla="*/ 1511 h 1611"/>
              <a:gd name="T16" fmla="*/ 96 w 1605"/>
              <a:gd name="T17" fmla="*/ 798 h 1611"/>
              <a:gd name="T18" fmla="*/ 808 w 1605"/>
              <a:gd name="T19" fmla="*/ 96 h 1611"/>
              <a:gd name="T20" fmla="*/ 1106 w 1605"/>
              <a:gd name="T21" fmla="*/ 1104 h 1611"/>
              <a:gd name="T22" fmla="*/ 382 w 1605"/>
              <a:gd name="T23" fmla="*/ 1104 h 1611"/>
              <a:gd name="T24" fmla="*/ 260 w 1605"/>
              <a:gd name="T25" fmla="*/ 982 h 1611"/>
              <a:gd name="T26" fmla="*/ 352 w 1605"/>
              <a:gd name="T27" fmla="*/ 863 h 1611"/>
              <a:gd name="T28" fmla="*/ 496 w 1605"/>
              <a:gd name="T29" fmla="*/ 754 h 1611"/>
              <a:gd name="T30" fmla="*/ 756 w 1605"/>
              <a:gd name="T31" fmla="*/ 507 h 1611"/>
              <a:gd name="T32" fmla="*/ 992 w 1605"/>
              <a:gd name="T33" fmla="*/ 657 h 1611"/>
              <a:gd name="T34" fmla="*/ 1106 w 1605"/>
              <a:gd name="T35" fmla="*/ 627 h 1611"/>
              <a:gd name="T36" fmla="*/ 1345 w 1605"/>
              <a:gd name="T37" fmla="*/ 865 h 1611"/>
              <a:gd name="T38" fmla="*/ 1106 w 1605"/>
              <a:gd name="T39" fmla="*/ 1104 h 1611"/>
              <a:gd name="T40" fmla="*/ 382 w 1605"/>
              <a:gd name="T41" fmla="*/ 944 h 1611"/>
              <a:gd name="T42" fmla="*/ 344 w 1605"/>
              <a:gd name="T43" fmla="*/ 982 h 1611"/>
              <a:gd name="T44" fmla="*/ 382 w 1605"/>
              <a:gd name="T45" fmla="*/ 1020 h 1611"/>
              <a:gd name="T46" fmla="*/ 1106 w 1605"/>
              <a:gd name="T47" fmla="*/ 1020 h 1611"/>
              <a:gd name="T48" fmla="*/ 1261 w 1605"/>
              <a:gd name="T49" fmla="*/ 865 h 1611"/>
              <a:gd name="T50" fmla="*/ 1106 w 1605"/>
              <a:gd name="T51" fmla="*/ 711 h 1611"/>
              <a:gd name="T52" fmla="*/ 998 w 1605"/>
              <a:gd name="T53" fmla="*/ 754 h 1611"/>
              <a:gd name="T54" fmla="*/ 944 w 1605"/>
              <a:gd name="T55" fmla="*/ 806 h 1611"/>
              <a:gd name="T56" fmla="*/ 927 w 1605"/>
              <a:gd name="T57" fmla="*/ 733 h 1611"/>
              <a:gd name="T58" fmla="*/ 756 w 1605"/>
              <a:gd name="T59" fmla="*/ 592 h 1611"/>
              <a:gd name="T60" fmla="*/ 580 w 1605"/>
              <a:gd name="T61" fmla="*/ 768 h 1611"/>
              <a:gd name="T62" fmla="*/ 580 w 1605"/>
              <a:gd name="T63" fmla="*/ 792 h 1611"/>
              <a:gd name="T64" fmla="*/ 588 w 1605"/>
              <a:gd name="T65" fmla="*/ 849 h 1611"/>
              <a:gd name="T66" fmla="*/ 531 w 1605"/>
              <a:gd name="T67" fmla="*/ 838 h 1611"/>
              <a:gd name="T68" fmla="*/ 515 w 1605"/>
              <a:gd name="T69" fmla="*/ 838 h 1611"/>
              <a:gd name="T70" fmla="*/ 425 w 1605"/>
              <a:gd name="T71" fmla="*/ 912 h 1611"/>
              <a:gd name="T72" fmla="*/ 420 w 1605"/>
              <a:gd name="T73" fmla="*/ 947 h 1611"/>
              <a:gd name="T74" fmla="*/ 384 w 1605"/>
              <a:gd name="T75" fmla="*/ 944 h 1611"/>
              <a:gd name="T76" fmla="*/ 382 w 1605"/>
              <a:gd name="T77" fmla="*/ 944 h 1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05" h="1611">
                <a:moveTo>
                  <a:pt x="808" y="1611"/>
                </a:moveTo>
                <a:cubicBezTo>
                  <a:pt x="1247" y="1611"/>
                  <a:pt x="1605" y="1253"/>
                  <a:pt x="1605" y="798"/>
                </a:cubicBezTo>
                <a:cubicBezTo>
                  <a:pt x="1605" y="355"/>
                  <a:pt x="1247" y="0"/>
                  <a:pt x="808" y="0"/>
                </a:cubicBezTo>
                <a:cubicBezTo>
                  <a:pt x="354" y="0"/>
                  <a:pt x="0" y="355"/>
                  <a:pt x="0" y="798"/>
                </a:cubicBezTo>
                <a:cubicBezTo>
                  <a:pt x="0" y="1253"/>
                  <a:pt x="354" y="1611"/>
                  <a:pt x="808" y="1611"/>
                </a:cubicBezTo>
                <a:close/>
                <a:moveTo>
                  <a:pt x="808" y="96"/>
                </a:moveTo>
                <a:cubicBezTo>
                  <a:pt x="1195" y="96"/>
                  <a:pt x="1505" y="410"/>
                  <a:pt x="1505" y="798"/>
                </a:cubicBezTo>
                <a:cubicBezTo>
                  <a:pt x="1505" y="1190"/>
                  <a:pt x="1195" y="1511"/>
                  <a:pt x="808" y="1511"/>
                </a:cubicBezTo>
                <a:cubicBezTo>
                  <a:pt x="420" y="1511"/>
                  <a:pt x="96" y="1190"/>
                  <a:pt x="96" y="798"/>
                </a:cubicBezTo>
                <a:cubicBezTo>
                  <a:pt x="96" y="410"/>
                  <a:pt x="420" y="96"/>
                  <a:pt x="808" y="96"/>
                </a:cubicBezTo>
                <a:close/>
                <a:moveTo>
                  <a:pt x="1106" y="1104"/>
                </a:moveTo>
                <a:cubicBezTo>
                  <a:pt x="382" y="1104"/>
                  <a:pt x="382" y="1104"/>
                  <a:pt x="382" y="1104"/>
                </a:cubicBezTo>
                <a:cubicBezTo>
                  <a:pt x="314" y="1104"/>
                  <a:pt x="260" y="1050"/>
                  <a:pt x="260" y="982"/>
                </a:cubicBezTo>
                <a:cubicBezTo>
                  <a:pt x="260" y="925"/>
                  <a:pt x="300" y="876"/>
                  <a:pt x="352" y="863"/>
                </a:cubicBezTo>
                <a:cubicBezTo>
                  <a:pt x="376" y="806"/>
                  <a:pt x="431" y="762"/>
                  <a:pt x="496" y="754"/>
                </a:cubicBezTo>
                <a:cubicBezTo>
                  <a:pt x="501" y="616"/>
                  <a:pt x="615" y="507"/>
                  <a:pt x="756" y="507"/>
                </a:cubicBezTo>
                <a:cubicBezTo>
                  <a:pt x="857" y="507"/>
                  <a:pt x="949" y="567"/>
                  <a:pt x="992" y="657"/>
                </a:cubicBezTo>
                <a:cubicBezTo>
                  <a:pt x="1025" y="638"/>
                  <a:pt x="1066" y="627"/>
                  <a:pt x="1106" y="627"/>
                </a:cubicBezTo>
                <a:cubicBezTo>
                  <a:pt x="1237" y="627"/>
                  <a:pt x="1345" y="735"/>
                  <a:pt x="1345" y="865"/>
                </a:cubicBezTo>
                <a:cubicBezTo>
                  <a:pt x="1345" y="998"/>
                  <a:pt x="1237" y="1104"/>
                  <a:pt x="1106" y="1104"/>
                </a:cubicBezTo>
                <a:close/>
                <a:moveTo>
                  <a:pt x="382" y="944"/>
                </a:moveTo>
                <a:cubicBezTo>
                  <a:pt x="360" y="944"/>
                  <a:pt x="344" y="963"/>
                  <a:pt x="344" y="982"/>
                </a:cubicBezTo>
                <a:cubicBezTo>
                  <a:pt x="344" y="1004"/>
                  <a:pt x="360" y="1020"/>
                  <a:pt x="382" y="1020"/>
                </a:cubicBezTo>
                <a:cubicBezTo>
                  <a:pt x="1106" y="1020"/>
                  <a:pt x="1106" y="1020"/>
                  <a:pt x="1106" y="1020"/>
                </a:cubicBezTo>
                <a:cubicBezTo>
                  <a:pt x="1191" y="1020"/>
                  <a:pt x="1261" y="952"/>
                  <a:pt x="1261" y="865"/>
                </a:cubicBezTo>
                <a:cubicBezTo>
                  <a:pt x="1261" y="781"/>
                  <a:pt x="1191" y="711"/>
                  <a:pt x="1106" y="711"/>
                </a:cubicBezTo>
                <a:cubicBezTo>
                  <a:pt x="1066" y="711"/>
                  <a:pt x="1028" y="727"/>
                  <a:pt x="998" y="754"/>
                </a:cubicBezTo>
                <a:cubicBezTo>
                  <a:pt x="944" y="806"/>
                  <a:pt x="944" y="806"/>
                  <a:pt x="944" y="806"/>
                </a:cubicBezTo>
                <a:cubicBezTo>
                  <a:pt x="927" y="733"/>
                  <a:pt x="927" y="733"/>
                  <a:pt x="927" y="733"/>
                </a:cubicBezTo>
                <a:cubicBezTo>
                  <a:pt x="911" y="651"/>
                  <a:pt x="840" y="592"/>
                  <a:pt x="756" y="592"/>
                </a:cubicBezTo>
                <a:cubicBezTo>
                  <a:pt x="659" y="592"/>
                  <a:pt x="580" y="670"/>
                  <a:pt x="580" y="768"/>
                </a:cubicBezTo>
                <a:cubicBezTo>
                  <a:pt x="580" y="776"/>
                  <a:pt x="580" y="784"/>
                  <a:pt x="580" y="792"/>
                </a:cubicBezTo>
                <a:cubicBezTo>
                  <a:pt x="588" y="849"/>
                  <a:pt x="588" y="849"/>
                  <a:pt x="588" y="849"/>
                </a:cubicBezTo>
                <a:cubicBezTo>
                  <a:pt x="531" y="838"/>
                  <a:pt x="531" y="838"/>
                  <a:pt x="531" y="838"/>
                </a:cubicBezTo>
                <a:cubicBezTo>
                  <a:pt x="526" y="838"/>
                  <a:pt x="520" y="838"/>
                  <a:pt x="515" y="838"/>
                </a:cubicBezTo>
                <a:cubicBezTo>
                  <a:pt x="471" y="838"/>
                  <a:pt x="436" y="868"/>
                  <a:pt x="425" y="912"/>
                </a:cubicBezTo>
                <a:cubicBezTo>
                  <a:pt x="420" y="947"/>
                  <a:pt x="420" y="947"/>
                  <a:pt x="420" y="947"/>
                </a:cubicBezTo>
                <a:cubicBezTo>
                  <a:pt x="384" y="944"/>
                  <a:pt x="384" y="944"/>
                  <a:pt x="384" y="944"/>
                </a:cubicBezTo>
                <a:cubicBezTo>
                  <a:pt x="382" y="944"/>
                  <a:pt x="382" y="944"/>
                  <a:pt x="382" y="94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1" name="Freeform 13"/>
          <p:cNvSpPr>
            <a:spLocks noChangeAspect="1" noEditPoints="1"/>
          </p:cNvSpPr>
          <p:nvPr/>
        </p:nvSpPr>
        <p:spPr bwMode="auto">
          <a:xfrm>
            <a:off x="1792123" y="2880955"/>
            <a:ext cx="616846" cy="619119"/>
          </a:xfrm>
          <a:custGeom>
            <a:avLst/>
            <a:gdLst>
              <a:gd name="T0" fmla="*/ 808 w 1605"/>
              <a:gd name="T1" fmla="*/ 1611 h 1611"/>
              <a:gd name="T2" fmla="*/ 1605 w 1605"/>
              <a:gd name="T3" fmla="*/ 798 h 1611"/>
              <a:gd name="T4" fmla="*/ 808 w 1605"/>
              <a:gd name="T5" fmla="*/ 0 h 1611"/>
              <a:gd name="T6" fmla="*/ 0 w 1605"/>
              <a:gd name="T7" fmla="*/ 798 h 1611"/>
              <a:gd name="T8" fmla="*/ 808 w 1605"/>
              <a:gd name="T9" fmla="*/ 1611 h 1611"/>
              <a:gd name="T10" fmla="*/ 808 w 1605"/>
              <a:gd name="T11" fmla="*/ 96 h 1611"/>
              <a:gd name="T12" fmla="*/ 1505 w 1605"/>
              <a:gd name="T13" fmla="*/ 798 h 1611"/>
              <a:gd name="T14" fmla="*/ 808 w 1605"/>
              <a:gd name="T15" fmla="*/ 1511 h 1611"/>
              <a:gd name="T16" fmla="*/ 96 w 1605"/>
              <a:gd name="T17" fmla="*/ 798 h 1611"/>
              <a:gd name="T18" fmla="*/ 808 w 1605"/>
              <a:gd name="T19" fmla="*/ 96 h 1611"/>
              <a:gd name="T20" fmla="*/ 1106 w 1605"/>
              <a:gd name="T21" fmla="*/ 1104 h 1611"/>
              <a:gd name="T22" fmla="*/ 382 w 1605"/>
              <a:gd name="T23" fmla="*/ 1104 h 1611"/>
              <a:gd name="T24" fmla="*/ 260 w 1605"/>
              <a:gd name="T25" fmla="*/ 982 h 1611"/>
              <a:gd name="T26" fmla="*/ 352 w 1605"/>
              <a:gd name="T27" fmla="*/ 863 h 1611"/>
              <a:gd name="T28" fmla="*/ 496 w 1605"/>
              <a:gd name="T29" fmla="*/ 754 h 1611"/>
              <a:gd name="T30" fmla="*/ 756 w 1605"/>
              <a:gd name="T31" fmla="*/ 507 h 1611"/>
              <a:gd name="T32" fmla="*/ 992 w 1605"/>
              <a:gd name="T33" fmla="*/ 657 h 1611"/>
              <a:gd name="T34" fmla="*/ 1106 w 1605"/>
              <a:gd name="T35" fmla="*/ 627 h 1611"/>
              <a:gd name="T36" fmla="*/ 1345 w 1605"/>
              <a:gd name="T37" fmla="*/ 865 h 1611"/>
              <a:gd name="T38" fmla="*/ 1106 w 1605"/>
              <a:gd name="T39" fmla="*/ 1104 h 1611"/>
              <a:gd name="T40" fmla="*/ 382 w 1605"/>
              <a:gd name="T41" fmla="*/ 944 h 1611"/>
              <a:gd name="T42" fmla="*/ 344 w 1605"/>
              <a:gd name="T43" fmla="*/ 982 h 1611"/>
              <a:gd name="T44" fmla="*/ 382 w 1605"/>
              <a:gd name="T45" fmla="*/ 1020 h 1611"/>
              <a:gd name="T46" fmla="*/ 1106 w 1605"/>
              <a:gd name="T47" fmla="*/ 1020 h 1611"/>
              <a:gd name="T48" fmla="*/ 1261 w 1605"/>
              <a:gd name="T49" fmla="*/ 865 h 1611"/>
              <a:gd name="T50" fmla="*/ 1106 w 1605"/>
              <a:gd name="T51" fmla="*/ 711 h 1611"/>
              <a:gd name="T52" fmla="*/ 998 w 1605"/>
              <a:gd name="T53" fmla="*/ 754 h 1611"/>
              <a:gd name="T54" fmla="*/ 944 w 1605"/>
              <a:gd name="T55" fmla="*/ 806 h 1611"/>
              <a:gd name="T56" fmla="*/ 927 w 1605"/>
              <a:gd name="T57" fmla="*/ 733 h 1611"/>
              <a:gd name="T58" fmla="*/ 756 w 1605"/>
              <a:gd name="T59" fmla="*/ 592 h 1611"/>
              <a:gd name="T60" fmla="*/ 580 w 1605"/>
              <a:gd name="T61" fmla="*/ 768 h 1611"/>
              <a:gd name="T62" fmla="*/ 580 w 1605"/>
              <a:gd name="T63" fmla="*/ 792 h 1611"/>
              <a:gd name="T64" fmla="*/ 588 w 1605"/>
              <a:gd name="T65" fmla="*/ 849 h 1611"/>
              <a:gd name="T66" fmla="*/ 531 w 1605"/>
              <a:gd name="T67" fmla="*/ 838 h 1611"/>
              <a:gd name="T68" fmla="*/ 515 w 1605"/>
              <a:gd name="T69" fmla="*/ 838 h 1611"/>
              <a:gd name="T70" fmla="*/ 425 w 1605"/>
              <a:gd name="T71" fmla="*/ 912 h 1611"/>
              <a:gd name="T72" fmla="*/ 420 w 1605"/>
              <a:gd name="T73" fmla="*/ 947 h 1611"/>
              <a:gd name="T74" fmla="*/ 384 w 1605"/>
              <a:gd name="T75" fmla="*/ 944 h 1611"/>
              <a:gd name="T76" fmla="*/ 382 w 1605"/>
              <a:gd name="T77" fmla="*/ 944 h 1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05" h="1611">
                <a:moveTo>
                  <a:pt x="808" y="1611"/>
                </a:moveTo>
                <a:cubicBezTo>
                  <a:pt x="1247" y="1611"/>
                  <a:pt x="1605" y="1253"/>
                  <a:pt x="1605" y="798"/>
                </a:cubicBezTo>
                <a:cubicBezTo>
                  <a:pt x="1605" y="355"/>
                  <a:pt x="1247" y="0"/>
                  <a:pt x="808" y="0"/>
                </a:cubicBezTo>
                <a:cubicBezTo>
                  <a:pt x="354" y="0"/>
                  <a:pt x="0" y="355"/>
                  <a:pt x="0" y="798"/>
                </a:cubicBezTo>
                <a:cubicBezTo>
                  <a:pt x="0" y="1253"/>
                  <a:pt x="354" y="1611"/>
                  <a:pt x="808" y="1611"/>
                </a:cubicBezTo>
                <a:close/>
                <a:moveTo>
                  <a:pt x="808" y="96"/>
                </a:moveTo>
                <a:cubicBezTo>
                  <a:pt x="1195" y="96"/>
                  <a:pt x="1505" y="410"/>
                  <a:pt x="1505" y="798"/>
                </a:cubicBezTo>
                <a:cubicBezTo>
                  <a:pt x="1505" y="1190"/>
                  <a:pt x="1195" y="1511"/>
                  <a:pt x="808" y="1511"/>
                </a:cubicBezTo>
                <a:cubicBezTo>
                  <a:pt x="420" y="1511"/>
                  <a:pt x="96" y="1190"/>
                  <a:pt x="96" y="798"/>
                </a:cubicBezTo>
                <a:cubicBezTo>
                  <a:pt x="96" y="410"/>
                  <a:pt x="420" y="96"/>
                  <a:pt x="808" y="96"/>
                </a:cubicBezTo>
                <a:close/>
                <a:moveTo>
                  <a:pt x="1106" y="1104"/>
                </a:moveTo>
                <a:cubicBezTo>
                  <a:pt x="382" y="1104"/>
                  <a:pt x="382" y="1104"/>
                  <a:pt x="382" y="1104"/>
                </a:cubicBezTo>
                <a:cubicBezTo>
                  <a:pt x="314" y="1104"/>
                  <a:pt x="260" y="1050"/>
                  <a:pt x="260" y="982"/>
                </a:cubicBezTo>
                <a:cubicBezTo>
                  <a:pt x="260" y="925"/>
                  <a:pt x="300" y="876"/>
                  <a:pt x="352" y="863"/>
                </a:cubicBezTo>
                <a:cubicBezTo>
                  <a:pt x="376" y="806"/>
                  <a:pt x="431" y="762"/>
                  <a:pt x="496" y="754"/>
                </a:cubicBezTo>
                <a:cubicBezTo>
                  <a:pt x="501" y="616"/>
                  <a:pt x="615" y="507"/>
                  <a:pt x="756" y="507"/>
                </a:cubicBezTo>
                <a:cubicBezTo>
                  <a:pt x="857" y="507"/>
                  <a:pt x="949" y="567"/>
                  <a:pt x="992" y="657"/>
                </a:cubicBezTo>
                <a:cubicBezTo>
                  <a:pt x="1025" y="638"/>
                  <a:pt x="1066" y="627"/>
                  <a:pt x="1106" y="627"/>
                </a:cubicBezTo>
                <a:cubicBezTo>
                  <a:pt x="1237" y="627"/>
                  <a:pt x="1345" y="735"/>
                  <a:pt x="1345" y="865"/>
                </a:cubicBezTo>
                <a:cubicBezTo>
                  <a:pt x="1345" y="998"/>
                  <a:pt x="1237" y="1104"/>
                  <a:pt x="1106" y="1104"/>
                </a:cubicBezTo>
                <a:close/>
                <a:moveTo>
                  <a:pt x="382" y="944"/>
                </a:moveTo>
                <a:cubicBezTo>
                  <a:pt x="360" y="944"/>
                  <a:pt x="344" y="963"/>
                  <a:pt x="344" y="982"/>
                </a:cubicBezTo>
                <a:cubicBezTo>
                  <a:pt x="344" y="1004"/>
                  <a:pt x="360" y="1020"/>
                  <a:pt x="382" y="1020"/>
                </a:cubicBezTo>
                <a:cubicBezTo>
                  <a:pt x="1106" y="1020"/>
                  <a:pt x="1106" y="1020"/>
                  <a:pt x="1106" y="1020"/>
                </a:cubicBezTo>
                <a:cubicBezTo>
                  <a:pt x="1191" y="1020"/>
                  <a:pt x="1261" y="952"/>
                  <a:pt x="1261" y="865"/>
                </a:cubicBezTo>
                <a:cubicBezTo>
                  <a:pt x="1261" y="781"/>
                  <a:pt x="1191" y="711"/>
                  <a:pt x="1106" y="711"/>
                </a:cubicBezTo>
                <a:cubicBezTo>
                  <a:pt x="1066" y="711"/>
                  <a:pt x="1028" y="727"/>
                  <a:pt x="998" y="754"/>
                </a:cubicBezTo>
                <a:cubicBezTo>
                  <a:pt x="944" y="806"/>
                  <a:pt x="944" y="806"/>
                  <a:pt x="944" y="806"/>
                </a:cubicBezTo>
                <a:cubicBezTo>
                  <a:pt x="927" y="733"/>
                  <a:pt x="927" y="733"/>
                  <a:pt x="927" y="733"/>
                </a:cubicBezTo>
                <a:cubicBezTo>
                  <a:pt x="911" y="651"/>
                  <a:pt x="840" y="592"/>
                  <a:pt x="756" y="592"/>
                </a:cubicBezTo>
                <a:cubicBezTo>
                  <a:pt x="659" y="592"/>
                  <a:pt x="580" y="670"/>
                  <a:pt x="580" y="768"/>
                </a:cubicBezTo>
                <a:cubicBezTo>
                  <a:pt x="580" y="776"/>
                  <a:pt x="580" y="784"/>
                  <a:pt x="580" y="792"/>
                </a:cubicBezTo>
                <a:cubicBezTo>
                  <a:pt x="588" y="849"/>
                  <a:pt x="588" y="849"/>
                  <a:pt x="588" y="849"/>
                </a:cubicBezTo>
                <a:cubicBezTo>
                  <a:pt x="531" y="838"/>
                  <a:pt x="531" y="838"/>
                  <a:pt x="531" y="838"/>
                </a:cubicBezTo>
                <a:cubicBezTo>
                  <a:pt x="526" y="838"/>
                  <a:pt x="520" y="838"/>
                  <a:pt x="515" y="838"/>
                </a:cubicBezTo>
                <a:cubicBezTo>
                  <a:pt x="471" y="838"/>
                  <a:pt x="436" y="868"/>
                  <a:pt x="425" y="912"/>
                </a:cubicBezTo>
                <a:cubicBezTo>
                  <a:pt x="420" y="947"/>
                  <a:pt x="420" y="947"/>
                  <a:pt x="420" y="947"/>
                </a:cubicBezTo>
                <a:cubicBezTo>
                  <a:pt x="384" y="944"/>
                  <a:pt x="384" y="944"/>
                  <a:pt x="384" y="944"/>
                </a:cubicBezTo>
                <a:cubicBezTo>
                  <a:pt x="382" y="944"/>
                  <a:pt x="382" y="944"/>
                  <a:pt x="382" y="94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2" name="Freeform 7"/>
          <p:cNvSpPr>
            <a:spLocks noEditPoints="1"/>
          </p:cNvSpPr>
          <p:nvPr/>
        </p:nvSpPr>
        <p:spPr bwMode="black">
          <a:xfrm>
            <a:off x="1917922" y="5069937"/>
            <a:ext cx="365248" cy="344610"/>
          </a:xfrm>
          <a:custGeom>
            <a:avLst/>
            <a:gdLst>
              <a:gd name="T0" fmla="*/ 52 w 300"/>
              <a:gd name="T1" fmla="*/ 268 h 300"/>
              <a:gd name="T2" fmla="*/ 62 w 300"/>
              <a:gd name="T3" fmla="*/ 255 h 300"/>
              <a:gd name="T4" fmla="*/ 77 w 300"/>
              <a:gd name="T5" fmla="*/ 230 h 300"/>
              <a:gd name="T6" fmla="*/ 46 w 300"/>
              <a:gd name="T7" fmla="*/ 204 h 300"/>
              <a:gd name="T8" fmla="*/ 15 w 300"/>
              <a:gd name="T9" fmla="*/ 233 h 300"/>
              <a:gd name="T10" fmla="*/ 33 w 300"/>
              <a:gd name="T11" fmla="*/ 219 h 300"/>
              <a:gd name="T12" fmla="*/ 60 w 300"/>
              <a:gd name="T13" fmla="*/ 219 h 300"/>
              <a:gd name="T14" fmla="*/ 63 w 300"/>
              <a:gd name="T15" fmla="*/ 238 h 300"/>
              <a:gd name="T16" fmla="*/ 46 w 300"/>
              <a:gd name="T17" fmla="*/ 255 h 300"/>
              <a:gd name="T18" fmla="*/ 39 w 300"/>
              <a:gd name="T19" fmla="*/ 275 h 300"/>
              <a:gd name="T20" fmla="*/ 51 w 300"/>
              <a:gd name="T21" fmla="*/ 279 h 300"/>
              <a:gd name="T22" fmla="*/ 51 w 300"/>
              <a:gd name="T23" fmla="*/ 288 h 300"/>
              <a:gd name="T24" fmla="*/ 39 w 300"/>
              <a:gd name="T25" fmla="*/ 300 h 300"/>
              <a:gd name="T26" fmla="*/ 300 w 300"/>
              <a:gd name="T27" fmla="*/ 216 h 300"/>
              <a:gd name="T28" fmla="*/ 218 w 300"/>
              <a:gd name="T29" fmla="*/ 300 h 300"/>
              <a:gd name="T30" fmla="*/ 220 w 300"/>
              <a:gd name="T31" fmla="*/ 263 h 300"/>
              <a:gd name="T32" fmla="*/ 277 w 300"/>
              <a:gd name="T33" fmla="*/ 216 h 300"/>
              <a:gd name="T34" fmla="*/ 149 w 300"/>
              <a:gd name="T35" fmla="*/ 228 h 300"/>
              <a:gd name="T36" fmla="*/ 119 w 300"/>
              <a:gd name="T37" fmla="*/ 242 h 300"/>
              <a:gd name="T38" fmla="*/ 149 w 300"/>
              <a:gd name="T39" fmla="*/ 262 h 300"/>
              <a:gd name="T40" fmla="*/ 177 w 300"/>
              <a:gd name="T41" fmla="*/ 252 h 300"/>
              <a:gd name="T42" fmla="*/ 255 w 300"/>
              <a:gd name="T43" fmla="*/ 75 h 300"/>
              <a:gd name="T44" fmla="*/ 259 w 300"/>
              <a:gd name="T45" fmla="*/ 59 h 300"/>
              <a:gd name="T46" fmla="*/ 278 w 300"/>
              <a:gd name="T47" fmla="*/ 38 h 300"/>
              <a:gd name="T48" fmla="*/ 272 w 300"/>
              <a:gd name="T49" fmla="*/ 8 h 300"/>
              <a:gd name="T50" fmla="*/ 228 w 300"/>
              <a:gd name="T51" fmla="*/ 7 h 300"/>
              <a:gd name="T52" fmla="*/ 231 w 300"/>
              <a:gd name="T53" fmla="*/ 29 h 300"/>
              <a:gd name="T54" fmla="*/ 250 w 300"/>
              <a:gd name="T55" fmla="*/ 10 h 300"/>
              <a:gd name="T56" fmla="*/ 269 w 300"/>
              <a:gd name="T57" fmla="*/ 26 h 300"/>
              <a:gd name="T58" fmla="*/ 259 w 300"/>
              <a:gd name="T59" fmla="*/ 43 h 300"/>
              <a:gd name="T60" fmla="*/ 245 w 300"/>
              <a:gd name="T61" fmla="*/ 59 h 300"/>
              <a:gd name="T62" fmla="*/ 243 w 300"/>
              <a:gd name="T63" fmla="*/ 75 h 300"/>
              <a:gd name="T64" fmla="*/ 255 w 300"/>
              <a:gd name="T65" fmla="*/ 96 h 300"/>
              <a:gd name="T66" fmla="*/ 243 w 300"/>
              <a:gd name="T67" fmla="*/ 84 h 300"/>
              <a:gd name="T68" fmla="*/ 255 w 300"/>
              <a:gd name="T69" fmla="*/ 96 h 300"/>
              <a:gd name="T70" fmla="*/ 49 w 300"/>
              <a:gd name="T71" fmla="*/ 84 h 300"/>
              <a:gd name="T72" fmla="*/ 0 w 300"/>
              <a:gd name="T73" fmla="*/ 47 h 300"/>
              <a:gd name="T74" fmla="*/ 35 w 300"/>
              <a:gd name="T75" fmla="*/ 68 h 300"/>
              <a:gd name="T76" fmla="*/ 102 w 300"/>
              <a:gd name="T77" fmla="*/ 0 h 300"/>
              <a:gd name="T78" fmla="*/ 147 w 300"/>
              <a:gd name="T79" fmla="*/ 58 h 300"/>
              <a:gd name="T80" fmla="*/ 177 w 300"/>
              <a:gd name="T81" fmla="*/ 38 h 300"/>
              <a:gd name="T82" fmla="*/ 147 w 300"/>
              <a:gd name="T83" fmla="*/ 24 h 300"/>
              <a:gd name="T84" fmla="*/ 147 w 300"/>
              <a:gd name="T85" fmla="*/ 72 h 300"/>
              <a:gd name="T86" fmla="*/ 56 w 300"/>
              <a:gd name="T87" fmla="*/ 151 h 300"/>
              <a:gd name="T88" fmla="*/ 36 w 300"/>
              <a:gd name="T89" fmla="*/ 121 h 300"/>
              <a:gd name="T90" fmla="*/ 22 w 300"/>
              <a:gd name="T91" fmla="*/ 151 h 300"/>
              <a:gd name="T92" fmla="*/ 70 w 300"/>
              <a:gd name="T93" fmla="*/ 151 h 300"/>
              <a:gd name="T94" fmla="*/ 240 w 300"/>
              <a:gd name="T95" fmla="*/ 149 h 300"/>
              <a:gd name="T96" fmla="*/ 260 w 300"/>
              <a:gd name="T97" fmla="*/ 179 h 300"/>
              <a:gd name="T98" fmla="*/ 274 w 300"/>
              <a:gd name="T99" fmla="*/ 149 h 300"/>
              <a:gd name="T100" fmla="*/ 226 w 300"/>
              <a:gd name="T101" fmla="*/ 149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0" h="300">
                <a:moveTo>
                  <a:pt x="51" y="279"/>
                </a:moveTo>
                <a:cubicBezTo>
                  <a:pt x="51" y="274"/>
                  <a:pt x="51" y="270"/>
                  <a:pt x="52" y="268"/>
                </a:cubicBezTo>
                <a:cubicBezTo>
                  <a:pt x="52" y="266"/>
                  <a:pt x="53" y="264"/>
                  <a:pt x="55" y="263"/>
                </a:cubicBezTo>
                <a:cubicBezTo>
                  <a:pt x="56" y="261"/>
                  <a:pt x="58" y="259"/>
                  <a:pt x="62" y="255"/>
                </a:cubicBezTo>
                <a:cubicBezTo>
                  <a:pt x="68" y="250"/>
                  <a:pt x="72" y="246"/>
                  <a:pt x="74" y="242"/>
                </a:cubicBezTo>
                <a:cubicBezTo>
                  <a:pt x="76" y="239"/>
                  <a:pt x="77" y="235"/>
                  <a:pt x="77" y="230"/>
                </a:cubicBezTo>
                <a:cubicBezTo>
                  <a:pt x="77" y="223"/>
                  <a:pt x="74" y="217"/>
                  <a:pt x="68" y="212"/>
                </a:cubicBezTo>
                <a:cubicBezTo>
                  <a:pt x="63" y="207"/>
                  <a:pt x="55" y="204"/>
                  <a:pt x="46" y="204"/>
                </a:cubicBezTo>
                <a:cubicBezTo>
                  <a:pt x="37" y="204"/>
                  <a:pt x="30" y="206"/>
                  <a:pt x="24" y="211"/>
                </a:cubicBezTo>
                <a:cubicBezTo>
                  <a:pt x="18" y="217"/>
                  <a:pt x="15" y="225"/>
                  <a:pt x="15" y="233"/>
                </a:cubicBezTo>
                <a:cubicBezTo>
                  <a:pt x="27" y="233"/>
                  <a:pt x="27" y="233"/>
                  <a:pt x="27" y="233"/>
                </a:cubicBezTo>
                <a:cubicBezTo>
                  <a:pt x="28" y="227"/>
                  <a:pt x="28" y="223"/>
                  <a:pt x="33" y="219"/>
                </a:cubicBezTo>
                <a:cubicBezTo>
                  <a:pt x="37" y="216"/>
                  <a:pt x="41" y="214"/>
                  <a:pt x="46" y="214"/>
                </a:cubicBezTo>
                <a:cubicBezTo>
                  <a:pt x="51" y="214"/>
                  <a:pt x="57" y="216"/>
                  <a:pt x="60" y="219"/>
                </a:cubicBezTo>
                <a:cubicBezTo>
                  <a:pt x="64" y="223"/>
                  <a:pt x="65" y="226"/>
                  <a:pt x="65" y="230"/>
                </a:cubicBezTo>
                <a:cubicBezTo>
                  <a:pt x="65" y="233"/>
                  <a:pt x="64" y="236"/>
                  <a:pt x="63" y="238"/>
                </a:cubicBezTo>
                <a:cubicBezTo>
                  <a:pt x="61" y="240"/>
                  <a:pt x="59" y="243"/>
                  <a:pt x="55" y="247"/>
                </a:cubicBezTo>
                <a:cubicBezTo>
                  <a:pt x="51" y="251"/>
                  <a:pt x="48" y="253"/>
                  <a:pt x="46" y="255"/>
                </a:cubicBezTo>
                <a:cubicBezTo>
                  <a:pt x="44" y="258"/>
                  <a:pt x="42" y="260"/>
                  <a:pt x="41" y="263"/>
                </a:cubicBezTo>
                <a:cubicBezTo>
                  <a:pt x="40" y="266"/>
                  <a:pt x="39" y="270"/>
                  <a:pt x="39" y="275"/>
                </a:cubicBezTo>
                <a:cubicBezTo>
                  <a:pt x="39" y="276"/>
                  <a:pt x="39" y="277"/>
                  <a:pt x="39" y="279"/>
                </a:cubicBezTo>
                <a:lnTo>
                  <a:pt x="51" y="279"/>
                </a:lnTo>
                <a:close/>
                <a:moveTo>
                  <a:pt x="51" y="300"/>
                </a:moveTo>
                <a:cubicBezTo>
                  <a:pt x="51" y="288"/>
                  <a:pt x="51" y="288"/>
                  <a:pt x="51" y="288"/>
                </a:cubicBezTo>
                <a:cubicBezTo>
                  <a:pt x="39" y="288"/>
                  <a:pt x="39" y="288"/>
                  <a:pt x="39" y="288"/>
                </a:cubicBezTo>
                <a:cubicBezTo>
                  <a:pt x="39" y="300"/>
                  <a:pt x="39" y="300"/>
                  <a:pt x="39" y="300"/>
                </a:cubicBezTo>
                <a:lnTo>
                  <a:pt x="51" y="300"/>
                </a:lnTo>
                <a:close/>
                <a:moveTo>
                  <a:pt x="300" y="216"/>
                </a:moveTo>
                <a:cubicBezTo>
                  <a:pt x="247" y="300"/>
                  <a:pt x="247" y="300"/>
                  <a:pt x="247" y="300"/>
                </a:cubicBezTo>
                <a:cubicBezTo>
                  <a:pt x="218" y="300"/>
                  <a:pt x="218" y="300"/>
                  <a:pt x="218" y="300"/>
                </a:cubicBezTo>
                <a:cubicBezTo>
                  <a:pt x="198" y="263"/>
                  <a:pt x="198" y="263"/>
                  <a:pt x="198" y="263"/>
                </a:cubicBezTo>
                <a:cubicBezTo>
                  <a:pt x="220" y="263"/>
                  <a:pt x="220" y="263"/>
                  <a:pt x="220" y="263"/>
                </a:cubicBezTo>
                <a:cubicBezTo>
                  <a:pt x="233" y="285"/>
                  <a:pt x="233" y="285"/>
                  <a:pt x="233" y="285"/>
                </a:cubicBezTo>
                <a:cubicBezTo>
                  <a:pt x="277" y="216"/>
                  <a:pt x="277" y="216"/>
                  <a:pt x="277" y="216"/>
                </a:cubicBezTo>
                <a:lnTo>
                  <a:pt x="300" y="216"/>
                </a:lnTo>
                <a:close/>
                <a:moveTo>
                  <a:pt x="149" y="228"/>
                </a:moveTo>
                <a:cubicBezTo>
                  <a:pt x="149" y="242"/>
                  <a:pt x="149" y="242"/>
                  <a:pt x="149" y="242"/>
                </a:cubicBezTo>
                <a:cubicBezTo>
                  <a:pt x="119" y="242"/>
                  <a:pt x="119" y="242"/>
                  <a:pt x="119" y="242"/>
                </a:cubicBezTo>
                <a:cubicBezTo>
                  <a:pt x="119" y="262"/>
                  <a:pt x="119" y="262"/>
                  <a:pt x="119" y="262"/>
                </a:cubicBezTo>
                <a:cubicBezTo>
                  <a:pt x="149" y="262"/>
                  <a:pt x="149" y="262"/>
                  <a:pt x="149" y="262"/>
                </a:cubicBezTo>
                <a:cubicBezTo>
                  <a:pt x="149" y="276"/>
                  <a:pt x="149" y="276"/>
                  <a:pt x="149" y="276"/>
                </a:cubicBezTo>
                <a:cubicBezTo>
                  <a:pt x="177" y="252"/>
                  <a:pt x="177" y="252"/>
                  <a:pt x="177" y="252"/>
                </a:cubicBezTo>
                <a:lnTo>
                  <a:pt x="149" y="228"/>
                </a:lnTo>
                <a:close/>
                <a:moveTo>
                  <a:pt x="255" y="75"/>
                </a:moveTo>
                <a:cubicBezTo>
                  <a:pt x="255" y="70"/>
                  <a:pt x="255" y="66"/>
                  <a:pt x="256" y="64"/>
                </a:cubicBezTo>
                <a:cubicBezTo>
                  <a:pt x="256" y="62"/>
                  <a:pt x="257" y="60"/>
                  <a:pt x="259" y="59"/>
                </a:cubicBezTo>
                <a:cubicBezTo>
                  <a:pt x="260" y="57"/>
                  <a:pt x="262" y="55"/>
                  <a:pt x="266" y="51"/>
                </a:cubicBezTo>
                <a:cubicBezTo>
                  <a:pt x="272" y="46"/>
                  <a:pt x="276" y="42"/>
                  <a:pt x="278" y="38"/>
                </a:cubicBezTo>
                <a:cubicBezTo>
                  <a:pt x="280" y="35"/>
                  <a:pt x="281" y="31"/>
                  <a:pt x="281" y="26"/>
                </a:cubicBezTo>
                <a:cubicBezTo>
                  <a:pt x="281" y="19"/>
                  <a:pt x="278" y="13"/>
                  <a:pt x="272" y="8"/>
                </a:cubicBezTo>
                <a:cubicBezTo>
                  <a:pt x="267" y="3"/>
                  <a:pt x="259" y="0"/>
                  <a:pt x="250" y="0"/>
                </a:cubicBezTo>
                <a:cubicBezTo>
                  <a:pt x="241" y="0"/>
                  <a:pt x="234" y="2"/>
                  <a:pt x="228" y="7"/>
                </a:cubicBezTo>
                <a:cubicBezTo>
                  <a:pt x="222" y="13"/>
                  <a:pt x="219" y="21"/>
                  <a:pt x="219" y="29"/>
                </a:cubicBezTo>
                <a:cubicBezTo>
                  <a:pt x="231" y="29"/>
                  <a:pt x="231" y="29"/>
                  <a:pt x="231" y="29"/>
                </a:cubicBezTo>
                <a:cubicBezTo>
                  <a:pt x="232" y="23"/>
                  <a:pt x="232" y="19"/>
                  <a:pt x="237" y="15"/>
                </a:cubicBezTo>
                <a:cubicBezTo>
                  <a:pt x="241" y="12"/>
                  <a:pt x="245" y="10"/>
                  <a:pt x="250" y="10"/>
                </a:cubicBezTo>
                <a:cubicBezTo>
                  <a:pt x="255" y="10"/>
                  <a:pt x="261" y="12"/>
                  <a:pt x="264" y="15"/>
                </a:cubicBezTo>
                <a:cubicBezTo>
                  <a:pt x="268" y="19"/>
                  <a:pt x="269" y="22"/>
                  <a:pt x="269" y="26"/>
                </a:cubicBezTo>
                <a:cubicBezTo>
                  <a:pt x="269" y="29"/>
                  <a:pt x="268" y="32"/>
                  <a:pt x="267" y="34"/>
                </a:cubicBezTo>
                <a:cubicBezTo>
                  <a:pt x="265" y="36"/>
                  <a:pt x="263" y="39"/>
                  <a:pt x="259" y="43"/>
                </a:cubicBezTo>
                <a:cubicBezTo>
                  <a:pt x="255" y="47"/>
                  <a:pt x="252" y="49"/>
                  <a:pt x="250" y="51"/>
                </a:cubicBezTo>
                <a:cubicBezTo>
                  <a:pt x="248" y="54"/>
                  <a:pt x="246" y="56"/>
                  <a:pt x="245" y="59"/>
                </a:cubicBezTo>
                <a:cubicBezTo>
                  <a:pt x="244" y="62"/>
                  <a:pt x="243" y="66"/>
                  <a:pt x="243" y="71"/>
                </a:cubicBezTo>
                <a:cubicBezTo>
                  <a:pt x="243" y="72"/>
                  <a:pt x="243" y="73"/>
                  <a:pt x="243" y="75"/>
                </a:cubicBezTo>
                <a:lnTo>
                  <a:pt x="255" y="75"/>
                </a:lnTo>
                <a:close/>
                <a:moveTo>
                  <a:pt x="255" y="96"/>
                </a:moveTo>
                <a:cubicBezTo>
                  <a:pt x="255" y="84"/>
                  <a:pt x="255" y="84"/>
                  <a:pt x="255" y="84"/>
                </a:cubicBezTo>
                <a:cubicBezTo>
                  <a:pt x="243" y="84"/>
                  <a:pt x="243" y="84"/>
                  <a:pt x="243" y="84"/>
                </a:cubicBezTo>
                <a:cubicBezTo>
                  <a:pt x="243" y="96"/>
                  <a:pt x="243" y="96"/>
                  <a:pt x="243" y="96"/>
                </a:cubicBezTo>
                <a:lnTo>
                  <a:pt x="255" y="96"/>
                </a:lnTo>
                <a:close/>
                <a:moveTo>
                  <a:pt x="102" y="0"/>
                </a:moveTo>
                <a:cubicBezTo>
                  <a:pt x="49" y="84"/>
                  <a:pt x="49" y="84"/>
                  <a:pt x="49" y="84"/>
                </a:cubicBezTo>
                <a:cubicBezTo>
                  <a:pt x="20" y="84"/>
                  <a:pt x="20" y="84"/>
                  <a:pt x="20" y="84"/>
                </a:cubicBezTo>
                <a:cubicBezTo>
                  <a:pt x="0" y="47"/>
                  <a:pt x="0" y="47"/>
                  <a:pt x="0" y="47"/>
                </a:cubicBezTo>
                <a:cubicBezTo>
                  <a:pt x="22" y="47"/>
                  <a:pt x="22" y="47"/>
                  <a:pt x="22" y="47"/>
                </a:cubicBezTo>
                <a:cubicBezTo>
                  <a:pt x="35" y="68"/>
                  <a:pt x="35" y="68"/>
                  <a:pt x="35" y="68"/>
                </a:cubicBezTo>
                <a:cubicBezTo>
                  <a:pt x="79" y="0"/>
                  <a:pt x="79" y="0"/>
                  <a:pt x="79" y="0"/>
                </a:cubicBezTo>
                <a:lnTo>
                  <a:pt x="102" y="0"/>
                </a:lnTo>
                <a:close/>
                <a:moveTo>
                  <a:pt x="147" y="72"/>
                </a:moveTo>
                <a:cubicBezTo>
                  <a:pt x="147" y="58"/>
                  <a:pt x="147" y="58"/>
                  <a:pt x="147" y="58"/>
                </a:cubicBezTo>
                <a:cubicBezTo>
                  <a:pt x="177" y="58"/>
                  <a:pt x="177" y="58"/>
                  <a:pt x="177" y="58"/>
                </a:cubicBezTo>
                <a:cubicBezTo>
                  <a:pt x="177" y="38"/>
                  <a:pt x="177" y="38"/>
                  <a:pt x="177" y="38"/>
                </a:cubicBezTo>
                <a:cubicBezTo>
                  <a:pt x="147" y="38"/>
                  <a:pt x="147" y="38"/>
                  <a:pt x="147" y="38"/>
                </a:cubicBezTo>
                <a:cubicBezTo>
                  <a:pt x="147" y="24"/>
                  <a:pt x="147" y="24"/>
                  <a:pt x="147" y="24"/>
                </a:cubicBezTo>
                <a:cubicBezTo>
                  <a:pt x="119" y="48"/>
                  <a:pt x="119" y="48"/>
                  <a:pt x="119" y="48"/>
                </a:cubicBezTo>
                <a:lnTo>
                  <a:pt x="147" y="72"/>
                </a:lnTo>
                <a:close/>
                <a:moveTo>
                  <a:pt x="70" y="151"/>
                </a:moveTo>
                <a:cubicBezTo>
                  <a:pt x="56" y="151"/>
                  <a:pt x="56" y="151"/>
                  <a:pt x="56" y="151"/>
                </a:cubicBezTo>
                <a:cubicBezTo>
                  <a:pt x="56" y="121"/>
                  <a:pt x="56" y="121"/>
                  <a:pt x="56" y="121"/>
                </a:cubicBezTo>
                <a:cubicBezTo>
                  <a:pt x="36" y="121"/>
                  <a:pt x="36" y="121"/>
                  <a:pt x="36" y="121"/>
                </a:cubicBezTo>
                <a:cubicBezTo>
                  <a:pt x="36" y="151"/>
                  <a:pt x="36" y="151"/>
                  <a:pt x="36" y="151"/>
                </a:cubicBezTo>
                <a:cubicBezTo>
                  <a:pt x="22" y="151"/>
                  <a:pt x="22" y="151"/>
                  <a:pt x="22" y="151"/>
                </a:cubicBezTo>
                <a:cubicBezTo>
                  <a:pt x="46" y="179"/>
                  <a:pt x="46" y="179"/>
                  <a:pt x="46" y="179"/>
                </a:cubicBezTo>
                <a:lnTo>
                  <a:pt x="70" y="151"/>
                </a:lnTo>
                <a:close/>
                <a:moveTo>
                  <a:pt x="226" y="149"/>
                </a:moveTo>
                <a:cubicBezTo>
                  <a:pt x="240" y="149"/>
                  <a:pt x="240" y="149"/>
                  <a:pt x="240" y="149"/>
                </a:cubicBezTo>
                <a:cubicBezTo>
                  <a:pt x="240" y="179"/>
                  <a:pt x="240" y="179"/>
                  <a:pt x="240" y="179"/>
                </a:cubicBezTo>
                <a:cubicBezTo>
                  <a:pt x="260" y="179"/>
                  <a:pt x="260" y="179"/>
                  <a:pt x="260" y="179"/>
                </a:cubicBezTo>
                <a:cubicBezTo>
                  <a:pt x="260" y="149"/>
                  <a:pt x="260" y="149"/>
                  <a:pt x="260" y="149"/>
                </a:cubicBezTo>
                <a:cubicBezTo>
                  <a:pt x="274" y="149"/>
                  <a:pt x="274" y="149"/>
                  <a:pt x="274" y="149"/>
                </a:cubicBezTo>
                <a:cubicBezTo>
                  <a:pt x="250" y="121"/>
                  <a:pt x="250" y="121"/>
                  <a:pt x="250" y="121"/>
                </a:cubicBezTo>
                <a:lnTo>
                  <a:pt x="226" y="149"/>
                </a:ln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endParaRPr lang="en-US" sz="1600">
              <a:solidFill>
                <a:srgbClr val="FFFFFF"/>
              </a:solidFill>
            </a:endParaRPr>
          </a:p>
        </p:txBody>
      </p:sp>
    </p:spTree>
    <p:extLst>
      <p:ext uri="{BB962C8B-B14F-4D97-AF65-F5344CB8AC3E}">
        <p14:creationId xmlns:p14="http://schemas.microsoft.com/office/powerpoint/2010/main" val="3725389403"/>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Modern Web – Cross Platform</a:t>
            </a:r>
            <a:endParaRPr lang="en-US" dirty="0"/>
          </a:p>
        </p:txBody>
      </p:sp>
      <p:sp>
        <p:nvSpPr>
          <p:cNvPr id="4" name="Rectangle 3"/>
          <p:cNvSpPr/>
          <p:nvPr/>
        </p:nvSpPr>
        <p:spPr>
          <a:xfrm>
            <a:off x="2813535" y="3493532"/>
            <a:ext cx="1272721" cy="523220"/>
          </a:xfrm>
          <a:prstGeom prst="rect">
            <a:avLst/>
          </a:prstGeom>
        </p:spPr>
        <p:txBody>
          <a:bodyPr wrap="none">
            <a:spAutoFit/>
          </a:bodyPr>
          <a:lstStyle/>
          <a:p>
            <a:r>
              <a:rPr lang="en-US" sz="2800" dirty="0" smtClean="0">
                <a:solidFill>
                  <a:srgbClr val="FFFFFF"/>
                </a:solidFill>
              </a:rPr>
              <a:t>Editors</a:t>
            </a:r>
          </a:p>
        </p:txBody>
      </p:sp>
      <p:sp>
        <p:nvSpPr>
          <p:cNvPr id="5" name="Content Placeholder 2"/>
          <p:cNvSpPr>
            <a:spLocks noGrp="1"/>
          </p:cNvSpPr>
          <p:nvPr>
            <p:ph type="body" sz="quarter" idx="4294967295"/>
          </p:nvPr>
        </p:nvSpPr>
        <p:spPr>
          <a:xfrm>
            <a:off x="2820781" y="3984913"/>
            <a:ext cx="7685500" cy="923330"/>
          </a:xfrm>
          <a:prstGeom prst="rect">
            <a:avLst/>
          </a:prstGeom>
        </p:spPr>
        <p:txBody>
          <a:bodyPr/>
          <a:lstStyle/>
          <a:p>
            <a:r>
              <a:rPr lang="en-US" sz="2400" dirty="0" smtClean="0">
                <a:latin typeface="+mn-lt"/>
              </a:rPr>
              <a:t>Visual Studio, Text, Cloud editors</a:t>
            </a:r>
          </a:p>
          <a:p>
            <a:r>
              <a:rPr lang="en-US" sz="2400" dirty="0" smtClean="0">
                <a:latin typeface="+mn-lt"/>
              </a:rPr>
              <a:t>No editors (command line)</a:t>
            </a:r>
          </a:p>
        </p:txBody>
      </p:sp>
      <p:sp>
        <p:nvSpPr>
          <p:cNvPr id="6" name="Rectangle 5"/>
          <p:cNvSpPr/>
          <p:nvPr/>
        </p:nvSpPr>
        <p:spPr>
          <a:xfrm>
            <a:off x="2813535" y="5080145"/>
            <a:ext cx="5259838" cy="523220"/>
          </a:xfrm>
          <a:prstGeom prst="rect">
            <a:avLst/>
          </a:prstGeom>
        </p:spPr>
        <p:txBody>
          <a:bodyPr wrap="none">
            <a:spAutoFit/>
          </a:bodyPr>
          <a:lstStyle/>
          <a:p>
            <a:r>
              <a:rPr lang="en-US" sz="2800" dirty="0" smtClean="0">
                <a:solidFill>
                  <a:srgbClr val="FFFFFF"/>
                </a:solidFill>
              </a:rPr>
              <a:t>Open Source with Contributions</a:t>
            </a:r>
          </a:p>
        </p:txBody>
      </p:sp>
      <p:sp>
        <p:nvSpPr>
          <p:cNvPr id="7" name="Oval 6"/>
          <p:cNvSpPr/>
          <p:nvPr/>
        </p:nvSpPr>
        <p:spPr bwMode="auto">
          <a:xfrm>
            <a:off x="2203935" y="5009693"/>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p:cNvSpPr/>
          <p:nvPr/>
        </p:nvSpPr>
        <p:spPr>
          <a:xfrm>
            <a:off x="2820781" y="1958062"/>
            <a:ext cx="1511952" cy="523220"/>
          </a:xfrm>
          <a:prstGeom prst="rect">
            <a:avLst/>
          </a:prstGeom>
        </p:spPr>
        <p:txBody>
          <a:bodyPr wrap="none">
            <a:spAutoFit/>
          </a:bodyPr>
          <a:lstStyle/>
          <a:p>
            <a:r>
              <a:rPr lang="en-US" sz="2800" dirty="0" smtClean="0">
                <a:solidFill>
                  <a:srgbClr val="FFFFFF"/>
                </a:solidFill>
              </a:rPr>
              <a:t>Runtime</a:t>
            </a:r>
          </a:p>
        </p:txBody>
      </p:sp>
      <p:sp>
        <p:nvSpPr>
          <p:cNvPr id="9" name="Oval 8"/>
          <p:cNvSpPr/>
          <p:nvPr/>
        </p:nvSpPr>
        <p:spPr bwMode="auto">
          <a:xfrm>
            <a:off x="2199148" y="3390553"/>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10" name="Oval 9"/>
          <p:cNvSpPr/>
          <p:nvPr/>
        </p:nvSpPr>
        <p:spPr bwMode="auto">
          <a:xfrm>
            <a:off x="2211181" y="1874910"/>
            <a:ext cx="609600" cy="59436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11" name="Content Placeholder 2"/>
          <p:cNvSpPr>
            <a:spLocks noGrp="1"/>
          </p:cNvSpPr>
          <p:nvPr>
            <p:ph type="body" sz="quarter" idx="4294967295"/>
          </p:nvPr>
        </p:nvSpPr>
        <p:spPr>
          <a:xfrm>
            <a:off x="2784860" y="2520813"/>
            <a:ext cx="7685500" cy="517065"/>
          </a:xfrm>
          <a:prstGeom prst="rect">
            <a:avLst/>
          </a:prstGeom>
        </p:spPr>
        <p:txBody>
          <a:bodyPr/>
          <a:lstStyle/>
          <a:p>
            <a:r>
              <a:rPr lang="en-US" sz="2400" dirty="0" smtClean="0">
                <a:latin typeface="+mn-lt"/>
              </a:rPr>
              <a:t>Windows, Mac, Linux</a:t>
            </a:r>
          </a:p>
        </p:txBody>
      </p:sp>
      <p:pic>
        <p:nvPicPr>
          <p:cNvPr id="12" name="Picture 6" descr="C:\temp\WinAzure_rgb_Wht_S.png"/>
          <p:cNvPicPr>
            <a:picLocks noChangeAspect="1" noChangeArrowheads="1"/>
          </p:cNvPicPr>
          <p:nvPr/>
        </p:nvPicPr>
        <p:blipFill rotWithShape="1">
          <a:blip r:embed="rId2">
            <a:extLst>
              <a:ext uri="{28A0092B-C50C-407E-A947-70E740481C1C}">
                <a14:useLocalDpi xmlns:a14="http://schemas.microsoft.com/office/drawing/2010/main" val="0"/>
              </a:ext>
            </a:extLst>
          </a:blip>
          <a:srcRect l="3371" t="15460" r="80628" b="15496"/>
          <a:stretch/>
        </p:blipFill>
        <p:spPr bwMode="auto">
          <a:xfrm>
            <a:off x="2404459" y="1943117"/>
            <a:ext cx="210181" cy="21742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http://files.softicons.com/download/system-icons/windows-8-metro-icons-by-dakirby309/png/512x512/Folders%20&amp;%20OS/Linux.png"/>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520482" y="2147586"/>
            <a:ext cx="242063" cy="242063"/>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p:cNvGrpSpPr>
            <a:grpSpLocks noChangeAspect="1"/>
          </p:cNvGrpSpPr>
          <p:nvPr/>
        </p:nvGrpSpPr>
        <p:grpSpPr bwMode="auto">
          <a:xfrm>
            <a:off x="2314492" y="2130536"/>
            <a:ext cx="197134" cy="235237"/>
            <a:chOff x="3485" y="1766"/>
            <a:chExt cx="745" cy="889"/>
          </a:xfrm>
        </p:grpSpPr>
        <p:sp>
          <p:nvSpPr>
            <p:cNvPr id="15" name="Freeform 14"/>
            <p:cNvSpPr>
              <a:spLocks/>
            </p:cNvSpPr>
            <p:nvPr/>
          </p:nvSpPr>
          <p:spPr bwMode="auto">
            <a:xfrm>
              <a:off x="3485" y="2008"/>
              <a:ext cx="745" cy="647"/>
            </a:xfrm>
            <a:custGeom>
              <a:avLst/>
              <a:gdLst>
                <a:gd name="T0" fmla="*/ 296 w 296"/>
                <a:gd name="T1" fmla="*/ 167 h 256"/>
                <a:gd name="T2" fmla="*/ 274 w 296"/>
                <a:gd name="T3" fmla="*/ 207 h 256"/>
                <a:gd name="T4" fmla="*/ 216 w 296"/>
                <a:gd name="T5" fmla="*/ 256 h 256"/>
                <a:gd name="T6" fmla="*/ 159 w 296"/>
                <a:gd name="T7" fmla="*/ 242 h 256"/>
                <a:gd name="T8" fmla="*/ 101 w 296"/>
                <a:gd name="T9" fmla="*/ 256 h 256"/>
                <a:gd name="T10" fmla="*/ 44 w 296"/>
                <a:gd name="T11" fmla="*/ 210 h 256"/>
                <a:gd name="T12" fmla="*/ 24 w 296"/>
                <a:gd name="T13" fmla="*/ 42 h 256"/>
                <a:gd name="T14" fmla="*/ 94 w 296"/>
                <a:gd name="T15" fmla="*/ 0 h 256"/>
                <a:gd name="T16" fmla="*/ 158 w 296"/>
                <a:gd name="T17" fmla="*/ 15 h 256"/>
                <a:gd name="T18" fmla="*/ 222 w 296"/>
                <a:gd name="T19" fmla="*/ 0 h 256"/>
                <a:gd name="T20" fmla="*/ 286 w 296"/>
                <a:gd name="T21" fmla="*/ 34 h 256"/>
                <a:gd name="T22" fmla="*/ 296 w 296"/>
                <a:gd name="T23" fmla="*/ 16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6" h="256">
                  <a:moveTo>
                    <a:pt x="296" y="167"/>
                  </a:moveTo>
                  <a:cubicBezTo>
                    <a:pt x="288" y="184"/>
                    <a:pt x="284" y="192"/>
                    <a:pt x="274" y="207"/>
                  </a:cubicBezTo>
                  <a:cubicBezTo>
                    <a:pt x="260" y="229"/>
                    <a:pt x="240" y="255"/>
                    <a:pt x="216" y="256"/>
                  </a:cubicBezTo>
                  <a:cubicBezTo>
                    <a:pt x="194" y="256"/>
                    <a:pt x="188" y="241"/>
                    <a:pt x="159" y="242"/>
                  </a:cubicBezTo>
                  <a:cubicBezTo>
                    <a:pt x="129" y="242"/>
                    <a:pt x="123" y="256"/>
                    <a:pt x="101" y="256"/>
                  </a:cubicBezTo>
                  <a:cubicBezTo>
                    <a:pt x="76" y="255"/>
                    <a:pt x="58" y="231"/>
                    <a:pt x="44" y="210"/>
                  </a:cubicBezTo>
                  <a:cubicBezTo>
                    <a:pt x="4" y="150"/>
                    <a:pt x="0" y="80"/>
                    <a:pt x="24" y="42"/>
                  </a:cubicBezTo>
                  <a:cubicBezTo>
                    <a:pt x="42" y="16"/>
                    <a:pt x="69" y="0"/>
                    <a:pt x="94" y="0"/>
                  </a:cubicBezTo>
                  <a:cubicBezTo>
                    <a:pt x="120" y="0"/>
                    <a:pt x="137" y="15"/>
                    <a:pt x="158" y="15"/>
                  </a:cubicBezTo>
                  <a:cubicBezTo>
                    <a:pt x="179" y="15"/>
                    <a:pt x="192" y="0"/>
                    <a:pt x="222" y="0"/>
                  </a:cubicBezTo>
                  <a:cubicBezTo>
                    <a:pt x="245" y="0"/>
                    <a:pt x="269" y="13"/>
                    <a:pt x="286" y="34"/>
                  </a:cubicBezTo>
                  <a:cubicBezTo>
                    <a:pt x="230" y="65"/>
                    <a:pt x="239" y="145"/>
                    <a:pt x="296" y="167"/>
                  </a:cubicBezTo>
                  <a:close/>
                </a:path>
              </a:pathLst>
            </a:custGeom>
            <a:solidFill>
              <a:srgbClr val="FFFFFF"/>
            </a:solidFill>
            <a:ln>
              <a:noFill/>
            </a:ln>
            <a:extLst/>
          </p:spPr>
          <p:txBody>
            <a:bodyPr vert="horz" wrap="square" lIns="91440" tIns="45720" rIns="91440" bIns="45720" numCol="1" anchor="t" anchorCtr="0" compatLnSpc="1">
              <a:prstTxWarp prst="textNoShape">
                <a:avLst/>
              </a:prstTxWarp>
            </a:bodyPr>
            <a:lstStyle/>
            <a:p>
              <a:pPr defTabSz="914363">
                <a:defRPr/>
              </a:pPr>
              <a:endParaRPr lang="en-US" kern="0" smtClean="0">
                <a:solidFill>
                  <a:srgbClr val="000000"/>
                </a:solidFill>
              </a:endParaRPr>
            </a:p>
          </p:txBody>
        </p:sp>
        <p:sp>
          <p:nvSpPr>
            <p:cNvPr id="16" name="Freeform 15"/>
            <p:cNvSpPr>
              <a:spLocks/>
            </p:cNvSpPr>
            <p:nvPr/>
          </p:nvSpPr>
          <p:spPr bwMode="auto">
            <a:xfrm>
              <a:off x="3825" y="1766"/>
              <a:ext cx="175" cy="191"/>
            </a:xfrm>
            <a:custGeom>
              <a:avLst/>
              <a:gdLst>
                <a:gd name="T0" fmla="*/ 55 w 74"/>
                <a:gd name="T1" fmla="*/ 54 h 81"/>
                <a:gd name="T2" fmla="*/ 71 w 74"/>
                <a:gd name="T3" fmla="*/ 0 h 81"/>
                <a:gd name="T4" fmla="*/ 20 w 74"/>
                <a:gd name="T5" fmla="*/ 28 h 81"/>
                <a:gd name="T6" fmla="*/ 4 w 74"/>
                <a:gd name="T7" fmla="*/ 81 h 81"/>
                <a:gd name="T8" fmla="*/ 55 w 74"/>
                <a:gd name="T9" fmla="*/ 54 h 81"/>
              </a:gdLst>
              <a:ahLst/>
              <a:cxnLst>
                <a:cxn ang="0">
                  <a:pos x="T0" y="T1"/>
                </a:cxn>
                <a:cxn ang="0">
                  <a:pos x="T2" y="T3"/>
                </a:cxn>
                <a:cxn ang="0">
                  <a:pos x="T4" y="T5"/>
                </a:cxn>
                <a:cxn ang="0">
                  <a:pos x="T6" y="T7"/>
                </a:cxn>
                <a:cxn ang="0">
                  <a:pos x="T8" y="T9"/>
                </a:cxn>
              </a:cxnLst>
              <a:rect l="0" t="0" r="r" b="b"/>
              <a:pathLst>
                <a:path w="74" h="81">
                  <a:moveTo>
                    <a:pt x="55" y="54"/>
                  </a:moveTo>
                  <a:cubicBezTo>
                    <a:pt x="66" y="40"/>
                    <a:pt x="74" y="21"/>
                    <a:pt x="71" y="0"/>
                  </a:cubicBezTo>
                  <a:cubicBezTo>
                    <a:pt x="54" y="2"/>
                    <a:pt x="33" y="13"/>
                    <a:pt x="20" y="28"/>
                  </a:cubicBezTo>
                  <a:cubicBezTo>
                    <a:pt x="9" y="41"/>
                    <a:pt x="0" y="61"/>
                    <a:pt x="4" y="81"/>
                  </a:cubicBezTo>
                  <a:cubicBezTo>
                    <a:pt x="23" y="81"/>
                    <a:pt x="44" y="70"/>
                    <a:pt x="55" y="54"/>
                  </a:cubicBezTo>
                  <a:close/>
                </a:path>
              </a:pathLst>
            </a:custGeom>
            <a:solidFill>
              <a:srgbClr val="FFFFFF"/>
            </a:solidFill>
            <a:ln>
              <a:noFill/>
            </a:ln>
            <a:extLst/>
          </p:spPr>
          <p:txBody>
            <a:bodyPr vert="horz" wrap="square" lIns="91440" tIns="45720" rIns="91440" bIns="45720" numCol="1" anchor="t" anchorCtr="0" compatLnSpc="1">
              <a:prstTxWarp prst="textNoShape">
                <a:avLst/>
              </a:prstTxWarp>
            </a:bodyPr>
            <a:lstStyle/>
            <a:p>
              <a:pPr defTabSz="914363">
                <a:defRPr/>
              </a:pPr>
              <a:endParaRPr lang="en-US" kern="0" smtClean="0">
                <a:solidFill>
                  <a:srgbClr val="000000"/>
                </a:solidFill>
              </a:endParaRPr>
            </a:p>
          </p:txBody>
        </p:sp>
      </p:grpSp>
      <p:sp>
        <p:nvSpPr>
          <p:cNvPr id="17" name="Freeform 110"/>
          <p:cNvSpPr>
            <a:spLocks noEditPoints="1"/>
          </p:cNvSpPr>
          <p:nvPr/>
        </p:nvSpPr>
        <p:spPr bwMode="black">
          <a:xfrm>
            <a:off x="2413059" y="3555351"/>
            <a:ext cx="255468" cy="257688"/>
          </a:xfrm>
          <a:custGeom>
            <a:avLst/>
            <a:gdLst>
              <a:gd name="T0" fmla="*/ 9 w 70"/>
              <a:gd name="T1" fmla="*/ 68 h 70"/>
              <a:gd name="T2" fmla="*/ 10 w 70"/>
              <a:gd name="T3" fmla="*/ 66 h 70"/>
              <a:gd name="T4" fmla="*/ 4 w 70"/>
              <a:gd name="T5" fmla="*/ 60 h 70"/>
              <a:gd name="T6" fmla="*/ 2 w 70"/>
              <a:gd name="T7" fmla="*/ 61 h 70"/>
              <a:gd name="T8" fmla="*/ 0 w 70"/>
              <a:gd name="T9" fmla="*/ 68 h 70"/>
              <a:gd name="T10" fmla="*/ 2 w 70"/>
              <a:gd name="T11" fmla="*/ 70 h 70"/>
              <a:gd name="T12" fmla="*/ 9 w 70"/>
              <a:gd name="T13" fmla="*/ 68 h 70"/>
              <a:gd name="T14" fmla="*/ 64 w 70"/>
              <a:gd name="T15" fmla="*/ 6 h 70"/>
              <a:gd name="T16" fmla="*/ 52 w 70"/>
              <a:gd name="T17" fmla="*/ 4 h 70"/>
              <a:gd name="T18" fmla="*/ 49 w 70"/>
              <a:gd name="T19" fmla="*/ 7 h 70"/>
              <a:gd name="T20" fmla="*/ 49 w 70"/>
              <a:gd name="T21" fmla="*/ 11 h 70"/>
              <a:gd name="T22" fmla="*/ 60 w 70"/>
              <a:gd name="T23" fmla="*/ 21 h 70"/>
              <a:gd name="T24" fmla="*/ 63 w 70"/>
              <a:gd name="T25" fmla="*/ 21 h 70"/>
              <a:gd name="T26" fmla="*/ 66 w 70"/>
              <a:gd name="T27" fmla="*/ 18 h 70"/>
              <a:gd name="T28" fmla="*/ 64 w 70"/>
              <a:gd name="T29" fmla="*/ 6 h 70"/>
              <a:gd name="T30" fmla="*/ 22 w 70"/>
              <a:gd name="T31" fmla="*/ 62 h 70"/>
              <a:gd name="T32" fmla="*/ 19 w 70"/>
              <a:gd name="T33" fmla="*/ 62 h 70"/>
              <a:gd name="T34" fmla="*/ 8 w 70"/>
              <a:gd name="T35" fmla="*/ 51 h 70"/>
              <a:gd name="T36" fmla="*/ 8 w 70"/>
              <a:gd name="T37" fmla="*/ 48 h 70"/>
              <a:gd name="T38" fmla="*/ 42 w 70"/>
              <a:gd name="T39" fmla="*/ 14 h 70"/>
              <a:gd name="T40" fmla="*/ 45 w 70"/>
              <a:gd name="T41" fmla="*/ 14 h 70"/>
              <a:gd name="T42" fmla="*/ 56 w 70"/>
              <a:gd name="T43" fmla="*/ 25 h 70"/>
              <a:gd name="T44" fmla="*/ 56 w 70"/>
              <a:gd name="T45" fmla="*/ 28 h 70"/>
              <a:gd name="T46" fmla="*/ 22 w 70"/>
              <a:gd name="T47" fmla="*/ 6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 h="70">
                <a:moveTo>
                  <a:pt x="9" y="68"/>
                </a:moveTo>
                <a:cubicBezTo>
                  <a:pt x="10" y="67"/>
                  <a:pt x="11" y="67"/>
                  <a:pt x="10" y="66"/>
                </a:cubicBezTo>
                <a:cubicBezTo>
                  <a:pt x="4" y="60"/>
                  <a:pt x="4" y="60"/>
                  <a:pt x="4" y="60"/>
                </a:cubicBezTo>
                <a:cubicBezTo>
                  <a:pt x="4" y="59"/>
                  <a:pt x="3" y="60"/>
                  <a:pt x="2" y="61"/>
                </a:cubicBezTo>
                <a:cubicBezTo>
                  <a:pt x="0" y="68"/>
                  <a:pt x="0" y="68"/>
                  <a:pt x="0" y="68"/>
                </a:cubicBezTo>
                <a:cubicBezTo>
                  <a:pt x="0" y="69"/>
                  <a:pt x="1" y="70"/>
                  <a:pt x="2" y="70"/>
                </a:cubicBezTo>
                <a:lnTo>
                  <a:pt x="9" y="68"/>
                </a:lnTo>
                <a:close/>
                <a:moveTo>
                  <a:pt x="64" y="6"/>
                </a:moveTo>
                <a:cubicBezTo>
                  <a:pt x="58" y="0"/>
                  <a:pt x="52" y="4"/>
                  <a:pt x="52" y="4"/>
                </a:cubicBezTo>
                <a:cubicBezTo>
                  <a:pt x="51" y="5"/>
                  <a:pt x="50" y="6"/>
                  <a:pt x="49" y="7"/>
                </a:cubicBezTo>
                <a:cubicBezTo>
                  <a:pt x="48" y="8"/>
                  <a:pt x="48" y="10"/>
                  <a:pt x="49" y="11"/>
                </a:cubicBezTo>
                <a:cubicBezTo>
                  <a:pt x="60" y="21"/>
                  <a:pt x="60" y="21"/>
                  <a:pt x="60" y="21"/>
                </a:cubicBezTo>
                <a:cubicBezTo>
                  <a:pt x="60" y="22"/>
                  <a:pt x="62" y="22"/>
                  <a:pt x="63" y="21"/>
                </a:cubicBezTo>
                <a:cubicBezTo>
                  <a:pt x="64" y="20"/>
                  <a:pt x="65" y="19"/>
                  <a:pt x="66" y="18"/>
                </a:cubicBezTo>
                <a:cubicBezTo>
                  <a:pt x="66" y="18"/>
                  <a:pt x="70" y="12"/>
                  <a:pt x="64" y="6"/>
                </a:cubicBezTo>
                <a:moveTo>
                  <a:pt x="22" y="62"/>
                </a:moveTo>
                <a:cubicBezTo>
                  <a:pt x="21" y="63"/>
                  <a:pt x="20" y="63"/>
                  <a:pt x="19" y="62"/>
                </a:cubicBezTo>
                <a:cubicBezTo>
                  <a:pt x="8" y="51"/>
                  <a:pt x="8" y="51"/>
                  <a:pt x="8" y="51"/>
                </a:cubicBezTo>
                <a:cubicBezTo>
                  <a:pt x="7" y="51"/>
                  <a:pt x="7" y="49"/>
                  <a:pt x="8" y="48"/>
                </a:cubicBezTo>
                <a:cubicBezTo>
                  <a:pt x="42" y="14"/>
                  <a:pt x="42" y="14"/>
                  <a:pt x="42" y="14"/>
                </a:cubicBezTo>
                <a:cubicBezTo>
                  <a:pt x="43" y="13"/>
                  <a:pt x="44" y="13"/>
                  <a:pt x="45" y="14"/>
                </a:cubicBezTo>
                <a:cubicBezTo>
                  <a:pt x="56" y="25"/>
                  <a:pt x="56" y="25"/>
                  <a:pt x="56" y="25"/>
                </a:cubicBezTo>
                <a:cubicBezTo>
                  <a:pt x="57" y="26"/>
                  <a:pt x="57" y="27"/>
                  <a:pt x="56" y="28"/>
                </a:cubicBezTo>
                <a:lnTo>
                  <a:pt x="22" y="62"/>
                </a:lnTo>
                <a:close/>
              </a:path>
            </a:pathLst>
          </a:custGeom>
          <a:solidFill>
            <a:srgbClr val="FFFFFF"/>
          </a:solidFill>
          <a:ln>
            <a:noFill/>
          </a:ln>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8" name="Rectangle 17"/>
          <p:cNvSpPr/>
          <p:nvPr/>
        </p:nvSpPr>
        <p:spPr>
          <a:xfrm>
            <a:off x="2237665" y="5131742"/>
            <a:ext cx="606256" cy="369332"/>
          </a:xfrm>
          <a:prstGeom prst="rect">
            <a:avLst/>
          </a:prstGeom>
        </p:spPr>
        <p:txBody>
          <a:bodyPr wrap="none">
            <a:spAutoFit/>
          </a:bodyPr>
          <a:lstStyle/>
          <a:p>
            <a:r>
              <a:rPr lang="en-US" dirty="0" smtClean="0">
                <a:solidFill>
                  <a:srgbClr val="FFFFFF"/>
                </a:solidFill>
              </a:rPr>
              <a:t>OSS</a:t>
            </a:r>
            <a:endParaRPr lang="en-US" dirty="0">
              <a:solidFill>
                <a:srgbClr val="FFFFFF"/>
              </a:solidFill>
            </a:endParaRPr>
          </a:p>
        </p:txBody>
      </p:sp>
    </p:spTree>
    <p:extLst>
      <p:ext uri="{BB962C8B-B14F-4D97-AF65-F5344CB8AC3E}">
        <p14:creationId xmlns:p14="http://schemas.microsoft.com/office/powerpoint/2010/main" val="2898090092"/>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ASP.NET 2015 in a Nutshell</a:t>
            </a:r>
          </a:p>
        </p:txBody>
      </p:sp>
      <p:sp>
        <p:nvSpPr>
          <p:cNvPr id="4" name="Rectangle 3"/>
          <p:cNvSpPr/>
          <p:nvPr/>
        </p:nvSpPr>
        <p:spPr bwMode="auto">
          <a:xfrm>
            <a:off x="6509255" y="4277558"/>
            <a:ext cx="4612214" cy="1872296"/>
          </a:xfrm>
          <a:prstGeom prst="rect">
            <a:avLst/>
          </a:prstGeom>
          <a:solidFill>
            <a:srgbClr val="0072C6"/>
          </a:solidFill>
          <a:ln w="25400" cap="flat" cmpd="sng" algn="ctr">
            <a:noFill/>
            <a:prstDash val="solid"/>
            <a:headEnd type="none" w="med" len="med"/>
            <a:tailEnd type="none" w="med" len="med"/>
          </a:ln>
          <a:effectLst/>
        </p:spPr>
        <p:txBody>
          <a:bodyPr vert="horz" wrap="square" lIns="731210" tIns="274204" rIns="89600" bIns="89604" numCol="1" rtlCol="0" anchor="t" anchorCtr="0" compatLnSpc="1">
            <a:prstTxWarp prst="textNoShape">
              <a:avLst/>
            </a:prstTxWarp>
          </a:bodyPr>
          <a:lstStyle/>
          <a:p>
            <a:pPr defTabSz="913688"/>
            <a:endParaRPr lang="en-US" sz="2800" dirty="0">
              <a:gradFill>
                <a:gsLst>
                  <a:gs pos="14679">
                    <a:srgbClr val="FFFFFF"/>
                  </a:gs>
                  <a:gs pos="38000">
                    <a:srgbClr val="FFFFFF"/>
                  </a:gs>
                </a:gsLst>
                <a:lin ang="5400000" scaled="1"/>
              </a:gradFill>
              <a:latin typeface="Segoe UI Light"/>
            </a:endParaRPr>
          </a:p>
        </p:txBody>
      </p:sp>
      <p:sp>
        <p:nvSpPr>
          <p:cNvPr id="5" name="Rectangle 4"/>
          <p:cNvSpPr/>
          <p:nvPr/>
        </p:nvSpPr>
        <p:spPr bwMode="auto">
          <a:xfrm>
            <a:off x="1214867" y="3738995"/>
            <a:ext cx="5239264" cy="2410858"/>
          </a:xfrm>
          <a:prstGeom prst="rect">
            <a:avLst/>
          </a:prstGeom>
          <a:solidFill>
            <a:srgbClr val="0072C6"/>
          </a:solidFill>
          <a:ln w="25400" cap="flat" cmpd="sng" algn="ctr">
            <a:noFill/>
            <a:prstDash val="solid"/>
            <a:headEnd type="none" w="med" len="med"/>
            <a:tailEnd type="none" w="med" len="med"/>
          </a:ln>
          <a:effectLst/>
        </p:spPr>
        <p:txBody>
          <a:bodyPr vert="horz" wrap="square" lIns="731210" tIns="274204" rIns="89600" bIns="89604" numCol="1" rtlCol="0" anchor="t" anchorCtr="0" compatLnSpc="1">
            <a:prstTxWarp prst="textNoShape">
              <a:avLst/>
            </a:prstTxWarp>
          </a:bodyPr>
          <a:lstStyle/>
          <a:p>
            <a:pPr defTabSz="913688"/>
            <a:r>
              <a:rPr lang="en-US" sz="2800" dirty="0">
                <a:gradFill>
                  <a:gsLst>
                    <a:gs pos="14679">
                      <a:srgbClr val="FFFFFF"/>
                    </a:gs>
                    <a:gs pos="38000">
                      <a:srgbClr val="FFFFFF"/>
                    </a:gs>
                  </a:gsLst>
                  <a:lin ang="5400000" scaled="1"/>
                </a:gradFill>
                <a:latin typeface="Segoe UI Light"/>
              </a:rPr>
              <a:t>  </a:t>
            </a:r>
          </a:p>
        </p:txBody>
      </p:sp>
      <p:sp>
        <p:nvSpPr>
          <p:cNvPr id="6" name="TextBox 5"/>
          <p:cNvSpPr txBox="1"/>
          <p:nvPr/>
        </p:nvSpPr>
        <p:spPr>
          <a:xfrm>
            <a:off x="1280603" y="4269080"/>
            <a:ext cx="5173526" cy="531737"/>
          </a:xfrm>
          <a:prstGeom prst="rect">
            <a:avLst/>
          </a:prstGeom>
          <a:noFill/>
        </p:spPr>
        <p:txBody>
          <a:bodyPr wrap="square" rtlCol="0">
            <a:spAutoFit/>
          </a:bodyPr>
          <a:lstStyle/>
          <a:p>
            <a:pPr algn="ctr" defTabSz="913990"/>
            <a:r>
              <a:rPr lang="en-US" sz="2800" b="1" dirty="0">
                <a:solidFill>
                  <a:srgbClr val="FFFFFF"/>
                </a:solidFill>
                <a:latin typeface="Segoe UI Semibold" panose="020B0702040204020203" pitchFamily="34" charset="0"/>
                <a:cs typeface="Segoe UI Semibold" panose="020B0702040204020203" pitchFamily="34" charset="0"/>
              </a:rPr>
              <a:t>.NET Framework 4.6 </a:t>
            </a:r>
          </a:p>
        </p:txBody>
      </p:sp>
      <p:sp>
        <p:nvSpPr>
          <p:cNvPr id="7" name="TextBox 6"/>
          <p:cNvSpPr txBox="1"/>
          <p:nvPr/>
        </p:nvSpPr>
        <p:spPr>
          <a:xfrm>
            <a:off x="6592653" y="4280755"/>
            <a:ext cx="4424508" cy="531737"/>
          </a:xfrm>
          <a:prstGeom prst="rect">
            <a:avLst/>
          </a:prstGeom>
          <a:noFill/>
        </p:spPr>
        <p:txBody>
          <a:bodyPr wrap="square" rtlCol="0">
            <a:spAutoFit/>
          </a:bodyPr>
          <a:lstStyle/>
          <a:p>
            <a:pPr algn="ctr" defTabSz="913990"/>
            <a:r>
              <a:rPr lang="en-US" sz="2800" b="1" dirty="0">
                <a:solidFill>
                  <a:srgbClr val="FFFFFF"/>
                </a:solidFill>
                <a:latin typeface="Segoe UI Semibold" panose="020B0702040204020203" pitchFamily="34" charset="0"/>
                <a:cs typeface="Segoe UI Semibold" panose="020B0702040204020203" pitchFamily="34" charset="0"/>
              </a:rPr>
              <a:t>.NET </a:t>
            </a:r>
            <a:r>
              <a:rPr lang="en-US" sz="2800" dirty="0">
                <a:solidFill>
                  <a:srgbClr val="FFFFFF"/>
                </a:solidFill>
                <a:latin typeface="Segoe UI Semibold" panose="020B0702040204020203" pitchFamily="34" charset="0"/>
                <a:cs typeface="Segoe UI Semibold" panose="020B0702040204020203" pitchFamily="34" charset="0"/>
              </a:rPr>
              <a:t>Core 5</a:t>
            </a:r>
            <a:r>
              <a:rPr lang="en-US" sz="2800" b="1" dirty="0">
                <a:solidFill>
                  <a:srgbClr val="FFFFFF"/>
                </a:solidFill>
                <a:latin typeface="Segoe UI Semibold" panose="020B0702040204020203" pitchFamily="34" charset="0"/>
                <a:cs typeface="Segoe UI Semibold" panose="020B0702040204020203" pitchFamily="34" charset="0"/>
              </a:rPr>
              <a:t> </a:t>
            </a:r>
          </a:p>
        </p:txBody>
      </p:sp>
      <p:pic>
        <p:nvPicPr>
          <p:cNvPr id="8" name="Picture 7"/>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9779289" y="5444011"/>
            <a:ext cx="382157" cy="449931"/>
          </a:xfrm>
          <a:prstGeom prst="rect">
            <a:avLst/>
          </a:prstGeom>
        </p:spPr>
      </p:pic>
      <p:pic>
        <p:nvPicPr>
          <p:cNvPr id="9" name="Picture 2" descr="http://files.softicons.com/download/system-icons/windows-8-metro-icons-by-dakirby309/png/512x512/Folders%20&amp;%20OS/Linux.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44949" y="5440421"/>
            <a:ext cx="510157" cy="50084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C:\temp\WinAzure_rgb_Wht_S.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371" t="15460" r="80628" b="15496"/>
          <a:stretch/>
        </p:blipFill>
        <p:spPr bwMode="auto">
          <a:xfrm>
            <a:off x="7304080" y="5400278"/>
            <a:ext cx="546044" cy="55456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C:\temp\WinAzure_rgb_Wht_S.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371" t="15460" r="80628" b="15496"/>
          <a:stretch/>
        </p:blipFill>
        <p:spPr bwMode="auto">
          <a:xfrm>
            <a:off x="3779501" y="5400278"/>
            <a:ext cx="546044" cy="554567"/>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1602661" y="4777266"/>
            <a:ext cx="4817610" cy="584436"/>
          </a:xfrm>
          <a:prstGeom prst="rect">
            <a:avLst/>
          </a:prstGeom>
        </p:spPr>
        <p:txBody>
          <a:bodyPr wrap="square">
            <a:spAutoFit/>
          </a:bodyPr>
          <a:lstStyle/>
          <a:p>
            <a:pPr algn="ctr" defTabSz="913736"/>
            <a:r>
              <a:rPr lang="en-US" sz="1567" i="1" dirty="0">
                <a:solidFill>
                  <a:srgbClr val="FFFFFF"/>
                </a:solidFill>
              </a:rPr>
              <a:t>Full .NET Framework for any scenario and </a:t>
            </a:r>
          </a:p>
          <a:p>
            <a:pPr algn="ctr" defTabSz="913736"/>
            <a:r>
              <a:rPr lang="en-US" sz="1567" i="1" dirty="0">
                <a:solidFill>
                  <a:srgbClr val="FFFFFF"/>
                </a:solidFill>
              </a:rPr>
              <a:t>library support on Windows</a:t>
            </a:r>
          </a:p>
        </p:txBody>
      </p:sp>
      <p:sp>
        <p:nvSpPr>
          <p:cNvPr id="13" name="Rectangle 12"/>
          <p:cNvSpPr/>
          <p:nvPr/>
        </p:nvSpPr>
        <p:spPr>
          <a:xfrm>
            <a:off x="6672974" y="4726053"/>
            <a:ext cx="4276112" cy="584436"/>
          </a:xfrm>
          <a:prstGeom prst="rect">
            <a:avLst/>
          </a:prstGeom>
        </p:spPr>
        <p:txBody>
          <a:bodyPr wrap="square">
            <a:spAutoFit/>
          </a:bodyPr>
          <a:lstStyle/>
          <a:p>
            <a:pPr algn="ctr" defTabSz="913736"/>
            <a:r>
              <a:rPr lang="en-US" sz="1567" i="1" dirty="0">
                <a:solidFill>
                  <a:srgbClr val="FFFFFF"/>
                </a:solidFill>
              </a:rPr>
              <a:t>Modular libraries &amp; runtime optimized for server and cloud workloads</a:t>
            </a:r>
          </a:p>
        </p:txBody>
      </p:sp>
      <p:sp>
        <p:nvSpPr>
          <p:cNvPr id="14" name="Rectangle 13"/>
          <p:cNvSpPr/>
          <p:nvPr/>
        </p:nvSpPr>
        <p:spPr bwMode="auto">
          <a:xfrm>
            <a:off x="1214867" y="3178110"/>
            <a:ext cx="3966733" cy="514791"/>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r>
              <a:rPr lang="en-US" sz="1961" dirty="0">
                <a:gradFill>
                  <a:gsLst>
                    <a:gs pos="0">
                      <a:srgbClr val="FFFFFF"/>
                    </a:gs>
                    <a:gs pos="100000">
                      <a:srgbClr val="FFFFFF"/>
                    </a:gs>
                  </a:gsLst>
                  <a:lin ang="5400000" scaled="0"/>
                </a:gradFill>
                <a:ea typeface="Segoe UI" pitchFamily="34" charset="0"/>
                <a:cs typeface="Segoe UI" pitchFamily="34" charset="0"/>
              </a:rPr>
              <a:t>ASP.NET </a:t>
            </a:r>
            <a:r>
              <a:rPr lang="en-US" sz="1961" dirty="0" smtClean="0">
                <a:gradFill>
                  <a:gsLst>
                    <a:gs pos="0">
                      <a:srgbClr val="FFFFFF"/>
                    </a:gs>
                    <a:gs pos="100000">
                      <a:srgbClr val="FFFFFF"/>
                    </a:gs>
                  </a:gsLst>
                  <a:lin ang="5400000" scaled="0"/>
                </a:gradFill>
                <a:ea typeface="Segoe UI" pitchFamily="34" charset="0"/>
                <a:cs typeface="Segoe UI" pitchFamily="34" charset="0"/>
              </a:rPr>
              <a:t>4.6  </a:t>
            </a:r>
            <a:r>
              <a:rPr lang="en-US" sz="1961" dirty="0" err="1" smtClean="0">
                <a:gradFill>
                  <a:gsLst>
                    <a:gs pos="0">
                      <a:srgbClr val="FFFFFF"/>
                    </a:gs>
                    <a:gs pos="100000">
                      <a:srgbClr val="FFFFFF"/>
                    </a:gs>
                  </a:gsLst>
                  <a:lin ang="5400000" scaled="0"/>
                </a:gradFill>
                <a:ea typeface="Segoe UI" pitchFamily="34" charset="0"/>
                <a:cs typeface="Segoe UI" pitchFamily="34" charset="0"/>
              </a:rPr>
              <a:t>System.Web</a:t>
            </a:r>
            <a:endParaRPr lang="en-US" sz="1961" dirty="0">
              <a:gradFill>
                <a:gsLst>
                  <a:gs pos="0">
                    <a:srgbClr val="FFFFFF"/>
                  </a:gs>
                  <a:gs pos="100000">
                    <a:srgbClr val="FFFFFF"/>
                  </a:gs>
                </a:gsLst>
                <a:lin ang="5400000" scaled="0"/>
              </a:gradFill>
              <a:ea typeface="Segoe UI" pitchFamily="34" charset="0"/>
              <a:cs typeface="Segoe UI" pitchFamily="34" charset="0"/>
            </a:endParaRPr>
          </a:p>
        </p:txBody>
      </p:sp>
      <p:sp>
        <p:nvSpPr>
          <p:cNvPr id="15" name="Rectangle 14"/>
          <p:cNvSpPr/>
          <p:nvPr/>
        </p:nvSpPr>
        <p:spPr bwMode="auto">
          <a:xfrm>
            <a:off x="2661920" y="2349559"/>
            <a:ext cx="1117581" cy="762993"/>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r>
              <a:rPr lang="en-US" sz="1961" dirty="0" smtClean="0">
                <a:gradFill>
                  <a:gsLst>
                    <a:gs pos="0">
                      <a:srgbClr val="FFFFFF"/>
                    </a:gs>
                    <a:gs pos="100000">
                      <a:srgbClr val="FFFFFF"/>
                    </a:gs>
                  </a:gsLst>
                  <a:lin ang="5400000" scaled="0"/>
                </a:gradFill>
                <a:ea typeface="Segoe UI" pitchFamily="34" charset="0"/>
                <a:cs typeface="Segoe UI" pitchFamily="34" charset="0"/>
              </a:rPr>
              <a:t>MVC 5.x</a:t>
            </a:r>
            <a:endParaRPr lang="en-US" sz="1961" dirty="0">
              <a:gradFill>
                <a:gsLst>
                  <a:gs pos="0">
                    <a:srgbClr val="FFFFFF"/>
                  </a:gs>
                  <a:gs pos="100000">
                    <a:srgbClr val="FFFFFF"/>
                  </a:gs>
                </a:gsLst>
                <a:lin ang="5400000" scaled="0"/>
              </a:gradFill>
              <a:ea typeface="Segoe UI" pitchFamily="34" charset="0"/>
              <a:cs typeface="Segoe UI" pitchFamily="34" charset="0"/>
            </a:endParaRPr>
          </a:p>
        </p:txBody>
      </p:sp>
      <p:sp>
        <p:nvSpPr>
          <p:cNvPr id="16" name="Rectangle 15"/>
          <p:cNvSpPr/>
          <p:nvPr/>
        </p:nvSpPr>
        <p:spPr bwMode="auto">
          <a:xfrm>
            <a:off x="5252720" y="2339695"/>
            <a:ext cx="5868748" cy="772857"/>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r>
              <a:rPr lang="en-US" sz="1961" dirty="0" smtClean="0">
                <a:gradFill>
                  <a:gsLst>
                    <a:gs pos="0">
                      <a:srgbClr val="FFFFFF"/>
                    </a:gs>
                    <a:gs pos="100000">
                      <a:srgbClr val="FFFFFF"/>
                    </a:gs>
                  </a:gsLst>
                  <a:lin ang="5400000" scaled="0"/>
                </a:gradFill>
                <a:ea typeface="Segoe UI" pitchFamily="34" charset="0"/>
                <a:cs typeface="Segoe UI" pitchFamily="34" charset="0"/>
              </a:rPr>
              <a:t>MVC / Web API 6</a:t>
            </a:r>
            <a:endParaRPr lang="en-US" sz="1961" dirty="0">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p:cNvSpPr/>
          <p:nvPr/>
        </p:nvSpPr>
        <p:spPr bwMode="auto">
          <a:xfrm>
            <a:off x="6509252" y="3738995"/>
            <a:ext cx="2321970" cy="494381"/>
          </a:xfrm>
          <a:prstGeom prst="rect">
            <a:avLst/>
          </a:prstGeom>
          <a:solidFill>
            <a:srgbClr val="0072C6"/>
          </a:solidFill>
          <a:ln w="25400" cap="flat" cmpd="sng" algn="ctr">
            <a:noFill/>
            <a:prstDash val="solid"/>
            <a:headEnd type="none" w="med" len="med"/>
            <a:tailEnd type="none" w="med" len="med"/>
          </a:ln>
          <a:effectLst/>
        </p:spPr>
        <p:txBody>
          <a:bodyPr vert="horz" wrap="square" lIns="731106" tIns="44772" rIns="89540" bIns="71631" numCol="1" rtlCol="0" anchor="t" anchorCtr="0" compatLnSpc="1">
            <a:prstTxWarp prst="textNoShape">
              <a:avLst/>
            </a:prstTxWarp>
          </a:bodyPr>
          <a:lstStyle/>
          <a:p>
            <a:pPr defTabSz="913511"/>
            <a:r>
              <a:rPr lang="en-US" sz="1961" dirty="0">
                <a:gradFill>
                  <a:gsLst>
                    <a:gs pos="14679">
                      <a:srgbClr val="FFFFFF"/>
                    </a:gs>
                    <a:gs pos="38000">
                      <a:srgbClr val="FFFFFF"/>
                    </a:gs>
                  </a:gsLst>
                  <a:lin ang="5400000" scaled="1"/>
                </a:gradFill>
              </a:rPr>
              <a:t>Core CLR</a:t>
            </a:r>
          </a:p>
        </p:txBody>
      </p:sp>
      <p:sp>
        <p:nvSpPr>
          <p:cNvPr id="18" name="Rectangle 17"/>
          <p:cNvSpPr/>
          <p:nvPr/>
        </p:nvSpPr>
        <p:spPr bwMode="auto">
          <a:xfrm>
            <a:off x="8881620" y="3748606"/>
            <a:ext cx="2239848" cy="484769"/>
          </a:xfrm>
          <a:prstGeom prst="rect">
            <a:avLst/>
          </a:prstGeom>
          <a:solidFill>
            <a:srgbClr val="0072C6"/>
          </a:solidFill>
          <a:ln w="25400" cap="flat" cmpd="sng" algn="ctr">
            <a:noFill/>
            <a:prstDash val="solid"/>
            <a:headEnd type="none" w="med" len="med"/>
            <a:tailEnd type="none" w="med" len="med"/>
          </a:ln>
          <a:effectLst/>
        </p:spPr>
        <p:txBody>
          <a:bodyPr vert="horz" wrap="square" lIns="731106" tIns="44772" rIns="89540" bIns="71631" numCol="1" rtlCol="0" anchor="t" anchorCtr="0" compatLnSpc="1">
            <a:prstTxWarp prst="textNoShape">
              <a:avLst/>
            </a:prstTxWarp>
          </a:bodyPr>
          <a:lstStyle/>
          <a:p>
            <a:pPr defTabSz="913511"/>
            <a:r>
              <a:rPr lang="en-US" sz="1961" dirty="0">
                <a:gradFill>
                  <a:gsLst>
                    <a:gs pos="14679">
                      <a:srgbClr val="FFFFFF"/>
                    </a:gs>
                    <a:gs pos="38000">
                      <a:srgbClr val="FFFFFF"/>
                    </a:gs>
                  </a:gsLst>
                  <a:lin ang="5400000" scaled="1"/>
                </a:gradFill>
              </a:rPr>
              <a:t>.Net Native</a:t>
            </a:r>
          </a:p>
        </p:txBody>
      </p:sp>
      <p:pic>
        <p:nvPicPr>
          <p:cNvPr id="19" name="Picture 6" descr="C:\temp\WinAzure_rgb_Wht_S.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371" t="15460" r="80628" b="15496"/>
          <a:stretch/>
        </p:blipFill>
        <p:spPr bwMode="auto">
          <a:xfrm>
            <a:off x="9155107" y="3810763"/>
            <a:ext cx="345453" cy="350845"/>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p:cNvSpPr/>
          <p:nvPr/>
        </p:nvSpPr>
        <p:spPr bwMode="auto">
          <a:xfrm>
            <a:off x="5252720" y="3178110"/>
            <a:ext cx="5868748" cy="504938"/>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r>
              <a:rPr lang="en-US" sz="1961" dirty="0">
                <a:gradFill>
                  <a:gsLst>
                    <a:gs pos="0">
                      <a:srgbClr val="FFFFFF"/>
                    </a:gs>
                    <a:gs pos="100000">
                      <a:srgbClr val="FFFFFF"/>
                    </a:gs>
                  </a:gsLst>
                  <a:lin ang="5400000" scaled="0"/>
                </a:gradFill>
                <a:ea typeface="Segoe UI" pitchFamily="34" charset="0"/>
                <a:cs typeface="Segoe UI" pitchFamily="34" charset="0"/>
              </a:rPr>
              <a:t>ASP.NET </a:t>
            </a:r>
            <a:r>
              <a:rPr lang="en-US" sz="1961" dirty="0" smtClean="0">
                <a:gradFill>
                  <a:gsLst>
                    <a:gs pos="0">
                      <a:srgbClr val="FFFFFF"/>
                    </a:gs>
                    <a:gs pos="100000">
                      <a:srgbClr val="FFFFFF"/>
                    </a:gs>
                  </a:gsLst>
                  <a:lin ang="5400000" scaled="0"/>
                </a:gradFill>
                <a:ea typeface="Segoe UI" pitchFamily="34" charset="0"/>
                <a:cs typeface="Segoe UI" pitchFamily="34" charset="0"/>
              </a:rPr>
              <a:t>5</a:t>
            </a:r>
            <a:endParaRPr lang="en-US" sz="1961" dirty="0">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p:cNvSpPr/>
          <p:nvPr/>
        </p:nvSpPr>
        <p:spPr bwMode="auto">
          <a:xfrm>
            <a:off x="3901440" y="2340413"/>
            <a:ext cx="1280160" cy="762993"/>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r>
              <a:rPr lang="en-US" sz="1961" dirty="0" smtClean="0">
                <a:gradFill>
                  <a:gsLst>
                    <a:gs pos="0">
                      <a:srgbClr val="FFFFFF"/>
                    </a:gs>
                    <a:gs pos="100000">
                      <a:srgbClr val="FFFFFF"/>
                    </a:gs>
                  </a:gsLst>
                  <a:lin ang="5400000" scaled="0"/>
                </a:gradFill>
                <a:ea typeface="Segoe UI" pitchFamily="34" charset="0"/>
                <a:cs typeface="Segoe UI" pitchFamily="34" charset="0"/>
              </a:rPr>
              <a:t>Web API 2.2</a:t>
            </a:r>
            <a:endParaRPr lang="en-US" sz="1961" dirty="0">
              <a:gradFill>
                <a:gsLst>
                  <a:gs pos="0">
                    <a:srgbClr val="FFFFFF"/>
                  </a:gs>
                  <a:gs pos="100000">
                    <a:srgbClr val="FFFFFF"/>
                  </a:gs>
                </a:gsLst>
                <a:lin ang="5400000" scaled="0"/>
              </a:gradFill>
              <a:ea typeface="Segoe UI" pitchFamily="34" charset="0"/>
              <a:cs typeface="Segoe UI" pitchFamily="34" charset="0"/>
            </a:endParaRPr>
          </a:p>
        </p:txBody>
      </p:sp>
      <p:sp>
        <p:nvSpPr>
          <p:cNvPr id="22" name="Rectangle 21"/>
          <p:cNvSpPr/>
          <p:nvPr/>
        </p:nvSpPr>
        <p:spPr bwMode="auto">
          <a:xfrm>
            <a:off x="1235187" y="2349559"/>
            <a:ext cx="1304794" cy="762993"/>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r>
              <a:rPr lang="en-US" sz="1961" dirty="0" smtClean="0">
                <a:gradFill>
                  <a:gsLst>
                    <a:gs pos="0">
                      <a:srgbClr val="FFFFFF"/>
                    </a:gs>
                    <a:gs pos="100000">
                      <a:srgbClr val="FFFFFF"/>
                    </a:gs>
                  </a:gsLst>
                  <a:lin ang="5400000" scaled="0"/>
                </a:gradFill>
                <a:ea typeface="Segoe UI" pitchFamily="34" charset="0"/>
                <a:cs typeface="Segoe UI" pitchFamily="34" charset="0"/>
              </a:rPr>
              <a:t>Web</a:t>
            </a:r>
          </a:p>
          <a:p>
            <a:pPr algn="ctr" defTabSz="913927" fontAlgn="base">
              <a:lnSpc>
                <a:spcPct val="90000"/>
              </a:lnSpc>
              <a:spcBef>
                <a:spcPct val="0"/>
              </a:spcBef>
              <a:spcAft>
                <a:spcPct val="0"/>
              </a:spcAft>
            </a:pPr>
            <a:r>
              <a:rPr lang="en-US" sz="1961" dirty="0" smtClean="0">
                <a:gradFill>
                  <a:gsLst>
                    <a:gs pos="0">
                      <a:srgbClr val="FFFFFF"/>
                    </a:gs>
                    <a:gs pos="100000">
                      <a:srgbClr val="FFFFFF"/>
                    </a:gs>
                  </a:gsLst>
                  <a:lin ang="5400000" scaled="0"/>
                </a:gradFill>
                <a:ea typeface="Segoe UI" pitchFamily="34" charset="0"/>
                <a:cs typeface="Segoe UI" pitchFamily="34" charset="0"/>
              </a:rPr>
              <a:t>Forms</a:t>
            </a:r>
            <a:endParaRPr lang="en-US" sz="1961" dirty="0">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22"/>
          <p:cNvSpPr/>
          <p:nvPr/>
        </p:nvSpPr>
        <p:spPr bwMode="auto">
          <a:xfrm>
            <a:off x="1247503" y="1333912"/>
            <a:ext cx="3946413" cy="452874"/>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r>
              <a:rPr lang="en-US" sz="1961" dirty="0" smtClean="0">
                <a:gradFill>
                  <a:gsLst>
                    <a:gs pos="0">
                      <a:srgbClr val="FFFFFF"/>
                    </a:gs>
                    <a:gs pos="100000">
                      <a:srgbClr val="FFFFFF"/>
                    </a:gs>
                  </a:gsLst>
                  <a:lin ang="5400000" scaled="0"/>
                </a:gradFill>
                <a:ea typeface="Segoe UI" pitchFamily="34" charset="0"/>
                <a:cs typeface="Segoe UI" pitchFamily="34" charset="0"/>
              </a:rPr>
              <a:t>Visual Basic 14</a:t>
            </a:r>
            <a:endParaRPr lang="en-US" sz="1961" dirty="0">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23"/>
          <p:cNvSpPr/>
          <p:nvPr/>
        </p:nvSpPr>
        <p:spPr bwMode="auto">
          <a:xfrm>
            <a:off x="1247503" y="1840748"/>
            <a:ext cx="9880810" cy="4412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r>
              <a:rPr lang="en-US" sz="1961" dirty="0" smtClean="0">
                <a:gradFill>
                  <a:gsLst>
                    <a:gs pos="0">
                      <a:srgbClr val="FFFFFF"/>
                    </a:gs>
                    <a:gs pos="100000">
                      <a:srgbClr val="FFFFFF"/>
                    </a:gs>
                  </a:gsLst>
                  <a:lin ang="5400000" scaled="0"/>
                </a:gradFill>
                <a:ea typeface="Segoe UI" pitchFamily="34" charset="0"/>
                <a:cs typeface="Segoe UI" pitchFamily="34" charset="0"/>
              </a:rPr>
              <a:t>C#</a:t>
            </a:r>
            <a:endParaRPr lang="en-US" sz="1961" dirty="0">
              <a:gradFill>
                <a:gsLst>
                  <a:gs pos="0">
                    <a:srgbClr val="FFFFFF"/>
                  </a:gs>
                  <a:gs pos="100000">
                    <a:srgbClr val="FFFFFF"/>
                  </a:gs>
                </a:gsLst>
                <a:lin ang="5400000" scaled="0"/>
              </a:gradFill>
              <a:ea typeface="Segoe UI" pitchFamily="34" charset="0"/>
              <a:cs typeface="Segoe UI" pitchFamily="34" charset="0"/>
            </a:endParaRPr>
          </a:p>
        </p:txBody>
      </p:sp>
      <p:sp>
        <p:nvSpPr>
          <p:cNvPr id="25" name="Rectangle 24"/>
          <p:cNvSpPr/>
          <p:nvPr/>
        </p:nvSpPr>
        <p:spPr bwMode="auto">
          <a:xfrm>
            <a:off x="5252720" y="1333912"/>
            <a:ext cx="5868748" cy="452874"/>
          </a:xfrm>
          <a:prstGeom prst="rect">
            <a:avLst/>
          </a:prstGeom>
          <a:solidFill>
            <a:schemeClr val="accent2">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pPr>
            <a:r>
              <a:rPr lang="en-US" sz="1961" dirty="0" smtClean="0">
                <a:gradFill>
                  <a:gsLst>
                    <a:gs pos="0">
                      <a:srgbClr val="FFFFFF"/>
                    </a:gs>
                    <a:gs pos="100000">
                      <a:srgbClr val="FFFFFF"/>
                    </a:gs>
                  </a:gsLst>
                  <a:lin ang="5400000" scaled="0"/>
                </a:gradFill>
                <a:ea typeface="Segoe UI" pitchFamily="34" charset="0"/>
                <a:cs typeface="Segoe UI" pitchFamily="34" charset="0"/>
              </a:rPr>
              <a:t>Visual Basic 14 (coming soon)</a:t>
            </a:r>
            <a:endParaRPr lang="en-US" sz="1961"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948467033"/>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ASP.NET 5 - Compatibility</a:t>
            </a:r>
            <a:endParaRPr lang="en-US" dirty="0"/>
          </a:p>
        </p:txBody>
      </p:sp>
      <p:sp>
        <p:nvSpPr>
          <p:cNvPr id="3" name="Text Placeholder 2"/>
          <p:cNvSpPr>
            <a:spLocks noGrp="1"/>
          </p:cNvSpPr>
          <p:nvPr>
            <p:ph type="body" sz="quarter" idx="10"/>
          </p:nvPr>
        </p:nvSpPr>
        <p:spPr>
          <a:xfrm>
            <a:off x="274638" y="1212850"/>
            <a:ext cx="11887200" cy="4665893"/>
          </a:xfrm>
        </p:spPr>
        <p:txBody>
          <a:bodyPr/>
          <a:lstStyle/>
          <a:p>
            <a:pPr marL="571500" indent="-571500">
              <a:buFont typeface="Arial" panose="020B0604020202020204" pitchFamily="34" charset="0"/>
              <a:buChar char="•"/>
            </a:pPr>
            <a:r>
              <a:rPr lang="en-US" dirty="0"/>
              <a:t>Web Forms, MVC 5, Web API 2, Web Pages 3, EF 6</a:t>
            </a:r>
          </a:p>
          <a:p>
            <a:pPr marL="800082" lvl="2" indent="-571500">
              <a:buFont typeface="Arial" panose="020B0604020202020204" pitchFamily="34" charset="0"/>
              <a:buChar char="•"/>
            </a:pPr>
            <a:r>
              <a:rPr lang="en-US" dirty="0" smtClean="0"/>
              <a:t>Fully supported on .NET 4.6</a:t>
            </a:r>
          </a:p>
          <a:p>
            <a:pPr marL="571500" indent="-571500">
              <a:buFont typeface="Arial" panose="020B0604020202020204" pitchFamily="34" charset="0"/>
              <a:buChar char="•"/>
            </a:pPr>
            <a:r>
              <a:rPr lang="en-US" dirty="0" smtClean="0"/>
              <a:t>MVC, Web API, EF 7</a:t>
            </a:r>
          </a:p>
          <a:p>
            <a:pPr marL="800082" lvl="2" indent="-571500">
              <a:buFont typeface="Arial" panose="020B0604020202020204" pitchFamily="34" charset="0"/>
              <a:buChar char="•"/>
            </a:pPr>
            <a:r>
              <a:rPr lang="en-US" dirty="0" smtClean="0"/>
              <a:t>Breaking changes:</a:t>
            </a:r>
          </a:p>
          <a:p>
            <a:pPr marL="1028663" lvl="3" indent="-571500">
              <a:buFont typeface="Arial" panose="020B0604020202020204" pitchFamily="34" charset="0"/>
              <a:buChar char="•"/>
            </a:pPr>
            <a:r>
              <a:rPr lang="en-US" dirty="0" smtClean="0"/>
              <a:t>New Project System</a:t>
            </a:r>
          </a:p>
          <a:p>
            <a:pPr marL="1028663" lvl="3" indent="-571500">
              <a:buFont typeface="Arial" panose="020B0604020202020204" pitchFamily="34" charset="0"/>
              <a:buChar char="•"/>
            </a:pPr>
            <a:r>
              <a:rPr lang="en-US" dirty="0" smtClean="0"/>
              <a:t>New Configuration System</a:t>
            </a:r>
          </a:p>
          <a:p>
            <a:pPr marL="1028663" lvl="3" indent="-571500">
              <a:buFont typeface="Arial" panose="020B0604020202020204" pitchFamily="34" charset="0"/>
              <a:buChar char="•"/>
            </a:pPr>
            <a:r>
              <a:rPr lang="en-US" dirty="0" smtClean="0"/>
              <a:t>MVC / Web API / Web Pages merge</a:t>
            </a:r>
          </a:p>
          <a:p>
            <a:pPr marL="1028663" lvl="3" indent="-571500">
              <a:buFont typeface="Arial" panose="020B0604020202020204" pitchFamily="34" charset="0"/>
              <a:buChar char="•"/>
            </a:pPr>
            <a:r>
              <a:rPr lang="en-US" dirty="0" smtClean="0"/>
              <a:t>No </a:t>
            </a:r>
            <a:r>
              <a:rPr lang="en-US" dirty="0" err="1" smtClean="0"/>
              <a:t>System.Web</a:t>
            </a:r>
            <a:r>
              <a:rPr lang="en-US" dirty="0" smtClean="0"/>
              <a:t>, new Lightweight </a:t>
            </a:r>
            <a:r>
              <a:rPr lang="en-US" dirty="0" err="1" smtClean="0"/>
              <a:t>HttpContext</a:t>
            </a:r>
            <a:r>
              <a:rPr lang="en-US" dirty="0" smtClean="0"/>
              <a:t> (not </a:t>
            </a:r>
            <a:r>
              <a:rPr lang="en-US" dirty="0" err="1" smtClean="0"/>
              <a:t>System.Web</a:t>
            </a:r>
            <a:r>
              <a:rPr lang="en-US" dirty="0" smtClean="0"/>
              <a:t>)</a:t>
            </a:r>
          </a:p>
          <a:p>
            <a:pPr marL="571500" indent="-571500">
              <a:buFont typeface="Arial" panose="020B0604020202020204" pitchFamily="34" charset="0"/>
              <a:buChar char="•"/>
            </a:pPr>
            <a:r>
              <a:rPr lang="en-US" dirty="0" smtClean="0"/>
              <a:t>.NET 5 on Core CLR</a:t>
            </a:r>
          </a:p>
          <a:p>
            <a:pPr marL="800082" lvl="2" indent="-571500">
              <a:buFont typeface="Arial" panose="020B0604020202020204" pitchFamily="34" charset="0"/>
              <a:buChar char="•"/>
            </a:pPr>
            <a:r>
              <a:rPr lang="en-US" dirty="0" smtClean="0"/>
              <a:t>Subset of the .NET Full Framework</a:t>
            </a:r>
          </a:p>
          <a:p>
            <a:pPr marL="1028663" lvl="3" indent="-571500">
              <a:buFont typeface="Arial" panose="020B0604020202020204" pitchFamily="34" charset="0"/>
              <a:buChar char="•"/>
            </a:pPr>
            <a:r>
              <a:rPr lang="en-US" dirty="0" smtClean="0"/>
              <a:t>Things you depend on might not be available yet</a:t>
            </a:r>
            <a:endParaRPr lang="en-US" dirty="0"/>
          </a:p>
        </p:txBody>
      </p:sp>
    </p:spTree>
    <p:extLst>
      <p:ext uri="{BB962C8B-B14F-4D97-AF65-F5344CB8AC3E}">
        <p14:creationId xmlns:p14="http://schemas.microsoft.com/office/powerpoint/2010/main" val="524793221"/>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ASP.NET 5 - Summary</a:t>
            </a:r>
            <a:endParaRPr lang="en-US" dirty="0"/>
          </a:p>
        </p:txBody>
      </p:sp>
      <p:graphicFrame>
        <p:nvGraphicFramePr>
          <p:cNvPr id="4" name="Table 3"/>
          <p:cNvGraphicFramePr>
            <a:graphicFrameLocks noGrp="1"/>
          </p:cNvGraphicFramePr>
          <p:nvPr>
            <p:extLst/>
          </p:nvPr>
        </p:nvGraphicFramePr>
        <p:xfrm>
          <a:off x="464821" y="2606415"/>
          <a:ext cx="11653496" cy="3403998"/>
        </p:xfrm>
        <a:graphic>
          <a:graphicData uri="http://schemas.openxmlformats.org/drawingml/2006/table">
            <a:tbl>
              <a:tblPr firstRow="1" bandRow="1">
                <a:tableStyleId>{3B4B98B0-60AC-42C2-AFA5-B58CD77FA1E5}</a:tableStyleId>
              </a:tblPr>
              <a:tblGrid>
                <a:gridCol w="6299187">
                  <a:extLst>
                    <a:ext uri="{9D8B030D-6E8A-4147-A177-3AD203B41FA5}">
                      <a16:colId xmlns:a16="http://schemas.microsoft.com/office/drawing/2014/main" val="3599316136"/>
                    </a:ext>
                  </a:extLst>
                </a:gridCol>
                <a:gridCol w="2593835">
                  <a:extLst>
                    <a:ext uri="{9D8B030D-6E8A-4147-A177-3AD203B41FA5}">
                      <a16:colId xmlns:a16="http://schemas.microsoft.com/office/drawing/2014/main" val="2974313793"/>
                    </a:ext>
                  </a:extLst>
                </a:gridCol>
                <a:gridCol w="2760474">
                  <a:extLst>
                    <a:ext uri="{9D8B030D-6E8A-4147-A177-3AD203B41FA5}">
                      <a16:colId xmlns:a16="http://schemas.microsoft.com/office/drawing/2014/main" val="587377983"/>
                    </a:ext>
                  </a:extLst>
                </a:gridCol>
              </a:tblGrid>
              <a:tr h="378222">
                <a:tc>
                  <a:txBody>
                    <a:bodyPr/>
                    <a:lstStyle/>
                    <a:p>
                      <a:pPr algn="ctr"/>
                      <a:r>
                        <a:rPr lang="en-US" sz="1800" dirty="0" smtClean="0"/>
                        <a:t>Feature</a:t>
                      </a:r>
                      <a:endParaRPr lang="en-US" sz="1800" dirty="0"/>
                    </a:p>
                  </a:txBody>
                  <a:tcPr marL="93260" marR="93260" marT="46630" marB="46630"/>
                </a:tc>
                <a:tc>
                  <a:txBody>
                    <a:bodyPr/>
                    <a:lstStyle/>
                    <a:p>
                      <a:pPr algn="ctr"/>
                      <a:r>
                        <a:rPr lang="en-US" sz="1800" dirty="0" smtClean="0"/>
                        <a:t>Running on .NET 4.6</a:t>
                      </a:r>
                      <a:endParaRPr lang="en-US" sz="1800" dirty="0"/>
                    </a:p>
                  </a:txBody>
                  <a:tcPr marL="93260" marR="93260" marT="46630" marB="46630"/>
                </a:tc>
                <a:tc>
                  <a:txBody>
                    <a:bodyPr/>
                    <a:lstStyle/>
                    <a:p>
                      <a:pPr algn="ctr"/>
                      <a:r>
                        <a:rPr lang="en-US" sz="1800" dirty="0" smtClean="0"/>
                        <a:t>Running on .NET Core 5</a:t>
                      </a:r>
                      <a:endParaRPr lang="en-US" sz="1800" dirty="0"/>
                    </a:p>
                  </a:txBody>
                  <a:tcPr marL="93260" marR="93260" marT="46630" marB="46630"/>
                </a:tc>
                <a:extLst>
                  <a:ext uri="{0D108BD9-81ED-4DB2-BD59-A6C34878D82A}">
                    <a16:rowId xmlns:a16="http://schemas.microsoft.com/office/drawing/2014/main" val="347626473"/>
                  </a:ext>
                </a:extLst>
              </a:tr>
              <a:tr h="37822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Cloud Ready</a:t>
                      </a:r>
                    </a:p>
                  </a:txBody>
                  <a:tcPr marL="93260" marR="93260" marT="46630" marB="46630"/>
                </a:tc>
                <a:tc>
                  <a:txBody>
                    <a:bodyPr/>
                    <a:lstStyle/>
                    <a:p>
                      <a:pPr algn="ctr"/>
                      <a:r>
                        <a:rPr lang="en-US" sz="1800" dirty="0" smtClean="0"/>
                        <a:t>*</a:t>
                      </a:r>
                      <a:endParaRPr lang="en-US" sz="1800" dirty="0"/>
                    </a:p>
                  </a:txBody>
                  <a:tcPr marL="93260" marR="93260" marT="46630" marB="46630"/>
                </a:tc>
                <a:tc>
                  <a:txBody>
                    <a:bodyPr/>
                    <a:lstStyle/>
                    <a:p>
                      <a:pPr algn="ctr"/>
                      <a:r>
                        <a:rPr lang="en-US" sz="1800" dirty="0" smtClean="0"/>
                        <a:t>*</a:t>
                      </a:r>
                      <a:endParaRPr lang="en-US" sz="1800" dirty="0"/>
                    </a:p>
                  </a:txBody>
                  <a:tcPr marL="93260" marR="93260" marT="46630" marB="46630"/>
                </a:tc>
                <a:extLst>
                  <a:ext uri="{0D108BD9-81ED-4DB2-BD59-A6C34878D82A}">
                    <a16:rowId xmlns:a16="http://schemas.microsoft.com/office/drawing/2014/main" val="3222403825"/>
                  </a:ext>
                </a:extLst>
              </a:tr>
              <a:tr h="37822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Modular</a:t>
                      </a:r>
                      <a:r>
                        <a:rPr lang="en-US" sz="1800" baseline="0" dirty="0" smtClean="0"/>
                        <a:t> Design</a:t>
                      </a:r>
                      <a:endParaRPr lang="en-US" sz="1800" dirty="0" smtClean="0"/>
                    </a:p>
                  </a:txBody>
                  <a:tcPr marL="93260" marR="93260" marT="46630" marB="46630"/>
                </a:tc>
                <a:tc>
                  <a:txBody>
                    <a:bodyPr/>
                    <a:lstStyle/>
                    <a:p>
                      <a:pPr algn="ctr"/>
                      <a:r>
                        <a:rPr lang="en-US" sz="1800" dirty="0" smtClean="0"/>
                        <a:t>*</a:t>
                      </a:r>
                      <a:endParaRPr lang="en-US" sz="1800" dirty="0"/>
                    </a:p>
                  </a:txBody>
                  <a:tcPr marL="93260" marR="93260" marT="46630" marB="46630"/>
                </a:tc>
                <a:tc>
                  <a:txBody>
                    <a:bodyPr/>
                    <a:lstStyle/>
                    <a:p>
                      <a:pPr algn="ctr"/>
                      <a:r>
                        <a:rPr lang="en-US" sz="1800" dirty="0" smtClean="0"/>
                        <a:t>*</a:t>
                      </a:r>
                      <a:endParaRPr lang="en-US" sz="1800" dirty="0"/>
                    </a:p>
                  </a:txBody>
                  <a:tcPr marL="93260" marR="93260" marT="46630" marB="46630"/>
                </a:tc>
                <a:extLst>
                  <a:ext uri="{0D108BD9-81ED-4DB2-BD59-A6C34878D82A}">
                    <a16:rowId xmlns:a16="http://schemas.microsoft.com/office/drawing/2014/main" val="3286741875"/>
                  </a:ext>
                </a:extLst>
              </a:tr>
              <a:tr h="378222">
                <a:tc>
                  <a:txBody>
                    <a:bodyPr/>
                    <a:lstStyle/>
                    <a:p>
                      <a:r>
                        <a:rPr lang="en-US" sz="1800" dirty="0" smtClean="0"/>
                        <a:t>Dependency Injection</a:t>
                      </a:r>
                      <a:endParaRPr lang="en-US" sz="1800" dirty="0"/>
                    </a:p>
                  </a:txBody>
                  <a:tcPr marL="93260" marR="93260" marT="46630" marB="46630"/>
                </a:tc>
                <a:tc>
                  <a:txBody>
                    <a:bodyPr/>
                    <a:lstStyle/>
                    <a:p>
                      <a:pPr algn="ctr"/>
                      <a:r>
                        <a:rPr lang="en-US" sz="1800" dirty="0" smtClean="0"/>
                        <a:t>*</a:t>
                      </a:r>
                      <a:endParaRPr lang="en-US" sz="1800" dirty="0"/>
                    </a:p>
                  </a:txBody>
                  <a:tcPr marL="93260" marR="93260" marT="46630" marB="46630"/>
                </a:tc>
                <a:tc>
                  <a:txBody>
                    <a:bodyPr/>
                    <a:lstStyle/>
                    <a:p>
                      <a:pPr algn="ctr"/>
                      <a:r>
                        <a:rPr lang="en-US" sz="1800" dirty="0" smtClean="0"/>
                        <a:t>*</a:t>
                      </a:r>
                      <a:endParaRPr lang="en-US" sz="1800" dirty="0"/>
                    </a:p>
                  </a:txBody>
                  <a:tcPr marL="93260" marR="93260" marT="46630" marB="46630"/>
                </a:tc>
                <a:extLst>
                  <a:ext uri="{0D108BD9-81ED-4DB2-BD59-A6C34878D82A}">
                    <a16:rowId xmlns:a16="http://schemas.microsoft.com/office/drawing/2014/main" val="740962605"/>
                  </a:ext>
                </a:extLst>
              </a:tr>
              <a:tr h="378222">
                <a:tc>
                  <a:txBody>
                    <a:bodyPr/>
                    <a:lstStyle/>
                    <a:p>
                      <a:r>
                        <a:rPr lang="en-US" sz="1800" dirty="0" smtClean="0"/>
                        <a:t>Consistent</a:t>
                      </a:r>
                      <a:r>
                        <a:rPr lang="en-US" sz="1800" baseline="0" dirty="0" smtClean="0"/>
                        <a:t> Tracing / Debugging</a:t>
                      </a:r>
                      <a:endParaRPr lang="en-US" sz="1800" dirty="0"/>
                    </a:p>
                  </a:txBody>
                  <a:tcPr marL="93260" marR="93260" marT="46630" marB="46630"/>
                </a:tc>
                <a:tc>
                  <a:txBody>
                    <a:bodyPr/>
                    <a:lstStyle/>
                    <a:p>
                      <a:pPr algn="ctr"/>
                      <a:r>
                        <a:rPr lang="en-US" sz="1800" dirty="0" smtClean="0"/>
                        <a:t>*</a:t>
                      </a:r>
                      <a:endParaRPr lang="en-US" sz="1800" dirty="0"/>
                    </a:p>
                  </a:txBody>
                  <a:tcPr marL="93260" marR="93260" marT="46630" marB="46630"/>
                </a:tc>
                <a:tc>
                  <a:txBody>
                    <a:bodyPr/>
                    <a:lstStyle/>
                    <a:p>
                      <a:pPr algn="ctr"/>
                      <a:r>
                        <a:rPr lang="en-US" sz="1800" dirty="0" smtClean="0"/>
                        <a:t>*</a:t>
                      </a:r>
                      <a:endParaRPr lang="en-US" sz="1800" dirty="0"/>
                    </a:p>
                  </a:txBody>
                  <a:tcPr marL="93260" marR="93260" marT="46630" marB="46630"/>
                </a:tc>
                <a:extLst>
                  <a:ext uri="{0D108BD9-81ED-4DB2-BD59-A6C34878D82A}">
                    <a16:rowId xmlns:a16="http://schemas.microsoft.com/office/drawing/2014/main" val="659755725"/>
                  </a:ext>
                </a:extLst>
              </a:tr>
              <a:tr h="378222">
                <a:tc>
                  <a:txBody>
                    <a:bodyPr/>
                    <a:lstStyle/>
                    <a:p>
                      <a:r>
                        <a:rPr lang="en-US" sz="1800" dirty="0" smtClean="0"/>
                        <a:t>Faster Development (No</a:t>
                      </a:r>
                      <a:r>
                        <a:rPr lang="en-US" sz="1800" baseline="0" dirty="0" smtClean="0"/>
                        <a:t> Build Step)</a:t>
                      </a:r>
                      <a:endParaRPr lang="en-US" sz="1800" dirty="0"/>
                    </a:p>
                  </a:txBody>
                  <a:tcPr marL="93260" marR="93260" marT="46630" marB="46630"/>
                </a:tc>
                <a:tc>
                  <a:txBody>
                    <a:bodyPr/>
                    <a:lstStyle/>
                    <a:p>
                      <a:pPr algn="ctr"/>
                      <a:r>
                        <a:rPr lang="en-US" sz="1800" dirty="0" smtClean="0"/>
                        <a:t>*</a:t>
                      </a:r>
                      <a:endParaRPr lang="en-US" sz="1800" dirty="0"/>
                    </a:p>
                  </a:txBody>
                  <a:tcPr marL="93260" marR="93260" marT="46630" marB="46630"/>
                </a:tc>
                <a:tc>
                  <a:txBody>
                    <a:bodyPr/>
                    <a:lstStyle/>
                    <a:p>
                      <a:pPr algn="ctr"/>
                      <a:r>
                        <a:rPr lang="en-US" sz="1800" dirty="0" smtClean="0"/>
                        <a:t>*</a:t>
                      </a:r>
                      <a:endParaRPr lang="en-US" sz="1800" dirty="0"/>
                    </a:p>
                  </a:txBody>
                  <a:tcPr marL="93260" marR="93260" marT="46630" marB="46630"/>
                </a:tc>
                <a:extLst>
                  <a:ext uri="{0D108BD9-81ED-4DB2-BD59-A6C34878D82A}">
                    <a16:rowId xmlns:a16="http://schemas.microsoft.com/office/drawing/2014/main" val="2143542031"/>
                  </a:ext>
                </a:extLst>
              </a:tr>
              <a:tr h="37822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Open Source</a:t>
                      </a:r>
                    </a:p>
                  </a:txBody>
                  <a:tcPr marL="93260" marR="93260" marT="46630" marB="46630"/>
                </a:tc>
                <a:tc>
                  <a:txBody>
                    <a:bodyPr/>
                    <a:lstStyle/>
                    <a:p>
                      <a:pPr algn="ctr"/>
                      <a:r>
                        <a:rPr lang="en-US" sz="1800" dirty="0" smtClean="0"/>
                        <a:t>*</a:t>
                      </a:r>
                      <a:endParaRPr lang="en-US" sz="1800" dirty="0"/>
                    </a:p>
                  </a:txBody>
                  <a:tcPr marL="93260" marR="93260" marT="46630" marB="46630"/>
                </a:tc>
                <a:tc>
                  <a:txBody>
                    <a:bodyPr/>
                    <a:lstStyle/>
                    <a:p>
                      <a:pPr algn="ctr"/>
                      <a:r>
                        <a:rPr lang="en-US" sz="1800" dirty="0" smtClean="0"/>
                        <a:t>*</a:t>
                      </a:r>
                      <a:endParaRPr lang="en-US" sz="1800" dirty="0"/>
                    </a:p>
                  </a:txBody>
                  <a:tcPr marL="93260" marR="93260" marT="46630" marB="46630"/>
                </a:tc>
                <a:extLst>
                  <a:ext uri="{0D108BD9-81ED-4DB2-BD59-A6C34878D82A}">
                    <a16:rowId xmlns:a16="http://schemas.microsoft.com/office/drawing/2014/main" val="911889485"/>
                  </a:ext>
                </a:extLst>
              </a:tr>
              <a:tr h="37822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Full Side by Side</a:t>
                      </a:r>
                      <a:r>
                        <a:rPr lang="en-US" sz="1800" baseline="0" dirty="0" smtClean="0"/>
                        <a:t> (framework deployed inside application)</a:t>
                      </a:r>
                      <a:endParaRPr lang="en-US" sz="1800" dirty="0" smtClean="0"/>
                    </a:p>
                  </a:txBody>
                  <a:tcPr marL="93260" marR="93260" marT="46630" marB="46630"/>
                </a:tc>
                <a:tc>
                  <a:txBody>
                    <a:bodyPr/>
                    <a:lstStyle/>
                    <a:p>
                      <a:endParaRPr lang="en-US" sz="1800" dirty="0"/>
                    </a:p>
                  </a:txBody>
                  <a:tcPr marL="93260" marR="93260" marT="46630" marB="46630"/>
                </a:tc>
                <a:tc>
                  <a:txBody>
                    <a:bodyPr/>
                    <a:lstStyle/>
                    <a:p>
                      <a:pPr algn="ctr"/>
                      <a:r>
                        <a:rPr lang="en-US" sz="1800" dirty="0" smtClean="0"/>
                        <a:t>*</a:t>
                      </a:r>
                      <a:endParaRPr lang="en-US" sz="1800" dirty="0"/>
                    </a:p>
                  </a:txBody>
                  <a:tcPr marL="93260" marR="93260" marT="46630" marB="46630"/>
                </a:tc>
                <a:extLst>
                  <a:ext uri="{0D108BD9-81ED-4DB2-BD59-A6C34878D82A}">
                    <a16:rowId xmlns:a16="http://schemas.microsoft.com/office/drawing/2014/main" val="1672099816"/>
                  </a:ext>
                </a:extLst>
              </a:tr>
              <a:tr h="37822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Fast startup, Low</a:t>
                      </a:r>
                      <a:r>
                        <a:rPr lang="en-US" sz="1800" baseline="0" dirty="0" smtClean="0"/>
                        <a:t> memory / High throughput (best of class)</a:t>
                      </a:r>
                      <a:endParaRPr lang="en-US" sz="1800" dirty="0" smtClean="0"/>
                    </a:p>
                  </a:txBody>
                  <a:tcPr marL="93260" marR="93260" marT="46630" marB="46630"/>
                </a:tc>
                <a:tc>
                  <a:txBody>
                    <a:bodyPr/>
                    <a:lstStyle/>
                    <a:p>
                      <a:endParaRPr lang="en-US" sz="1800" dirty="0"/>
                    </a:p>
                  </a:txBody>
                  <a:tcPr marL="93260" marR="93260" marT="46630" marB="46630"/>
                </a:tc>
                <a:tc>
                  <a:txBody>
                    <a:bodyPr/>
                    <a:lstStyle/>
                    <a:p>
                      <a:pPr algn="ctr"/>
                      <a:r>
                        <a:rPr lang="en-US" sz="1800" dirty="0" smtClean="0"/>
                        <a:t>*</a:t>
                      </a:r>
                      <a:endParaRPr lang="en-US" sz="1800" dirty="0"/>
                    </a:p>
                  </a:txBody>
                  <a:tcPr marL="93260" marR="93260" marT="46630" marB="46630"/>
                </a:tc>
                <a:extLst>
                  <a:ext uri="{0D108BD9-81ED-4DB2-BD59-A6C34878D82A}">
                    <a16:rowId xmlns:a16="http://schemas.microsoft.com/office/drawing/2014/main" val="3907919631"/>
                  </a:ext>
                </a:extLst>
              </a:tr>
            </a:tbl>
          </a:graphicData>
        </a:graphic>
      </p:graphicFrame>
      <p:sp>
        <p:nvSpPr>
          <p:cNvPr id="5" name="TextBox 4"/>
          <p:cNvSpPr txBox="1"/>
          <p:nvPr/>
        </p:nvSpPr>
        <p:spPr>
          <a:xfrm>
            <a:off x="464821" y="1744662"/>
            <a:ext cx="11507688" cy="849463"/>
          </a:xfrm>
          <a:prstGeom prst="rect">
            <a:avLst/>
          </a:prstGeom>
          <a:noFill/>
        </p:spPr>
        <p:txBody>
          <a:bodyPr wrap="square" lIns="182880" tIns="146304" rIns="182880" bIns="146304" rtlCol="0">
            <a:spAutoFit/>
          </a:bodyPr>
          <a:lstStyle/>
          <a:p>
            <a:r>
              <a:rPr lang="en-US" sz="3600" dirty="0" smtClean="0">
                <a:solidFill>
                  <a:srgbClr val="FFFFFF"/>
                </a:solidFill>
              </a:rPr>
              <a:t>MVC 6 </a:t>
            </a:r>
            <a:r>
              <a:rPr lang="en-US" sz="2800" dirty="0" smtClean="0">
                <a:solidFill>
                  <a:srgbClr val="FFFFFF"/>
                </a:solidFill>
              </a:rPr>
              <a:t>(MVC + Web API + Web Pages)</a:t>
            </a:r>
            <a:endParaRPr lang="en-US" sz="3600" dirty="0">
              <a:solidFill>
                <a:srgbClr val="FFFFFF"/>
              </a:solidFill>
            </a:endParaRPr>
          </a:p>
        </p:txBody>
      </p:sp>
    </p:spTree>
    <p:extLst>
      <p:ext uri="{BB962C8B-B14F-4D97-AF65-F5344CB8AC3E}">
        <p14:creationId xmlns:p14="http://schemas.microsoft.com/office/powerpoint/2010/main" val="2228997861"/>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ASP.NET 5 resources</a:t>
            </a:r>
            <a:endParaRPr lang="en-US" dirty="0"/>
          </a:p>
        </p:txBody>
      </p:sp>
      <p:sp>
        <p:nvSpPr>
          <p:cNvPr id="3" name="Content Placeholder 2"/>
          <p:cNvSpPr>
            <a:spLocks noGrp="1"/>
          </p:cNvSpPr>
          <p:nvPr>
            <p:ph type="body" sz="quarter" idx="11"/>
          </p:nvPr>
        </p:nvSpPr>
        <p:spPr>
          <a:xfrm>
            <a:off x="274639" y="1212849"/>
            <a:ext cx="11889564" cy="2092881"/>
          </a:xfrm>
          <a:prstGeom prst="rect">
            <a:avLst/>
          </a:prstGeom>
        </p:spPr>
        <p:txBody>
          <a:bodyPr/>
          <a:lstStyle/>
          <a:p>
            <a:r>
              <a:rPr lang="en-US" dirty="0" smtClean="0"/>
              <a:t>Get started at </a:t>
            </a:r>
            <a:r>
              <a:rPr lang="en-US" dirty="0" smtClean="0">
                <a:hlinkClick r:id="rId2"/>
              </a:rPr>
              <a:t>http://www.asp.net/vnext</a:t>
            </a:r>
            <a:endParaRPr lang="en-US" dirty="0" smtClean="0"/>
          </a:p>
          <a:p>
            <a:r>
              <a:rPr lang="en-US" dirty="0" smtClean="0"/>
              <a:t>GitHub project at </a:t>
            </a:r>
            <a:r>
              <a:rPr lang="en-US" dirty="0" smtClean="0">
                <a:hlinkClick r:id="rId3"/>
              </a:rPr>
              <a:t>https://github.com/aspnet/home</a:t>
            </a:r>
            <a:endParaRPr lang="en-US" dirty="0" smtClean="0"/>
          </a:p>
          <a:p>
            <a:r>
              <a:rPr lang="en-US" dirty="0" smtClean="0"/>
              <a:t>Docs site at </a:t>
            </a:r>
            <a:r>
              <a:rPr lang="en-US" dirty="0" smtClean="0">
                <a:hlinkClick r:id="rId4"/>
              </a:rPr>
              <a:t>http://docs.asp.net</a:t>
            </a:r>
            <a:r>
              <a:rPr lang="en-US" dirty="0"/>
              <a:t> </a:t>
            </a:r>
            <a:endParaRPr lang="en-US" dirty="0" smtClean="0"/>
          </a:p>
        </p:txBody>
      </p:sp>
    </p:spTree>
    <p:extLst>
      <p:ext uri="{BB962C8B-B14F-4D97-AF65-F5344CB8AC3E}">
        <p14:creationId xmlns:p14="http://schemas.microsoft.com/office/powerpoint/2010/main" val="779165162"/>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800" dirty="0" smtClean="0"/>
              <a:t>In Review: Session Objectives And Takeaways</a:t>
            </a:r>
            <a:endParaRPr lang="en-US" sz="4800" dirty="0"/>
          </a:p>
        </p:txBody>
      </p:sp>
      <p:sp>
        <p:nvSpPr>
          <p:cNvPr id="6" name="Text Placeholder 5"/>
          <p:cNvSpPr>
            <a:spLocks noGrp="1"/>
          </p:cNvSpPr>
          <p:nvPr>
            <p:ph type="body" sz="quarter" idx="11"/>
          </p:nvPr>
        </p:nvSpPr>
        <p:spPr>
          <a:xfrm>
            <a:off x="274639" y="1212849"/>
            <a:ext cx="11889564" cy="4555093"/>
          </a:xfrm>
        </p:spPr>
        <p:txBody>
          <a:bodyPr/>
          <a:lstStyle/>
          <a:p>
            <a:r>
              <a:rPr lang="en-US" dirty="0">
                <a:solidFill>
                  <a:schemeClr val="bg2">
                    <a:lumMod val="40000"/>
                    <a:lumOff val="60000"/>
                  </a:schemeClr>
                </a:solidFill>
              </a:rPr>
              <a:t>Session Objective:</a:t>
            </a:r>
          </a:p>
          <a:p>
            <a:r>
              <a:rPr lang="en-US" dirty="0" smtClean="0"/>
              <a:t>ASP.NET 5: What </a:t>
            </a:r>
            <a:r>
              <a:rPr lang="en-US" smtClean="0"/>
              <a:t>and Why</a:t>
            </a:r>
            <a:endParaRPr lang="en-US" dirty="0"/>
          </a:p>
          <a:p>
            <a:endParaRPr lang="en-US" dirty="0"/>
          </a:p>
          <a:p>
            <a:r>
              <a:rPr lang="en-US" dirty="0">
                <a:solidFill>
                  <a:schemeClr val="bg2">
                    <a:lumMod val="40000"/>
                    <a:lumOff val="60000"/>
                  </a:schemeClr>
                </a:solidFill>
              </a:rPr>
              <a:t>Key Takeaway:</a:t>
            </a:r>
          </a:p>
          <a:p>
            <a:r>
              <a:rPr lang="en-US" dirty="0"/>
              <a:t>ASP.NET 5 is an open-source and cross-platform framework for creating modern, cloud-based Web applications.</a:t>
            </a:r>
          </a:p>
        </p:txBody>
      </p:sp>
    </p:spTree>
    <p:extLst>
      <p:ext uri="{BB962C8B-B14F-4D97-AF65-F5344CB8AC3E}">
        <p14:creationId xmlns:p14="http://schemas.microsoft.com/office/powerpoint/2010/main" val="1055886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Build">
  <a:themeElements>
    <a:clrScheme name="Build 2015">
      <a:dk1>
        <a:srgbClr val="404040"/>
      </a:dk1>
      <a:lt1>
        <a:srgbClr val="FFFFFF"/>
      </a:lt1>
      <a:dk2>
        <a:srgbClr val="00188F"/>
      </a:dk2>
      <a:lt2>
        <a:srgbClr val="FFFFFF"/>
      </a:lt2>
      <a:accent1>
        <a:srgbClr val="00188F"/>
      </a:accent1>
      <a:accent2>
        <a:srgbClr val="00BCF2"/>
      </a:accent2>
      <a:accent3>
        <a:srgbClr val="B4A0FF"/>
      </a:accent3>
      <a:accent4>
        <a:srgbClr val="BAD80A"/>
      </a:accent4>
      <a:accent5>
        <a:srgbClr val="FF8C00"/>
      </a:accent5>
      <a:accent6>
        <a:srgbClr val="00B294"/>
      </a:accent6>
      <a:hlink>
        <a:srgbClr val="00BCF2"/>
      </a:hlink>
      <a:folHlink>
        <a:srgbClr val="00BCF2"/>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lIns="91440" tIns="91440" rIns="34294" bIns="34294" anchor="b" anchorCtr="0"/>
      <a:lstStyle>
        <a:defPPr defTabSz="932406">
          <a:defRPr sz="800" dirty="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uild" id="{D1C68606-4399-4FB6-84E3-7ACBD136E554}" vid="{AE4D14AF-2BA8-4F77-B6DE-52B1C884B76A}"/>
    </a:ext>
  </a:extLst>
</a:theme>
</file>

<file path=ppt/theme/theme2.xml><?xml version="1.0" encoding="utf-8"?>
<a:theme xmlns:a="http://schemas.openxmlformats.org/drawingml/2006/main" name="TechEd 2014 Dk Blue">
  <a:themeElements>
    <a:clrScheme name="TechEd 2014 Dark template">
      <a:dk1>
        <a:srgbClr val="000000"/>
      </a:dk1>
      <a:lt1>
        <a:srgbClr val="FFFFFF"/>
      </a:lt1>
      <a:dk2>
        <a:srgbClr val="002050"/>
      </a:dk2>
      <a:lt2>
        <a:srgbClr val="00BCF2"/>
      </a:lt2>
      <a:accent1>
        <a:srgbClr val="0072C6"/>
      </a:accent1>
      <a:accent2>
        <a:srgbClr val="7FBA00"/>
      </a:accent2>
      <a:accent3>
        <a:srgbClr val="DC3C00"/>
      </a:accent3>
      <a:accent4>
        <a:srgbClr val="68217A"/>
      </a:accent4>
      <a:accent5>
        <a:srgbClr val="009E49"/>
      </a:accent5>
      <a:accent6>
        <a:srgbClr val="00B294"/>
      </a:accent6>
      <a:hlink>
        <a:srgbClr val="00BCF2"/>
      </a:hlink>
      <a:folHlink>
        <a:srgbClr val="00BCF2"/>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TechEd_2014_Template.potx" id="{95E3EB79-C98D-48EC-837A-72F77512253C}" vid="{482A9A90-448C-4DC9-8D68-B61A5FDF0B46}"/>
    </a:ext>
  </a:extLst>
</a:theme>
</file>

<file path=ppt/theme/theme3.xml><?xml version="1.0" encoding="utf-8"?>
<a:theme xmlns:a="http://schemas.openxmlformats.org/drawingml/2006/main" name="5-30610_Microsoft_Ignite_Keynote_Template">
  <a:themeElements>
    <a:clrScheme name="Ignite - Breakout - Gray Back">
      <a:dk1>
        <a:srgbClr val="000000"/>
      </a:dk1>
      <a:lt1>
        <a:srgbClr val="FFFFFF"/>
      </a:lt1>
      <a:dk2>
        <a:srgbClr val="505050"/>
      </a:dk2>
      <a:lt2>
        <a:srgbClr val="47D8FF"/>
      </a:lt2>
      <a:accent1>
        <a:srgbClr val="0078D7"/>
      </a:accent1>
      <a:accent2>
        <a:srgbClr val="5C2D91"/>
      </a:accent2>
      <a:accent3>
        <a:srgbClr val="B4009E"/>
      </a:accent3>
      <a:accent4>
        <a:srgbClr val="00BCF2"/>
      </a:accent4>
      <a:accent5>
        <a:srgbClr val="BAD80A"/>
      </a:accent5>
      <a:accent6>
        <a:srgbClr val="FF8C00"/>
      </a:accent6>
      <a:hlink>
        <a:srgbClr val="47D8FF"/>
      </a:hlink>
      <a:folHlink>
        <a:srgbClr val="47D8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398" fontAlgn="base">
          <a:spcBef>
            <a:spcPct val="0"/>
          </a:spcBef>
          <a:spcAft>
            <a:spcPct val="0"/>
          </a:spcAft>
          <a:defRPr sz="2000" dirty="0">
            <a:gradFill>
              <a:gsLst>
                <a:gs pos="16814">
                  <a:srgbClr val="FFFFFF"/>
                </a:gs>
                <a:gs pos="46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Ignite_2015_Breakout_Template.potx" id="{1A2CE55D-C0EF-4064-A39F-620642E032AA}" vid="{A3A9C9DA-6617-4D3E-A382-CDB23C8F3BF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PresentationsDoc" ma:contentTypeID="0x010100CBE8A0D253ED1A4AAAE93FF9B973EB7E0027C1F5D9CEFE6046B3BCA4D310D11AA7" ma:contentTypeVersion="25" ma:contentTypeDescription="" ma:contentTypeScope="" ma:versionID="811ef41e954035cd29ce0c884bac93e3">
  <xsd:schema xmlns:xsd="http://www.w3.org/2001/XMLSchema" xmlns:xs="http://www.w3.org/2001/XMLSchema" xmlns:p="http://schemas.microsoft.com/office/2006/metadata/properties" xmlns:ns1="http://schemas.microsoft.com/sharepoint/v3" xmlns:ns2="e36bfbf9-5e42-489c-a259-4c54eb22cb57" xmlns:ns3="230e9df3-be65-4c73-a93b-d1236ebd677e" targetNamespace="http://schemas.microsoft.com/office/2006/metadata/properties" ma:root="true" ma:fieldsID="9c578a67b7ebda485b9f38997ab9a609" ns1:_="" ns2:_="" ns3:_="">
    <xsd:import namespace="http://schemas.microsoft.com/sharepoint/v3"/>
    <xsd:import namespace="e36bfbf9-5e42-489c-a259-4c54eb22cb57"/>
    <xsd:import namespace="230e9df3-be65-4c73-a93b-d1236ebd677e"/>
    <xsd:element name="properties">
      <xsd:complexType>
        <xsd:sequence>
          <xsd:element name="documentManagement">
            <xsd:complexType>
              <xsd:all>
                <xsd:element ref="ns2:i23d7ba649194ae1bace8707520bbe5b" minOccurs="0"/>
                <xsd:element ref="ns3:TaxCatchAll" minOccurs="0"/>
                <xsd:element ref="ns3:TaxCatchAllLabel" minOccurs="0"/>
                <xsd:element ref="ns2:l3c4e8b902d24cac82560b32d42c7cb4" minOccurs="0"/>
                <xsd:element ref="ns2:o359a72c0e394a2bbc3ef6c803acc180" minOccurs="0"/>
                <xsd:element ref="ns2:Event_x0020_Start_x0020_Date" minOccurs="0"/>
                <xsd:element ref="ns2:Event_x0020_End_x0020_Date" minOccurs="0"/>
                <xsd:element ref="ns2:Presentation_x0020_Date" minOccurs="0"/>
                <xsd:element ref="ns2:MS_x0020_Speaker" minOccurs="0"/>
                <xsd:element ref="ns2:External_x0020_Speaker" minOccurs="0"/>
                <xsd:element ref="ns2:o915802bd8fb417bbe5f6f423fd076a0" minOccurs="0"/>
                <xsd:element ref="ns2:g9dd8d57dc62470db6c80d9bb76f6f98" minOccurs="0"/>
                <xsd:element ref="ns2:ha6fe286c6b34f98b7bef39f1ccb86a0" minOccurs="0"/>
                <xsd:element ref="ns2:Session_x0020_Code" minOccurs="0"/>
                <xsd:element ref="ns2:MS_x0020_Content_x0020_Owner" minOccurs="0"/>
                <xsd:element ref="ns2:o05f84fa51b8493184c53e88c1048d4a" minOccurs="0"/>
                <xsd:element ref="ns2:SharedWithUsers" minOccurs="0"/>
                <xsd:element ref="ns3:TaxKeywordTaxHTField" minOccurs="0"/>
                <xsd:element ref="ns1:AverageRating" minOccurs="0"/>
                <xsd:element ref="ns1:RatingCount" minOccurs="0"/>
                <xsd:element ref="ns1:RatedBy" minOccurs="0"/>
                <xsd:element ref="ns1:Ratings" minOccurs="0"/>
                <xsd:element ref="ns1:LikesCount" minOccurs="0"/>
                <xsd:element ref="ns1:LikedB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34" nillable="true" ma:displayName="Rating (0-5)" ma:decimals="2" ma:description="Average value of all the ratings that have been submitted" ma:internalName="AverageRating" ma:readOnly="true">
      <xsd:simpleType>
        <xsd:restriction base="dms:Number"/>
      </xsd:simpleType>
    </xsd:element>
    <xsd:element name="RatingCount" ma:index="35" nillable="true" ma:displayName="Number of Ratings" ma:decimals="0" ma:description="Number of ratings submitted" ma:internalName="RatingCount" ma:readOnly="true">
      <xsd:simpleType>
        <xsd:restriction base="dms:Number"/>
      </xsd:simpleType>
    </xsd:element>
    <xsd:element name="RatedBy" ma:index="36"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37" nillable="true" ma:displayName="User ratings" ma:description="User ratings for the item" ma:hidden="true" ma:internalName="Ratings">
      <xsd:simpleType>
        <xsd:restriction base="dms:Note"/>
      </xsd:simpleType>
    </xsd:element>
    <xsd:element name="LikesCount" ma:index="38" nillable="true" ma:displayName="Number of Likes" ma:internalName="LikesCount">
      <xsd:simpleType>
        <xsd:restriction base="dms:Unknown"/>
      </xsd:simpleType>
    </xsd:element>
    <xsd:element name="LikedBy" ma:index="39"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e36bfbf9-5e42-489c-a259-4c54eb22cb57" elementFormDefault="qualified">
    <xsd:import namespace="http://schemas.microsoft.com/office/2006/documentManagement/types"/>
    <xsd:import namespace="http://schemas.microsoft.com/office/infopath/2007/PartnerControls"/>
    <xsd:element name="i23d7ba649194ae1bace8707520bbe5b" ma:index="8" nillable="true" ma:taxonomy="true" ma:internalName="i23d7ba649194ae1bace8707520bbe5b" ma:taxonomyFieldName="Event_x0020_Name" ma:displayName="Event Name" ma:default="" ma:fieldId="{223d7ba6-4919-4ae1-bace-8707520bbe5b}" ma:sspId="e385fb40-52d4-4fae-9c5b-3e8ff8a5878e" ma:termSetId="32cfb7b5-aebe-4989-95ed-0d5619f5d6c0" ma:anchorId="eaa4d92a-3824-4a49-92be-7ef169e4e325" ma:open="false" ma:isKeyword="false">
      <xsd:complexType>
        <xsd:sequence>
          <xsd:element ref="pc:Terms" minOccurs="0" maxOccurs="1"/>
        </xsd:sequence>
      </xsd:complexType>
    </xsd:element>
    <xsd:element name="l3c4e8b902d24cac82560b32d42c7cb4" ma:index="12" nillable="true" ma:taxonomy="true" ma:internalName="l3c4e8b902d24cac82560b32d42c7cb4" ma:taxonomyFieldName="Event_x0020_Location" ma:displayName="Event Location" ma:default="" ma:fieldId="{53c4e8b9-02d2-4cac-8256-0b32d42c7cb4}" ma:sspId="e385fb40-52d4-4fae-9c5b-3e8ff8a5878e" ma:termSetId="ff02addd-433e-4baa-a831-22be402789db" ma:anchorId="00000000-0000-0000-0000-000000000000" ma:open="false" ma:isKeyword="false">
      <xsd:complexType>
        <xsd:sequence>
          <xsd:element ref="pc:Terms" minOccurs="0" maxOccurs="1"/>
        </xsd:sequence>
      </xsd:complexType>
    </xsd:element>
    <xsd:element name="o359a72c0e394a2bbc3ef6c803acc180" ma:index="14" nillable="true" ma:taxonomy="true" ma:internalName="o359a72c0e394a2bbc3ef6c803acc180" ma:taxonomyFieldName="Event_x0020_Venue" ma:displayName="Event Venue" ma:default="" ma:fieldId="{8359a72c-0e39-4a2b-bc3e-f6c803acc180}" ma:sspId="e385fb40-52d4-4fae-9c5b-3e8ff8a5878e" ma:termSetId="ff02addd-433e-4baa-a831-22be402789db" ma:anchorId="d989be80-0593-11e1-be50-0800200c9a66" ma:open="false" ma:isKeyword="false">
      <xsd:complexType>
        <xsd:sequence>
          <xsd:element ref="pc:Terms" minOccurs="0" maxOccurs="1"/>
        </xsd:sequence>
      </xsd:complexType>
    </xsd:element>
    <xsd:element name="Event_x0020_Start_x0020_Date" ma:index="16" nillable="true" ma:displayName="Event Start Date" ma:format="DateOnly" ma:internalName="Event_x0020_Start_x0020_Date">
      <xsd:simpleType>
        <xsd:restriction base="dms:DateTime"/>
      </xsd:simpleType>
    </xsd:element>
    <xsd:element name="Event_x0020_End_x0020_Date" ma:index="17" nillable="true" ma:displayName="Event End Date" ma:format="DateOnly" ma:internalName="Event_x0020_End_x0020_Date">
      <xsd:simpleType>
        <xsd:restriction base="dms:DateTime"/>
      </xsd:simpleType>
    </xsd:element>
    <xsd:element name="Presentation_x0020_Date" ma:index="18" nillable="true" ma:displayName="Presentation Date" ma:format="DateOnly" ma:internalName="Presentation_x0020_Date">
      <xsd:simpleType>
        <xsd:restriction base="dms:DateTime"/>
      </xsd:simpleType>
    </xsd:element>
    <xsd:element name="MS_x0020_Speaker" ma:index="19" nillable="true" ma:displayName="MS Speaker" ma:list="UserInfo" ma:SharePointGroup="0" ma:internalName="MS_x0020_Speaker" ma:readOnly="fals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xternal_x0020_Speaker" ma:index="20" nillable="true" ma:displayName="External Speaker" ma:internalName="External_x0020_Speaker">
      <xsd:simpleType>
        <xsd:restriction base="dms:Text">
          <xsd:maxLength value="255"/>
        </xsd:restriction>
      </xsd:simpleType>
    </xsd:element>
    <xsd:element name="o915802bd8fb417bbe5f6f423fd076a0" ma:index="21" nillable="true" ma:taxonomy="true" ma:internalName="o915802bd8fb417bbe5f6f423fd076a0" ma:taxonomyFieldName="Audience1" ma:displayName="Audience" ma:default="" ma:fieldId="{8915802b-d8fb-417b-be5f-6f423fd076a0}" ma:taxonomyMulti="true" ma:sspId="e385fb40-52d4-4fae-9c5b-3e8ff8a5878e" ma:termSetId="02c0b350-7782-44ed-b079-a5ef0c1b9fe9" ma:anchorId="00000000-0000-0000-0000-000000000000" ma:open="false" ma:isKeyword="false">
      <xsd:complexType>
        <xsd:sequence>
          <xsd:element ref="pc:Terms" minOccurs="0" maxOccurs="1"/>
        </xsd:sequence>
      </xsd:complexType>
    </xsd:element>
    <xsd:element name="g9dd8d57dc62470db6c80d9bb76f6f98" ma:index="23" nillable="true" ma:taxonomy="true" ma:internalName="g9dd8d57dc62470db6c80d9bb76f6f98" ma:taxonomyFieldName="Product" ma:displayName="Product" ma:default="" ma:fieldId="{09dd8d57-dc62-470d-b6c8-0d9bb76f6f98}" ma:taxonomyMulti="true" ma:sspId="e385fb40-52d4-4fae-9c5b-3e8ff8a5878e" ma:termSetId="9bb0a48c-16c3-4e7a-9e9e-0bc708463e1a" ma:anchorId="00000000-0000-0000-0000-000000000000" ma:open="false" ma:isKeyword="false">
      <xsd:complexType>
        <xsd:sequence>
          <xsd:element ref="pc:Terms" minOccurs="0" maxOccurs="1"/>
        </xsd:sequence>
      </xsd:complexType>
    </xsd:element>
    <xsd:element name="ha6fe286c6b34f98b7bef39f1ccb86a0" ma:index="25" nillable="true" ma:taxonomy="true" ma:internalName="ha6fe286c6b34f98b7bef39f1ccb86a0" ma:taxonomyFieldName="Campaign" ma:displayName="Campaign" ma:default="" ma:fieldId="{1a6fe286-c6b3-4f98-b7be-f39f1ccb86a0}" ma:sspId="e385fb40-52d4-4fae-9c5b-3e8ff8a5878e" ma:termSetId="eb6054b1-3a98-4c79-97b4-d20150dd266e" ma:anchorId="00000000-0000-0000-0000-000000000000" ma:open="false" ma:isKeyword="false">
      <xsd:complexType>
        <xsd:sequence>
          <xsd:element ref="pc:Terms" minOccurs="0" maxOccurs="1"/>
        </xsd:sequence>
      </xsd:complexType>
    </xsd:element>
    <xsd:element name="Session_x0020_Code" ma:index="27" nillable="true" ma:displayName="Session Code" ma:internalName="Session_x0020_Code">
      <xsd:simpleType>
        <xsd:restriction base="dms:Text">
          <xsd:maxLength value="255"/>
        </xsd:restriction>
      </xsd:simpleType>
    </xsd:element>
    <xsd:element name="MS_x0020_Content_x0020_Owner" ma:index="28" nillable="true" ma:displayName="MS Content Owner" ma:list="UserInfo" ma:SharePointGroup="0" ma:internalName="MS_x0020_Content_x0020_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05f84fa51b8493184c53e88c1048d4a" ma:index="29" nillable="true" ma:taxonomy="true" ma:internalName="o05f84fa51b8493184c53e88c1048d4a" ma:taxonomyFieldName="Track" ma:displayName="Track" ma:default="" ma:fieldId="{805f84fa-51b8-4931-84c5-3e88c1048d4a}" ma:sspId="e385fb40-52d4-4fae-9c5b-3e8ff8a5878e" ma:termSetId="da6d8183-76e5-42e9-8164-851f077ee475" ma:anchorId="00000000-0000-0000-0000-000000000000" ma:open="true" ma:isKeyword="false">
      <xsd:complexType>
        <xsd:sequence>
          <xsd:element ref="pc:Terms" minOccurs="0" maxOccurs="1"/>
        </xsd:sequence>
      </xsd:complexType>
    </xsd:element>
    <xsd:element name="SharedWithUsers" ma:index="3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9" nillable="true" ma:displayName="Taxonomy Catch All Column" ma:hidden="true" ma:list="{7c5dec5b-b2d6-455d-9cd7-2e081f89458c}" ma:internalName="TaxCatchAll" ma:showField="CatchAllData" ma:web="e36bfbf9-5e42-489c-a259-4c54eb22cb57">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7c5dec5b-b2d6-455d-9cd7-2e081f89458c}" ma:internalName="TaxCatchAllLabel" ma:readOnly="true" ma:showField="CatchAllDataLabel" ma:web="e36bfbf9-5e42-489c-a259-4c54eb22cb57">
      <xsd:complexType>
        <xsd:complexContent>
          <xsd:extension base="dms:MultiChoiceLookup">
            <xsd:sequence>
              <xsd:element name="Value" type="dms:Lookup" maxOccurs="unbounded" minOccurs="0" nillable="true"/>
            </xsd:sequence>
          </xsd:extension>
        </xsd:complexContent>
      </xsd:complexType>
    </xsd:element>
    <xsd:element name="TaxKeywordTaxHTField" ma:index="33" nillable="true" ma:taxonomy="true" ma:internalName="TaxKeywordTaxHTField" ma:taxonomyFieldName="TaxKeyword" ma:displayName="Enterprise Keywords" ma:fieldId="{23f27201-bee3-471e-b2e7-b64fd8b7ca38}" ma:taxonomyMulti="true" ma:sspId="e385fb40-52d4-4fae-9c5b-3e8ff8a5878e" ma:termSetId="00000000-0000-0000-0000-000000000000" ma:anchorId="00000000-0000-0000-0000-000000000000" ma:open="true" ma:isKeyword="tru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230e9df3-be65-4c73-a93b-d1236ebd677e">
      <Value>398</Value>
      <Value>11</Value>
      <Value>3</Value>
      <Value>14</Value>
    </TaxCatchAll>
    <AverageRating xmlns="http://schemas.microsoft.com/sharepoint/v3" xsi:nil="true"/>
    <Event_x0020_End_x0020_Date xmlns="e36bfbf9-5e42-489c-a259-4c54eb22cb57">2015-01-30T08:00:00+00:00</Event_x0020_End_x0020_Date>
    <Event_x0020_Start_x0020_Date xmlns="e36bfbf9-5e42-489c-a259-4c54eb22cb57">2015-01-26T08:00:00+00:00</Event_x0020_Start_x0020_Date>
    <MS_x0020_Speaker xmlns="e36bfbf9-5e42-489c-a259-4c54eb22cb57">
      <UserInfo>
        <DisplayName/>
        <AccountId xsi:nil="true"/>
        <AccountType/>
      </UserInfo>
    </MS_x0020_Speaker>
    <External_x0020_Speaker xmlns="e36bfbf9-5e42-489c-a259-4c54eb22cb57" xsi:nil="true"/>
    <Session_x0020_Code xmlns="e36bfbf9-5e42-489c-a259-4c54eb22cb57">DEV406</Session_x0020_Code>
    <Presentation_x0020_Date xmlns="e36bfbf9-5e42-489c-a259-4c54eb22cb57">2015-01-26T00:00:00-08:00</Presentation_x0020_Date>
    <MS_x0020_Content_x0020_Owner xmlns="e36bfbf9-5e42-489c-a259-4c54eb22cb57">
      <UserInfo>
        <DisplayName/>
        <AccountId xsi:nil="true"/>
        <AccountType/>
      </UserInfo>
    </MS_x0020_Content_x0020_Owner>
    <o359a72c0e394a2bbc3ef6c803acc180 xmlns="e36bfbf9-5e42-489c-a259-4c54eb22cb57">
      <Terms xmlns="http://schemas.microsoft.com/office/infopath/2007/PartnerControls">
        <TermInfo xmlns="http://schemas.microsoft.com/office/infopath/2007/PartnerControls">
          <TermName xmlns="http://schemas.microsoft.com/office/infopath/2007/PartnerControls">Washington State Convention and Trade Center</TermName>
          <TermId xmlns="http://schemas.microsoft.com/office/infopath/2007/PartnerControls">2ebf141d-f871-4cc9-bf08-f87f112ab464</TermId>
        </TermInfo>
      </Terms>
    </o359a72c0e394a2bbc3ef6c803acc180>
    <LikesCount xmlns="http://schemas.microsoft.com/sharepoint/v3" xsi:nil="true"/>
    <o05f84fa51b8493184c53e88c1048d4a xmlns="e36bfbf9-5e42-489c-a259-4c54eb22cb57">
      <Terms xmlns="http://schemas.microsoft.com/office/infopath/2007/PartnerControls"/>
    </o05f84fa51b8493184c53e88c1048d4a>
    <Ratings xmlns="http://schemas.microsoft.com/sharepoint/v3" xsi:nil="true"/>
    <g9dd8d57dc62470db6c80d9bb76f6f98 xmlns="e36bfbf9-5e42-489c-a259-4c54eb22cb57">
      <Terms xmlns="http://schemas.microsoft.com/office/infopath/2007/PartnerControls"/>
    </g9dd8d57dc62470db6c80d9bb76f6f98>
    <ha6fe286c6b34f98b7bef39f1ccb86a0 xmlns="e36bfbf9-5e42-489c-a259-4c54eb22cb57">
      <Terms xmlns="http://schemas.microsoft.com/office/infopath/2007/PartnerControls"/>
    </ha6fe286c6b34f98b7bef39f1ccb86a0>
    <LikedBy xmlns="http://schemas.microsoft.com/sharepoint/v3">
      <UserInfo>
        <DisplayName/>
        <AccountId xsi:nil="true"/>
        <AccountType/>
      </UserInfo>
    </LikedBy>
    <o915802bd8fb417bbe5f6f423fd076a0 xmlns="e36bfbf9-5e42-489c-a259-4c54eb22cb57">
      <Terms xmlns="http://schemas.microsoft.com/office/infopath/2007/PartnerControls"/>
    </o915802bd8fb417bbe5f6f423fd076a0>
    <TaxKeywordTaxHTField xmlns="230e9df3-be65-4c73-a93b-d1236ebd677e">
      <Terms xmlns="http://schemas.microsoft.com/office/infopath/2007/PartnerControls">
        <TermInfo xmlns="http://schemas.microsoft.com/office/infopath/2007/PartnerControls">
          <TermName xmlns="http://schemas.microsoft.com/office/infopath/2007/PartnerControls">NDC - ASP.NET 5</TermName>
          <TermId xmlns="http://schemas.microsoft.com/office/infopath/2007/PartnerControls">2a894afe-c5d7-4c19-abd1-299f20d98c6d</TermId>
        </TermInfo>
      </Terms>
    </TaxKeywordTaxHTField>
    <i23d7ba649194ae1bace8707520bbe5b xmlns="e36bfbf9-5e42-489c-a259-4c54eb22cb57">
      <Terms xmlns="http://schemas.microsoft.com/office/infopath/2007/PartnerControls">
        <TermInfo xmlns="http://schemas.microsoft.com/office/infopath/2007/PartnerControls">
          <TermName xmlns="http://schemas.microsoft.com/office/infopath/2007/PartnerControls">TechReady</TermName>
          <TermId xmlns="http://schemas.microsoft.com/office/infopath/2007/PartnerControls">ebdf1b7d-d34f-4ccf-ac45-ca5a756d5c65</TermId>
        </TermInfo>
      </Terms>
    </i23d7ba649194ae1bace8707520bbe5b>
    <l3c4e8b902d24cac82560b32d42c7cb4 xmlns="e36bfbf9-5e42-489c-a259-4c54eb22cb57">
      <Terms xmlns="http://schemas.microsoft.com/office/infopath/2007/PartnerControls">
        <TermInfo xmlns="http://schemas.microsoft.com/office/infopath/2007/PartnerControls">
          <TermName xmlns="http://schemas.microsoft.com/office/infopath/2007/PartnerControls">Seattle</TermName>
          <TermId xmlns="http://schemas.microsoft.com/office/infopath/2007/PartnerControls">54f46ed2-c77e-4a59-b182-a4171fdb0d11</TermId>
        </TermInfo>
      </Terms>
    </l3c4e8b902d24cac82560b32d42c7cb4>
    <RatedBy xmlns="http://schemas.microsoft.com/sharepoint/v3">
      <UserInfo>
        <DisplayName/>
        <AccountId xsi:nil="true"/>
        <AccountType/>
      </UserInfo>
    </RatedBy>
  </documentManagement>
</p:properties>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33CAB5FC-3224-439A-8A87-66BDC350A1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36bfbf9-5e42-489c-a259-4c54eb22cb57"/>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990F116-B58F-4255-B05B-DA3808E0E5C6}">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microsoft.com/sharepoint/v3"/>
    <ds:schemaRef ds:uri="230e9df3-be65-4c73-a93b-d1236ebd677e"/>
    <ds:schemaRef ds:uri="e36bfbf9-5e42-489c-a259-4c54eb22cb57"/>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TR20_BO_CT_Template</Template>
  <TotalTime>5770</TotalTime>
  <Words>2094</Words>
  <Application>Microsoft Office PowerPoint</Application>
  <PresentationFormat>Custom</PresentationFormat>
  <Paragraphs>428</Paragraphs>
  <Slides>31</Slides>
  <Notes>6</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31</vt:i4>
      </vt:variant>
    </vt:vector>
  </HeadingPairs>
  <TitlesOfParts>
    <vt:vector size="44" baseType="lpstr">
      <vt:lpstr>ＭＳ Ｐゴシック</vt:lpstr>
      <vt:lpstr>Arial</vt:lpstr>
      <vt:lpstr>Avenir LT Pro 45 Book</vt:lpstr>
      <vt:lpstr>Calibri</vt:lpstr>
      <vt:lpstr>Consolas</vt:lpstr>
      <vt:lpstr>Segoe Semibold</vt:lpstr>
      <vt:lpstr>Segoe UI</vt:lpstr>
      <vt:lpstr>Segoe UI Light</vt:lpstr>
      <vt:lpstr>Segoe UI Semibold</vt:lpstr>
      <vt:lpstr>Wingdings</vt:lpstr>
      <vt:lpstr>Build</vt:lpstr>
      <vt:lpstr>TechEd 2014 Dk Blue</vt:lpstr>
      <vt:lpstr>5-30610_Microsoft_Ignite_Keynote_Template</vt:lpstr>
      <vt:lpstr>PowerPoint Presentation</vt:lpstr>
      <vt:lpstr>PowerPoint Presentation</vt:lpstr>
      <vt:lpstr>PowerPoint Presentation</vt:lpstr>
      <vt:lpstr>PowerPoint Presentation</vt:lpstr>
      <vt:lpstr>ASP.NET 5  What and Why</vt:lpstr>
      <vt:lpstr>.NET in 2015</vt:lpstr>
      <vt:lpstr>History of .NET “verticals”</vt:lpstr>
      <vt:lpstr>PowerPoint Presentation</vt:lpstr>
      <vt:lpstr>.NET Framework 4.6</vt:lpstr>
      <vt:lpstr>What is .NET Core</vt:lpstr>
      <vt:lpstr>NuGet is mainstream in .NET Core</vt:lpstr>
      <vt:lpstr>.NET 2015 – 10K foot view</vt:lpstr>
      <vt:lpstr>.NET Compiler  Platform (“Roslyn”) </vt:lpstr>
      <vt:lpstr>PowerPoint Presentation</vt:lpstr>
      <vt:lpstr>Universal Windows Platform</vt:lpstr>
      <vt:lpstr>PowerPoint Presentation</vt:lpstr>
      <vt:lpstr>How does ASP.NET fit in?</vt:lpstr>
      <vt:lpstr>PowerPoint Presentation</vt:lpstr>
      <vt:lpstr>What is Open Source?</vt:lpstr>
      <vt:lpstr>PowerPoint Presentation</vt:lpstr>
      <vt:lpstr>History of ASP (20+ years)</vt:lpstr>
      <vt:lpstr>ASP.NET and the Modern Web</vt:lpstr>
      <vt:lpstr>Modern Web - Agility</vt:lpstr>
      <vt:lpstr>Modern Web - Fast</vt:lpstr>
      <vt:lpstr>Modern Web - Cloud</vt:lpstr>
      <vt:lpstr>Modern Web – Cross Platform</vt:lpstr>
      <vt:lpstr>ASP.NET 2015 in a Nutshell</vt:lpstr>
      <vt:lpstr>ASP.NET 5 - Compatibility</vt:lpstr>
      <vt:lpstr>ASP.NET 5 - Summary</vt:lpstr>
      <vt:lpstr>ASP.NET 5 resources</vt:lpstr>
      <vt:lpstr>In Review: Session Objectives And Takeaways</vt:lpstr>
    </vt:vector>
  </TitlesOfParts>
  <Manager>&lt;Speech writer name goes here&gt;</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NDC Workshop - ASP.NET 5</dc:title>
  <dc:subject>NDC - ASP.NET 5</dc:subject>
  <dc:creator>Jon Galloway</dc:creator>
  <cp:keywords>NDC - ASP.NET 5</cp:keywords>
  <cp:lastModifiedBy>rahul sahay</cp:lastModifiedBy>
  <cp:revision>105</cp:revision>
  <dcterms:created xsi:type="dcterms:W3CDTF">2015-01-26T11:56:29Z</dcterms:created>
  <dcterms:modified xsi:type="dcterms:W3CDTF">2016-10-22T05:47:04Z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0x010100CBE8A0D253ED1A4AAAE93FF9B973EB7E0027C1F5D9CEFE6046B3BCA4D310D11AA7</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11;#Washington State Convention and Trade Center|2ebf141d-f871-4cc9-bf08-f87f112ab464</vt:lpwstr>
  </property>
  <property fmtid="{D5CDD505-2E9C-101B-9397-08002B2CF9AE}" pid="7" name="Track">
    <vt:lpwstr/>
  </property>
  <property fmtid="{D5CDD505-2E9C-101B-9397-08002B2CF9AE}" pid="8" name="Event Location">
    <vt:lpwstr>3;#Seattle|54f46ed2-c77e-4a59-b182-a4171fdb0d11</vt:lpwstr>
  </property>
  <property fmtid="{D5CDD505-2E9C-101B-9397-08002B2CF9AE}" pid="9" name="Campaign">
    <vt:lpwstr/>
  </property>
  <property fmtid="{D5CDD505-2E9C-101B-9397-08002B2CF9AE}" pid="10" name="TaxKeyword">
    <vt:lpwstr>398;#TechReady 20|d66e15dc-e38a-4dc4-bb8f-017a6839aaae</vt:lpwstr>
  </property>
  <property fmtid="{D5CDD505-2E9C-101B-9397-08002B2CF9AE}" pid="11" name="Audience1">
    <vt:lpwstr/>
  </property>
  <property fmtid="{D5CDD505-2E9C-101B-9397-08002B2CF9AE}" pid="12" name="Event Name">
    <vt:lpwstr>14;#TechReady|ebdf1b7d-d34f-4ccf-ac45-ca5a756d5c65</vt:lpwstr>
  </property>
</Properties>
</file>